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769" r:id="rId2"/>
    <p:sldId id="356" r:id="rId3"/>
    <p:sldId id="277" r:id="rId4"/>
    <p:sldId id="273" r:id="rId5"/>
    <p:sldId id="345" r:id="rId6"/>
    <p:sldId id="272" r:id="rId7"/>
    <p:sldId id="403" r:id="rId8"/>
    <p:sldId id="321" r:id="rId9"/>
    <p:sldId id="586" r:id="rId10"/>
    <p:sldId id="578" r:id="rId11"/>
    <p:sldId id="590" r:id="rId12"/>
    <p:sldId id="770" r:id="rId13"/>
    <p:sldId id="765" r:id="rId14"/>
    <p:sldId id="387" r:id="rId15"/>
    <p:sldId id="390" r:id="rId16"/>
    <p:sldId id="276" r:id="rId17"/>
    <p:sldId id="300" r:id="rId18"/>
    <p:sldId id="306" r:id="rId19"/>
    <p:sldId id="308" r:id="rId20"/>
    <p:sldId id="311" r:id="rId21"/>
    <p:sldId id="316" r:id="rId22"/>
    <p:sldId id="318" r:id="rId23"/>
    <p:sldId id="381" r:id="rId24"/>
    <p:sldId id="319" r:id="rId25"/>
    <p:sldId id="341" r:id="rId26"/>
    <p:sldId id="320" r:id="rId27"/>
    <p:sldId id="326" r:id="rId28"/>
  </p:sldIdLst>
  <p:sldSz cx="9144000" cy="6858000" type="screen4x3"/>
  <p:notesSz cx="10234613" cy="7102475"/>
  <p:custDataLst>
    <p:tags r:id="rId30"/>
  </p:custDataLst>
  <p:defaultTextStyle>
    <a:defPPr>
      <a:defRPr lang="zh-CN"/>
    </a:defPPr>
    <a:lvl1pPr marL="0" lvl="0"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1pPr>
    <a:lvl2pPr marL="457200" lvl="1"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5pPr>
    <a:lvl6pPr marL="2286000" lvl="5"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6pPr>
    <a:lvl7pPr marL="2743200" lvl="6"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7pPr>
    <a:lvl8pPr marL="3200400" lvl="7"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8pPr>
    <a:lvl9pPr marL="3657600" lvl="8" indent="0" algn="l" defTabSz="914400" rtl="0" eaLnBrk="1" fontAlgn="base" latinLnBrk="0" hangingPunct="1">
      <a:lnSpc>
        <a:spcPct val="100000"/>
      </a:lnSpc>
      <a:spcBef>
        <a:spcPct val="20000"/>
      </a:spcBef>
      <a:spcAft>
        <a:spcPct val="0"/>
      </a:spcAft>
      <a:buNone/>
      <a:defRPr sz="3200" b="1" i="0" u="none" kern="1200" baseline="0">
        <a:solidFill>
          <a:srgbClr val="000000"/>
        </a:solidFill>
        <a:latin typeface="Tahoma" panose="020B0604030504040204" pitchFamily="34" charset="0"/>
        <a:ea typeface="黑体" panose="02010609060101010101" pitchFamily="2" charset="-122"/>
        <a:cs typeface="+mn-cs"/>
      </a:defRPr>
    </a:lvl9pPr>
  </p:defaultTextStyle>
  <p:extLst>
    <p:ext uri="{521415D9-36F7-43E2-AB2F-B90AF26B5E84}">
      <p14:sectionLst xmlns:p14="http://schemas.microsoft.com/office/powerpoint/2010/main">
        <p14:section name="默认节" id="{3DDE8CCD-B4BE-4D01-BE1C-4BA0730CA203}">
          <p14:sldIdLst>
            <p14:sldId id="769"/>
            <p14:sldId id="356"/>
            <p14:sldId id="277"/>
            <p14:sldId id="273"/>
            <p14:sldId id="345"/>
            <p14:sldId id="272"/>
            <p14:sldId id="403"/>
            <p14:sldId id="321"/>
            <p14:sldId id="586"/>
            <p14:sldId id="578"/>
            <p14:sldId id="590"/>
            <p14:sldId id="770"/>
            <p14:sldId id="765"/>
            <p14:sldId id="387"/>
            <p14:sldId id="390"/>
            <p14:sldId id="276"/>
            <p14:sldId id="300"/>
            <p14:sldId id="306"/>
            <p14:sldId id="308"/>
            <p14:sldId id="311"/>
            <p14:sldId id="316"/>
            <p14:sldId id="318"/>
            <p14:sldId id="381"/>
            <p14:sldId id="319"/>
            <p14:sldId id="341"/>
            <p14:sldId id="320"/>
            <p14:sldId id="326"/>
          </p14:sldIdLst>
        </p14:section>
      </p14:sectionLst>
    </p:ext>
    <p:ext uri="{EFAFB233-063F-42B5-8137-9DF3F51BA10A}">
      <p15:sldGuideLst xmlns:p15="http://schemas.microsoft.com/office/powerpoint/2012/main">
        <p15:guide id="1" orient="horz" pos="215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00"/>
    <a:srgbClr val="FFFF00"/>
    <a:srgbClr val="FFFF66"/>
    <a:srgbClr val="CCFF33"/>
    <a:srgbClr val="00FF00"/>
    <a:srgbClr val="0066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90" d="100"/>
          <a:sy n="90" d="100"/>
        </p:scale>
        <p:origin x="504" y="45"/>
      </p:cViewPr>
      <p:guideLst>
        <p:guide orient="horz" pos="215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436114" cy="356322"/>
          </a:xfrm>
          <a:prstGeom prst="rect">
            <a:avLst/>
          </a:prstGeom>
        </p:spPr>
        <p:txBody>
          <a:bodyPr vert="horz" lIns="95088" tIns="47544" rIns="95088" bIns="47544" rtlCol="0"/>
          <a:lstStyle>
            <a:lvl1pPr algn="l">
              <a:defRPr sz="1200"/>
            </a:lvl1pPr>
          </a:lstStyle>
          <a:p>
            <a:endParaRPr lang="zh-CN" altLang="en-US"/>
          </a:p>
        </p:txBody>
      </p:sp>
      <p:sp>
        <p:nvSpPr>
          <p:cNvPr id="3" name="日期占位符 2"/>
          <p:cNvSpPr>
            <a:spLocks noGrp="1"/>
          </p:cNvSpPr>
          <p:nvPr>
            <p:ph type="dt" idx="1"/>
          </p:nvPr>
        </p:nvSpPr>
        <p:spPr>
          <a:xfrm>
            <a:off x="5796109" y="1"/>
            <a:ext cx="4436114" cy="356322"/>
          </a:xfrm>
          <a:prstGeom prst="rect">
            <a:avLst/>
          </a:prstGeom>
        </p:spPr>
        <p:txBody>
          <a:bodyPr vert="horz" lIns="95088" tIns="47544" rIns="95088" bIns="47544" rtlCol="0"/>
          <a:lstStyle>
            <a:lvl1pPr algn="r">
              <a:defRPr sz="1200"/>
            </a:lvl1pPr>
          </a:lstStyle>
          <a:p>
            <a:fld id="{91659422-F9FA-4C2C-B715-67513003D673}" type="datetimeFigureOut">
              <a:rPr lang="zh-CN" altLang="en-US" smtClean="0"/>
              <a:t>2026/6/11</a:t>
            </a:fld>
            <a:endParaRPr lang="zh-CN" altLang="en-US"/>
          </a:p>
        </p:txBody>
      </p:sp>
      <p:sp>
        <p:nvSpPr>
          <p:cNvPr id="4" name="幻灯片图像占位符 3"/>
          <p:cNvSpPr>
            <a:spLocks noGrp="1" noRot="1" noChangeAspect="1"/>
          </p:cNvSpPr>
          <p:nvPr>
            <p:ph type="sldImg" idx="2"/>
          </p:nvPr>
        </p:nvSpPr>
        <p:spPr>
          <a:xfrm>
            <a:off x="3519488" y="887413"/>
            <a:ext cx="3195637" cy="2397125"/>
          </a:xfrm>
          <a:prstGeom prst="rect">
            <a:avLst/>
          </a:prstGeom>
          <a:noFill/>
          <a:ln w="12700">
            <a:solidFill>
              <a:prstClr val="black"/>
            </a:solidFill>
          </a:ln>
        </p:spPr>
        <p:txBody>
          <a:bodyPr vert="horz" lIns="95088" tIns="47544" rIns="95088" bIns="47544" rtlCol="0" anchor="ctr"/>
          <a:lstStyle/>
          <a:p>
            <a:endParaRPr lang="zh-CN" altLang="en-US"/>
          </a:p>
        </p:txBody>
      </p:sp>
      <p:sp>
        <p:nvSpPr>
          <p:cNvPr id="5" name="备注占位符 4"/>
          <p:cNvSpPr>
            <a:spLocks noGrp="1"/>
          </p:cNvSpPr>
          <p:nvPr>
            <p:ph type="body" sz="quarter" idx="3"/>
          </p:nvPr>
        </p:nvSpPr>
        <p:spPr>
          <a:xfrm>
            <a:off x="1022985" y="3418188"/>
            <a:ext cx="8188647" cy="2796906"/>
          </a:xfrm>
          <a:prstGeom prst="rect">
            <a:avLst/>
          </a:prstGeom>
        </p:spPr>
        <p:txBody>
          <a:bodyPr vert="horz" lIns="95088" tIns="47544" rIns="95088" bIns="47544"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746153"/>
            <a:ext cx="4436114" cy="356322"/>
          </a:xfrm>
          <a:prstGeom prst="rect">
            <a:avLst/>
          </a:prstGeom>
        </p:spPr>
        <p:txBody>
          <a:bodyPr vert="horz" lIns="95088" tIns="47544" rIns="95088" bIns="47544"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796109" y="6746153"/>
            <a:ext cx="4436114" cy="356322"/>
          </a:xfrm>
          <a:prstGeom prst="rect">
            <a:avLst/>
          </a:prstGeom>
        </p:spPr>
        <p:txBody>
          <a:bodyPr vert="horz" lIns="95088" tIns="47544" rIns="95088" bIns="47544" rtlCol="0" anchor="b"/>
          <a:lstStyle>
            <a:lvl1pPr algn="r">
              <a:defRPr sz="1200"/>
            </a:lvl1pPr>
          </a:lstStyle>
          <a:p>
            <a:fld id="{55818628-B840-46CD-A04C-51A4A2083B4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5818628-B840-46CD-A04C-51A4A2083B48}" type="slidenum">
              <a:rPr lang="zh-CN" altLang="en-US" smtClean="0"/>
              <a:t>1</a:t>
            </a:fld>
            <a:endParaRPr lang="zh-CN" altLang="en-US"/>
          </a:p>
        </p:txBody>
      </p:sp>
    </p:spTree>
    <p:extLst>
      <p:ext uri="{BB962C8B-B14F-4D97-AF65-F5344CB8AC3E}">
        <p14:creationId xmlns:p14="http://schemas.microsoft.com/office/powerpoint/2010/main" val="1795869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吴彦：心智与政治秩序，商务印书馆，</a:t>
            </a:r>
            <a:r>
              <a:rPr lang="en-US" altLang="zh-CN" dirty="0"/>
              <a:t>2023</a:t>
            </a:r>
            <a:r>
              <a:rPr lang="zh-CN" altLang="en-US" dirty="0"/>
              <a:t>：</a:t>
            </a:r>
            <a:r>
              <a:rPr lang="en-US" altLang="zh-CN"/>
              <a:t>65-70</a:t>
            </a:r>
            <a:endParaRPr lang="zh-CN" altLang="en-US"/>
          </a:p>
        </p:txBody>
      </p:sp>
      <p:sp>
        <p:nvSpPr>
          <p:cNvPr id="4" name="灯片编号占位符 3"/>
          <p:cNvSpPr>
            <a:spLocks noGrp="1"/>
          </p:cNvSpPr>
          <p:nvPr>
            <p:ph type="sldNum" sz="quarter" idx="5"/>
          </p:nvPr>
        </p:nvSpPr>
        <p:spPr/>
        <p:txBody>
          <a:bodyPr/>
          <a:lstStyle/>
          <a:p>
            <a:fld id="{55818628-B840-46CD-A04C-51A4A2083B48}" type="slidenum">
              <a:rPr lang="zh-CN" altLang="en-US" smtClean="0"/>
              <a:t>10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p:txBody>
          <a:bodyPr/>
          <a:lstStyle/>
          <a:p>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 name="Footer Placeholder 5"/>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8" name="Footer Placeholder 7"/>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9" name="Slide Number Placeholder 8"/>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3"/>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4"/>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2"/>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3"/>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7" name="Date Placeholder 4"/>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5"/>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6"/>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 name="Footer Placeholder 5"/>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 name="Footer Placeholder 5"/>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hasCustomPrompt="1"/>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4" name="Date Placeholder 3"/>
          <p:cNvSpPr>
            <a:spLocks noGrp="1"/>
          </p:cNvSpPr>
          <p:nvPr>
            <p:ph type="dt" sz="half" idx="10"/>
          </p:nvPr>
        </p:nvSpPr>
        <p:spPr/>
        <p:txBody>
          <a:body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hasCustomPrompt="1"/>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编辑母版文本样式</a:t>
            </a:r>
          </a:p>
        </p:txBody>
      </p:sp>
      <p:sp>
        <p:nvSpPr>
          <p:cNvPr id="10" name="Text Placeholder 3"/>
          <p:cNvSpPr>
            <a:spLocks noGrp="1"/>
          </p:cNvSpPr>
          <p:nvPr>
            <p:ph type="body" sz="half" idx="2" hasCustomPrompt="1"/>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4" name="Date Placeholder 3"/>
          <p:cNvSpPr>
            <a:spLocks noGrp="1"/>
          </p:cNvSpPr>
          <p:nvPr>
            <p:ph type="dt" sz="half" idx="10"/>
          </p:nvPr>
        </p:nvSpPr>
        <p:spPr/>
        <p:txBody>
          <a:body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6" name="Text Placeholder 3"/>
          <p:cNvSpPr>
            <a:spLocks noGrp="1"/>
          </p:cNvSpPr>
          <p:nvPr>
            <p:ph type="body" sz="half" idx="15" hasCustomPrompt="1"/>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Text Placeholder 4"/>
          <p:cNvSpPr>
            <a:spLocks noGrp="1"/>
          </p:cNvSpPr>
          <p:nvPr>
            <p:ph type="body" sz="quarter" idx="3" hasCustomPrompt="1"/>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9" name="Text Placeholder 3"/>
          <p:cNvSpPr>
            <a:spLocks noGrp="1"/>
          </p:cNvSpPr>
          <p:nvPr>
            <p:ph type="body" sz="half" idx="16" hasCustomPrompt="1"/>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4" name="Text Placeholder 4"/>
          <p:cNvSpPr>
            <a:spLocks noGrp="1"/>
          </p:cNvSpPr>
          <p:nvPr>
            <p:ph type="body" sz="quarter" idx="13" hasCustomPrompt="1"/>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0" name="Text Placeholder 3"/>
          <p:cNvSpPr>
            <a:spLocks noGrp="1"/>
          </p:cNvSpPr>
          <p:nvPr>
            <p:ph type="body" sz="half" idx="17" hasCustomPrompt="1"/>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hasCustomPrompt="1"/>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Text Placeholder 4"/>
          <p:cNvSpPr>
            <a:spLocks noGrp="1"/>
          </p:cNvSpPr>
          <p:nvPr>
            <p:ph type="body" sz="quarter" idx="3" hasCustomPrompt="1"/>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hasCustomPrompt="1"/>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4" name="Text Placeholder 4"/>
          <p:cNvSpPr>
            <a:spLocks noGrp="1"/>
          </p:cNvSpPr>
          <p:nvPr>
            <p:ph type="body" sz="quarter" idx="13" hasCustomPrompt="1"/>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hasCustomPrompt="1"/>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nchor="t" anchorCtr="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489475" y="773205"/>
            <a:ext cx="5568812" cy="548313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p:txBody>
          <a:body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a:endParaRPr dirty="0">
              <a:effectLst>
                <a:outerShdw blurRad="38100" dist="38100" dir="2700000">
                  <a:srgbClr val="000000"/>
                </a:outerShdw>
              </a:effectLst>
              <a:ea typeface="宋体" panose="02010600030101010101" pitchFamily="2" charset="-122"/>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066800" y="304800"/>
            <a:ext cx="7543800" cy="579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pPr lvl="0"/>
            <a:fld id="{BB962C8B-B14F-4D97-AF65-F5344CB8AC3E}" type="datetime1">
              <a:rPr lang="zh-CN" altLang="en-US" dirty="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a:endParaRPr dirty="0">
              <a:effectLst>
                <a:outerShdw blurRad="38100" dist="38100" dir="2700000">
                  <a:srgbClr val="000000"/>
                </a:outerShdw>
              </a:effectLst>
              <a:ea typeface="宋体" panose="02010600030101010101" pitchFamily="2" charset="-122"/>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lvl="0"/>
            <a:fld id="{BB962C8B-B14F-4D97-AF65-F5344CB8AC3E}" type="datetime1">
              <a:rPr lang="zh-CN" altLang="en-US" smtClean="0">
                <a:effectLst>
                  <a:outerShdw blurRad="38100" dist="38100" dir="2700000">
                    <a:srgbClr val="000000"/>
                  </a:outerShdw>
                </a:effectLst>
                <a:ea typeface="宋体" panose="02010600030101010101" pitchFamily="2" charset="-122"/>
              </a:rPr>
              <a:t>2026/6/11</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lvl="0"/>
            <a:endParaRPr lang="zh-CN" altLang="en-US" dirty="0">
              <a:effectLst>
                <a:outerShdw blurRad="38100" dist="38100" dir="2700000">
                  <a:srgbClr val="000000"/>
                </a:outerShdw>
              </a:effectLst>
              <a:ea typeface="宋体" panose="02010600030101010101" pitchFamily="2" charset="-122"/>
            </a:endParaRP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lvl="0"/>
            <a:fld id="{9A0DB2DC-4C9A-4742-B13C-FB6460FD3503}" type="slidenum">
              <a:rPr lang="zh-CN" altLang="en-US" smtClean="0">
                <a:effectLst>
                  <a:outerShdw blurRad="38100" dist="38100" dir="2700000">
                    <a:srgbClr val="000000"/>
                  </a:outerShdw>
                </a:effectLst>
                <a:ea typeface="宋体" panose="02010600030101010101" pitchFamily="2" charset="-122"/>
              </a:rPr>
              <a:t>‹#›</a:t>
            </a:fld>
            <a:endParaRPr lang="zh-CN" altLang="en-US" dirty="0">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0014" y="304800"/>
            <a:ext cx="8947785" cy="6400800"/>
          </a:xfrm>
        </p:spPr>
        <p:txBody>
          <a:bodyPr>
            <a:noAutofit/>
          </a:bodyPr>
          <a:lstStyle/>
          <a:p>
            <a:pPr marL="0" indent="0">
              <a:buNone/>
            </a:pPr>
            <a:r>
              <a:rPr lang="zh-CN" altLang="en-US" sz="1800" dirty="0">
                <a:latin typeface="华文楷体" panose="02010600040101010101" pitchFamily="2" charset="-122"/>
                <a:ea typeface="华文楷体" panose="02010600040101010101" pitchFamily="2" charset="-122"/>
              </a:rPr>
              <a:t>知、情、意的关系</a:t>
            </a:r>
          </a:p>
          <a:p>
            <a:pPr marL="0" indent="0">
              <a:buNone/>
            </a:pPr>
            <a:r>
              <a:rPr lang="zh-CN" altLang="en-US" sz="1800" dirty="0">
                <a:latin typeface="华文楷体" panose="02010600040101010101" pitchFamily="2" charset="-122"/>
                <a:ea typeface="华文楷体" panose="02010600040101010101" pitchFamily="2" charset="-122"/>
              </a:rPr>
              <a:t>在没有任何情感介入的情况下，人类的认知是否可能？</a:t>
            </a:r>
          </a:p>
          <a:p>
            <a:pPr marL="0" indent="0">
              <a:buNone/>
            </a:pPr>
            <a:r>
              <a:rPr lang="zh-CN" altLang="en-US" sz="1800" dirty="0">
                <a:latin typeface="华文楷体" panose="02010600040101010101" pitchFamily="2" charset="-122"/>
                <a:ea typeface="华文楷体" panose="02010600040101010101" pitchFamily="2" charset="-122"/>
              </a:rPr>
              <a:t>在没有任何认知介入的情况下，信念是否可能？</a:t>
            </a:r>
            <a:endParaRPr lang="en-US" altLang="zh-CN" sz="1800" dirty="0">
              <a:latin typeface="华文楷体" panose="02010600040101010101" pitchFamily="2" charset="-122"/>
              <a:ea typeface="华文楷体" panose="02010600040101010101" pitchFamily="2" charset="-122"/>
            </a:endParaRPr>
          </a:p>
          <a:p>
            <a:pPr marL="0" indent="0">
              <a:buNone/>
            </a:pPr>
            <a:r>
              <a:rPr lang="zh-CN" altLang="en-US" sz="1800" dirty="0">
                <a:latin typeface="华文楷体" panose="02010600040101010101" pitchFamily="2" charset="-122"/>
                <a:ea typeface="华文楷体" panose="02010600040101010101" pitchFamily="2" charset="-122"/>
              </a:rPr>
              <a:t>在“知、情、意”的框架中，“知”指认知与知识，“情”指情感与感受，“意”指意志与信念。针对两个问题，可以分别论述：</a:t>
            </a:r>
          </a:p>
          <a:p>
            <a:pPr marL="0" indent="0">
              <a:buNone/>
            </a:pPr>
            <a:r>
              <a:rPr lang="zh-CN" altLang="en-US" sz="1800" dirty="0">
                <a:latin typeface="华文楷体" panose="02010600040101010101" pitchFamily="2" charset="-122"/>
                <a:ea typeface="华文楷体" panose="02010600040101010101" pitchFamily="2" charset="-122"/>
              </a:rPr>
              <a:t>第一，在没有任何情感介入的情况下，人类的认知是否可能？  </a:t>
            </a:r>
          </a:p>
          <a:p>
            <a:pPr marL="0" indent="0">
              <a:buNone/>
            </a:pPr>
            <a:r>
              <a:rPr lang="zh-CN" altLang="en-US" sz="1800" dirty="0">
                <a:latin typeface="华文楷体" panose="02010600040101010101" pitchFamily="2" charset="-122"/>
                <a:ea typeface="华文楷体" panose="02010600040101010101" pitchFamily="2" charset="-122"/>
              </a:rPr>
              <a:t>从神经科学和心理学看，完全“无情感”的认知几乎不可能。情感并非认知的干扰，而是其基本驱动力与筛选机制。例如，决策研究（如达马西奥的 </a:t>
            </a:r>
            <a:r>
              <a:rPr lang="en-US" altLang="zh-CN" sz="1800" dirty="0">
                <a:latin typeface="华文楷体" panose="02010600040101010101" pitchFamily="2" charset="-122"/>
                <a:ea typeface="华文楷体" panose="02010600040101010101" pitchFamily="2" charset="-122"/>
              </a:rPr>
              <a:t>somatic marker </a:t>
            </a:r>
            <a:r>
              <a:rPr lang="zh-CN" altLang="en-US" sz="1800" dirty="0">
                <a:latin typeface="华文楷体" panose="02010600040101010101" pitchFamily="2" charset="-122"/>
                <a:ea typeface="华文楷体" panose="02010600040101010101" pitchFamily="2" charset="-122"/>
              </a:rPr>
              <a:t>假说）表明，缺乏情感信号的患者无法对选项赋值，连简单选择都难以完成。注意力的聚焦、记忆的巩固、意义的判断，均依赖情感标记。即使纯逻辑推理，也需要“求真”的情感偏好作为动力。因此，脱离情感的认知可能只剩空洞的信息加工，而非人类意义上的理解与判断。</a:t>
            </a:r>
          </a:p>
          <a:p>
            <a:pPr marL="0" indent="0">
              <a:buNone/>
            </a:pPr>
            <a:r>
              <a:rPr lang="zh-CN" altLang="en-US" sz="1800" dirty="0">
                <a:latin typeface="华文楷体" panose="02010600040101010101" pitchFamily="2" charset="-122"/>
                <a:ea typeface="华文楷体" panose="02010600040101010101" pitchFamily="2" charset="-122"/>
              </a:rPr>
              <a:t>第二，在没有任何认知介入的情况下，信念是否可能？  </a:t>
            </a:r>
          </a:p>
          <a:p>
            <a:pPr marL="0" indent="0">
              <a:buNone/>
            </a:pPr>
            <a:r>
              <a:rPr lang="zh-CN" altLang="en-US" sz="1800" dirty="0">
                <a:latin typeface="华文楷体" panose="02010600040101010101" pitchFamily="2" charset="-122"/>
                <a:ea typeface="华文楷体" panose="02010600040101010101" pitchFamily="2" charset="-122"/>
              </a:rPr>
              <a:t>信念属于“意”的范畴，但离不开认知基础。一个信念必然包含某种“相信某事为真”的命题内容，这需要认知性表征</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即便该内容源自非理性愿望或幻觉。例如，一个人因极度恐惧而相信房间里有鬼，其信念仍涉及对“存在”的判断，涉及感知、记忆或推理的认知成分。没有认知介入，则只有原始冲动或身体感受，无法形成“相信某命题”的信念状态。因此，无认知的信念在概念上不可理解。</a:t>
            </a:r>
          </a:p>
          <a:p>
            <a:pPr marL="0" indent="0">
              <a:buNone/>
            </a:pPr>
            <a:r>
              <a:rPr lang="zh-CN" altLang="en-US" sz="1800" dirty="0">
                <a:latin typeface="华文楷体" panose="02010600040101010101" pitchFamily="2" charset="-122"/>
                <a:ea typeface="华文楷体" panose="02010600040101010101" pitchFamily="2" charset="-122"/>
              </a:rPr>
              <a:t>综上，知与情、知与意在人类心理中相互渗透，纯粹孤立的任一维度都不成立。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文本占位符 128002"/>
          <p:cNvSpPr>
            <a:spLocks noGrp="1"/>
          </p:cNvSpPr>
          <p:nvPr>
            <p:ph idx="1"/>
          </p:nvPr>
        </p:nvSpPr>
        <p:spPr>
          <a:xfrm>
            <a:off x="1524000" y="1295400"/>
            <a:ext cx="5562600" cy="4343400"/>
          </a:xfrm>
        </p:spPr>
        <p:txBody>
          <a:bodyPr/>
          <a:lstStyle/>
          <a:p>
            <a:pPr marL="0" indent="0">
              <a:lnSpc>
                <a:spcPct val="80000"/>
              </a:lnSpc>
              <a:buNone/>
            </a:pPr>
            <a:r>
              <a:rPr lang="zh-CN" altLang="en-US" sz="2800" b="1" dirty="0">
                <a:latin typeface="华文楷体" panose="02010600040101010101" pitchFamily="2" charset="-122"/>
                <a:ea typeface="华文楷体" panose="02010600040101010101" pitchFamily="2" charset="-122"/>
              </a:rPr>
              <a:t>一个民族如果全体都陷入某种理想主义的狂热，当然太天真，如果在它的青年人中竟然也难觅理想主义者，又实在太堕落了。</a:t>
            </a:r>
          </a:p>
          <a:p>
            <a:pPr marL="0" indent="0">
              <a:lnSpc>
                <a:spcPct val="80000"/>
              </a:lnSpc>
              <a:buNone/>
            </a:pPr>
            <a:r>
              <a:rPr lang="zh-CN" altLang="en-US" sz="2800" b="1" dirty="0">
                <a:latin typeface="华文楷体" panose="02010600040101010101" pitchFamily="2" charset="-122"/>
                <a:ea typeface="华文楷体" panose="02010600040101010101" pitchFamily="2" charset="-122"/>
              </a:rPr>
              <a:t>就处世来说，如果世道重实利而轻理想，理想主义会显得不合时宜；就做人来说，只要一个人看重灵魂生活，理想主义对他便永远不会过时。当然，对于没有灵魂的东西，理想毫无用处。</a:t>
            </a:r>
          </a:p>
          <a:p>
            <a:pPr>
              <a:lnSpc>
                <a:spcPct val="80000"/>
              </a:lnSpc>
              <a:buNone/>
            </a:pPr>
            <a:r>
              <a:rPr lang="zh-CN" altLang="en-US" sz="2800" b="1" dirty="0">
                <a:latin typeface="华文楷体" panose="02010600040101010101" pitchFamily="2" charset="-122"/>
                <a:ea typeface="华文楷体" panose="02010600040101010101" pitchFamily="2" charset="-122"/>
              </a:rPr>
              <a:t>       </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周国平</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理想主义</a:t>
            </a:r>
            <a:r>
              <a:rPr lang="en-US" altLang="zh-CN" sz="2400" b="1" dirty="0">
                <a:latin typeface="华文楷体" panose="02010600040101010101" pitchFamily="2" charset="-122"/>
                <a:ea typeface="华文楷体"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 calcmode="lin" valueType="num">
                                      <p:cBhvr additive="base">
                                        <p:cTn id="7" dur="500" fill="hold"/>
                                        <p:tgtEl>
                                          <p:spTgt spid="1280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80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8003">
                                            <p:txEl>
                                              <p:pRg st="1" end="1"/>
                                            </p:txEl>
                                          </p:spTgt>
                                        </p:tgtEl>
                                        <p:attrNameLst>
                                          <p:attrName>style.visibility</p:attrName>
                                        </p:attrNameLst>
                                      </p:cBhvr>
                                      <p:to>
                                        <p:strVal val="visible"/>
                                      </p:to>
                                    </p:set>
                                    <p:anim calcmode="lin" valueType="num">
                                      <p:cBhvr additive="base">
                                        <p:cTn id="13" dur="500" fill="hold"/>
                                        <p:tgtEl>
                                          <p:spTgt spid="1280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80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8003">
                                            <p:txEl>
                                              <p:pRg st="2" end="2"/>
                                            </p:txEl>
                                          </p:spTgt>
                                        </p:tgtEl>
                                        <p:attrNameLst>
                                          <p:attrName>style.visibility</p:attrName>
                                        </p:attrNameLst>
                                      </p:cBhvr>
                                      <p:to>
                                        <p:strVal val="visible"/>
                                      </p:to>
                                    </p:set>
                                    <p:anim calcmode="lin" valueType="num">
                                      <p:cBhvr additive="base">
                                        <p:cTn id="19" dur="500" fill="hold"/>
                                        <p:tgtEl>
                                          <p:spTgt spid="1280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80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文本占位符 30722"/>
          <p:cNvSpPr>
            <a:spLocks noGrp="1"/>
          </p:cNvSpPr>
          <p:nvPr>
            <p:ph idx="1"/>
          </p:nvPr>
        </p:nvSpPr>
        <p:spPr>
          <a:xfrm>
            <a:off x="155427" y="733455"/>
            <a:ext cx="6102054" cy="1295400"/>
          </a:xfrm>
        </p:spPr>
        <p:txBody>
          <a:bodyPr>
            <a:normAutofit/>
          </a:bodyPr>
          <a:lstStyle/>
          <a:p>
            <a:pPr>
              <a:lnSpc>
                <a:spcPct val="120000"/>
              </a:lnSpc>
              <a:buClrTx/>
              <a:buSzTx/>
              <a:buFontTx/>
              <a:buNone/>
            </a:pPr>
            <a:r>
              <a:rPr lang="zh-CN" altLang="en-US" b="1" dirty="0">
                <a:solidFill>
                  <a:srgbClr val="FF9900"/>
                </a:solidFill>
                <a:ea typeface="华文新魏" panose="02010800040101010101" pitchFamily="2" charset="-122"/>
              </a:rPr>
              <a:t>          </a:t>
            </a:r>
            <a:r>
              <a:rPr lang="zh-CN" altLang="en-US" sz="1800" b="1" dirty="0">
                <a:latin typeface="华文宋体" panose="02010600040101010101" pitchFamily="2" charset="-122"/>
                <a:ea typeface="华文宋体" panose="02010600040101010101" pitchFamily="2" charset="-122"/>
              </a:rPr>
              <a:t>理想是人们在实践中形成的、有可能实现的、对未来社会和自身发展的向往与追求，是人们的世界观、人生观和价值观在奋斗目标上的集中体现。</a:t>
            </a:r>
          </a:p>
          <a:p>
            <a:endParaRPr lang="zh-CN" altLang="en-US" dirty="0">
              <a:ea typeface="楷体_GB2312" pitchFamily="49" charset="-122"/>
            </a:endParaRPr>
          </a:p>
        </p:txBody>
      </p:sp>
      <p:sp>
        <p:nvSpPr>
          <p:cNvPr id="2" name="文本框 1">
            <a:extLst>
              <a:ext uri="{FF2B5EF4-FFF2-40B4-BE49-F238E27FC236}">
                <a16:creationId xmlns:a16="http://schemas.microsoft.com/office/drawing/2014/main" id="{F9F20754-2B55-EA47-0320-408CF53C0942}"/>
              </a:ext>
            </a:extLst>
          </p:cNvPr>
          <p:cNvSpPr txBox="1"/>
          <p:nvPr/>
        </p:nvSpPr>
        <p:spPr>
          <a:xfrm>
            <a:off x="381000" y="333345"/>
            <a:ext cx="3352800" cy="400110"/>
          </a:xfrm>
          <a:prstGeom prst="rect">
            <a:avLst/>
          </a:prstGeom>
          <a:noFill/>
        </p:spPr>
        <p:txBody>
          <a:bodyPr wrap="square" rtlCol="0">
            <a:spAutoFit/>
          </a:bodyPr>
          <a:lstStyle/>
          <a:p>
            <a:r>
              <a:rPr lang="zh-CN" altLang="en-US" sz="2000" dirty="0">
                <a:solidFill>
                  <a:schemeClr val="tx1"/>
                </a:solidFill>
              </a:rPr>
              <a:t>理想的含义</a:t>
            </a:r>
          </a:p>
        </p:txBody>
      </p:sp>
      <p:sp>
        <p:nvSpPr>
          <p:cNvPr id="4" name="文本框 3">
            <a:extLst>
              <a:ext uri="{FF2B5EF4-FFF2-40B4-BE49-F238E27FC236}">
                <a16:creationId xmlns:a16="http://schemas.microsoft.com/office/drawing/2014/main" id="{27CCAD7C-B05C-9B7B-43A4-EE568148F920}"/>
              </a:ext>
            </a:extLst>
          </p:cNvPr>
          <p:cNvSpPr txBox="1"/>
          <p:nvPr/>
        </p:nvSpPr>
        <p:spPr>
          <a:xfrm>
            <a:off x="381000" y="1828800"/>
            <a:ext cx="3352800" cy="400110"/>
          </a:xfrm>
          <a:prstGeom prst="rect">
            <a:avLst/>
          </a:prstGeom>
          <a:noFill/>
        </p:spPr>
        <p:txBody>
          <a:bodyPr wrap="square" rtlCol="0">
            <a:spAutoFit/>
          </a:bodyPr>
          <a:lstStyle/>
          <a:p>
            <a:r>
              <a:rPr lang="zh-CN" altLang="en-US" sz="2000" dirty="0">
                <a:solidFill>
                  <a:schemeClr val="tx1"/>
                </a:solidFill>
              </a:rPr>
              <a:t>理想的特征</a:t>
            </a:r>
          </a:p>
        </p:txBody>
      </p:sp>
      <p:sp>
        <p:nvSpPr>
          <p:cNvPr id="5" name="文本占位符 30722">
            <a:extLst>
              <a:ext uri="{FF2B5EF4-FFF2-40B4-BE49-F238E27FC236}">
                <a16:creationId xmlns:a16="http://schemas.microsoft.com/office/drawing/2014/main" id="{6868A939-D287-EB5C-1316-95EB0F57178D}"/>
              </a:ext>
            </a:extLst>
          </p:cNvPr>
          <p:cNvSpPr txBox="1">
            <a:spLocks/>
          </p:cNvSpPr>
          <p:nvPr/>
        </p:nvSpPr>
        <p:spPr>
          <a:xfrm>
            <a:off x="155427" y="2228910"/>
            <a:ext cx="5492454" cy="4857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lnSpc>
                <a:spcPct val="120000"/>
              </a:lnSpc>
              <a:buClrTx/>
              <a:buSzTx/>
              <a:buFontTx/>
              <a:buNone/>
            </a:pPr>
            <a:r>
              <a:rPr lang="zh-CN" altLang="en-US" b="1" dirty="0">
                <a:solidFill>
                  <a:srgbClr val="FF9900"/>
                </a:solidFill>
                <a:ea typeface="华文新魏" panose="02010800040101010101" pitchFamily="2" charset="-122"/>
              </a:rPr>
              <a:t>          </a:t>
            </a:r>
            <a:r>
              <a:rPr lang="zh-CN" altLang="en-US" sz="1800" b="1" dirty="0">
                <a:latin typeface="华文宋体" panose="02010600040101010101" pitchFamily="2" charset="-122"/>
                <a:ea typeface="华文宋体" panose="02010600040101010101" pitchFamily="2" charset="-122"/>
              </a:rPr>
              <a:t>时代性超越性实践性</a:t>
            </a:r>
            <a:endParaRPr lang="zh-CN" altLang="en-US" dirty="0">
              <a:ea typeface="楷体_GB2312" pitchFamily="49" charset="-122"/>
            </a:endParaRPr>
          </a:p>
        </p:txBody>
      </p:sp>
      <p:sp>
        <p:nvSpPr>
          <p:cNvPr id="16387" name="文本占位符 16386"/>
          <p:cNvSpPr txBox="1">
            <a:spLocks/>
          </p:cNvSpPr>
          <p:nvPr/>
        </p:nvSpPr>
        <p:spPr>
          <a:xfrm>
            <a:off x="457200" y="2667000"/>
            <a:ext cx="3352800" cy="2057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latin typeface="华文宋体" panose="02010600040101010101" pitchFamily="2" charset="-122"/>
                <a:ea typeface="华文宋体" panose="02010600040101010101" pitchFamily="2" charset="-122"/>
              </a:rPr>
              <a:t>饥饿的年代，理想是温饱；</a:t>
            </a:r>
          </a:p>
          <a:p>
            <a:pPr fontAlgn="auto"/>
            <a:r>
              <a:rPr lang="zh-CN" altLang="en-US" sz="1800" b="1" dirty="0">
                <a:latin typeface="华文宋体" panose="02010600040101010101" pitchFamily="2" charset="-122"/>
                <a:ea typeface="华文宋体" panose="02010600040101010101" pitchFamily="2" charset="-122"/>
              </a:rPr>
              <a:t>温饱的年代，理想是文明；</a:t>
            </a:r>
          </a:p>
          <a:p>
            <a:pPr fontAlgn="auto"/>
            <a:r>
              <a:rPr lang="zh-CN" altLang="en-US" sz="1800" b="1" dirty="0">
                <a:latin typeface="华文宋体" panose="02010600040101010101" pitchFamily="2" charset="-122"/>
                <a:ea typeface="华文宋体" panose="02010600040101010101" pitchFamily="2" charset="-122"/>
              </a:rPr>
              <a:t>离乱的年代，理想是安定；</a:t>
            </a:r>
          </a:p>
          <a:p>
            <a:pPr fontAlgn="auto"/>
            <a:r>
              <a:rPr lang="zh-CN" altLang="en-US" sz="1800" b="1" dirty="0">
                <a:latin typeface="华文宋体" panose="02010600040101010101" pitchFamily="2" charset="-122"/>
                <a:ea typeface="华文宋体" panose="02010600040101010101" pitchFamily="2" charset="-122"/>
              </a:rPr>
              <a:t>安定的年代，理想是繁荣。</a:t>
            </a:r>
          </a:p>
          <a:p>
            <a:pPr fontAlgn="auto">
              <a:buFont typeface="Wingdings 3" panose="05040102010807070707" charset="2"/>
              <a:buNone/>
            </a:pPr>
            <a:r>
              <a:rPr lang="zh-CN" altLang="en-US" sz="1800" b="1" dirty="0">
                <a:latin typeface="华文宋体" panose="02010600040101010101" pitchFamily="2" charset="-122"/>
                <a:ea typeface="华文宋体" panose="02010600040101010101" pitchFamily="2" charset="-122"/>
              </a:rPr>
              <a:t>       </a:t>
            </a:r>
            <a:r>
              <a:rPr lang="en-US" altLang="zh-CN" sz="1800" b="1" dirty="0">
                <a:latin typeface="华文宋体" panose="02010600040101010101" pitchFamily="2" charset="-122"/>
                <a:ea typeface="华文宋体" panose="02010600040101010101" pitchFamily="2" charset="-122"/>
              </a:rPr>
              <a:t>——</a:t>
            </a:r>
            <a:r>
              <a:rPr lang="zh-CN" altLang="en-US" sz="1800" b="1" dirty="0">
                <a:latin typeface="华文宋体" panose="02010600040101010101" pitchFamily="2" charset="-122"/>
                <a:ea typeface="华文宋体" panose="02010600040101010101" pitchFamily="2" charset="-122"/>
              </a:rPr>
              <a:t>流沙河</a:t>
            </a:r>
            <a:r>
              <a:rPr lang="en-US" altLang="zh-CN" sz="1800" b="1" dirty="0">
                <a:latin typeface="华文宋体" panose="02010600040101010101" pitchFamily="2" charset="-122"/>
                <a:ea typeface="华文宋体" panose="02010600040101010101" pitchFamily="2" charset="-122"/>
              </a:rPr>
              <a:t>《</a:t>
            </a:r>
            <a:r>
              <a:rPr lang="zh-CN" altLang="en-US" sz="1800" b="1" dirty="0">
                <a:latin typeface="华文宋体" panose="02010600040101010101" pitchFamily="2" charset="-122"/>
                <a:ea typeface="华文宋体" panose="02010600040101010101" pitchFamily="2" charset="-122"/>
              </a:rPr>
              <a:t>理想</a:t>
            </a:r>
            <a:r>
              <a:rPr lang="en-US" altLang="zh-CN" sz="1800" b="1" dirty="0">
                <a:latin typeface="华文宋体" panose="02010600040101010101" pitchFamily="2" charset="-122"/>
                <a:ea typeface="华文宋体" panose="02010600040101010101" pitchFamily="2" charset="-122"/>
              </a:rPr>
              <a:t>》</a:t>
            </a:r>
          </a:p>
        </p:txBody>
      </p:sp>
      <p:sp>
        <p:nvSpPr>
          <p:cNvPr id="6" name="文本占位符 20482">
            <a:extLst>
              <a:ext uri="{FF2B5EF4-FFF2-40B4-BE49-F238E27FC236}">
                <a16:creationId xmlns:a16="http://schemas.microsoft.com/office/drawing/2014/main" id="{4C9C06E8-4C65-8975-55A3-6894E5FA9D52}"/>
              </a:ext>
            </a:extLst>
          </p:cNvPr>
          <p:cNvSpPr txBox="1">
            <a:spLocks/>
          </p:cNvSpPr>
          <p:nvPr/>
        </p:nvSpPr>
        <p:spPr>
          <a:xfrm>
            <a:off x="377456" y="4724400"/>
            <a:ext cx="3733800" cy="140014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latin typeface="华文宋体" panose="02010600040101010101" pitchFamily="2" charset="-122"/>
                <a:ea typeface="华文宋体" panose="02010600040101010101" pitchFamily="2" charset="-122"/>
              </a:rPr>
              <a:t>理想来源于实践</a:t>
            </a:r>
          </a:p>
          <a:p>
            <a:pPr fontAlgn="auto"/>
            <a:endParaRPr lang="zh-CN" altLang="en-US" sz="1800" b="1" dirty="0">
              <a:latin typeface="华文宋体" panose="02010600040101010101" pitchFamily="2" charset="-122"/>
              <a:ea typeface="华文宋体" panose="02010600040101010101" pitchFamily="2" charset="-122"/>
            </a:endParaRPr>
          </a:p>
          <a:p>
            <a:pPr fontAlgn="auto"/>
            <a:r>
              <a:rPr lang="zh-CN" altLang="en-US" sz="1800" b="1" dirty="0">
                <a:latin typeface="华文宋体" panose="02010600040101010101" pitchFamily="2" charset="-122"/>
                <a:ea typeface="华文宋体" panose="02010600040101010101" pitchFamily="2" charset="-122"/>
              </a:rPr>
              <a:t>理想必须通过实践才能实现</a:t>
            </a:r>
          </a:p>
        </p:txBody>
      </p:sp>
      <p:sp>
        <p:nvSpPr>
          <p:cNvPr id="7" name="文本占位符 21506">
            <a:extLst>
              <a:ext uri="{FF2B5EF4-FFF2-40B4-BE49-F238E27FC236}">
                <a16:creationId xmlns:a16="http://schemas.microsoft.com/office/drawing/2014/main" id="{D2D65F75-8E44-09B1-B823-010E8281C9BD}"/>
              </a:ext>
            </a:extLst>
          </p:cNvPr>
          <p:cNvSpPr txBox="1">
            <a:spLocks/>
          </p:cNvSpPr>
          <p:nvPr/>
        </p:nvSpPr>
        <p:spPr>
          <a:xfrm>
            <a:off x="4003675" y="1981200"/>
            <a:ext cx="4197571" cy="3352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buFont typeface="Wingdings 3" panose="05040102010807070707" charset="2"/>
              <a:buNone/>
            </a:pPr>
            <a:r>
              <a:rPr lang="en-US" altLang="zh-CN" sz="1800" dirty="0">
                <a:latin typeface="华文宋体" panose="02010600040101010101" pitchFamily="2" charset="-122"/>
                <a:ea typeface="华文宋体" panose="02010600040101010101" pitchFamily="2" charset="-122"/>
              </a:rPr>
              <a:t>      </a:t>
            </a:r>
            <a:r>
              <a:rPr lang="zh-CN" altLang="en-US" sz="1800" b="1" dirty="0">
                <a:latin typeface="华文宋体" panose="02010600040101010101" pitchFamily="2" charset="-122"/>
                <a:ea typeface="华文宋体" panose="02010600040101010101" pitchFamily="2" charset="-122"/>
              </a:rPr>
              <a:t>理想是对人生存的现实状态的超越。它不是关于现实“是什么”的认识，而是关于现实“应如何”的认识，它总是以对现实的否定或对立的面目出现的，是人们所期盼的、现实尚未达到的未来状态。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30723">
                                            <p:txEl>
                                              <p:pRg st="0" end="0"/>
                                            </p:txEl>
                                          </p:spTgt>
                                        </p:tgtEl>
                                        <p:attrNameLst>
                                          <p:attrName>style.visibility</p:attrName>
                                        </p:attrNameLst>
                                      </p:cBhvr>
                                      <p:to>
                                        <p:strVal val="visible"/>
                                      </p:to>
                                    </p:set>
                                    <p:anim calcmode="lin" valueType="num">
                                      <p:cBhvr additive="base">
                                        <p:cTn id="11" dur="1000" fill="hold"/>
                                        <p:tgtEl>
                                          <p:spTgt spid="30723">
                                            <p:txEl>
                                              <p:pRg st="0" end="0"/>
                                            </p:txEl>
                                          </p:spTgt>
                                        </p:tgtEl>
                                        <p:attrNameLst>
                                          <p:attrName>ppt_x</p:attrName>
                                        </p:attrNameLst>
                                      </p:cBhvr>
                                      <p:tavLst>
                                        <p:tav tm="0">
                                          <p:val>
                                            <p:strVal val="1+#ppt_w/2"/>
                                          </p:val>
                                        </p:tav>
                                        <p:tav tm="100000">
                                          <p:val>
                                            <p:strVal val="#ppt_x"/>
                                          </p:val>
                                        </p:tav>
                                      </p:tavLst>
                                    </p:anim>
                                    <p:anim calcmode="lin" valueType="num">
                                      <p:cBhvr additive="base">
                                        <p:cTn id="12" dur="1000" fill="hold"/>
                                        <p:tgtEl>
                                          <p:spTgt spid="307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 calcmode="lin" valueType="num">
                                      <p:cBhvr additive="base">
                                        <p:cTn id="21" dur="10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2" dur="10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387">
                                            <p:txEl>
                                              <p:pRg st="0" end="0"/>
                                            </p:txEl>
                                          </p:spTgt>
                                        </p:tgtEl>
                                        <p:attrNameLst>
                                          <p:attrName>style.visibility</p:attrName>
                                        </p:attrNameLst>
                                      </p:cBhvr>
                                      <p:to>
                                        <p:strVal val="visible"/>
                                      </p:to>
                                    </p:set>
                                    <p:anim calcmode="lin" valueType="num">
                                      <p:cBhvr additive="base">
                                        <p:cTn id="2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6387">
                                            <p:txEl>
                                              <p:pRg st="1" end="1"/>
                                            </p:txEl>
                                          </p:spTgt>
                                        </p:tgtEl>
                                        <p:attrNameLst>
                                          <p:attrName>style.visibility</p:attrName>
                                        </p:attrNameLst>
                                      </p:cBhvr>
                                      <p:to>
                                        <p:strVal val="visible"/>
                                      </p:to>
                                    </p:set>
                                    <p:anim calcmode="lin" valueType="num">
                                      <p:cBhvr additive="base">
                                        <p:cTn id="3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6387">
                                            <p:txEl>
                                              <p:pRg st="2" end="2"/>
                                            </p:txEl>
                                          </p:spTgt>
                                        </p:tgtEl>
                                        <p:attrNameLst>
                                          <p:attrName>style.visibility</p:attrName>
                                        </p:attrNameLst>
                                      </p:cBhvr>
                                      <p:to>
                                        <p:strVal val="visible"/>
                                      </p:to>
                                    </p:set>
                                    <p:anim calcmode="lin" valueType="num">
                                      <p:cBhvr additive="base">
                                        <p:cTn id="39"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387">
                                            <p:txEl>
                                              <p:pRg st="3" end="3"/>
                                            </p:txEl>
                                          </p:spTgt>
                                        </p:tgtEl>
                                        <p:attrNameLst>
                                          <p:attrName>style.visibility</p:attrName>
                                        </p:attrNameLst>
                                      </p:cBhvr>
                                      <p:to>
                                        <p:strVal val="visible"/>
                                      </p:to>
                                    </p:set>
                                    <p:anim calcmode="lin" valueType="num">
                                      <p:cBhvr additive="base">
                                        <p:cTn id="45"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6387">
                                            <p:txEl>
                                              <p:pRg st="4" end="4"/>
                                            </p:txEl>
                                          </p:spTgt>
                                        </p:tgtEl>
                                        <p:attrNameLst>
                                          <p:attrName>style.visibility</p:attrName>
                                        </p:attrNameLst>
                                      </p:cBhvr>
                                      <p:to>
                                        <p:strVal val="visible"/>
                                      </p:to>
                                    </p:set>
                                    <p:anim calcmode="lin" valueType="num">
                                      <p:cBhvr additive="base">
                                        <p:cTn id="51"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6">
                                            <p:txEl>
                                              <p:pRg st="0" end="0"/>
                                            </p:txEl>
                                          </p:spTgt>
                                        </p:tgtEl>
                                        <p:attrNameLst>
                                          <p:attrName>style.visibility</p:attrName>
                                        </p:attrNameLst>
                                      </p:cBhvr>
                                      <p:to>
                                        <p:strVal val="visible"/>
                                      </p:to>
                                    </p:set>
                                    <p:anim calcmode="lin" valueType="num">
                                      <p:cBhvr additive="base">
                                        <p:cTn id="5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6">
                                            <p:txEl>
                                              <p:pRg st="2" end="2"/>
                                            </p:txEl>
                                          </p:spTgt>
                                        </p:tgtEl>
                                        <p:attrNameLst>
                                          <p:attrName>style.visibility</p:attrName>
                                        </p:attrNameLst>
                                      </p:cBhvr>
                                      <p:to>
                                        <p:strVal val="visible"/>
                                      </p:to>
                                    </p:set>
                                    <p:anim calcmode="lin" valueType="num">
                                      <p:cBhvr additive="base">
                                        <p:cTn id="6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7">
                                            <p:txEl>
                                              <p:pRg st="0" end="0"/>
                                            </p:txEl>
                                          </p:spTgt>
                                        </p:tgtEl>
                                        <p:attrNameLst>
                                          <p:attrName>style.visibility</p:attrName>
                                        </p:attrNameLst>
                                      </p:cBhvr>
                                      <p:to>
                                        <p:strVal val="visible"/>
                                      </p:to>
                                    </p:set>
                                    <p:anim calcmode="lin" valueType="num">
                                      <p:cBhvr additive="base">
                                        <p:cTn id="6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圆角矩形 25601"/>
          <p:cNvSpPr/>
          <p:nvPr/>
        </p:nvSpPr>
        <p:spPr>
          <a:xfrm>
            <a:off x="3714307" y="3605341"/>
            <a:ext cx="1084263" cy="1042988"/>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个人</a:t>
            </a:r>
          </a:p>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理想</a:t>
            </a:r>
          </a:p>
        </p:txBody>
      </p:sp>
      <p:sp>
        <p:nvSpPr>
          <p:cNvPr id="25603" name="圆角矩形 25602"/>
          <p:cNvSpPr/>
          <p:nvPr/>
        </p:nvSpPr>
        <p:spPr>
          <a:xfrm>
            <a:off x="4891900" y="3618363"/>
            <a:ext cx="1081088" cy="1042988"/>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社会理想</a:t>
            </a:r>
          </a:p>
        </p:txBody>
      </p:sp>
      <p:sp>
        <p:nvSpPr>
          <p:cNvPr id="25604" name="圆角矩形 25603"/>
          <p:cNvSpPr/>
          <p:nvPr/>
        </p:nvSpPr>
        <p:spPr>
          <a:xfrm>
            <a:off x="2690037" y="1510506"/>
            <a:ext cx="1905000" cy="574675"/>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科学理想</a:t>
            </a:r>
          </a:p>
        </p:txBody>
      </p:sp>
      <p:sp>
        <p:nvSpPr>
          <p:cNvPr id="25605" name="圆角矩形 25604"/>
          <p:cNvSpPr/>
          <p:nvPr/>
        </p:nvSpPr>
        <p:spPr>
          <a:xfrm>
            <a:off x="4658704" y="1550009"/>
            <a:ext cx="2362200" cy="574675"/>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非科学理想</a:t>
            </a:r>
          </a:p>
        </p:txBody>
      </p:sp>
      <p:sp>
        <p:nvSpPr>
          <p:cNvPr id="25606" name="圆角矩形 25605"/>
          <p:cNvSpPr/>
          <p:nvPr/>
        </p:nvSpPr>
        <p:spPr>
          <a:xfrm>
            <a:off x="335534" y="3579497"/>
            <a:ext cx="1084263" cy="1042988"/>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长远理想</a:t>
            </a:r>
          </a:p>
        </p:txBody>
      </p:sp>
      <p:sp>
        <p:nvSpPr>
          <p:cNvPr id="25607" name="圆角矩形 25606"/>
          <p:cNvSpPr/>
          <p:nvPr/>
        </p:nvSpPr>
        <p:spPr>
          <a:xfrm>
            <a:off x="1520215" y="3605341"/>
            <a:ext cx="1081088" cy="1042988"/>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近期理想</a:t>
            </a:r>
          </a:p>
        </p:txBody>
      </p:sp>
      <p:sp>
        <p:nvSpPr>
          <p:cNvPr id="25612" name="文本框 25611"/>
          <p:cNvSpPr txBox="1"/>
          <p:nvPr/>
        </p:nvSpPr>
        <p:spPr>
          <a:xfrm>
            <a:off x="3782404" y="2965939"/>
            <a:ext cx="2133600" cy="457200"/>
          </a:xfrm>
          <a:prstGeom prst="rect">
            <a:avLst/>
          </a:prstGeom>
          <a:gradFill rotWithShape="1">
            <a:gsLst>
              <a:gs pos="0">
                <a:srgbClr val="FBEAC7">
                  <a:alpha val="100000"/>
                </a:srgbClr>
              </a:gs>
              <a:gs pos="17999">
                <a:srgbClr val="FEE7F2">
                  <a:alpha val="100000"/>
                </a:srgbClr>
              </a:gs>
              <a:gs pos="36000">
                <a:srgbClr val="FAC77D">
                  <a:alpha val="100000"/>
                </a:srgbClr>
              </a:gs>
              <a:gs pos="61000">
                <a:srgbClr val="FBA97D">
                  <a:alpha val="100000"/>
                </a:srgbClr>
              </a:gs>
              <a:gs pos="82001">
                <a:srgbClr val="FBD49C">
                  <a:alpha val="100000"/>
                </a:srgbClr>
              </a:gs>
              <a:gs pos="100000">
                <a:srgbClr val="FEE7F2">
                  <a:alpha val="100000"/>
                </a:srgbClr>
              </a:gs>
            </a:gsLst>
            <a:lin ang="5400000" scaled="1"/>
            <a:tileRect/>
          </a:gradFill>
          <a:ln w="9525">
            <a:noFill/>
          </a:ln>
        </p:spPr>
        <p:txBody>
          <a:bodyPr>
            <a:spAutoFit/>
          </a:bodyPr>
          <a:lstStyle/>
          <a:p>
            <a:pPr>
              <a:spcBef>
                <a:spcPct val="50000"/>
              </a:spcBef>
            </a:pPr>
            <a:r>
              <a:rPr lang="zh-CN" altLang="en-US" sz="2400" dirty="0">
                <a:solidFill>
                  <a:schemeClr val="tx1"/>
                </a:solidFill>
                <a:effectLst>
                  <a:outerShdw blurRad="38100" dist="38100" dir="2700000">
                    <a:srgbClr val="000000"/>
                  </a:outerShdw>
                </a:effectLst>
                <a:latin typeface="Arial" panose="020B0604020202020204" pitchFamily="34" charset="0"/>
                <a:ea typeface="黑体" panose="02010609060101010101" pitchFamily="2" charset="-122"/>
              </a:rPr>
              <a:t>从对象上划分</a:t>
            </a:r>
          </a:p>
        </p:txBody>
      </p:sp>
      <p:sp>
        <p:nvSpPr>
          <p:cNvPr id="25613" name="文本框 25612"/>
          <p:cNvSpPr txBox="1"/>
          <p:nvPr/>
        </p:nvSpPr>
        <p:spPr>
          <a:xfrm>
            <a:off x="407193" y="1510506"/>
            <a:ext cx="2251075" cy="457200"/>
          </a:xfrm>
          <a:prstGeom prst="rect">
            <a:avLst/>
          </a:prstGeom>
          <a:gradFill rotWithShape="1">
            <a:gsLst>
              <a:gs pos="0">
                <a:srgbClr val="FBEAC7">
                  <a:alpha val="100000"/>
                </a:srgbClr>
              </a:gs>
              <a:gs pos="17999">
                <a:srgbClr val="FEE7F2">
                  <a:alpha val="100000"/>
                </a:srgbClr>
              </a:gs>
              <a:gs pos="36000">
                <a:srgbClr val="FAC77D">
                  <a:alpha val="100000"/>
                </a:srgbClr>
              </a:gs>
              <a:gs pos="61000">
                <a:srgbClr val="FBA97D">
                  <a:alpha val="100000"/>
                </a:srgbClr>
              </a:gs>
              <a:gs pos="82001">
                <a:srgbClr val="FBD49C">
                  <a:alpha val="100000"/>
                </a:srgbClr>
              </a:gs>
              <a:gs pos="100000">
                <a:srgbClr val="FEE7F2">
                  <a:alpha val="100000"/>
                </a:srgbClr>
              </a:gs>
            </a:gsLst>
            <a:lin ang="5400000" scaled="1"/>
            <a:tileRect/>
          </a:gradFill>
          <a:ln w="9525">
            <a:noFill/>
          </a:ln>
        </p:spPr>
        <p:txBody>
          <a:bodyPr>
            <a:spAutoFit/>
          </a:bodyPr>
          <a:lstStyle/>
          <a:p>
            <a:pPr>
              <a:spcBef>
                <a:spcPct val="50000"/>
              </a:spcBef>
            </a:pPr>
            <a:r>
              <a:rPr lang="zh-CN" altLang="en-US" sz="2400" dirty="0">
                <a:solidFill>
                  <a:schemeClr val="tx1"/>
                </a:solidFill>
                <a:effectLst>
                  <a:outerShdw blurRad="38100" dist="38100" dir="2700000">
                    <a:srgbClr val="000000"/>
                  </a:outerShdw>
                </a:effectLst>
                <a:latin typeface="Arial" panose="020B0604020202020204" pitchFamily="34" charset="0"/>
                <a:ea typeface="黑体" panose="02010609060101010101" pitchFamily="2" charset="-122"/>
              </a:rPr>
              <a:t>从性质上划分</a:t>
            </a:r>
          </a:p>
        </p:txBody>
      </p:sp>
      <p:sp>
        <p:nvSpPr>
          <p:cNvPr id="25614" name="文本框 25613"/>
          <p:cNvSpPr txBox="1"/>
          <p:nvPr/>
        </p:nvSpPr>
        <p:spPr>
          <a:xfrm>
            <a:off x="465930" y="3020615"/>
            <a:ext cx="2133600" cy="457200"/>
          </a:xfrm>
          <a:prstGeom prst="rect">
            <a:avLst/>
          </a:prstGeom>
          <a:gradFill rotWithShape="1">
            <a:gsLst>
              <a:gs pos="0">
                <a:srgbClr val="FBEAC7">
                  <a:alpha val="100000"/>
                </a:srgbClr>
              </a:gs>
              <a:gs pos="17999">
                <a:srgbClr val="FEE7F2">
                  <a:alpha val="100000"/>
                </a:srgbClr>
              </a:gs>
              <a:gs pos="36000">
                <a:srgbClr val="FAC77D">
                  <a:alpha val="100000"/>
                </a:srgbClr>
              </a:gs>
              <a:gs pos="61000">
                <a:srgbClr val="FBA97D">
                  <a:alpha val="100000"/>
                </a:srgbClr>
              </a:gs>
              <a:gs pos="82001">
                <a:srgbClr val="FBD49C">
                  <a:alpha val="100000"/>
                </a:srgbClr>
              </a:gs>
              <a:gs pos="100000">
                <a:srgbClr val="FEE7F2">
                  <a:alpha val="100000"/>
                </a:srgbClr>
              </a:gs>
            </a:gsLst>
            <a:lin ang="5400000" scaled="1"/>
            <a:tileRect/>
          </a:gradFill>
          <a:ln w="9525">
            <a:noFill/>
          </a:ln>
        </p:spPr>
        <p:txBody>
          <a:bodyPr>
            <a:spAutoFit/>
          </a:bodyPr>
          <a:lstStyle/>
          <a:p>
            <a:pPr>
              <a:spcBef>
                <a:spcPct val="50000"/>
              </a:spcBef>
            </a:pPr>
            <a:r>
              <a:rPr lang="zh-CN" altLang="en-US" sz="2400" dirty="0">
                <a:solidFill>
                  <a:schemeClr val="tx1"/>
                </a:solidFill>
                <a:effectLst>
                  <a:outerShdw blurRad="38100" dist="38100" dir="2700000">
                    <a:srgbClr val="000000"/>
                  </a:outerShdw>
                </a:effectLst>
                <a:latin typeface="Arial" panose="020B0604020202020204" pitchFamily="34" charset="0"/>
                <a:ea typeface="黑体" panose="02010609060101010101" pitchFamily="2" charset="-122"/>
              </a:rPr>
              <a:t>从时序上划分</a:t>
            </a:r>
          </a:p>
        </p:txBody>
      </p:sp>
      <p:sp>
        <p:nvSpPr>
          <p:cNvPr id="25616" name="矩形 25615"/>
          <p:cNvSpPr/>
          <p:nvPr/>
        </p:nvSpPr>
        <p:spPr>
          <a:xfrm>
            <a:off x="684213" y="620713"/>
            <a:ext cx="3527425" cy="647700"/>
          </a:xfrm>
          <a:prstGeom prst="rect">
            <a:avLst/>
          </a:prstGeom>
        </p:spPr>
        <p:txBody>
          <a:bodyPr wrap="none" fromWordArt="1">
            <a:prstTxWarp prst="textPlain">
              <a:avLst>
                <a:gd name="adj" fmla="val 50000"/>
              </a:avLst>
            </a:prstTxWarp>
            <a:normAutofit fontScale="92500" lnSpcReduction="20000"/>
          </a:bodyPr>
          <a:lstStyle/>
          <a:p>
            <a:pPr algn="ctr">
              <a:spcBef>
                <a:spcPct val="0"/>
              </a:spcBef>
            </a:pPr>
            <a:r>
              <a:rPr lang="zh-CN" altLang="en-US" sz="4800" b="1">
                <a:ln w="19050" cap="flat" cmpd="sng">
                  <a:solidFill>
                    <a:schemeClr val="tx1"/>
                  </a:solidFill>
                  <a:prstDash val="solid"/>
                  <a:headEnd type="none" w="med" len="med"/>
                  <a:tailEnd type="none" w="med" len="med"/>
                </a:ln>
                <a:solidFill>
                  <a:schemeClr val="tx1"/>
                </a:solidFill>
                <a:effectLst>
                  <a:prstShdw prst="shdw13" dist="53882" dir="13499999">
                    <a:srgbClr val="990000">
                      <a:alpha val="50000"/>
                    </a:srgbClr>
                  </a:prstShdw>
                </a:effectLst>
                <a:latin typeface="黑体" panose="02010609060101010101" pitchFamily="2" charset="-122"/>
                <a:ea typeface="黑体" panose="02010609060101010101" pitchFamily="2" charset="-122"/>
              </a:rPr>
              <a:t>理想的类型</a:t>
            </a:r>
          </a:p>
        </p:txBody>
      </p:sp>
      <p:sp>
        <p:nvSpPr>
          <p:cNvPr id="25619" name="圆角矩形 25618"/>
          <p:cNvSpPr/>
          <p:nvPr/>
        </p:nvSpPr>
        <p:spPr>
          <a:xfrm>
            <a:off x="2723707" y="2181271"/>
            <a:ext cx="1981200" cy="574675"/>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崇高理想</a:t>
            </a:r>
          </a:p>
        </p:txBody>
      </p:sp>
      <p:sp>
        <p:nvSpPr>
          <p:cNvPr id="25620" name="圆角矩形 25619"/>
          <p:cNvSpPr/>
          <p:nvPr/>
        </p:nvSpPr>
        <p:spPr>
          <a:xfrm>
            <a:off x="4849204" y="2209800"/>
            <a:ext cx="1981200" cy="574675"/>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2800" dirty="0">
                <a:solidFill>
                  <a:srgbClr val="0000FF"/>
                </a:solidFill>
                <a:latin typeface="Arial" panose="020B0604020202020204" pitchFamily="34" charset="0"/>
                <a:ea typeface="黑体" panose="02010609060101010101" pitchFamily="2" charset="-122"/>
              </a:rPr>
              <a:t>一般理想</a:t>
            </a:r>
          </a:p>
        </p:txBody>
      </p:sp>
      <p:sp>
        <p:nvSpPr>
          <p:cNvPr id="25621" name="文本框 25620"/>
          <p:cNvSpPr txBox="1"/>
          <p:nvPr/>
        </p:nvSpPr>
        <p:spPr>
          <a:xfrm>
            <a:off x="286562" y="2237581"/>
            <a:ext cx="2403475" cy="457200"/>
          </a:xfrm>
          <a:prstGeom prst="rect">
            <a:avLst/>
          </a:prstGeom>
          <a:gradFill rotWithShape="1">
            <a:gsLst>
              <a:gs pos="0">
                <a:srgbClr val="FBEAC7">
                  <a:alpha val="100000"/>
                </a:srgbClr>
              </a:gs>
              <a:gs pos="17999">
                <a:srgbClr val="FEE7F2">
                  <a:alpha val="100000"/>
                </a:srgbClr>
              </a:gs>
              <a:gs pos="36000">
                <a:srgbClr val="FAC77D">
                  <a:alpha val="100000"/>
                </a:srgbClr>
              </a:gs>
              <a:gs pos="61000">
                <a:srgbClr val="FBA97D">
                  <a:alpha val="100000"/>
                </a:srgbClr>
              </a:gs>
              <a:gs pos="82001">
                <a:srgbClr val="FBD49C">
                  <a:alpha val="100000"/>
                </a:srgbClr>
              </a:gs>
              <a:gs pos="100000">
                <a:srgbClr val="FEE7F2">
                  <a:alpha val="100000"/>
                </a:srgbClr>
              </a:gs>
            </a:gsLst>
            <a:lin ang="5400000" scaled="1"/>
            <a:tileRect/>
          </a:gradFill>
          <a:ln w="9525">
            <a:noFill/>
          </a:ln>
        </p:spPr>
        <p:txBody>
          <a:bodyPr>
            <a:spAutoFit/>
          </a:bodyPr>
          <a:lstStyle/>
          <a:p>
            <a:pPr>
              <a:spcBef>
                <a:spcPct val="50000"/>
              </a:spcBef>
            </a:pPr>
            <a:r>
              <a:rPr lang="zh-CN" altLang="en-US" sz="2400" dirty="0">
                <a:solidFill>
                  <a:schemeClr val="tx1"/>
                </a:solidFill>
                <a:effectLst>
                  <a:outerShdw blurRad="38100" dist="38100" dir="2700000">
                    <a:srgbClr val="000000"/>
                  </a:outerShdw>
                </a:effectLst>
                <a:latin typeface="Arial" panose="020B0604020202020204" pitchFamily="34" charset="0"/>
                <a:ea typeface="黑体" panose="02010609060101010101" pitchFamily="2" charset="-122"/>
              </a:rPr>
              <a:t>从层次上划分</a:t>
            </a:r>
          </a:p>
        </p:txBody>
      </p:sp>
      <p:sp>
        <p:nvSpPr>
          <p:cNvPr id="109572" name="文本框 109571"/>
          <p:cNvSpPr txBox="1"/>
          <p:nvPr/>
        </p:nvSpPr>
        <p:spPr>
          <a:xfrm>
            <a:off x="368115" y="4915352"/>
            <a:ext cx="2791804" cy="707886"/>
          </a:xfrm>
          <a:prstGeom prst="rect">
            <a:avLst/>
          </a:prstGeom>
          <a:gradFill rotWithShape="1">
            <a:gsLst>
              <a:gs pos="0">
                <a:srgbClr val="FBEAC7">
                  <a:alpha val="100000"/>
                </a:srgbClr>
              </a:gs>
              <a:gs pos="17999">
                <a:srgbClr val="FEE7F2">
                  <a:alpha val="100000"/>
                </a:srgbClr>
              </a:gs>
              <a:gs pos="36000">
                <a:srgbClr val="FAC77D">
                  <a:alpha val="100000"/>
                </a:srgbClr>
              </a:gs>
              <a:gs pos="61000">
                <a:srgbClr val="FBA97D">
                  <a:alpha val="100000"/>
                </a:srgbClr>
              </a:gs>
              <a:gs pos="82001">
                <a:srgbClr val="FBD49C">
                  <a:alpha val="100000"/>
                </a:srgbClr>
              </a:gs>
              <a:gs pos="100000">
                <a:srgbClr val="FEE7F2">
                  <a:alpha val="100000"/>
                </a:srgbClr>
              </a:gs>
            </a:gsLst>
            <a:lin ang="5400000" scaled="1"/>
            <a:tileRect/>
          </a:gradFill>
          <a:ln w="9525">
            <a:noFill/>
          </a:ln>
        </p:spPr>
        <p:txBody>
          <a:bodyPr wrap="square">
            <a:spAutoFit/>
          </a:bodyPr>
          <a:lstStyle/>
          <a:p>
            <a:pPr>
              <a:spcBef>
                <a:spcPct val="50000"/>
              </a:spcBef>
            </a:pPr>
            <a:r>
              <a:rPr lang="zh-CN" altLang="en-US" sz="2400" dirty="0">
                <a:solidFill>
                  <a:schemeClr val="tx1"/>
                </a:solidFill>
                <a:effectLst>
                  <a:outerShdw blurRad="38100" dist="38100" dir="2700000">
                    <a:srgbClr val="000000"/>
                  </a:outerShdw>
                </a:effectLst>
                <a:latin typeface="Arial" panose="020B0604020202020204" pitchFamily="34" charset="0"/>
                <a:ea typeface="黑体" panose="02010609060101010101" pitchFamily="2" charset="-122"/>
              </a:rPr>
              <a:t>从内容上划分</a:t>
            </a:r>
            <a:r>
              <a:rPr lang="zh-CN" altLang="en-US" sz="4000" dirty="0">
                <a:solidFill>
                  <a:schemeClr val="tx1"/>
                </a:solidFill>
                <a:effectLst>
                  <a:outerShdw blurRad="38100" dist="38100" dir="2700000">
                    <a:srgbClr val="000000"/>
                  </a:outerShdw>
                </a:effectLst>
                <a:latin typeface="Arial" panose="020B0604020202020204" pitchFamily="34" charset="0"/>
                <a:ea typeface="黑体" panose="02010609060101010101" pitchFamily="2" charset="-122"/>
              </a:rPr>
              <a:t>：</a:t>
            </a:r>
          </a:p>
        </p:txBody>
      </p:sp>
      <p:sp>
        <p:nvSpPr>
          <p:cNvPr id="109573" name="圆角矩形 109572"/>
          <p:cNvSpPr/>
          <p:nvPr/>
        </p:nvSpPr>
        <p:spPr>
          <a:xfrm>
            <a:off x="140474" y="5916519"/>
            <a:ext cx="3084513" cy="709613"/>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3600" dirty="0">
                <a:solidFill>
                  <a:srgbClr val="0000FF"/>
                </a:solidFill>
                <a:latin typeface="Arial" panose="020B0604020202020204" pitchFamily="34" charset="0"/>
                <a:ea typeface="黑体" panose="02010609060101010101" pitchFamily="2" charset="-122"/>
              </a:rPr>
              <a:t>社会政治理想</a:t>
            </a:r>
          </a:p>
        </p:txBody>
      </p:sp>
      <p:sp>
        <p:nvSpPr>
          <p:cNvPr id="109574" name="圆角矩形 109573"/>
          <p:cNvSpPr/>
          <p:nvPr/>
        </p:nvSpPr>
        <p:spPr>
          <a:xfrm>
            <a:off x="3159919" y="4867891"/>
            <a:ext cx="1335881" cy="1328023"/>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wrap="square" anchor="ctr">
            <a:spAutoFit/>
          </a:bodyPr>
          <a:lstStyle/>
          <a:p>
            <a:pPr algn="dist">
              <a:spcBef>
                <a:spcPct val="0"/>
              </a:spcBef>
            </a:pPr>
            <a:r>
              <a:rPr lang="zh-CN" altLang="en-US" sz="3600" dirty="0">
                <a:solidFill>
                  <a:srgbClr val="0000FF"/>
                </a:solidFill>
                <a:latin typeface="Arial" panose="020B0604020202020204" pitchFamily="34" charset="0"/>
                <a:ea typeface="黑体" panose="02010609060101010101" pitchFamily="2" charset="-122"/>
              </a:rPr>
              <a:t>道德理想</a:t>
            </a:r>
          </a:p>
        </p:txBody>
      </p:sp>
      <p:sp>
        <p:nvSpPr>
          <p:cNvPr id="109575" name="圆角矩形 109574"/>
          <p:cNvSpPr/>
          <p:nvPr/>
        </p:nvSpPr>
        <p:spPr>
          <a:xfrm>
            <a:off x="4461688" y="4901175"/>
            <a:ext cx="1511300" cy="1319213"/>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3600" dirty="0">
                <a:solidFill>
                  <a:srgbClr val="0000FF"/>
                </a:solidFill>
                <a:latin typeface="Arial" panose="020B0604020202020204" pitchFamily="34" charset="0"/>
                <a:ea typeface="黑体" panose="02010609060101010101" pitchFamily="2" charset="-122"/>
              </a:rPr>
              <a:t>职业理想</a:t>
            </a:r>
          </a:p>
        </p:txBody>
      </p:sp>
      <p:sp>
        <p:nvSpPr>
          <p:cNvPr id="109576" name="圆角矩形 109575"/>
          <p:cNvSpPr/>
          <p:nvPr/>
        </p:nvSpPr>
        <p:spPr>
          <a:xfrm>
            <a:off x="6228003" y="4793475"/>
            <a:ext cx="1447800" cy="1319213"/>
          </a:xfrm>
          <a:prstGeom prst="roundRect">
            <a:avLst>
              <a:gd name="adj" fmla="val 16667"/>
            </a:avLst>
          </a:prstGeom>
          <a:solidFill>
            <a:srgbClr val="FFFF00"/>
          </a:solidFill>
          <a:ln w="9525" cap="flat" cmpd="sng">
            <a:solidFill>
              <a:schemeClr val="tx1"/>
            </a:solidFill>
            <a:prstDash val="solid"/>
            <a:headEnd type="none" w="med" len="med"/>
            <a:tailEnd type="none" w="med" len="med"/>
          </a:ln>
        </p:spPr>
        <p:txBody>
          <a:bodyPr anchor="ctr">
            <a:spAutoFit/>
          </a:bodyPr>
          <a:lstStyle/>
          <a:p>
            <a:pPr algn="dist">
              <a:spcBef>
                <a:spcPct val="0"/>
              </a:spcBef>
            </a:pPr>
            <a:r>
              <a:rPr lang="zh-CN" altLang="en-US" sz="3600" dirty="0">
                <a:solidFill>
                  <a:srgbClr val="0000FF"/>
                </a:solidFill>
                <a:latin typeface="Arial" panose="020B0604020202020204" pitchFamily="34" charset="0"/>
                <a:ea typeface="黑体" panose="02010609060101010101" pitchFamily="2" charset="-122"/>
              </a:rPr>
              <a:t>生活理想</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5616"/>
                                        </p:tgtEl>
                                        <p:attrNameLst>
                                          <p:attrName>style.visibility</p:attrName>
                                        </p:attrNameLst>
                                      </p:cBhvr>
                                      <p:to>
                                        <p:strVal val="visible"/>
                                      </p:to>
                                    </p:set>
                                    <p:animEffect transition="in" filter="fade">
                                      <p:cBhvr>
                                        <p:cTn id="7" dur="1000"/>
                                        <p:tgtEl>
                                          <p:spTgt spid="25616"/>
                                        </p:tgtEl>
                                      </p:cBhvr>
                                    </p:animEffect>
                                    <p:anim calcmode="lin" valueType="num">
                                      <p:cBhvr>
                                        <p:cTn id="8" dur="1000" fill="hold"/>
                                        <p:tgtEl>
                                          <p:spTgt spid="25616"/>
                                        </p:tgtEl>
                                        <p:attrNameLst>
                                          <p:attrName>ppt_x</p:attrName>
                                        </p:attrNameLst>
                                      </p:cBhvr>
                                      <p:tavLst>
                                        <p:tav tm="0">
                                          <p:val>
                                            <p:strVal val="#ppt_x"/>
                                          </p:val>
                                        </p:tav>
                                        <p:tav tm="100000">
                                          <p:val>
                                            <p:strVal val="#ppt_x"/>
                                          </p:val>
                                        </p:tav>
                                      </p:tavLst>
                                    </p:anim>
                                    <p:anim calcmode="lin" valueType="num">
                                      <p:cBhvr>
                                        <p:cTn id="9" dur="1000" fill="hold"/>
                                        <p:tgtEl>
                                          <p:spTgt spid="256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6" fill="hold" grpId="0" nodeType="clickEffect">
                                  <p:stCondLst>
                                    <p:cond delay="0"/>
                                  </p:stCondLst>
                                  <p:childTnLst>
                                    <p:set>
                                      <p:cBhvr>
                                        <p:cTn id="13" dur="1" fill="hold">
                                          <p:stCondLst>
                                            <p:cond delay="0"/>
                                          </p:stCondLst>
                                        </p:cTn>
                                        <p:tgtEl>
                                          <p:spTgt spid="25613"/>
                                        </p:tgtEl>
                                        <p:attrNameLst>
                                          <p:attrName>style.visibility</p:attrName>
                                        </p:attrNameLst>
                                      </p:cBhvr>
                                      <p:to>
                                        <p:strVal val="visible"/>
                                      </p:to>
                                    </p:set>
                                    <p:anim calcmode="lin" valueType="num">
                                      <p:cBhvr additive="base">
                                        <p:cTn id="14" dur="500" fill="hold"/>
                                        <p:tgtEl>
                                          <p:spTgt spid="25613"/>
                                        </p:tgtEl>
                                        <p:attrNameLst>
                                          <p:attrName>ppt_x</p:attrName>
                                        </p:attrNameLst>
                                      </p:cBhvr>
                                      <p:tavLst>
                                        <p:tav tm="0">
                                          <p:val>
                                            <p:strVal val="1+#ppt_w/2"/>
                                          </p:val>
                                        </p:tav>
                                        <p:tav tm="100000">
                                          <p:val>
                                            <p:strVal val="#ppt_x"/>
                                          </p:val>
                                        </p:tav>
                                      </p:tavLst>
                                    </p:anim>
                                    <p:anim calcmode="lin" valueType="num">
                                      <p:cBhvr additive="base">
                                        <p:cTn id="15" dur="500" fill="hold"/>
                                        <p:tgtEl>
                                          <p:spTgt spid="25613"/>
                                        </p:tgtEl>
                                        <p:attrNameLst>
                                          <p:attrName>ppt_y</p:attrName>
                                        </p:attrNameLst>
                                      </p:cBhvr>
                                      <p:tavLst>
                                        <p:tav tm="0">
                                          <p:val>
                                            <p:strVal val="1+#ppt_h/2"/>
                                          </p:val>
                                        </p:tav>
                                        <p:tav tm="100000">
                                          <p:val>
                                            <p:strVal val="#ppt_y"/>
                                          </p:val>
                                        </p:tav>
                                      </p:tavLst>
                                    </p:anim>
                                  </p:childTnLst>
                                </p:cTn>
                              </p:par>
                              <p:par>
                                <p:cTn id="16" presetID="2" presetClass="entr" presetSubtype="6" fill="hold" grpId="0" nodeType="withEffect">
                                  <p:stCondLst>
                                    <p:cond delay="0"/>
                                  </p:stCondLst>
                                  <p:childTnLst>
                                    <p:set>
                                      <p:cBhvr>
                                        <p:cTn id="17" dur="1" fill="hold">
                                          <p:stCondLst>
                                            <p:cond delay="0"/>
                                          </p:stCondLst>
                                        </p:cTn>
                                        <p:tgtEl>
                                          <p:spTgt spid="25604"/>
                                        </p:tgtEl>
                                        <p:attrNameLst>
                                          <p:attrName>style.visibility</p:attrName>
                                        </p:attrNameLst>
                                      </p:cBhvr>
                                      <p:to>
                                        <p:strVal val="visible"/>
                                      </p:to>
                                    </p:set>
                                    <p:anim calcmode="lin" valueType="num">
                                      <p:cBhvr additive="base">
                                        <p:cTn id="18" dur="500" fill="hold"/>
                                        <p:tgtEl>
                                          <p:spTgt spid="25604"/>
                                        </p:tgtEl>
                                        <p:attrNameLst>
                                          <p:attrName>ppt_x</p:attrName>
                                        </p:attrNameLst>
                                      </p:cBhvr>
                                      <p:tavLst>
                                        <p:tav tm="0">
                                          <p:val>
                                            <p:strVal val="1+#ppt_w/2"/>
                                          </p:val>
                                        </p:tav>
                                        <p:tav tm="100000">
                                          <p:val>
                                            <p:strVal val="#ppt_x"/>
                                          </p:val>
                                        </p:tav>
                                      </p:tavLst>
                                    </p:anim>
                                    <p:anim calcmode="lin" valueType="num">
                                      <p:cBhvr additive="base">
                                        <p:cTn id="19" dur="500" fill="hold"/>
                                        <p:tgtEl>
                                          <p:spTgt spid="25604"/>
                                        </p:tgtEl>
                                        <p:attrNameLst>
                                          <p:attrName>ppt_y</p:attrName>
                                        </p:attrNameLst>
                                      </p:cBhvr>
                                      <p:tavLst>
                                        <p:tav tm="0">
                                          <p:val>
                                            <p:strVal val="1+#ppt_h/2"/>
                                          </p:val>
                                        </p:tav>
                                        <p:tav tm="100000">
                                          <p:val>
                                            <p:strVal val="#ppt_y"/>
                                          </p:val>
                                        </p:tav>
                                      </p:tavLst>
                                    </p:anim>
                                  </p:childTnLst>
                                </p:cTn>
                              </p:par>
                              <p:par>
                                <p:cTn id="20" presetID="2" presetClass="entr" presetSubtype="6" fill="hold" grpId="0" nodeType="withEffect">
                                  <p:stCondLst>
                                    <p:cond delay="0"/>
                                  </p:stCondLst>
                                  <p:childTnLst>
                                    <p:set>
                                      <p:cBhvr>
                                        <p:cTn id="21" dur="1" fill="hold">
                                          <p:stCondLst>
                                            <p:cond delay="0"/>
                                          </p:stCondLst>
                                        </p:cTn>
                                        <p:tgtEl>
                                          <p:spTgt spid="25605"/>
                                        </p:tgtEl>
                                        <p:attrNameLst>
                                          <p:attrName>style.visibility</p:attrName>
                                        </p:attrNameLst>
                                      </p:cBhvr>
                                      <p:to>
                                        <p:strVal val="visible"/>
                                      </p:to>
                                    </p:set>
                                    <p:anim calcmode="lin" valueType="num">
                                      <p:cBhvr additive="base">
                                        <p:cTn id="22" dur="500" fill="hold"/>
                                        <p:tgtEl>
                                          <p:spTgt spid="25605"/>
                                        </p:tgtEl>
                                        <p:attrNameLst>
                                          <p:attrName>ppt_x</p:attrName>
                                        </p:attrNameLst>
                                      </p:cBhvr>
                                      <p:tavLst>
                                        <p:tav tm="0">
                                          <p:val>
                                            <p:strVal val="1+#ppt_w/2"/>
                                          </p:val>
                                        </p:tav>
                                        <p:tav tm="100000">
                                          <p:val>
                                            <p:strVal val="#ppt_x"/>
                                          </p:val>
                                        </p:tav>
                                      </p:tavLst>
                                    </p:anim>
                                    <p:anim calcmode="lin" valueType="num">
                                      <p:cBhvr additive="base">
                                        <p:cTn id="23" dur="500" fill="hold"/>
                                        <p:tgtEl>
                                          <p:spTgt spid="2560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6" fill="hold" grpId="0" nodeType="clickEffect">
                                  <p:stCondLst>
                                    <p:cond delay="0"/>
                                  </p:stCondLst>
                                  <p:childTnLst>
                                    <p:set>
                                      <p:cBhvr>
                                        <p:cTn id="27" dur="1" fill="hold">
                                          <p:stCondLst>
                                            <p:cond delay="0"/>
                                          </p:stCondLst>
                                        </p:cTn>
                                        <p:tgtEl>
                                          <p:spTgt spid="25621"/>
                                        </p:tgtEl>
                                        <p:attrNameLst>
                                          <p:attrName>style.visibility</p:attrName>
                                        </p:attrNameLst>
                                      </p:cBhvr>
                                      <p:to>
                                        <p:strVal val="visible"/>
                                      </p:to>
                                    </p:set>
                                    <p:anim calcmode="lin" valueType="num">
                                      <p:cBhvr additive="base">
                                        <p:cTn id="28" dur="500" fill="hold"/>
                                        <p:tgtEl>
                                          <p:spTgt spid="25621"/>
                                        </p:tgtEl>
                                        <p:attrNameLst>
                                          <p:attrName>ppt_x</p:attrName>
                                        </p:attrNameLst>
                                      </p:cBhvr>
                                      <p:tavLst>
                                        <p:tav tm="0">
                                          <p:val>
                                            <p:strVal val="1+#ppt_w/2"/>
                                          </p:val>
                                        </p:tav>
                                        <p:tav tm="100000">
                                          <p:val>
                                            <p:strVal val="#ppt_x"/>
                                          </p:val>
                                        </p:tav>
                                      </p:tavLst>
                                    </p:anim>
                                    <p:anim calcmode="lin" valueType="num">
                                      <p:cBhvr additive="base">
                                        <p:cTn id="29" dur="500" fill="hold"/>
                                        <p:tgtEl>
                                          <p:spTgt spid="25621"/>
                                        </p:tgtEl>
                                        <p:attrNameLst>
                                          <p:attrName>ppt_y</p:attrName>
                                        </p:attrNameLst>
                                      </p:cBhvr>
                                      <p:tavLst>
                                        <p:tav tm="0">
                                          <p:val>
                                            <p:strVal val="1+#ppt_h/2"/>
                                          </p:val>
                                        </p:tav>
                                        <p:tav tm="100000">
                                          <p:val>
                                            <p:strVal val="#ppt_y"/>
                                          </p:val>
                                        </p:tav>
                                      </p:tavLst>
                                    </p:anim>
                                  </p:childTnLst>
                                </p:cTn>
                              </p:par>
                              <p:par>
                                <p:cTn id="30" presetID="2" presetClass="entr" presetSubtype="6" fill="hold" grpId="0" nodeType="withEffect">
                                  <p:stCondLst>
                                    <p:cond delay="0"/>
                                  </p:stCondLst>
                                  <p:childTnLst>
                                    <p:set>
                                      <p:cBhvr>
                                        <p:cTn id="31" dur="1" fill="hold">
                                          <p:stCondLst>
                                            <p:cond delay="0"/>
                                          </p:stCondLst>
                                        </p:cTn>
                                        <p:tgtEl>
                                          <p:spTgt spid="25619"/>
                                        </p:tgtEl>
                                        <p:attrNameLst>
                                          <p:attrName>style.visibility</p:attrName>
                                        </p:attrNameLst>
                                      </p:cBhvr>
                                      <p:to>
                                        <p:strVal val="visible"/>
                                      </p:to>
                                    </p:set>
                                    <p:anim calcmode="lin" valueType="num">
                                      <p:cBhvr additive="base">
                                        <p:cTn id="32" dur="500" fill="hold"/>
                                        <p:tgtEl>
                                          <p:spTgt spid="25619"/>
                                        </p:tgtEl>
                                        <p:attrNameLst>
                                          <p:attrName>ppt_x</p:attrName>
                                        </p:attrNameLst>
                                      </p:cBhvr>
                                      <p:tavLst>
                                        <p:tav tm="0">
                                          <p:val>
                                            <p:strVal val="1+#ppt_w/2"/>
                                          </p:val>
                                        </p:tav>
                                        <p:tav tm="100000">
                                          <p:val>
                                            <p:strVal val="#ppt_x"/>
                                          </p:val>
                                        </p:tav>
                                      </p:tavLst>
                                    </p:anim>
                                    <p:anim calcmode="lin" valueType="num">
                                      <p:cBhvr additive="base">
                                        <p:cTn id="33" dur="500" fill="hold"/>
                                        <p:tgtEl>
                                          <p:spTgt spid="25619"/>
                                        </p:tgtEl>
                                        <p:attrNameLst>
                                          <p:attrName>ppt_y</p:attrName>
                                        </p:attrNameLst>
                                      </p:cBhvr>
                                      <p:tavLst>
                                        <p:tav tm="0">
                                          <p:val>
                                            <p:strVal val="1+#ppt_h/2"/>
                                          </p:val>
                                        </p:tav>
                                        <p:tav tm="100000">
                                          <p:val>
                                            <p:strVal val="#ppt_y"/>
                                          </p:val>
                                        </p:tav>
                                      </p:tavLst>
                                    </p:anim>
                                  </p:childTnLst>
                                </p:cTn>
                              </p:par>
                              <p:par>
                                <p:cTn id="34" presetID="2" presetClass="entr" presetSubtype="6" fill="hold" grpId="0" nodeType="withEffect">
                                  <p:stCondLst>
                                    <p:cond delay="0"/>
                                  </p:stCondLst>
                                  <p:childTnLst>
                                    <p:set>
                                      <p:cBhvr>
                                        <p:cTn id="35" dur="1" fill="hold">
                                          <p:stCondLst>
                                            <p:cond delay="0"/>
                                          </p:stCondLst>
                                        </p:cTn>
                                        <p:tgtEl>
                                          <p:spTgt spid="25620"/>
                                        </p:tgtEl>
                                        <p:attrNameLst>
                                          <p:attrName>style.visibility</p:attrName>
                                        </p:attrNameLst>
                                      </p:cBhvr>
                                      <p:to>
                                        <p:strVal val="visible"/>
                                      </p:to>
                                    </p:set>
                                    <p:anim calcmode="lin" valueType="num">
                                      <p:cBhvr additive="base">
                                        <p:cTn id="36" dur="500" fill="hold"/>
                                        <p:tgtEl>
                                          <p:spTgt spid="25620"/>
                                        </p:tgtEl>
                                        <p:attrNameLst>
                                          <p:attrName>ppt_x</p:attrName>
                                        </p:attrNameLst>
                                      </p:cBhvr>
                                      <p:tavLst>
                                        <p:tav tm="0">
                                          <p:val>
                                            <p:strVal val="1+#ppt_w/2"/>
                                          </p:val>
                                        </p:tav>
                                        <p:tav tm="100000">
                                          <p:val>
                                            <p:strVal val="#ppt_x"/>
                                          </p:val>
                                        </p:tav>
                                      </p:tavLst>
                                    </p:anim>
                                    <p:anim calcmode="lin" valueType="num">
                                      <p:cBhvr additive="base">
                                        <p:cTn id="37" dur="500" fill="hold"/>
                                        <p:tgtEl>
                                          <p:spTgt spid="2562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25614"/>
                                        </p:tgtEl>
                                        <p:attrNameLst>
                                          <p:attrName>style.visibility</p:attrName>
                                        </p:attrNameLst>
                                      </p:cBhvr>
                                      <p:to>
                                        <p:strVal val="visible"/>
                                      </p:to>
                                    </p:set>
                                    <p:animEffect transition="in" filter="fade">
                                      <p:cBhvr>
                                        <p:cTn id="42" dur="1000"/>
                                        <p:tgtEl>
                                          <p:spTgt spid="25614"/>
                                        </p:tgtEl>
                                      </p:cBhvr>
                                    </p:animEffect>
                                    <p:anim calcmode="lin" valueType="num">
                                      <p:cBhvr>
                                        <p:cTn id="43" dur="1000" fill="hold"/>
                                        <p:tgtEl>
                                          <p:spTgt spid="25614"/>
                                        </p:tgtEl>
                                        <p:attrNameLst>
                                          <p:attrName>ppt_x</p:attrName>
                                        </p:attrNameLst>
                                      </p:cBhvr>
                                      <p:tavLst>
                                        <p:tav tm="0">
                                          <p:val>
                                            <p:strVal val="#ppt_x"/>
                                          </p:val>
                                        </p:tav>
                                        <p:tav tm="100000">
                                          <p:val>
                                            <p:strVal val="#ppt_x"/>
                                          </p:val>
                                        </p:tav>
                                      </p:tavLst>
                                    </p:anim>
                                    <p:anim calcmode="lin" valueType="num">
                                      <p:cBhvr>
                                        <p:cTn id="44" dur="1000" fill="hold"/>
                                        <p:tgtEl>
                                          <p:spTgt spid="2561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2" presetClass="entr" presetSubtype="2" fill="hold" grpId="0" nodeType="clickEffect">
                                  <p:stCondLst>
                                    <p:cond delay="0"/>
                                  </p:stCondLst>
                                  <p:childTnLst>
                                    <p:set>
                                      <p:cBhvr>
                                        <p:cTn id="48" dur="1" fill="hold">
                                          <p:stCondLst>
                                            <p:cond delay="0"/>
                                          </p:stCondLst>
                                        </p:cTn>
                                        <p:tgtEl>
                                          <p:spTgt spid="25612"/>
                                        </p:tgtEl>
                                        <p:attrNameLst>
                                          <p:attrName>style.visibility</p:attrName>
                                        </p:attrNameLst>
                                      </p:cBhvr>
                                      <p:to>
                                        <p:strVal val="visible"/>
                                      </p:to>
                                    </p:set>
                                    <p:animEffect transition="in" filter="slide(fromRight)">
                                      <p:cBhvr>
                                        <p:cTn id="49" dur="500"/>
                                        <p:tgtEl>
                                          <p:spTgt spid="25612"/>
                                        </p:tgtEl>
                                      </p:cBhvr>
                                    </p:animEffect>
                                  </p:childTnLst>
                                </p:cTn>
                              </p:par>
                              <p:par>
                                <p:cTn id="50" presetID="12" presetClass="entr" presetSubtype="2" fill="hold" grpId="0" nodeType="withEffect">
                                  <p:stCondLst>
                                    <p:cond delay="0"/>
                                  </p:stCondLst>
                                  <p:childTnLst>
                                    <p:set>
                                      <p:cBhvr>
                                        <p:cTn id="51" dur="1" fill="hold">
                                          <p:stCondLst>
                                            <p:cond delay="0"/>
                                          </p:stCondLst>
                                        </p:cTn>
                                        <p:tgtEl>
                                          <p:spTgt spid="25602"/>
                                        </p:tgtEl>
                                        <p:attrNameLst>
                                          <p:attrName>style.visibility</p:attrName>
                                        </p:attrNameLst>
                                      </p:cBhvr>
                                      <p:to>
                                        <p:strVal val="visible"/>
                                      </p:to>
                                    </p:set>
                                    <p:animEffect transition="in" filter="slide(fromRight)">
                                      <p:cBhvr>
                                        <p:cTn id="52" dur="500"/>
                                        <p:tgtEl>
                                          <p:spTgt spid="25602"/>
                                        </p:tgtEl>
                                      </p:cBhvr>
                                    </p:animEffect>
                                  </p:childTnLst>
                                </p:cTn>
                              </p:par>
                              <p:par>
                                <p:cTn id="53" presetID="47" presetClass="entr" presetSubtype="0" fill="hold" grpId="0" nodeType="withEffect">
                                  <p:stCondLst>
                                    <p:cond delay="0"/>
                                  </p:stCondLst>
                                  <p:childTnLst>
                                    <p:set>
                                      <p:cBhvr>
                                        <p:cTn id="54" dur="1" fill="hold">
                                          <p:stCondLst>
                                            <p:cond delay="0"/>
                                          </p:stCondLst>
                                        </p:cTn>
                                        <p:tgtEl>
                                          <p:spTgt spid="25607"/>
                                        </p:tgtEl>
                                        <p:attrNameLst>
                                          <p:attrName>style.visibility</p:attrName>
                                        </p:attrNameLst>
                                      </p:cBhvr>
                                      <p:to>
                                        <p:strVal val="visible"/>
                                      </p:to>
                                    </p:set>
                                    <p:animEffect transition="in" filter="fade">
                                      <p:cBhvr>
                                        <p:cTn id="55" dur="1000"/>
                                        <p:tgtEl>
                                          <p:spTgt spid="25607"/>
                                        </p:tgtEl>
                                      </p:cBhvr>
                                    </p:animEffect>
                                    <p:anim calcmode="lin" valueType="num">
                                      <p:cBhvr>
                                        <p:cTn id="56" dur="1000" fill="hold"/>
                                        <p:tgtEl>
                                          <p:spTgt spid="25607"/>
                                        </p:tgtEl>
                                        <p:attrNameLst>
                                          <p:attrName>ppt_x</p:attrName>
                                        </p:attrNameLst>
                                      </p:cBhvr>
                                      <p:tavLst>
                                        <p:tav tm="0">
                                          <p:val>
                                            <p:strVal val="#ppt_x"/>
                                          </p:val>
                                        </p:tav>
                                        <p:tav tm="100000">
                                          <p:val>
                                            <p:strVal val="#ppt_x"/>
                                          </p:val>
                                        </p:tav>
                                      </p:tavLst>
                                    </p:anim>
                                    <p:anim calcmode="lin" valueType="num">
                                      <p:cBhvr>
                                        <p:cTn id="57" dur="1000" fill="hold"/>
                                        <p:tgtEl>
                                          <p:spTgt spid="25607"/>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25606"/>
                                        </p:tgtEl>
                                        <p:attrNameLst>
                                          <p:attrName>style.visibility</p:attrName>
                                        </p:attrNameLst>
                                      </p:cBhvr>
                                      <p:to>
                                        <p:strVal val="visible"/>
                                      </p:to>
                                    </p:set>
                                    <p:animEffect transition="in" filter="fade">
                                      <p:cBhvr>
                                        <p:cTn id="60" dur="1000"/>
                                        <p:tgtEl>
                                          <p:spTgt spid="25606"/>
                                        </p:tgtEl>
                                      </p:cBhvr>
                                    </p:animEffect>
                                    <p:anim calcmode="lin" valueType="num">
                                      <p:cBhvr>
                                        <p:cTn id="61" dur="1000" fill="hold"/>
                                        <p:tgtEl>
                                          <p:spTgt spid="25606"/>
                                        </p:tgtEl>
                                        <p:attrNameLst>
                                          <p:attrName>ppt_x</p:attrName>
                                        </p:attrNameLst>
                                      </p:cBhvr>
                                      <p:tavLst>
                                        <p:tav tm="0">
                                          <p:val>
                                            <p:strVal val="#ppt_x"/>
                                          </p:val>
                                        </p:tav>
                                        <p:tav tm="100000">
                                          <p:val>
                                            <p:strVal val="#ppt_x"/>
                                          </p:val>
                                        </p:tav>
                                      </p:tavLst>
                                    </p:anim>
                                    <p:anim calcmode="lin" valueType="num">
                                      <p:cBhvr>
                                        <p:cTn id="62" dur="1000" fill="hold"/>
                                        <p:tgtEl>
                                          <p:spTgt spid="25606"/>
                                        </p:tgtEl>
                                        <p:attrNameLst>
                                          <p:attrName>ppt_y</p:attrName>
                                        </p:attrNameLst>
                                      </p:cBhvr>
                                      <p:tavLst>
                                        <p:tav tm="0">
                                          <p:val>
                                            <p:strVal val="#ppt_y-.1"/>
                                          </p:val>
                                        </p:tav>
                                        <p:tav tm="100000">
                                          <p:val>
                                            <p:strVal val="#ppt_y"/>
                                          </p:val>
                                        </p:tav>
                                      </p:tavLst>
                                    </p:anim>
                                  </p:childTnLst>
                                </p:cTn>
                              </p:par>
                              <p:par>
                                <p:cTn id="63" presetID="12" presetClass="entr" presetSubtype="2" fill="hold" grpId="0" nodeType="withEffect">
                                  <p:stCondLst>
                                    <p:cond delay="0"/>
                                  </p:stCondLst>
                                  <p:childTnLst>
                                    <p:set>
                                      <p:cBhvr>
                                        <p:cTn id="64" dur="1" fill="hold">
                                          <p:stCondLst>
                                            <p:cond delay="0"/>
                                          </p:stCondLst>
                                        </p:cTn>
                                        <p:tgtEl>
                                          <p:spTgt spid="25603"/>
                                        </p:tgtEl>
                                        <p:attrNameLst>
                                          <p:attrName>style.visibility</p:attrName>
                                        </p:attrNameLst>
                                      </p:cBhvr>
                                      <p:to>
                                        <p:strVal val="visible"/>
                                      </p:to>
                                    </p:set>
                                    <p:animEffect transition="in" filter="slide(fromRight)">
                                      <p:cBhvr>
                                        <p:cTn id="65" dur="500"/>
                                        <p:tgtEl>
                                          <p:spTgt spid="25603"/>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12" fill="hold" grpId="0" nodeType="clickEffect">
                                  <p:stCondLst>
                                    <p:cond delay="0"/>
                                  </p:stCondLst>
                                  <p:childTnLst>
                                    <p:set>
                                      <p:cBhvr>
                                        <p:cTn id="69" dur="1" fill="hold">
                                          <p:stCondLst>
                                            <p:cond delay="0"/>
                                          </p:stCondLst>
                                        </p:cTn>
                                        <p:tgtEl>
                                          <p:spTgt spid="109572"/>
                                        </p:tgtEl>
                                        <p:attrNameLst>
                                          <p:attrName>style.visibility</p:attrName>
                                        </p:attrNameLst>
                                      </p:cBhvr>
                                      <p:to>
                                        <p:strVal val="visible"/>
                                      </p:to>
                                    </p:set>
                                    <p:anim calcmode="lin" valueType="num">
                                      <p:cBhvr additive="base">
                                        <p:cTn id="70" dur="500" fill="hold"/>
                                        <p:tgtEl>
                                          <p:spTgt spid="109572"/>
                                        </p:tgtEl>
                                        <p:attrNameLst>
                                          <p:attrName>ppt_x</p:attrName>
                                        </p:attrNameLst>
                                      </p:cBhvr>
                                      <p:tavLst>
                                        <p:tav tm="0">
                                          <p:val>
                                            <p:strVal val="0-#ppt_w/2"/>
                                          </p:val>
                                        </p:tav>
                                        <p:tav tm="100000">
                                          <p:val>
                                            <p:strVal val="#ppt_x"/>
                                          </p:val>
                                        </p:tav>
                                      </p:tavLst>
                                    </p:anim>
                                    <p:anim calcmode="lin" valueType="num">
                                      <p:cBhvr additive="base">
                                        <p:cTn id="71" dur="500" fill="hold"/>
                                        <p:tgtEl>
                                          <p:spTgt spid="109572"/>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12" fill="hold" grpId="0" nodeType="clickEffect">
                                  <p:stCondLst>
                                    <p:cond delay="0"/>
                                  </p:stCondLst>
                                  <p:childTnLst>
                                    <p:set>
                                      <p:cBhvr>
                                        <p:cTn id="75" dur="1" fill="hold">
                                          <p:stCondLst>
                                            <p:cond delay="0"/>
                                          </p:stCondLst>
                                        </p:cTn>
                                        <p:tgtEl>
                                          <p:spTgt spid="109573"/>
                                        </p:tgtEl>
                                        <p:attrNameLst>
                                          <p:attrName>style.visibility</p:attrName>
                                        </p:attrNameLst>
                                      </p:cBhvr>
                                      <p:to>
                                        <p:strVal val="visible"/>
                                      </p:to>
                                    </p:set>
                                    <p:anim calcmode="lin" valueType="num">
                                      <p:cBhvr additive="base">
                                        <p:cTn id="76" dur="500" fill="hold"/>
                                        <p:tgtEl>
                                          <p:spTgt spid="109573"/>
                                        </p:tgtEl>
                                        <p:attrNameLst>
                                          <p:attrName>ppt_x</p:attrName>
                                        </p:attrNameLst>
                                      </p:cBhvr>
                                      <p:tavLst>
                                        <p:tav tm="0">
                                          <p:val>
                                            <p:strVal val="0-#ppt_w/2"/>
                                          </p:val>
                                        </p:tav>
                                        <p:tav tm="100000">
                                          <p:val>
                                            <p:strVal val="#ppt_x"/>
                                          </p:val>
                                        </p:tav>
                                      </p:tavLst>
                                    </p:anim>
                                    <p:anim calcmode="lin" valueType="num">
                                      <p:cBhvr additive="base">
                                        <p:cTn id="77" dur="500" fill="hold"/>
                                        <p:tgtEl>
                                          <p:spTgt spid="109573"/>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12" fill="hold" grpId="0" nodeType="clickEffect">
                                  <p:stCondLst>
                                    <p:cond delay="0"/>
                                  </p:stCondLst>
                                  <p:childTnLst>
                                    <p:set>
                                      <p:cBhvr>
                                        <p:cTn id="81" dur="1" fill="hold">
                                          <p:stCondLst>
                                            <p:cond delay="0"/>
                                          </p:stCondLst>
                                        </p:cTn>
                                        <p:tgtEl>
                                          <p:spTgt spid="109574"/>
                                        </p:tgtEl>
                                        <p:attrNameLst>
                                          <p:attrName>style.visibility</p:attrName>
                                        </p:attrNameLst>
                                      </p:cBhvr>
                                      <p:to>
                                        <p:strVal val="visible"/>
                                      </p:to>
                                    </p:set>
                                    <p:anim calcmode="lin" valueType="num">
                                      <p:cBhvr additive="base">
                                        <p:cTn id="82" dur="500" fill="hold"/>
                                        <p:tgtEl>
                                          <p:spTgt spid="109574"/>
                                        </p:tgtEl>
                                        <p:attrNameLst>
                                          <p:attrName>ppt_x</p:attrName>
                                        </p:attrNameLst>
                                      </p:cBhvr>
                                      <p:tavLst>
                                        <p:tav tm="0">
                                          <p:val>
                                            <p:strVal val="0-#ppt_w/2"/>
                                          </p:val>
                                        </p:tav>
                                        <p:tav tm="100000">
                                          <p:val>
                                            <p:strVal val="#ppt_x"/>
                                          </p:val>
                                        </p:tav>
                                      </p:tavLst>
                                    </p:anim>
                                    <p:anim calcmode="lin" valueType="num">
                                      <p:cBhvr additive="base">
                                        <p:cTn id="83" dur="500" fill="hold"/>
                                        <p:tgtEl>
                                          <p:spTgt spid="109574"/>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12" fill="hold" grpId="0" nodeType="clickEffect">
                                  <p:stCondLst>
                                    <p:cond delay="0"/>
                                  </p:stCondLst>
                                  <p:childTnLst>
                                    <p:set>
                                      <p:cBhvr>
                                        <p:cTn id="87" dur="1" fill="hold">
                                          <p:stCondLst>
                                            <p:cond delay="0"/>
                                          </p:stCondLst>
                                        </p:cTn>
                                        <p:tgtEl>
                                          <p:spTgt spid="109575"/>
                                        </p:tgtEl>
                                        <p:attrNameLst>
                                          <p:attrName>style.visibility</p:attrName>
                                        </p:attrNameLst>
                                      </p:cBhvr>
                                      <p:to>
                                        <p:strVal val="visible"/>
                                      </p:to>
                                    </p:set>
                                    <p:anim calcmode="lin" valueType="num">
                                      <p:cBhvr additive="base">
                                        <p:cTn id="88" dur="500" fill="hold"/>
                                        <p:tgtEl>
                                          <p:spTgt spid="109575"/>
                                        </p:tgtEl>
                                        <p:attrNameLst>
                                          <p:attrName>ppt_x</p:attrName>
                                        </p:attrNameLst>
                                      </p:cBhvr>
                                      <p:tavLst>
                                        <p:tav tm="0">
                                          <p:val>
                                            <p:strVal val="0-#ppt_w/2"/>
                                          </p:val>
                                        </p:tav>
                                        <p:tav tm="100000">
                                          <p:val>
                                            <p:strVal val="#ppt_x"/>
                                          </p:val>
                                        </p:tav>
                                      </p:tavLst>
                                    </p:anim>
                                    <p:anim calcmode="lin" valueType="num">
                                      <p:cBhvr additive="base">
                                        <p:cTn id="89" dur="500" fill="hold"/>
                                        <p:tgtEl>
                                          <p:spTgt spid="109575"/>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12" fill="hold" grpId="0" nodeType="clickEffect">
                                  <p:stCondLst>
                                    <p:cond delay="0"/>
                                  </p:stCondLst>
                                  <p:childTnLst>
                                    <p:set>
                                      <p:cBhvr>
                                        <p:cTn id="93" dur="1" fill="hold">
                                          <p:stCondLst>
                                            <p:cond delay="0"/>
                                          </p:stCondLst>
                                        </p:cTn>
                                        <p:tgtEl>
                                          <p:spTgt spid="109576"/>
                                        </p:tgtEl>
                                        <p:attrNameLst>
                                          <p:attrName>style.visibility</p:attrName>
                                        </p:attrNameLst>
                                      </p:cBhvr>
                                      <p:to>
                                        <p:strVal val="visible"/>
                                      </p:to>
                                    </p:set>
                                    <p:anim calcmode="lin" valueType="num">
                                      <p:cBhvr additive="base">
                                        <p:cTn id="94" dur="500" fill="hold"/>
                                        <p:tgtEl>
                                          <p:spTgt spid="109576"/>
                                        </p:tgtEl>
                                        <p:attrNameLst>
                                          <p:attrName>ppt_x</p:attrName>
                                        </p:attrNameLst>
                                      </p:cBhvr>
                                      <p:tavLst>
                                        <p:tav tm="0">
                                          <p:val>
                                            <p:strVal val="0-#ppt_w/2"/>
                                          </p:val>
                                        </p:tav>
                                        <p:tav tm="100000">
                                          <p:val>
                                            <p:strVal val="#ppt_x"/>
                                          </p:val>
                                        </p:tav>
                                      </p:tavLst>
                                    </p:anim>
                                    <p:anim calcmode="lin" valueType="num">
                                      <p:cBhvr additive="base">
                                        <p:cTn id="95" dur="500" fill="hold"/>
                                        <p:tgtEl>
                                          <p:spTgt spid="1095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nimBg="1"/>
      <p:bldP spid="25603" grpId="0" animBg="1"/>
      <p:bldP spid="25604" grpId="0" animBg="1"/>
      <p:bldP spid="25605" grpId="0" animBg="1"/>
      <p:bldP spid="25606" grpId="0" animBg="1"/>
      <p:bldP spid="25607" grpId="0" animBg="1"/>
      <p:bldP spid="25612" grpId="0" animBg="1"/>
      <p:bldP spid="25613" grpId="0" animBg="1"/>
      <p:bldP spid="25614" grpId="0" animBg="1"/>
      <p:bldP spid="25619" grpId="0" animBg="1"/>
      <p:bldP spid="25620" grpId="0" animBg="1"/>
      <p:bldP spid="25621" grpId="0" animBg="1"/>
      <p:bldP spid="109572" grpId="0" animBg="1"/>
      <p:bldP spid="109573" grpId="0" animBg="1"/>
      <p:bldP spid="109574" grpId="0" animBg="1"/>
      <p:bldP spid="109575" grpId="0" animBg="1"/>
      <p:bldP spid="10957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12641"/>
          <p:cNvSpPr>
            <a:spLocks noGrp="1"/>
          </p:cNvSpPr>
          <p:nvPr>
            <p:ph type="title"/>
          </p:nvPr>
        </p:nvSpPr>
        <p:spPr>
          <a:xfrm>
            <a:off x="76200" y="76200"/>
            <a:ext cx="1905000" cy="914400"/>
          </a:xfrm>
        </p:spPr>
        <p:txBody>
          <a:bodyPr anchor="ctr"/>
          <a:lstStyle/>
          <a:p>
            <a:r>
              <a:rPr lang="zh-CN" altLang="en-US" sz="2000" dirty="0">
                <a:solidFill>
                  <a:srgbClr val="00FF00"/>
                </a:solidFill>
                <a:latin typeface="华文宋体" panose="02010600040101010101" pitchFamily="2" charset="-122"/>
                <a:ea typeface="华文宋体" panose="02010600040101010101" pitchFamily="2" charset="-122"/>
              </a:rPr>
              <a:t>社会政治理想</a:t>
            </a:r>
            <a:r>
              <a:rPr lang="en-US" altLang="zh-CN" sz="2000" dirty="0">
                <a:solidFill>
                  <a:srgbClr val="00FF00"/>
                </a:solidFill>
                <a:latin typeface="华文宋体" panose="02010600040101010101" pitchFamily="2" charset="-122"/>
                <a:ea typeface="华文宋体" panose="02010600040101010101" pitchFamily="2" charset="-122"/>
              </a:rPr>
              <a:t>:</a:t>
            </a:r>
          </a:p>
        </p:txBody>
      </p:sp>
      <p:sp>
        <p:nvSpPr>
          <p:cNvPr id="112643" name="文本占位符 112642"/>
          <p:cNvSpPr>
            <a:spLocks noGrp="1"/>
          </p:cNvSpPr>
          <p:nvPr>
            <p:ph idx="1"/>
          </p:nvPr>
        </p:nvSpPr>
        <p:spPr>
          <a:xfrm>
            <a:off x="228600" y="914400"/>
            <a:ext cx="3124200" cy="1295400"/>
          </a:xfrm>
        </p:spPr>
        <p:txBody>
          <a:bodyPr>
            <a:normAutofit/>
          </a:bodyPr>
          <a:lstStyle/>
          <a:p>
            <a:r>
              <a:rPr lang="zh-CN" altLang="en-US" sz="1800" b="1" dirty="0">
                <a:latin typeface="华文仿宋" panose="02010600040101010101" pitchFamily="2" charset="-122"/>
                <a:ea typeface="华文仿宋" panose="02010600040101010101" pitchFamily="2" charset="-122"/>
              </a:rPr>
              <a:t>中国传统的社会理想</a:t>
            </a:r>
          </a:p>
          <a:p>
            <a:r>
              <a:rPr lang="zh-CN" altLang="en-US" sz="1800" b="1" dirty="0">
                <a:latin typeface="华文仿宋" panose="02010600040101010101" pitchFamily="2" charset="-122"/>
                <a:ea typeface="华文仿宋" panose="02010600040101010101" pitchFamily="2" charset="-122"/>
              </a:rPr>
              <a:t>西方的理想社会追求</a:t>
            </a:r>
          </a:p>
          <a:p>
            <a:r>
              <a:rPr lang="zh-CN" altLang="en-US" sz="1800" b="1" dirty="0">
                <a:latin typeface="华文仿宋" panose="02010600040101010101" pitchFamily="2" charset="-122"/>
                <a:ea typeface="华文仿宋" panose="02010600040101010101" pitchFamily="2" charset="-122"/>
              </a:rPr>
              <a:t>当代中国的社会政治理想</a:t>
            </a:r>
          </a:p>
        </p:txBody>
      </p:sp>
      <p:sp>
        <p:nvSpPr>
          <p:cNvPr id="111618" name="标题 111617"/>
          <p:cNvSpPr txBox="1">
            <a:spLocks/>
          </p:cNvSpPr>
          <p:nvPr/>
        </p:nvSpPr>
        <p:spPr>
          <a:xfrm>
            <a:off x="190500" y="2057400"/>
            <a:ext cx="1600200" cy="5334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dirty="0">
                <a:solidFill>
                  <a:srgbClr val="00FF00"/>
                </a:solidFill>
                <a:latin typeface="华文宋体" panose="02010600040101010101" pitchFamily="2" charset="-122"/>
                <a:ea typeface="华文宋体" panose="02010600040101010101" pitchFamily="2" charset="-122"/>
              </a:rPr>
              <a:t>道德理想</a:t>
            </a:r>
            <a:endParaRPr lang="en-US" altLang="zh-CN" sz="2000" dirty="0">
              <a:solidFill>
                <a:srgbClr val="00FF00"/>
              </a:solidFill>
              <a:latin typeface="华文宋体" panose="02010600040101010101" pitchFamily="2" charset="-122"/>
              <a:ea typeface="华文宋体" panose="02010600040101010101" pitchFamily="2" charset="-122"/>
            </a:endParaRPr>
          </a:p>
        </p:txBody>
      </p:sp>
      <p:sp>
        <p:nvSpPr>
          <p:cNvPr id="2" name="文本占位符 111618">
            <a:extLst>
              <a:ext uri="{FF2B5EF4-FFF2-40B4-BE49-F238E27FC236}">
                <a16:creationId xmlns:a16="http://schemas.microsoft.com/office/drawing/2014/main" id="{BC8C6501-C1A6-3699-4A81-898BEFFE85F1}"/>
              </a:ext>
            </a:extLst>
          </p:cNvPr>
          <p:cNvSpPr txBox="1">
            <a:spLocks/>
          </p:cNvSpPr>
          <p:nvPr/>
        </p:nvSpPr>
        <p:spPr>
          <a:xfrm>
            <a:off x="-304800" y="2514600"/>
            <a:ext cx="5791200" cy="419100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lnSpc>
                <a:spcPct val="80000"/>
              </a:lnSpc>
            </a:pPr>
            <a:r>
              <a:rPr lang="zh-CN" altLang="en-US" sz="1800" b="1" dirty="0">
                <a:latin typeface="华文宋体" panose="02010600040101010101" pitchFamily="2" charset="-122"/>
                <a:ea typeface="华文宋体" panose="02010600040101010101" pitchFamily="2" charset="-122"/>
              </a:rPr>
              <a:t>指人们所向往和追求的理想人格，做人标准；</a:t>
            </a:r>
          </a:p>
          <a:p>
            <a:pPr fontAlgn="auto">
              <a:lnSpc>
                <a:spcPct val="80000"/>
              </a:lnSpc>
            </a:pPr>
            <a:r>
              <a:rPr lang="zh-CN" altLang="en-US" sz="1800" b="1" dirty="0">
                <a:latin typeface="华文宋体" panose="02010600040101010101" pitchFamily="2" charset="-122"/>
                <a:ea typeface="华文宋体" panose="02010600040101010101" pitchFamily="2" charset="-122"/>
              </a:rPr>
              <a:t>中国共产党在革命斗争中，形成以为人民服务为核心的道德理想。 </a:t>
            </a:r>
          </a:p>
          <a:p>
            <a:pPr fontAlgn="auto">
              <a:lnSpc>
                <a:spcPct val="80000"/>
              </a:lnSpc>
            </a:pPr>
            <a:r>
              <a:rPr lang="zh-CN" altLang="en-US" sz="1800" b="1" dirty="0">
                <a:latin typeface="华文宋体" panose="02010600040101010101" pitchFamily="2" charset="-122"/>
                <a:ea typeface="华文宋体" panose="02010600040101010101" pitchFamily="2" charset="-122"/>
              </a:rPr>
              <a:t>在我国的优秀传统文化中，十分注重塑造理想人格。</a:t>
            </a:r>
          </a:p>
          <a:p>
            <a:pPr marL="0" indent="0" fontAlgn="auto">
              <a:lnSpc>
                <a:spcPct val="80000"/>
              </a:lnSpc>
              <a:buFont typeface="Wingdings 3" panose="05040102010807070707" charset="2"/>
              <a:buNone/>
            </a:pPr>
            <a:endParaRPr lang="zh-CN" altLang="en-US" sz="1800" b="1" dirty="0">
              <a:latin typeface="华文宋体" panose="02010600040101010101" pitchFamily="2" charset="-122"/>
              <a:ea typeface="华文宋体" panose="02010600040101010101" pitchFamily="2" charset="-122"/>
            </a:endParaRPr>
          </a:p>
          <a:p>
            <a:pPr marL="0" indent="0" fontAlgn="auto">
              <a:lnSpc>
                <a:spcPct val="80000"/>
              </a:lnSpc>
              <a:buNone/>
            </a:pPr>
            <a:r>
              <a:rPr lang="zh-CN" altLang="en-US" sz="1800" b="1" dirty="0">
                <a:solidFill>
                  <a:srgbClr val="FF6600"/>
                </a:solidFill>
                <a:latin typeface="华文宋体" panose="02010600040101010101" pitchFamily="2" charset="-122"/>
                <a:ea typeface="华文宋体" panose="02010600040101010101" pitchFamily="2" charset="-122"/>
              </a:rPr>
              <a:t> </a:t>
            </a:r>
            <a:r>
              <a:rPr lang="zh-CN" altLang="en-US" sz="1800" b="1" dirty="0">
                <a:latin typeface="华文宋体" panose="02010600040101010101" pitchFamily="2" charset="-122"/>
                <a:ea typeface="华文宋体" panose="02010600040101010101" pitchFamily="2" charset="-122"/>
              </a:rPr>
              <a:t>“君子”：孟子：“君子所性，仁义礼智根于心。” </a:t>
            </a:r>
          </a:p>
          <a:p>
            <a:pPr fontAlgn="auto">
              <a:lnSpc>
                <a:spcPct val="80000"/>
              </a:lnSpc>
            </a:pPr>
            <a:r>
              <a:rPr lang="zh-CN" altLang="en-US" sz="1800" b="1" dirty="0">
                <a:latin typeface="华文宋体" panose="02010600040101010101" pitchFamily="2" charset="-122"/>
                <a:ea typeface="华文宋体" panose="02010600040101010101" pitchFamily="2" charset="-122"/>
              </a:rPr>
              <a:t>“大丈夫”：孟子：“居天下之广居，立天下之正位，行天下之大道。得志与民由之，不得志独行其道。富贵不能淫，贫贱不能移，威武不能屈，此之谓大丈夫。”</a:t>
            </a:r>
          </a:p>
          <a:p>
            <a:pPr fontAlgn="auto">
              <a:lnSpc>
                <a:spcPct val="80000"/>
              </a:lnSpc>
              <a:buFont typeface="Wingdings 3" panose="05040102010807070707" charset="2"/>
              <a:buNone/>
            </a:pPr>
            <a:r>
              <a:rPr lang="zh-CN" altLang="en-US" sz="1800" b="1" dirty="0">
                <a:latin typeface="华文宋体" panose="02010600040101010101" pitchFamily="2" charset="-122"/>
                <a:ea typeface="华文宋体" panose="02010600040101010101" pitchFamily="2" charset="-122"/>
              </a:rPr>
              <a:t>    “圣人”：孟子：“规矩，方圆之至也；圣人，人伦之至也”。</a:t>
            </a:r>
          </a:p>
          <a:p>
            <a:pPr fontAlgn="auto">
              <a:lnSpc>
                <a:spcPct val="80000"/>
              </a:lnSpc>
              <a:buFont typeface="Wingdings 3" panose="05040102010807070707" charset="2"/>
              <a:buNone/>
            </a:pPr>
            <a:r>
              <a:rPr lang="zh-CN" altLang="en-US" sz="1800" b="1" dirty="0">
                <a:latin typeface="华文宋体" panose="02010600040101010101" pitchFamily="2" charset="-122"/>
                <a:ea typeface="华文宋体" panose="02010600040101010101" pitchFamily="2" charset="-122"/>
              </a:rPr>
              <a:t>    “圣王”：荀子曰：“圣也者，尽伦者也；王也者，尽制者也；两尽者，足以为天下极矣，故学者以圣王为师。”</a:t>
            </a:r>
          </a:p>
        </p:txBody>
      </p:sp>
      <p:sp>
        <p:nvSpPr>
          <p:cNvPr id="3" name="标题 23553">
            <a:extLst>
              <a:ext uri="{FF2B5EF4-FFF2-40B4-BE49-F238E27FC236}">
                <a16:creationId xmlns:a16="http://schemas.microsoft.com/office/drawing/2014/main" id="{0ECC1F33-104C-B7C4-D3C2-4F04648C45F4}"/>
              </a:ext>
            </a:extLst>
          </p:cNvPr>
          <p:cNvSpPr txBox="1">
            <a:spLocks/>
          </p:cNvSpPr>
          <p:nvPr/>
        </p:nvSpPr>
        <p:spPr>
          <a:xfrm>
            <a:off x="4800600" y="-76200"/>
            <a:ext cx="1447800" cy="7620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dirty="0">
                <a:solidFill>
                  <a:srgbClr val="00FF00"/>
                </a:solidFill>
                <a:latin typeface="华文宋体" panose="02010600040101010101" pitchFamily="2" charset="-122"/>
                <a:ea typeface="华文宋体" panose="02010600040101010101" pitchFamily="2" charset="-122"/>
              </a:rPr>
              <a:t>职业理想</a:t>
            </a:r>
            <a:endParaRPr lang="en-US" altLang="zh-CN" sz="2000" dirty="0">
              <a:solidFill>
                <a:srgbClr val="00FF00"/>
              </a:solidFill>
              <a:latin typeface="华文宋体" panose="02010600040101010101" pitchFamily="2" charset="-122"/>
              <a:ea typeface="华文宋体" panose="02010600040101010101" pitchFamily="2" charset="-122"/>
            </a:endParaRPr>
          </a:p>
        </p:txBody>
      </p:sp>
      <p:sp>
        <p:nvSpPr>
          <p:cNvPr id="23555" name="文本占位符 23554"/>
          <p:cNvSpPr txBox="1">
            <a:spLocks/>
          </p:cNvSpPr>
          <p:nvPr/>
        </p:nvSpPr>
        <p:spPr>
          <a:xfrm>
            <a:off x="4655288" y="571500"/>
            <a:ext cx="3657600" cy="1981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latin typeface="华文宋体" panose="02010600040101010101" pitchFamily="2" charset="-122"/>
                <a:ea typeface="华文宋体" panose="02010600040101010101" pitchFamily="2" charset="-122"/>
              </a:rPr>
              <a:t>某种意义上可以说，人生的理想追求、成败得失大部分都体现在职业生活当中。</a:t>
            </a:r>
          </a:p>
          <a:p>
            <a:pPr fontAlgn="auto"/>
            <a:r>
              <a:rPr lang="zh-CN" altLang="en-US" sz="1800" b="1" dirty="0">
                <a:latin typeface="华文宋体" panose="02010600040101010101" pitchFamily="2" charset="-122"/>
                <a:ea typeface="华文宋体" panose="02010600040101010101" pitchFamily="2" charset="-122"/>
              </a:rPr>
              <a:t>追求职业理想应该考虑个人条件和社会需要的有机结合；能力、责任与利益的有机统一。</a:t>
            </a:r>
          </a:p>
        </p:txBody>
      </p:sp>
      <p:sp>
        <p:nvSpPr>
          <p:cNvPr id="4" name="标题 113665">
            <a:extLst>
              <a:ext uri="{FF2B5EF4-FFF2-40B4-BE49-F238E27FC236}">
                <a16:creationId xmlns:a16="http://schemas.microsoft.com/office/drawing/2014/main" id="{C8B3FEE9-DF7D-5222-53C7-1F19F56698B4}"/>
              </a:ext>
            </a:extLst>
          </p:cNvPr>
          <p:cNvSpPr txBox="1">
            <a:spLocks/>
          </p:cNvSpPr>
          <p:nvPr/>
        </p:nvSpPr>
        <p:spPr>
          <a:xfrm>
            <a:off x="6038850" y="2324100"/>
            <a:ext cx="1295400" cy="6096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dirty="0">
                <a:solidFill>
                  <a:srgbClr val="00FF00"/>
                </a:solidFill>
                <a:latin typeface="华文宋体" panose="02010600040101010101" pitchFamily="2" charset="-122"/>
                <a:ea typeface="华文宋体" panose="02010600040101010101" pitchFamily="2" charset="-122"/>
              </a:rPr>
              <a:t>生活理想</a:t>
            </a:r>
            <a:endParaRPr lang="en-US" altLang="zh-CN" sz="2000" dirty="0">
              <a:solidFill>
                <a:srgbClr val="00FF00"/>
              </a:solidFill>
              <a:latin typeface="华文宋体" panose="02010600040101010101" pitchFamily="2" charset="-122"/>
              <a:ea typeface="华文宋体" panose="02010600040101010101" pitchFamily="2" charset="-122"/>
            </a:endParaRPr>
          </a:p>
        </p:txBody>
      </p:sp>
      <p:sp>
        <p:nvSpPr>
          <p:cNvPr id="5" name="文本占位符 113666">
            <a:extLst>
              <a:ext uri="{FF2B5EF4-FFF2-40B4-BE49-F238E27FC236}">
                <a16:creationId xmlns:a16="http://schemas.microsoft.com/office/drawing/2014/main" id="{491681FA-C4F2-3752-612A-1CA90DFED4BF}"/>
              </a:ext>
            </a:extLst>
          </p:cNvPr>
          <p:cNvSpPr txBox="1">
            <a:spLocks/>
          </p:cNvSpPr>
          <p:nvPr/>
        </p:nvSpPr>
        <p:spPr>
          <a:xfrm>
            <a:off x="5307419" y="2933700"/>
            <a:ext cx="3810000" cy="4419600"/>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latin typeface="华文宋体" panose="02010600040101010101" pitchFamily="2" charset="-122"/>
                <a:ea typeface="华文宋体" panose="02010600040101010101" pitchFamily="2" charset="-122"/>
              </a:rPr>
              <a:t>终日奔忙只为饥，才得有食又思衣。</a:t>
            </a:r>
          </a:p>
          <a:p>
            <a:pPr fontAlgn="auto"/>
            <a:r>
              <a:rPr lang="zh-CN" altLang="en-US" sz="1800" b="1" dirty="0">
                <a:latin typeface="华文宋体" panose="02010600040101010101" pitchFamily="2" charset="-122"/>
                <a:ea typeface="华文宋体" panose="02010600040101010101" pitchFamily="2" charset="-122"/>
              </a:rPr>
              <a:t>置下绫罗身上穿，抬头却嫌房室低。</a:t>
            </a:r>
          </a:p>
          <a:p>
            <a:pPr fontAlgn="auto"/>
            <a:r>
              <a:rPr lang="zh-CN" altLang="en-US" sz="1800" b="1" dirty="0">
                <a:latin typeface="华文宋体" panose="02010600040101010101" pitchFamily="2" charset="-122"/>
                <a:ea typeface="华文宋体" panose="02010600040101010101" pitchFamily="2" charset="-122"/>
              </a:rPr>
              <a:t>盖了高楼与大厦，床前缺少美貌妻。</a:t>
            </a:r>
          </a:p>
          <a:p>
            <a:pPr fontAlgn="auto"/>
            <a:r>
              <a:rPr lang="zh-CN" altLang="en-US" sz="1800" b="1" dirty="0">
                <a:latin typeface="华文宋体" panose="02010600040101010101" pitchFamily="2" charset="-122"/>
                <a:ea typeface="华文宋体" panose="02010600040101010101" pitchFamily="2" charset="-122"/>
              </a:rPr>
              <a:t>娇妻美妾都娶下，忽虑出门没马骑。</a:t>
            </a:r>
          </a:p>
          <a:p>
            <a:pPr fontAlgn="auto"/>
            <a:r>
              <a:rPr lang="zh-CN" altLang="en-US" sz="1800" b="1" dirty="0">
                <a:latin typeface="华文宋体" panose="02010600040101010101" pitchFamily="2" charset="-122"/>
                <a:ea typeface="华文宋体" panose="02010600040101010101" pitchFamily="2" charset="-122"/>
              </a:rPr>
              <a:t>买得高头金鞍马，马前马后少跟随。</a:t>
            </a:r>
          </a:p>
          <a:p>
            <a:pPr marL="0" indent="0" fontAlgn="auto">
              <a:buFont typeface="Wingdings 3" panose="05040102010807070707" charset="2"/>
              <a:buNone/>
            </a:pPr>
            <a:r>
              <a:rPr lang="zh-CN" altLang="en-US" sz="1800" b="1" dirty="0">
                <a:latin typeface="华文宋体" panose="02010600040101010101" pitchFamily="2" charset="-122"/>
                <a:ea typeface="华文宋体" panose="02010600040101010101" pitchFamily="2" charset="-122"/>
              </a:rPr>
              <a:t>  明代，朱载育，</a:t>
            </a:r>
            <a:r>
              <a:rPr lang="en-US" altLang="zh-CN" sz="1800" b="1" dirty="0">
                <a:latin typeface="华文宋体" panose="02010600040101010101" pitchFamily="2" charset="-122"/>
                <a:ea typeface="华文宋体" panose="02010600040101010101" pitchFamily="2" charset="-122"/>
              </a:rPr>
              <a:t>《</a:t>
            </a:r>
            <a:r>
              <a:rPr lang="zh-CN" altLang="en-US" sz="1800" b="1" dirty="0">
                <a:latin typeface="华文宋体" panose="02010600040101010101" pitchFamily="2" charset="-122"/>
                <a:ea typeface="华文宋体" panose="02010600040101010101" pitchFamily="2" charset="-122"/>
              </a:rPr>
              <a:t>十不足</a:t>
            </a:r>
            <a:r>
              <a:rPr lang="en-US" altLang="zh-CN" sz="1800" b="1" dirty="0">
                <a:latin typeface="华文宋体" panose="02010600040101010101" pitchFamily="2" charset="-122"/>
                <a:ea typeface="华文宋体" panose="02010600040101010101" pitchFamily="2" charset="-122"/>
              </a:rPr>
              <a:t>》</a:t>
            </a:r>
            <a:endParaRPr lang="zh-CN" altLang="en-US" sz="1800" b="1" dirty="0">
              <a:latin typeface="华文宋体" panose="02010600040101010101" pitchFamily="2" charset="-122"/>
              <a:ea typeface="华文宋体" panose="02010600040101010101" pitchFamily="2" charset="-122"/>
            </a:endParaRPr>
          </a:p>
          <a:p>
            <a:pPr fontAlgn="auto">
              <a:buFont typeface="Wingdings 3" panose="05040102010807070707" charset="2"/>
              <a:buNone/>
            </a:pPr>
            <a:r>
              <a:rPr lang="zh-CN" altLang="en-US" sz="1800" b="1" dirty="0">
                <a:latin typeface="华文宋体" panose="02010600040101010101" pitchFamily="2" charset="-122"/>
                <a:ea typeface="华文宋体" panose="02010600040101010101" pitchFamily="2" charset="-122"/>
              </a:rPr>
              <a:t>诸葛亮：“夫君子之行，静以修身，俭以养德。”</a:t>
            </a:r>
            <a:endParaRPr lang="en-US" altLang="zh-CN" sz="1800" b="1" dirty="0">
              <a:latin typeface="华文宋体" panose="02010600040101010101" pitchFamily="2" charset="-122"/>
              <a:ea typeface="华文宋体" panose="02010600040101010101" pitchFamily="2" charset="-122"/>
            </a:endParaRPr>
          </a:p>
          <a:p>
            <a:pPr fontAlgn="auto">
              <a:buFont typeface="Wingdings 3" panose="05040102010807070707" charset="2"/>
              <a:buNone/>
            </a:pPr>
            <a:r>
              <a:rPr lang="en-US" altLang="zh-CN" sz="1800" b="1" dirty="0">
                <a:latin typeface="华文宋体" panose="02010600040101010101" pitchFamily="2" charset="-122"/>
                <a:ea typeface="华文宋体" panose="02010600040101010101" pitchFamily="2" charset="-122"/>
              </a:rPr>
              <a:t>《</a:t>
            </a:r>
            <a:r>
              <a:rPr lang="zh-CN" altLang="en-US" sz="1800" b="1" dirty="0">
                <a:latin typeface="华文宋体" panose="02010600040101010101" pitchFamily="2" charset="-122"/>
                <a:ea typeface="华文宋体" panose="02010600040101010101" pitchFamily="2" charset="-122"/>
              </a:rPr>
              <a:t>后汉书</a:t>
            </a:r>
            <a:r>
              <a:rPr lang="en-US" altLang="zh-CN" sz="1800" b="1" dirty="0">
                <a:latin typeface="华文宋体" panose="02010600040101010101" pitchFamily="2" charset="-122"/>
                <a:ea typeface="华文宋体" panose="02010600040101010101" pitchFamily="2" charset="-122"/>
              </a:rPr>
              <a:t>·</a:t>
            </a:r>
            <a:r>
              <a:rPr lang="zh-CN" altLang="en-US" sz="1800" b="1" dirty="0">
                <a:latin typeface="华文宋体" panose="02010600040101010101" pitchFamily="2" charset="-122"/>
                <a:ea typeface="华文宋体" panose="02010600040101010101" pitchFamily="2" charset="-122"/>
              </a:rPr>
              <a:t>杨彪传</a:t>
            </a:r>
            <a:r>
              <a:rPr lang="en-US" altLang="zh-CN" sz="1800" b="1" dirty="0">
                <a:latin typeface="华文宋体" panose="02010600040101010101" pitchFamily="2" charset="-122"/>
                <a:ea typeface="华文宋体" panose="02010600040101010101" pitchFamily="2" charset="-122"/>
              </a:rPr>
              <a:t>》</a:t>
            </a:r>
            <a:r>
              <a:rPr lang="zh-CN" altLang="en-US" sz="1800" b="1" dirty="0">
                <a:latin typeface="华文宋体" panose="02010600040101010101" pitchFamily="2" charset="-122"/>
                <a:ea typeface="华文宋体" panose="02010600040101010101" pitchFamily="2" charset="-122"/>
              </a:rPr>
              <a:t>：“安贫乐道，恬于进趣。</a:t>
            </a:r>
            <a:r>
              <a:rPr lang="zh-CN" altLang="en-US" sz="1800" dirty="0">
                <a:latin typeface="华文宋体" panose="02010600040101010101" pitchFamily="2" charset="-122"/>
                <a:ea typeface="华文宋体" panose="02010600040101010101" pitchFamily="2" charset="-122"/>
              </a:rPr>
              <a:t>三辅诸儒莫不慕仰之。</a:t>
            </a:r>
            <a:r>
              <a:rPr lang="zh-CN" altLang="en-US" sz="1800" b="1" dirty="0">
                <a:latin typeface="华文宋体" panose="02010600040101010101" pitchFamily="2" charset="-122"/>
                <a:ea typeface="华文宋体"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42"/>
                                        </p:tgtEl>
                                        <p:attrNameLst>
                                          <p:attrName>style.visibility</p:attrName>
                                        </p:attrNameLst>
                                      </p:cBhvr>
                                      <p:to>
                                        <p:strVal val="visible"/>
                                      </p:to>
                                    </p:set>
                                    <p:anim calcmode="lin" valueType="num">
                                      <p:cBhvr additive="base">
                                        <p:cTn id="7" dur="500" fill="hold"/>
                                        <p:tgtEl>
                                          <p:spTgt spid="112642"/>
                                        </p:tgtEl>
                                        <p:attrNameLst>
                                          <p:attrName>ppt_x</p:attrName>
                                        </p:attrNameLst>
                                      </p:cBhvr>
                                      <p:tavLst>
                                        <p:tav tm="0">
                                          <p:val>
                                            <p:strVal val="#ppt_x"/>
                                          </p:val>
                                        </p:tav>
                                        <p:tav tm="100000">
                                          <p:val>
                                            <p:strVal val="#ppt_x"/>
                                          </p:val>
                                        </p:tav>
                                      </p:tavLst>
                                    </p:anim>
                                    <p:anim calcmode="lin" valueType="num">
                                      <p:cBhvr additive="base">
                                        <p:cTn id="8" dur="500" fill="hold"/>
                                        <p:tgtEl>
                                          <p:spTgt spid="1126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12643">
                                            <p:txEl>
                                              <p:pRg st="0" end="0"/>
                                            </p:txEl>
                                          </p:spTgt>
                                        </p:tgtEl>
                                        <p:attrNameLst>
                                          <p:attrName>style.visibility</p:attrName>
                                        </p:attrNameLst>
                                      </p:cBhvr>
                                      <p:to>
                                        <p:strVal val="visible"/>
                                      </p:to>
                                    </p:set>
                                    <p:anim calcmode="lin" valueType="num">
                                      <p:cBhvr additive="base">
                                        <p:cTn id="13" dur="500" fill="hold"/>
                                        <p:tgtEl>
                                          <p:spTgt spid="112643">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2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12643">
                                            <p:txEl>
                                              <p:pRg st="1" end="1"/>
                                            </p:txEl>
                                          </p:spTgt>
                                        </p:tgtEl>
                                        <p:attrNameLst>
                                          <p:attrName>style.visibility</p:attrName>
                                        </p:attrNameLst>
                                      </p:cBhvr>
                                      <p:to>
                                        <p:strVal val="visible"/>
                                      </p:to>
                                    </p:set>
                                    <p:anim calcmode="lin" valueType="num">
                                      <p:cBhvr additive="base">
                                        <p:cTn id="19" dur="500" fill="hold"/>
                                        <p:tgtEl>
                                          <p:spTgt spid="112643">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2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12643">
                                            <p:txEl>
                                              <p:pRg st="2" end="2"/>
                                            </p:txEl>
                                          </p:spTgt>
                                        </p:tgtEl>
                                        <p:attrNameLst>
                                          <p:attrName>style.visibility</p:attrName>
                                        </p:attrNameLst>
                                      </p:cBhvr>
                                      <p:to>
                                        <p:strVal val="visible"/>
                                      </p:to>
                                    </p:set>
                                    <p:anim calcmode="lin" valueType="num">
                                      <p:cBhvr additive="base">
                                        <p:cTn id="25" dur="500" fill="hold"/>
                                        <p:tgtEl>
                                          <p:spTgt spid="112643">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126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1618"/>
                                        </p:tgtEl>
                                        <p:attrNameLst>
                                          <p:attrName>style.visibility</p:attrName>
                                        </p:attrNameLst>
                                      </p:cBhvr>
                                      <p:to>
                                        <p:strVal val="visible"/>
                                      </p:to>
                                    </p:set>
                                    <p:anim calcmode="lin" valueType="num">
                                      <p:cBhvr additive="base">
                                        <p:cTn id="31" dur="500" fill="hold"/>
                                        <p:tgtEl>
                                          <p:spTgt spid="111618"/>
                                        </p:tgtEl>
                                        <p:attrNameLst>
                                          <p:attrName>ppt_x</p:attrName>
                                        </p:attrNameLst>
                                      </p:cBhvr>
                                      <p:tavLst>
                                        <p:tav tm="0">
                                          <p:val>
                                            <p:strVal val="#ppt_x"/>
                                          </p:val>
                                        </p:tav>
                                        <p:tav tm="100000">
                                          <p:val>
                                            <p:strVal val="#ppt_x"/>
                                          </p:val>
                                        </p:tav>
                                      </p:tavLst>
                                    </p:anim>
                                    <p:anim calcmode="lin" valueType="num">
                                      <p:cBhvr additive="base">
                                        <p:cTn id="32" dur="500" fill="hold"/>
                                        <p:tgtEl>
                                          <p:spTgt spid="11161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 calcmode="lin" valueType="num">
                                      <p:cBhvr additive="base">
                                        <p:cTn id="3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1" end="1"/>
                                            </p:txEl>
                                          </p:spTgt>
                                        </p:tgtEl>
                                        <p:attrNameLst>
                                          <p:attrName>style.visibility</p:attrName>
                                        </p:attrNameLst>
                                      </p:cBhvr>
                                      <p:to>
                                        <p:strVal val="visible"/>
                                      </p:to>
                                    </p:set>
                                    <p:anim calcmode="lin" valueType="num">
                                      <p:cBhvr additive="base">
                                        <p:cTn id="4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2" end="2"/>
                                            </p:txEl>
                                          </p:spTgt>
                                        </p:tgtEl>
                                        <p:attrNameLst>
                                          <p:attrName>style.visibility</p:attrName>
                                        </p:attrNameLst>
                                      </p:cBhvr>
                                      <p:to>
                                        <p:strVal val="visible"/>
                                      </p:to>
                                    </p:set>
                                    <p:anim calcmode="lin" valueType="num">
                                      <p:cBhvr additive="base">
                                        <p:cTn id="4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4" end="4"/>
                                            </p:txEl>
                                          </p:spTgt>
                                        </p:tgtEl>
                                        <p:attrNameLst>
                                          <p:attrName>style.visibility</p:attrName>
                                        </p:attrNameLst>
                                      </p:cBhvr>
                                      <p:to>
                                        <p:strVal val="visible"/>
                                      </p:to>
                                    </p:set>
                                    <p:anim calcmode="lin" valueType="num">
                                      <p:cBhvr additive="base">
                                        <p:cTn id="5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
                                            <p:txEl>
                                              <p:pRg st="5" end="5"/>
                                            </p:txEl>
                                          </p:spTgt>
                                        </p:tgtEl>
                                        <p:attrNameLst>
                                          <p:attrName>style.visibility</p:attrName>
                                        </p:attrNameLst>
                                      </p:cBhvr>
                                      <p:to>
                                        <p:strVal val="visible"/>
                                      </p:to>
                                    </p:set>
                                    <p:anim calcmode="lin" valueType="num">
                                      <p:cBhvr additive="base">
                                        <p:cTn id="6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
                                            <p:txEl>
                                              <p:pRg st="6" end="6"/>
                                            </p:txEl>
                                          </p:spTgt>
                                        </p:tgtEl>
                                        <p:attrNameLst>
                                          <p:attrName>style.visibility</p:attrName>
                                        </p:attrNameLst>
                                      </p:cBhvr>
                                      <p:to>
                                        <p:strVal val="visible"/>
                                      </p:to>
                                    </p:set>
                                    <p:anim calcmode="lin" valueType="num">
                                      <p:cBhvr additive="base">
                                        <p:cTn id="6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
                                            <p:txEl>
                                              <p:pRg st="7" end="7"/>
                                            </p:txEl>
                                          </p:spTgt>
                                        </p:tgtEl>
                                        <p:attrNameLst>
                                          <p:attrName>style.visibility</p:attrName>
                                        </p:attrNameLst>
                                      </p:cBhvr>
                                      <p:to>
                                        <p:strVal val="visible"/>
                                      </p:to>
                                    </p:set>
                                    <p:anim calcmode="lin" valueType="num">
                                      <p:cBhvr additive="base">
                                        <p:cTn id="73"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anim calcmode="lin" valueType="num">
                                      <p:cBhvr additive="base">
                                        <p:cTn id="79" dur="500" fill="hold"/>
                                        <p:tgtEl>
                                          <p:spTgt spid="3"/>
                                        </p:tgtEl>
                                        <p:attrNameLst>
                                          <p:attrName>ppt_x</p:attrName>
                                        </p:attrNameLst>
                                      </p:cBhvr>
                                      <p:tavLst>
                                        <p:tav tm="0">
                                          <p:val>
                                            <p:strVal val="#ppt_x"/>
                                          </p:val>
                                        </p:tav>
                                        <p:tav tm="100000">
                                          <p:val>
                                            <p:strVal val="#ppt_x"/>
                                          </p:val>
                                        </p:tav>
                                      </p:tavLst>
                                    </p:anim>
                                    <p:anim calcmode="lin" valueType="num">
                                      <p:cBhvr additive="base">
                                        <p:cTn id="8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85" dur="500"/>
                                        <p:tgtEl>
                                          <p:spTgt spid="23555">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90" dur="500"/>
                                        <p:tgtEl>
                                          <p:spTgt spid="23555">
                                            <p:txEl>
                                              <p:pRg st="1" end="1"/>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4"/>
                                        </p:tgtEl>
                                        <p:attrNameLst>
                                          <p:attrName>style.visibility</p:attrName>
                                        </p:attrNameLst>
                                      </p:cBhvr>
                                      <p:to>
                                        <p:strVal val="visible"/>
                                      </p:to>
                                    </p:set>
                                    <p:anim calcmode="lin" valueType="num">
                                      <p:cBhvr additive="base">
                                        <p:cTn id="95" dur="500" fill="hold"/>
                                        <p:tgtEl>
                                          <p:spTgt spid="4"/>
                                        </p:tgtEl>
                                        <p:attrNameLst>
                                          <p:attrName>ppt_x</p:attrName>
                                        </p:attrNameLst>
                                      </p:cBhvr>
                                      <p:tavLst>
                                        <p:tav tm="0">
                                          <p:val>
                                            <p:strVal val="#ppt_x"/>
                                          </p:val>
                                        </p:tav>
                                        <p:tav tm="100000">
                                          <p:val>
                                            <p:strVal val="#ppt_x"/>
                                          </p:val>
                                        </p:tav>
                                      </p:tavLst>
                                    </p:anim>
                                    <p:anim calcmode="lin" valueType="num">
                                      <p:cBhvr additive="base">
                                        <p:cTn id="9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5">
                                            <p:txEl>
                                              <p:pRg st="0" end="0"/>
                                            </p:txEl>
                                          </p:spTgt>
                                        </p:tgtEl>
                                        <p:attrNameLst>
                                          <p:attrName>style.visibility</p:attrName>
                                        </p:attrNameLst>
                                      </p:cBhvr>
                                      <p:to>
                                        <p:strVal val="visible"/>
                                      </p:to>
                                    </p:set>
                                    <p:anim calcmode="lin" valueType="num">
                                      <p:cBhvr additive="base">
                                        <p:cTn id="10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5">
                                            <p:txEl>
                                              <p:pRg st="1" end="1"/>
                                            </p:txEl>
                                          </p:spTgt>
                                        </p:tgtEl>
                                        <p:attrNameLst>
                                          <p:attrName>style.visibility</p:attrName>
                                        </p:attrNameLst>
                                      </p:cBhvr>
                                      <p:to>
                                        <p:strVal val="visible"/>
                                      </p:to>
                                    </p:set>
                                    <p:anim calcmode="lin" valueType="num">
                                      <p:cBhvr additive="base">
                                        <p:cTn id="10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5">
                                            <p:txEl>
                                              <p:pRg st="2" end="2"/>
                                            </p:txEl>
                                          </p:spTgt>
                                        </p:tgtEl>
                                        <p:attrNameLst>
                                          <p:attrName>style.visibility</p:attrName>
                                        </p:attrNameLst>
                                      </p:cBhvr>
                                      <p:to>
                                        <p:strVal val="visible"/>
                                      </p:to>
                                    </p:set>
                                    <p:anim calcmode="lin" valueType="num">
                                      <p:cBhvr additive="base">
                                        <p:cTn id="1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5">
                                            <p:txEl>
                                              <p:pRg st="3" end="3"/>
                                            </p:txEl>
                                          </p:spTgt>
                                        </p:tgtEl>
                                        <p:attrNameLst>
                                          <p:attrName>style.visibility</p:attrName>
                                        </p:attrNameLst>
                                      </p:cBhvr>
                                      <p:to>
                                        <p:strVal val="visible"/>
                                      </p:to>
                                    </p:set>
                                    <p:anim calcmode="lin" valueType="num">
                                      <p:cBhvr additive="base">
                                        <p:cTn id="1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grpId="0" nodeType="clickEffect">
                                  <p:stCondLst>
                                    <p:cond delay="0"/>
                                  </p:stCondLst>
                                  <p:childTnLst>
                                    <p:set>
                                      <p:cBhvr>
                                        <p:cTn id="124" dur="1" fill="hold">
                                          <p:stCondLst>
                                            <p:cond delay="0"/>
                                          </p:stCondLst>
                                        </p:cTn>
                                        <p:tgtEl>
                                          <p:spTgt spid="5">
                                            <p:txEl>
                                              <p:pRg st="4" end="4"/>
                                            </p:txEl>
                                          </p:spTgt>
                                        </p:tgtEl>
                                        <p:attrNameLst>
                                          <p:attrName>style.visibility</p:attrName>
                                        </p:attrNameLst>
                                      </p:cBhvr>
                                      <p:to>
                                        <p:strVal val="visible"/>
                                      </p:to>
                                    </p:set>
                                    <p:anim calcmode="lin" valueType="num">
                                      <p:cBhvr additive="base">
                                        <p:cTn id="1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5">
                                            <p:txEl>
                                              <p:pRg st="5" end="5"/>
                                            </p:txEl>
                                          </p:spTgt>
                                        </p:tgtEl>
                                        <p:attrNameLst>
                                          <p:attrName>style.visibility</p:attrName>
                                        </p:attrNameLst>
                                      </p:cBhvr>
                                      <p:to>
                                        <p:strVal val="visible"/>
                                      </p:to>
                                    </p:set>
                                    <p:anim calcmode="lin" valueType="num">
                                      <p:cBhvr additive="base">
                                        <p:cTn id="1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grpId="0" nodeType="clickEffect">
                                  <p:stCondLst>
                                    <p:cond delay="0"/>
                                  </p:stCondLst>
                                  <p:childTnLst>
                                    <p:set>
                                      <p:cBhvr>
                                        <p:cTn id="136" dur="1" fill="hold">
                                          <p:stCondLst>
                                            <p:cond delay="0"/>
                                          </p:stCondLst>
                                        </p:cTn>
                                        <p:tgtEl>
                                          <p:spTgt spid="5">
                                            <p:txEl>
                                              <p:pRg st="6" end="6"/>
                                            </p:txEl>
                                          </p:spTgt>
                                        </p:tgtEl>
                                        <p:attrNameLst>
                                          <p:attrName>style.visibility</p:attrName>
                                        </p:attrNameLst>
                                      </p:cBhvr>
                                      <p:to>
                                        <p:strVal val="visible"/>
                                      </p:to>
                                    </p:set>
                                    <p:anim calcmode="lin" valueType="num">
                                      <p:cBhvr additive="base">
                                        <p:cTn id="1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3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grpId="0" nodeType="clickEffect">
                                  <p:stCondLst>
                                    <p:cond delay="0"/>
                                  </p:stCondLst>
                                  <p:childTnLst>
                                    <p:set>
                                      <p:cBhvr>
                                        <p:cTn id="142" dur="1" fill="hold">
                                          <p:stCondLst>
                                            <p:cond delay="0"/>
                                          </p:stCondLst>
                                        </p:cTn>
                                        <p:tgtEl>
                                          <p:spTgt spid="5">
                                            <p:txEl>
                                              <p:pRg st="7" end="7"/>
                                            </p:txEl>
                                          </p:spTgt>
                                        </p:tgtEl>
                                        <p:attrNameLst>
                                          <p:attrName>style.visibility</p:attrName>
                                        </p:attrNameLst>
                                      </p:cBhvr>
                                      <p:to>
                                        <p:strVal val="visible"/>
                                      </p:to>
                                    </p:set>
                                    <p:anim calcmode="lin" valueType="num">
                                      <p:cBhvr additive="base">
                                        <p:cTn id="14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14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animBg="1"/>
      <p:bldP spid="111618" grpId="0" animBg="1"/>
      <p:bldP spid="2" grpId="0" build="p"/>
      <p:bldP spid="3" grpId="0" animBg="1"/>
      <p:bldP spid="4" grpId="0" animBg="1"/>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文本占位符 24578"/>
          <p:cNvSpPr>
            <a:spLocks noGrp="1"/>
          </p:cNvSpPr>
          <p:nvPr>
            <p:ph idx="1"/>
          </p:nvPr>
        </p:nvSpPr>
        <p:spPr>
          <a:xfrm>
            <a:off x="-381000" y="365731"/>
            <a:ext cx="8839200" cy="1247745"/>
          </a:xfrm>
        </p:spPr>
        <p:txBody>
          <a:bodyPr>
            <a:noAutofit/>
          </a:bodyPr>
          <a:lstStyle/>
          <a:p>
            <a:pPr>
              <a:buNone/>
            </a:pPr>
            <a:r>
              <a:rPr lang="en-US" altLang="zh-CN" sz="1800" dirty="0">
                <a:solidFill>
                  <a:srgbClr val="FF9900"/>
                </a:solidFill>
                <a:latin typeface="华文楷体" panose="02010600040101010101" pitchFamily="2" charset="-122"/>
                <a:ea typeface="华文楷体" panose="02010600040101010101" pitchFamily="2" charset="-122"/>
              </a:rPr>
              <a:t>         </a:t>
            </a:r>
            <a:r>
              <a:rPr lang="zh-CN" altLang="en-US" sz="1800" b="1" dirty="0">
                <a:latin typeface="华文楷体" panose="02010600040101010101" pitchFamily="2" charset="-122"/>
                <a:ea typeface="华文楷体" panose="02010600040101010101" pitchFamily="2" charset="-122"/>
              </a:rPr>
              <a:t>信念是</a:t>
            </a:r>
            <a:r>
              <a:rPr lang="zh-CN" altLang="en-US" sz="1800" b="1" dirty="0">
                <a:solidFill>
                  <a:srgbClr val="FF0000"/>
                </a:solidFill>
                <a:latin typeface="华文楷体" panose="02010600040101010101" pitchFamily="2" charset="-122"/>
                <a:ea typeface="华文楷体" panose="02010600040101010101" pitchFamily="2" charset="-122"/>
              </a:rPr>
              <a:t>认知</a:t>
            </a:r>
            <a:r>
              <a:rPr lang="zh-CN" altLang="en-US" sz="1800" b="1" dirty="0">
                <a:latin typeface="华文楷体" panose="02010600040101010101" pitchFamily="2" charset="-122"/>
                <a:ea typeface="华文楷体" panose="02010600040101010101" pitchFamily="2" charset="-122"/>
              </a:rPr>
              <a:t>、</a:t>
            </a:r>
            <a:r>
              <a:rPr lang="zh-CN" altLang="en-US" sz="1800" b="1" dirty="0">
                <a:solidFill>
                  <a:srgbClr val="FF0000"/>
                </a:solidFill>
                <a:latin typeface="华文楷体" panose="02010600040101010101" pitchFamily="2" charset="-122"/>
                <a:ea typeface="华文楷体" panose="02010600040101010101" pitchFamily="2" charset="-122"/>
              </a:rPr>
              <a:t>情感</a:t>
            </a:r>
            <a:r>
              <a:rPr lang="zh-CN" altLang="en-US" sz="1800" b="1" dirty="0">
                <a:latin typeface="华文楷体" panose="02010600040101010101" pitchFamily="2" charset="-122"/>
                <a:ea typeface="华文楷体" panose="02010600040101010101" pitchFamily="2" charset="-122"/>
              </a:rPr>
              <a:t>和</a:t>
            </a:r>
            <a:r>
              <a:rPr lang="zh-CN" altLang="en-US" sz="1800" b="1" dirty="0">
                <a:solidFill>
                  <a:srgbClr val="FF0000"/>
                </a:solidFill>
                <a:latin typeface="华文楷体" panose="02010600040101010101" pitchFamily="2" charset="-122"/>
                <a:ea typeface="华文楷体" panose="02010600040101010101" pitchFamily="2" charset="-122"/>
              </a:rPr>
              <a:t>意志</a:t>
            </a:r>
            <a:r>
              <a:rPr lang="zh-CN" altLang="en-US" sz="1800" b="1" dirty="0">
                <a:latin typeface="华文楷体" panose="02010600040101010101" pitchFamily="2" charset="-122"/>
                <a:ea typeface="华文楷体" panose="02010600040101010101" pitchFamily="2" charset="-122"/>
              </a:rPr>
              <a:t>的有机统一体，是人们在一定的认识基础上确立的对某种思想或事物坚信不疑并身体力行的</a:t>
            </a:r>
            <a:r>
              <a:rPr lang="zh-CN" altLang="en-US" sz="1800" b="1" dirty="0">
                <a:solidFill>
                  <a:srgbClr val="FF0000"/>
                </a:solidFill>
                <a:latin typeface="华文楷体" panose="02010600040101010101" pitchFamily="2" charset="-122"/>
                <a:ea typeface="华文楷体" panose="02010600040101010101" pitchFamily="2" charset="-122"/>
              </a:rPr>
              <a:t>心理态度和精神状态</a:t>
            </a:r>
            <a:r>
              <a:rPr lang="zh-CN" altLang="en-US" sz="1800" b="1" dirty="0">
                <a:latin typeface="华文楷体" panose="02010600040101010101" pitchFamily="2" charset="-122"/>
                <a:ea typeface="华文楷体" panose="02010600040101010101" pitchFamily="2" charset="-122"/>
              </a:rPr>
              <a:t>。</a:t>
            </a:r>
          </a:p>
          <a:p>
            <a:pPr>
              <a:spcBef>
                <a:spcPct val="0"/>
              </a:spcBef>
              <a:buNone/>
            </a:pPr>
            <a:r>
              <a:rPr lang="zh-CN" altLang="en-US" sz="1800" dirty="0">
                <a:ea typeface="黑体" panose="02010609060101010101" pitchFamily="2" charset="-122"/>
              </a:rPr>
              <a:t>　</a:t>
            </a:r>
          </a:p>
          <a:p>
            <a:endParaRPr lang="zh-CN" altLang="en-US" sz="1800" dirty="0">
              <a:solidFill>
                <a:srgbClr val="FF9900"/>
              </a:solidFill>
              <a:ea typeface="华文新魏" panose="02010800040101010101" pitchFamily="2" charset="-122"/>
            </a:endParaRPr>
          </a:p>
        </p:txBody>
      </p:sp>
      <p:sp>
        <p:nvSpPr>
          <p:cNvPr id="3" name="文本框 2">
            <a:extLst>
              <a:ext uri="{FF2B5EF4-FFF2-40B4-BE49-F238E27FC236}">
                <a16:creationId xmlns:a16="http://schemas.microsoft.com/office/drawing/2014/main" id="{4551F940-6886-62FB-4904-3803F41CF133}"/>
              </a:ext>
            </a:extLst>
          </p:cNvPr>
          <p:cNvSpPr txBox="1"/>
          <p:nvPr/>
        </p:nvSpPr>
        <p:spPr>
          <a:xfrm>
            <a:off x="152400" y="76200"/>
            <a:ext cx="3352800" cy="400110"/>
          </a:xfrm>
          <a:prstGeom prst="rect">
            <a:avLst/>
          </a:prstGeom>
          <a:noFill/>
        </p:spPr>
        <p:txBody>
          <a:bodyPr wrap="square" rtlCol="0">
            <a:spAutoFit/>
          </a:bodyPr>
          <a:lstStyle/>
          <a:p>
            <a:r>
              <a:rPr lang="zh-CN" altLang="en-US" sz="2000" dirty="0">
                <a:solidFill>
                  <a:schemeClr val="tx1"/>
                </a:solidFill>
              </a:rPr>
              <a:t>信念的含义</a:t>
            </a:r>
          </a:p>
        </p:txBody>
      </p:sp>
      <p:sp>
        <p:nvSpPr>
          <p:cNvPr id="4" name="内容占位符 2">
            <a:extLst>
              <a:ext uri="{FF2B5EF4-FFF2-40B4-BE49-F238E27FC236}">
                <a16:creationId xmlns:a16="http://schemas.microsoft.com/office/drawing/2014/main" id="{9D28BCE4-157F-DADD-430C-E09C2B7C9842}"/>
              </a:ext>
            </a:extLst>
          </p:cNvPr>
          <p:cNvSpPr txBox="1">
            <a:spLocks/>
          </p:cNvSpPr>
          <p:nvPr/>
        </p:nvSpPr>
        <p:spPr>
          <a:xfrm>
            <a:off x="147084" y="987831"/>
            <a:ext cx="8724900" cy="419544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buFont typeface="Wingdings 3" panose="05040102010807070707" charset="2"/>
              <a:buNone/>
            </a:pPr>
            <a:r>
              <a:rPr lang="zh-CN" altLang="en-US" sz="1800" dirty="0">
                <a:latin typeface="华文楷体" panose="02010600040101010101" pitchFamily="2" charset="-122"/>
                <a:ea typeface="华文楷体" panose="02010600040101010101" pitchFamily="2" charset="-122"/>
              </a:rPr>
              <a:t>人是否会在不具有认知基础的前提下坚定不移地身体力行。可以理解为个人在时代或大环境的裹挟下不自觉地做出一些事情么？还有就是完全不求回报的行为如果出于信仰，那么这是否又是一种心理慰藉呢？完全不求结果的行为是否真正存在呢？</a:t>
            </a:r>
            <a:endParaRPr lang="en-US" altLang="zh-CN" sz="1800" dirty="0">
              <a:latin typeface="华文楷体" panose="02010600040101010101" pitchFamily="2" charset="-122"/>
              <a:ea typeface="华文楷体" panose="02010600040101010101" pitchFamily="2" charset="-122"/>
            </a:endParaRPr>
          </a:p>
          <a:p>
            <a:pPr marL="0" indent="0" fontAlgn="auto">
              <a:buFont typeface="Wingdings 3" panose="05040102010807070707" charset="2"/>
              <a:buNone/>
            </a:pPr>
            <a:r>
              <a:rPr lang="zh-CN" altLang="en-US" sz="1800" dirty="0">
                <a:latin typeface="华文楷体" panose="02010600040101010101" pitchFamily="2" charset="-122"/>
                <a:ea typeface="华文楷体" panose="02010600040101010101" pitchFamily="2" charset="-122"/>
              </a:rPr>
              <a:t>人在不具备相关认知基础时，仍可能坚定不移地身体力行。这种现象并非源于理性判断，而更多是时代、环境或集体情绪的“裹挟”</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个体在潜移默化中接受某种行为模式，不自觉地重复他人或社会的选择。例如战争中的狂热、消费潮流中的盲从，都显示认知并非行动的唯一前提，情感、从众与习惯同样能驱动人持续行动。</a:t>
            </a:r>
          </a:p>
          <a:p>
            <a:pPr marL="0" indent="0" fontAlgn="auto">
              <a:buFont typeface="Wingdings 3" panose="05040102010807070707" charset="2"/>
              <a:buNone/>
            </a:pPr>
            <a:r>
              <a:rPr lang="zh-CN" altLang="en-US" sz="1800" dirty="0">
                <a:latin typeface="华文楷体" panose="02010600040101010101" pitchFamily="2" charset="-122"/>
                <a:ea typeface="华文楷体" panose="02010600040101010101" pitchFamily="2" charset="-122"/>
              </a:rPr>
              <a:t>至于不求回报的行为，若出于信仰，确实可能包含心理慰藉的成分。信仰为人提供意义系统，即便行为本身没有物质回报，内心的安宁、归属感或对来世的期许，本质上仍是一种精神上的“回报”。但这并不贬低其价值</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正因为是心理慰藉，才更显行为的持久与纯粹。</a:t>
            </a:r>
          </a:p>
          <a:p>
            <a:pPr marL="0" indent="0" fontAlgn="auto">
              <a:buFont typeface="Wingdings 3" panose="05040102010807070707" charset="2"/>
              <a:buNone/>
            </a:pPr>
            <a:r>
              <a:rPr lang="zh-CN" altLang="en-US" sz="1800" dirty="0">
                <a:latin typeface="华文楷体" panose="02010600040101010101" pitchFamily="2" charset="-122"/>
                <a:ea typeface="华文楷体" panose="02010600040101010101" pitchFamily="2" charset="-122"/>
              </a:rPr>
              <a:t>然而，“完全不求结果的行为”是否真正存在？从严格意义上说，也许没有。只要人行动，就会预期某种结果</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哪怕是自我感觉良好、道德满足，或仅仅是“不这样做会不安”。即便看似毫无功利目的，行为本身也内嵌着对“完成”或“表达”的结果期待。因此，更准确的表述应是：行为的回报可能极其隐性或内在化，但绝非完全不存在。</a:t>
            </a:r>
          </a:p>
          <a:p>
            <a:pPr marL="0" indent="0" fontAlgn="auto">
              <a:buFont typeface="Wingdings 3" panose="05040102010807070707" charset="2"/>
              <a:buNone/>
            </a:pPr>
            <a:r>
              <a:rPr lang="zh-CN" altLang="en-US" sz="1800" dirty="0">
                <a:latin typeface="华文楷体" panose="02010600040101010101" pitchFamily="2" charset="-122"/>
                <a:ea typeface="华文楷体" panose="02010600040101010101" pitchFamily="2" charset="-122"/>
              </a:rPr>
              <a:t>综上，人的行动既可脱离认知基础，又难以脱离结果取向。理解这一矛盾，有助于更清醒地审视自身与时代的互动。</a:t>
            </a:r>
            <a:endParaRPr lang="en-US" altLang="zh-CN" sz="1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 y="228600"/>
            <a:ext cx="2258490" cy="461682"/>
          </a:xfrm>
        </p:spPr>
        <p:txBody>
          <a:bodyPr/>
          <a:lstStyle/>
          <a:p>
            <a:r>
              <a:rPr lang="zh-CN" altLang="en-US" sz="2000" dirty="0">
                <a:latin typeface="华文楷体" panose="02010600040101010101" pitchFamily="2" charset="-122"/>
                <a:ea typeface="华文楷体" panose="02010600040101010101" pitchFamily="2" charset="-122"/>
              </a:rPr>
              <a:t>柏拉图的灵魂结构</a:t>
            </a:r>
          </a:p>
        </p:txBody>
      </p:sp>
      <p:sp>
        <p:nvSpPr>
          <p:cNvPr id="3" name="内容占位符 2"/>
          <p:cNvSpPr>
            <a:spLocks noGrp="1"/>
          </p:cNvSpPr>
          <p:nvPr>
            <p:ph idx="1"/>
          </p:nvPr>
        </p:nvSpPr>
        <p:spPr>
          <a:xfrm>
            <a:off x="228600" y="609600"/>
            <a:ext cx="8305800" cy="2718751"/>
          </a:xfrm>
        </p:spPr>
        <p:txBody>
          <a:bodyPr>
            <a:normAutofit/>
          </a:bodyPr>
          <a:lstStyle/>
          <a:p>
            <a:r>
              <a:rPr lang="zh-CN" altLang="zh-CN" sz="1800" b="1" dirty="0">
                <a:latin typeface="华文楷体" panose="02010600040101010101" pitchFamily="2" charset="-122"/>
                <a:ea typeface="华文楷体" panose="02010600040101010101" pitchFamily="2" charset="-122"/>
              </a:rPr>
              <a:t>欲望（</a:t>
            </a:r>
            <a:r>
              <a:rPr lang="en-US" altLang="zh-CN" sz="1800" b="1" dirty="0">
                <a:latin typeface="华文楷体" panose="02010600040101010101" pitchFamily="2" charset="-122"/>
                <a:ea typeface="华文楷体" panose="02010600040101010101" pitchFamily="2" charset="-122"/>
              </a:rPr>
              <a:t>Appetitive</a:t>
            </a:r>
            <a:r>
              <a:rPr lang="zh-CN" altLang="zh-CN" sz="1800" b="1" dirty="0">
                <a:latin typeface="华文楷体" panose="02010600040101010101" pitchFamily="2" charset="-122"/>
                <a:ea typeface="华文楷体" panose="02010600040101010101" pitchFamily="2" charset="-122"/>
              </a:rPr>
              <a:t>）</a:t>
            </a:r>
            <a:endParaRPr lang="zh-CN" altLang="zh-CN" sz="1800" dirty="0">
              <a:latin typeface="华文楷体" panose="02010600040101010101" pitchFamily="2" charset="-122"/>
              <a:ea typeface="华文楷体" panose="02010600040101010101" pitchFamily="2" charset="-122"/>
            </a:endParaRPr>
          </a:p>
          <a:p>
            <a:r>
              <a:rPr lang="zh-CN" altLang="zh-CN" sz="1800" b="1" dirty="0">
                <a:latin typeface="华文楷体" panose="02010600040101010101" pitchFamily="2" charset="-122"/>
                <a:ea typeface="华文楷体" panose="02010600040101010101" pitchFamily="2" charset="-122"/>
              </a:rPr>
              <a:t>勇气（</a:t>
            </a:r>
            <a:r>
              <a:rPr lang="en-US" altLang="zh-CN" sz="1800" b="1" dirty="0">
                <a:latin typeface="华文楷体" panose="02010600040101010101" pitchFamily="2" charset="-122"/>
                <a:ea typeface="华文楷体" panose="02010600040101010101" pitchFamily="2" charset="-122"/>
              </a:rPr>
              <a:t>Spirited</a:t>
            </a:r>
            <a:r>
              <a:rPr lang="zh-CN" altLang="zh-CN" sz="1800" b="1" dirty="0">
                <a:latin typeface="华文楷体" panose="02010600040101010101" pitchFamily="2" charset="-122"/>
                <a:ea typeface="华文楷体" panose="02010600040101010101" pitchFamily="2" charset="-122"/>
              </a:rPr>
              <a:t>）</a:t>
            </a:r>
            <a:endParaRPr lang="zh-CN" altLang="zh-CN" sz="1800" dirty="0">
              <a:latin typeface="华文楷体" panose="02010600040101010101" pitchFamily="2" charset="-122"/>
              <a:ea typeface="华文楷体" panose="02010600040101010101" pitchFamily="2" charset="-122"/>
            </a:endParaRPr>
          </a:p>
          <a:p>
            <a:r>
              <a:rPr lang="zh-CN" altLang="zh-CN" sz="1800" b="1" dirty="0">
                <a:latin typeface="华文楷体" panose="02010600040101010101" pitchFamily="2" charset="-122"/>
                <a:ea typeface="华文楷体" panose="02010600040101010101" pitchFamily="2" charset="-122"/>
              </a:rPr>
              <a:t>理性（</a:t>
            </a:r>
            <a:r>
              <a:rPr lang="en-US" altLang="zh-CN" sz="1800" b="1" dirty="0">
                <a:latin typeface="华文楷体" panose="02010600040101010101" pitchFamily="2" charset="-122"/>
                <a:ea typeface="华文楷体" panose="02010600040101010101" pitchFamily="2" charset="-122"/>
              </a:rPr>
              <a:t>Logical</a:t>
            </a:r>
            <a:r>
              <a:rPr lang="zh-CN" altLang="zh-CN" sz="1800" b="1" dirty="0">
                <a:latin typeface="华文楷体" panose="02010600040101010101" pitchFamily="2" charset="-122"/>
                <a:ea typeface="华文楷体" panose="02010600040101010101" pitchFamily="2" charset="-122"/>
              </a:rPr>
              <a:t>）</a:t>
            </a:r>
            <a:endParaRPr lang="en-US" altLang="zh-CN" sz="1800" b="1" dirty="0">
              <a:latin typeface="华文楷体" panose="02010600040101010101" pitchFamily="2" charset="-122"/>
              <a:ea typeface="华文楷体" panose="02010600040101010101" pitchFamily="2" charset="-122"/>
            </a:endParaRPr>
          </a:p>
          <a:p>
            <a:r>
              <a:rPr lang="zh-CN" altLang="zh-CN" sz="1800" dirty="0">
                <a:latin typeface="华文楷体" panose="02010600040101010101" pitchFamily="2" charset="-122"/>
                <a:ea typeface="华文楷体" panose="02010600040101010101" pitchFamily="2" charset="-122"/>
              </a:rPr>
              <a:t>在《理想国》中，</a:t>
            </a:r>
            <a:r>
              <a:rPr lang="zh-CN" altLang="en-US" sz="1800" dirty="0">
                <a:latin typeface="华文楷体" panose="02010600040101010101" pitchFamily="2" charset="-122"/>
                <a:ea typeface="华文楷体" panose="02010600040101010101" pitchFamily="2" charset="-122"/>
              </a:rPr>
              <a:t>灵魂结构对应于社会结构。</a:t>
            </a:r>
            <a:r>
              <a:rPr lang="zh-CN" altLang="zh-CN" sz="1800" dirty="0">
                <a:latin typeface="华文楷体" panose="02010600040101010101" pitchFamily="2" charset="-122"/>
                <a:ea typeface="华文楷体" panose="02010600040101010101" pitchFamily="2" charset="-122"/>
              </a:rPr>
              <a:t>只有在处于各个阶层的人</a:t>
            </a:r>
            <a:r>
              <a:rPr lang="zh-CN" altLang="en-US" sz="1800" dirty="0">
                <a:latin typeface="华文楷体" panose="02010600040101010101" pitchFamily="2" charset="-122"/>
                <a:ea typeface="华文楷体" panose="02010600040101010101" pitchFamily="2" charset="-122"/>
              </a:rPr>
              <a:t>们</a:t>
            </a:r>
            <a:r>
              <a:rPr lang="zh-CN" altLang="zh-CN" sz="1800" dirty="0">
                <a:latin typeface="华文楷体" panose="02010600040101010101" pitchFamily="2" charset="-122"/>
                <a:ea typeface="华文楷体" panose="02010600040101010101" pitchFamily="2" charset="-122"/>
              </a:rPr>
              <a:t>做好其分内的事的条件下，社会才会和谐；对于个体同理，灵魂的三个部分必须互相协作。对于社会也好，个体也好，不正义往往在这三个部分协作失衡的时候出现。柏拉图强调，不论是对于个体还是社会，正义，仅仅在每个部分履行其本份义务，并且不对其他部分的运营造成干扰的情况下滋生。</a:t>
            </a:r>
            <a:endParaRPr lang="en-US" altLang="zh-CN" sz="1800" b="1" dirty="0"/>
          </a:p>
          <a:p>
            <a:endParaRPr lang="en-US" altLang="zh-CN" sz="1800" b="1" dirty="0"/>
          </a:p>
          <a:p>
            <a:endParaRPr lang="zh-CN" altLang="zh-CN" sz="1800" dirty="0"/>
          </a:p>
          <a:p>
            <a:endParaRPr lang="zh-CN" altLang="en-US" sz="1800" dirty="0"/>
          </a:p>
        </p:txBody>
      </p:sp>
      <p:sp>
        <p:nvSpPr>
          <p:cNvPr id="4" name="Rectangle 2">
            <a:extLst>
              <a:ext uri="{FF2B5EF4-FFF2-40B4-BE49-F238E27FC236}">
                <a16:creationId xmlns:a16="http://schemas.microsoft.com/office/drawing/2014/main" id="{28A6250C-0A70-9958-6704-B7121B8C136A}"/>
              </a:ext>
            </a:extLst>
          </p:cNvPr>
          <p:cNvSpPr txBox="1">
            <a:spLocks noRot="1" noChangeArrowheads="1"/>
          </p:cNvSpPr>
          <p:nvPr/>
        </p:nvSpPr>
        <p:spPr>
          <a:xfrm>
            <a:off x="17721" y="3236259"/>
            <a:ext cx="2944290" cy="38548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dirty="0">
                <a:latin typeface="华文楷体" panose="02010600040101010101" pitchFamily="2" charset="-122"/>
                <a:ea typeface="华文楷体" panose="02010600040101010101" pitchFamily="2" charset="-122"/>
              </a:rPr>
              <a:t>亚里士多德的人类活动</a:t>
            </a:r>
          </a:p>
        </p:txBody>
      </p:sp>
      <p:sp>
        <p:nvSpPr>
          <p:cNvPr id="5" name="Rectangle 3">
            <a:extLst>
              <a:ext uri="{FF2B5EF4-FFF2-40B4-BE49-F238E27FC236}">
                <a16:creationId xmlns:a16="http://schemas.microsoft.com/office/drawing/2014/main" id="{8BD756EF-75EF-7E6F-55FA-F361A1645DFD}"/>
              </a:ext>
            </a:extLst>
          </p:cNvPr>
          <p:cNvSpPr txBox="1">
            <a:spLocks noRot="1" noChangeArrowheads="1"/>
          </p:cNvSpPr>
          <p:nvPr/>
        </p:nvSpPr>
        <p:spPr>
          <a:xfrm>
            <a:off x="381000" y="3581400"/>
            <a:ext cx="5486400" cy="46168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buFont typeface="Wingdings" panose="05000000000000000000" pitchFamily="2" charset="2"/>
              <a:buNone/>
            </a:pPr>
            <a:r>
              <a:rPr lang="en-US" altLang="zh-CN" sz="1800" dirty="0">
                <a:latin typeface="华文楷体" panose="02010600040101010101" pitchFamily="2" charset="-122"/>
                <a:ea typeface="华文楷体" panose="02010600040101010101" pitchFamily="2" charset="-122"/>
              </a:rPr>
              <a:t>1.</a:t>
            </a:r>
            <a:r>
              <a:rPr lang="zh-CN" altLang="en-US" sz="1800" dirty="0">
                <a:latin typeface="华文楷体" panose="02010600040101010101" pitchFamily="2" charset="-122"/>
                <a:ea typeface="华文楷体" panose="02010600040101010101" pitchFamily="2" charset="-122"/>
              </a:rPr>
              <a:t>理论</a:t>
            </a:r>
            <a:r>
              <a:rPr lang="en-US" altLang="zh-CN" sz="1800" dirty="0">
                <a:latin typeface="华文楷体" panose="02010600040101010101" pitchFamily="2" charset="-122"/>
                <a:ea typeface="华文楷体" panose="02010600040101010101" pitchFamily="2" charset="-122"/>
              </a:rPr>
              <a:t>2.</a:t>
            </a:r>
            <a:r>
              <a:rPr lang="zh-CN" altLang="en-US" sz="1800" dirty="0">
                <a:latin typeface="华文楷体" panose="02010600040101010101" pitchFamily="2" charset="-122"/>
                <a:ea typeface="华文楷体" panose="02010600040101010101" pitchFamily="2" charset="-122"/>
              </a:rPr>
              <a:t>生产</a:t>
            </a:r>
            <a:r>
              <a:rPr lang="en-US" altLang="zh-CN" sz="1800" dirty="0">
                <a:latin typeface="华文楷体" panose="02010600040101010101" pitchFamily="2" charset="-122"/>
                <a:ea typeface="华文楷体" panose="02010600040101010101" pitchFamily="2" charset="-122"/>
              </a:rPr>
              <a:t>3.</a:t>
            </a:r>
            <a:r>
              <a:rPr lang="zh-CN" altLang="en-US" sz="1800" dirty="0">
                <a:latin typeface="华文楷体" panose="02010600040101010101" pitchFamily="2" charset="-122"/>
                <a:ea typeface="华文楷体" panose="02010600040101010101" pitchFamily="2" charset="-122"/>
              </a:rPr>
              <a:t>实践</a:t>
            </a:r>
          </a:p>
          <a:p>
            <a:pPr fontAlgn="auto"/>
            <a:endParaRPr lang="zh-CN" altLang="en-US" sz="1800" dirty="0"/>
          </a:p>
          <a:p>
            <a:pPr fontAlgn="auto"/>
            <a:endParaRPr lang="en-US" altLang="zh-CN" sz="1800" dirty="0"/>
          </a:p>
        </p:txBody>
      </p:sp>
      <p:sp>
        <p:nvSpPr>
          <p:cNvPr id="6" name="Rectangle 3">
            <a:extLst>
              <a:ext uri="{FF2B5EF4-FFF2-40B4-BE49-F238E27FC236}">
                <a16:creationId xmlns:a16="http://schemas.microsoft.com/office/drawing/2014/main" id="{EB0EFAF3-AEA3-0AC9-5A1C-232A7104885B}"/>
              </a:ext>
            </a:extLst>
          </p:cNvPr>
          <p:cNvSpPr txBox="1">
            <a:spLocks noRot="1" noChangeArrowheads="1"/>
          </p:cNvSpPr>
          <p:nvPr/>
        </p:nvSpPr>
        <p:spPr>
          <a:xfrm>
            <a:off x="381000" y="3874790"/>
            <a:ext cx="7620000" cy="25146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buFont typeface="Wingdings 3" panose="05040102010807070707" charset="2"/>
              <a:buNone/>
            </a:pPr>
            <a:r>
              <a:rPr lang="zh-CN" altLang="en-US" sz="1800" dirty="0">
                <a:latin typeface="华文楷体" panose="02010600040101010101" pitchFamily="2" charset="-122"/>
                <a:ea typeface="华文楷体" panose="02010600040101010101" pitchFamily="2" charset="-122"/>
              </a:rPr>
              <a:t>实践的规定：</a:t>
            </a:r>
          </a:p>
          <a:p>
            <a:pPr marL="0" indent="0" fontAlgn="auto">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1.</a:t>
            </a:r>
            <a:r>
              <a:rPr lang="zh-CN" altLang="en-US" sz="1800" dirty="0">
                <a:latin typeface="华文楷体" panose="02010600040101010101" pitchFamily="2" charset="-122"/>
                <a:ea typeface="华文楷体" panose="02010600040101010101" pitchFamily="2" charset="-122"/>
              </a:rPr>
              <a:t>自身是目的</a:t>
            </a:r>
          </a:p>
          <a:p>
            <a:pPr marL="0" indent="0" fontAlgn="auto">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2.</a:t>
            </a:r>
            <a:r>
              <a:rPr lang="zh-CN" altLang="en-US" sz="1800" dirty="0">
                <a:latin typeface="华文楷体" panose="02010600040101010101" pitchFamily="2" charset="-122"/>
                <a:ea typeface="华文楷体" panose="02010600040101010101" pitchFamily="2" charset="-122"/>
              </a:rPr>
              <a:t>不是人维持物质生命的生物活动和生产活动，不是人与自然间的活动，而是人与人之间的广义的伦理与政治活动。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Rot="1" noChangeArrowheads="1"/>
          </p:cNvSpPr>
          <p:nvPr>
            <p:ph type="body" idx="1"/>
          </p:nvPr>
        </p:nvSpPr>
        <p:spPr>
          <a:xfrm>
            <a:off x="-8860" y="533400"/>
            <a:ext cx="7696200" cy="4119275"/>
          </a:xfrm>
        </p:spPr>
        <p:txBody>
          <a:bodyPr>
            <a:normAutofit/>
          </a:bodyPr>
          <a:lstStyle/>
          <a:p>
            <a:pPr eaLnBrk="1" hangingPunct="1"/>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每种技艺与研究，同样地，人的每种实践与选择都以某种善为目的”。</a:t>
            </a:r>
            <a:r>
              <a:rPr lang="en-US" altLang="zh-CN" sz="1800" dirty="0">
                <a:latin typeface="华文楷体" panose="02010600040101010101" pitchFamily="2" charset="-122"/>
                <a:ea typeface="华文楷体" panose="02010600040101010101" pitchFamily="2" charset="-122"/>
              </a:rPr>
              <a:t>1094a1-2</a:t>
            </a:r>
          </a:p>
          <a:p>
            <a:pPr marL="0" indent="0" eaLnBrk="1" hangingPunct="1">
              <a:buNone/>
            </a:pPr>
            <a:endParaRPr lang="en-US" altLang="zh-CN" sz="1800" dirty="0">
              <a:latin typeface="华文楷体" panose="02010600040101010101" pitchFamily="2" charset="-122"/>
              <a:ea typeface="华文楷体" panose="02010600040101010101" pitchFamily="2" charset="-122"/>
            </a:endParaRPr>
          </a:p>
          <a:p>
            <a:pPr eaLnBrk="1" hangingPunct="1"/>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如果在我们活动的目的中有的是</a:t>
            </a:r>
            <a:r>
              <a:rPr lang="zh-CN" altLang="en-US" sz="1800" dirty="0">
                <a:solidFill>
                  <a:srgbClr val="FF0000"/>
                </a:solidFill>
                <a:latin typeface="华文楷体" panose="02010600040101010101" pitchFamily="2" charset="-122"/>
                <a:ea typeface="华文楷体" panose="02010600040101010101" pitchFamily="2" charset="-122"/>
              </a:rPr>
              <a:t>因其自身之故而被当作目的</a:t>
            </a:r>
            <a:r>
              <a:rPr lang="zh-CN" altLang="en-US" sz="1800" dirty="0">
                <a:latin typeface="华文楷体" panose="02010600040101010101" pitchFamily="2" charset="-122"/>
                <a:ea typeface="华文楷体" panose="02010600040101010101" pitchFamily="2" charset="-122"/>
              </a:rPr>
              <a:t>，我们以别的事物为目的都是为了它，如果我们并非选择所有的事物都围着某一别的事物，那么显然就存在着善或最善。”</a:t>
            </a:r>
            <a:r>
              <a:rPr lang="en-US" altLang="zh-CN" sz="1800" dirty="0">
                <a:latin typeface="华文楷体" panose="02010600040101010101" pitchFamily="2" charset="-122"/>
                <a:ea typeface="华文楷体" panose="02010600040101010101" pitchFamily="2" charset="-122"/>
              </a:rPr>
              <a:t>1094a19-20</a:t>
            </a:r>
          </a:p>
          <a:p>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可变化的事物中包括被</a:t>
            </a:r>
            <a:r>
              <a:rPr lang="zh-CN" altLang="en-US" sz="1800" dirty="0">
                <a:solidFill>
                  <a:srgbClr val="FF0000"/>
                </a:solidFill>
                <a:latin typeface="华文楷体" panose="02010600040101010101" pitchFamily="2" charset="-122"/>
                <a:ea typeface="华文楷体" panose="02010600040101010101" pitchFamily="2" charset="-122"/>
              </a:rPr>
              <a:t>制作的</a:t>
            </a:r>
            <a:r>
              <a:rPr lang="zh-CN" altLang="en-US" sz="1800" dirty="0">
                <a:latin typeface="华文楷体" panose="02010600040101010101" pitchFamily="2" charset="-122"/>
                <a:ea typeface="华文楷体" panose="02010600040101010101" pitchFamily="2" charset="-122"/>
              </a:rPr>
              <a:t>事物和被</a:t>
            </a:r>
            <a:r>
              <a:rPr lang="zh-CN" altLang="en-US" sz="1800" dirty="0">
                <a:solidFill>
                  <a:srgbClr val="FF0000"/>
                </a:solidFill>
                <a:latin typeface="华文楷体" panose="02010600040101010101" pitchFamily="2" charset="-122"/>
                <a:ea typeface="华文楷体" panose="02010600040101010101" pitchFamily="2" charset="-122"/>
              </a:rPr>
              <a:t>实践的</a:t>
            </a:r>
            <a:r>
              <a:rPr lang="zh-CN" altLang="en-US" sz="1800" dirty="0">
                <a:latin typeface="华文楷体" panose="02010600040101010101" pitchFamily="2" charset="-122"/>
                <a:ea typeface="华文楷体" panose="02010600040101010101" pitchFamily="2" charset="-122"/>
              </a:rPr>
              <a:t>事物。但是</a:t>
            </a:r>
            <a:r>
              <a:rPr lang="zh-CN" altLang="en-US" sz="1800" dirty="0">
                <a:solidFill>
                  <a:srgbClr val="FF0000"/>
                </a:solidFill>
                <a:latin typeface="华文楷体" panose="02010600040101010101" pitchFamily="2" charset="-122"/>
                <a:ea typeface="华文楷体" panose="02010600040101010101" pitchFamily="2" charset="-122"/>
              </a:rPr>
              <a:t>制作</a:t>
            </a:r>
            <a:r>
              <a:rPr lang="zh-CN" altLang="en-US" sz="1800" dirty="0">
                <a:latin typeface="华文楷体" panose="02010600040101010101" pitchFamily="2" charset="-122"/>
                <a:ea typeface="华文楷体" panose="02010600040101010101" pitchFamily="2" charset="-122"/>
              </a:rPr>
              <a:t>不同于</a:t>
            </a:r>
            <a:r>
              <a:rPr lang="zh-CN" altLang="en-US" sz="1800" dirty="0">
                <a:solidFill>
                  <a:srgbClr val="FF0000"/>
                </a:solidFill>
                <a:latin typeface="华文楷体" panose="02010600040101010101" pitchFamily="2" charset="-122"/>
                <a:ea typeface="华文楷体" panose="02010600040101010101" pitchFamily="2" charset="-122"/>
              </a:rPr>
              <a:t>实践</a:t>
            </a:r>
            <a:r>
              <a:rPr lang="zh-CN" altLang="en-US" sz="1800" dirty="0">
                <a:latin typeface="华文楷体" panose="02010600040101010101" pitchFamily="2" charset="-122"/>
                <a:ea typeface="华文楷体" panose="02010600040101010101" pitchFamily="2" charset="-122"/>
              </a:rPr>
              <a:t>，实践的逻各斯的品质同制作的逻各斯的品质不同。其次，它们也不互相包含。</a:t>
            </a:r>
            <a:r>
              <a:rPr lang="zh-CN" altLang="en-US" sz="1800" dirty="0">
                <a:solidFill>
                  <a:srgbClr val="FF0000"/>
                </a:solidFill>
                <a:latin typeface="华文楷体" panose="02010600040101010101" pitchFamily="2" charset="-122"/>
                <a:ea typeface="华文楷体" panose="02010600040101010101" pitchFamily="2" charset="-122"/>
              </a:rPr>
              <a:t>实践不是一种制作，制作也不是一种实践。</a:t>
            </a:r>
            <a:endParaRPr lang="en-US" altLang="zh-CN" sz="1800" dirty="0">
              <a:latin typeface="华文楷体" panose="02010600040101010101" pitchFamily="2" charset="-122"/>
              <a:ea typeface="华文楷体" panose="02010600040101010101" pitchFamily="2" charset="-122"/>
            </a:endParaRPr>
          </a:p>
          <a:p>
            <a:pPr eaLnBrk="1" hangingPunct="1"/>
            <a:endParaRPr lang="en-US" altLang="zh-CN" sz="1800" dirty="0"/>
          </a:p>
        </p:txBody>
      </p:sp>
      <p:sp>
        <p:nvSpPr>
          <p:cNvPr id="20482" name="Rectangle 3"/>
          <p:cNvSpPr txBox="1">
            <a:spLocks noRot="1" noChangeArrowheads="1"/>
          </p:cNvSpPr>
          <p:nvPr/>
        </p:nvSpPr>
        <p:spPr>
          <a:xfrm>
            <a:off x="609600" y="3657600"/>
            <a:ext cx="6711654"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buFont typeface="Wingdings 3" panose="05040102010807070707" charset="2"/>
              <a:buNone/>
            </a:pPr>
            <a:r>
              <a:rPr lang="zh-CN" altLang="en-US" sz="1800" dirty="0">
                <a:solidFill>
                  <a:schemeClr val="hlink"/>
                </a:solidFill>
                <a:latin typeface="华文楷体" panose="02010600040101010101" pitchFamily="2" charset="-122"/>
                <a:ea typeface="华文楷体" panose="02010600040101010101" pitchFamily="2" charset="-122"/>
              </a:rPr>
              <a:t>生命的实现活动</a:t>
            </a:r>
            <a:r>
              <a:rPr lang="en-US" altLang="zh-CN" sz="1800" dirty="0">
                <a:solidFill>
                  <a:schemeClr val="hlink"/>
                </a:solidFill>
                <a:latin typeface="华文楷体" panose="02010600040101010101" pitchFamily="2" charset="-122"/>
                <a:ea typeface="华文楷体" panose="02010600040101010101" pitchFamily="2" charset="-122"/>
              </a:rPr>
              <a:t>(</a:t>
            </a:r>
            <a:r>
              <a:rPr lang="zh-CN" altLang="en-US" sz="1800" dirty="0">
                <a:solidFill>
                  <a:schemeClr val="hlink"/>
                </a:solidFill>
                <a:latin typeface="华文楷体" panose="02010600040101010101" pitchFamily="2" charset="-122"/>
                <a:ea typeface="华文楷体" panose="02010600040101010101" pitchFamily="2" charset="-122"/>
              </a:rPr>
              <a:t>实践</a:t>
            </a:r>
            <a:r>
              <a:rPr lang="en-US" altLang="zh-CN" sz="1800" dirty="0">
                <a:solidFill>
                  <a:schemeClr val="hlink"/>
                </a:solidFill>
                <a:latin typeface="华文楷体" panose="02010600040101010101" pitchFamily="2" charset="-122"/>
                <a:ea typeface="华文楷体" panose="02010600040101010101" pitchFamily="2" charset="-122"/>
              </a:rPr>
              <a:t>)</a:t>
            </a:r>
            <a:r>
              <a:rPr lang="zh-CN" altLang="en-US" sz="1800" dirty="0">
                <a:solidFill>
                  <a:schemeClr val="hlink"/>
                </a:solidFill>
                <a:latin typeface="华文楷体" panose="02010600040101010101" pitchFamily="2" charset="-122"/>
                <a:ea typeface="华文楷体" panose="02010600040101010101" pitchFamily="2" charset="-122"/>
              </a:rPr>
              <a:t>既是活动又是目的本身。它朝向它的目的（如果它有目的），同时它自身又是目的。</a:t>
            </a:r>
            <a:r>
              <a:rPr lang="zh-CN" altLang="en-US" sz="1800" dirty="0">
                <a:latin typeface="华文楷体" panose="02010600040101010101" pitchFamily="2" charset="-122"/>
                <a:ea typeface="华文楷体" panose="02010600040101010101" pitchFamily="2" charset="-122"/>
              </a:rPr>
              <a:t>所以实践不同于制作活动。制作活动是过程或生成，对制作活动而言，目的（产品）比活动过程更为重要；但是对实践而言，实现活动与目的两者同样重要。</a:t>
            </a:r>
            <a:endParaRPr lang="en-US" altLang="zh-CN" sz="1800" dirty="0">
              <a:latin typeface="华文楷体" panose="02010600040101010101" pitchFamily="2" charset="-122"/>
              <a:ea typeface="华文楷体" panose="02010600040101010101" pitchFamily="2" charset="-122"/>
            </a:endParaRPr>
          </a:p>
          <a:p>
            <a:pPr marL="0" indent="0" fontAlgn="auto">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廖申白译注 </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尼哥马可伦理学</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，第</a:t>
            </a:r>
            <a:r>
              <a:rPr lang="en-US" altLang="zh-CN" sz="1800" dirty="0">
                <a:latin typeface="华文楷体" panose="02010600040101010101" pitchFamily="2" charset="-122"/>
                <a:ea typeface="华文楷体" panose="02010600040101010101" pitchFamily="2" charset="-122"/>
              </a:rPr>
              <a:t>219</a:t>
            </a:r>
            <a:r>
              <a:rPr lang="zh-CN" altLang="en-US" sz="1800" dirty="0">
                <a:latin typeface="华文楷体" panose="02010600040101010101" pitchFamily="2" charset="-122"/>
                <a:ea typeface="华文楷体" panose="02010600040101010101" pitchFamily="2" charset="-122"/>
              </a:rPr>
              <a:t>页的注释③。</a:t>
            </a:r>
            <a:r>
              <a:rPr lang="en-US" altLang="zh-CN" sz="1800" dirty="0">
                <a:latin typeface="华文楷体" panose="02010600040101010101" pitchFamily="2" charset="-122"/>
                <a:ea typeface="华文楷体" panose="02010600040101010101" pitchFamily="2" charset="-122"/>
              </a:rPr>
              <a:t>]</a:t>
            </a:r>
          </a:p>
          <a:p>
            <a:pPr fontAlgn="auto"/>
            <a:endParaRPr lang="en-US" altLang="zh-CN"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rrowheads="1"/>
          </p:cNvSpPr>
          <p:nvPr>
            <p:ph type="title"/>
          </p:nvPr>
        </p:nvSpPr>
        <p:spPr>
          <a:xfrm>
            <a:off x="484710" y="452718"/>
            <a:ext cx="4087290" cy="537882"/>
          </a:xfrm>
        </p:spPr>
        <p:txBody>
          <a:bodyPr/>
          <a:lstStyle/>
          <a:p>
            <a:pPr eaLnBrk="1" hangingPunct="1"/>
            <a:r>
              <a:rPr lang="zh-CN" altLang="en-US" sz="2000" dirty="0">
                <a:latin typeface="华文楷体" panose="02010600040101010101" pitchFamily="2" charset="-122"/>
                <a:ea typeface="华文楷体" panose="02010600040101010101" pitchFamily="2" charset="-122"/>
              </a:rPr>
              <a:t>亚里士多德的实践与生产：</a:t>
            </a:r>
          </a:p>
        </p:txBody>
      </p:sp>
      <p:sp>
        <p:nvSpPr>
          <p:cNvPr id="24579" name="Rectangle 3"/>
          <p:cNvSpPr>
            <a:spLocks noGrp="1" noRot="1" noChangeArrowheads="1"/>
          </p:cNvSpPr>
          <p:nvPr>
            <p:ph type="body" idx="1"/>
          </p:nvPr>
        </p:nvSpPr>
        <p:spPr>
          <a:xfrm>
            <a:off x="152400" y="914400"/>
            <a:ext cx="8382000" cy="1985675"/>
          </a:xfrm>
        </p:spPr>
        <p:txBody>
          <a:bodyPr>
            <a:normAutofit/>
          </a:bodyPr>
          <a:lstStyle/>
          <a:p>
            <a:pPr eaLnBrk="1" hangingPunct="1">
              <a:lnSpc>
                <a:spcPct val="90000"/>
              </a:lnSpc>
              <a:buFont typeface="Wingdings" panose="05000000000000000000" pitchFamily="2" charset="2"/>
              <a:buNone/>
            </a:pPr>
            <a:r>
              <a:rPr lang="en-US" altLang="zh-CN" sz="1800" dirty="0">
                <a:latin typeface="华文楷体" panose="02010600040101010101" pitchFamily="2" charset="-122"/>
                <a:ea typeface="华文楷体" panose="02010600040101010101" pitchFamily="2" charset="-122"/>
              </a:rPr>
              <a:t>1.</a:t>
            </a:r>
            <a:r>
              <a:rPr lang="zh-CN" altLang="en-US" sz="1800" dirty="0">
                <a:latin typeface="华文楷体" panose="02010600040101010101" pitchFamily="2" charset="-122"/>
                <a:ea typeface="华文楷体" panose="02010600040101010101" pitchFamily="2" charset="-122"/>
              </a:rPr>
              <a:t>实践是摆脱了自然需要的真正自由的行动。</a:t>
            </a:r>
          </a:p>
          <a:p>
            <a:pPr eaLnBrk="1" hangingPunct="1">
              <a:lnSpc>
                <a:spcPct val="90000"/>
              </a:lnSpc>
              <a:buFont typeface="Wingdings" panose="05000000000000000000" pitchFamily="2" charset="2"/>
              <a:buNone/>
            </a:pPr>
            <a:r>
              <a:rPr lang="en-US" altLang="zh-CN" sz="1800" dirty="0">
                <a:latin typeface="华文楷体" panose="02010600040101010101" pitchFamily="2" charset="-122"/>
                <a:ea typeface="华文楷体" panose="02010600040101010101" pitchFamily="2" charset="-122"/>
              </a:rPr>
              <a:t>2.</a:t>
            </a:r>
            <a:r>
              <a:rPr lang="zh-CN" altLang="en-US" sz="1800" dirty="0">
                <a:latin typeface="华文楷体" panose="02010600040101010101" pitchFamily="2" charset="-122"/>
                <a:ea typeface="华文楷体" panose="02010600040101010101" pitchFamily="2" charset="-122"/>
              </a:rPr>
              <a:t>生产是为了满足生存的自然需要，受制于自然必然性。</a:t>
            </a:r>
          </a:p>
          <a:p>
            <a:pPr eaLnBrk="1" hangingPunct="1">
              <a:lnSpc>
                <a:spcPct val="90000"/>
              </a:lnSpc>
              <a:buFont typeface="Wingdings" panose="05000000000000000000" pitchFamily="2" charset="2"/>
              <a:buNone/>
            </a:pPr>
            <a:r>
              <a:rPr lang="en-US" altLang="zh-CN" sz="1800" dirty="0">
                <a:latin typeface="华文楷体" panose="02010600040101010101" pitchFamily="2" charset="-122"/>
                <a:ea typeface="华文楷体" panose="02010600040101010101" pitchFamily="2" charset="-122"/>
              </a:rPr>
              <a:t>3.</a:t>
            </a:r>
            <a:r>
              <a:rPr lang="zh-CN" altLang="en-US" sz="1800" dirty="0">
                <a:latin typeface="华文楷体" panose="02010600040101010101" pitchFamily="2" charset="-122"/>
                <a:ea typeface="华文楷体" panose="02010600040101010101" pitchFamily="2" charset="-122"/>
              </a:rPr>
              <a:t>实践是人可以自由选择的行动；生产是由自然决定的。</a:t>
            </a:r>
          </a:p>
          <a:p>
            <a:pPr eaLnBrk="1" hangingPunct="1">
              <a:lnSpc>
                <a:spcPct val="90000"/>
              </a:lnSpc>
              <a:buFont typeface="Wingdings" panose="05000000000000000000" pitchFamily="2" charset="2"/>
              <a:buNone/>
            </a:pPr>
            <a:r>
              <a:rPr lang="en-US" altLang="zh-CN" sz="1800" dirty="0">
                <a:latin typeface="华文楷体" panose="02010600040101010101" pitchFamily="2" charset="-122"/>
                <a:ea typeface="华文楷体" panose="02010600040101010101" pitchFamily="2" charset="-122"/>
              </a:rPr>
              <a:t>4.</a:t>
            </a:r>
            <a:r>
              <a:rPr lang="zh-CN" altLang="en-US" sz="1800" dirty="0">
                <a:latin typeface="华文楷体" panose="02010600040101010101" pitchFamily="2" charset="-122"/>
                <a:ea typeface="华文楷体" panose="02010600040101010101" pitchFamily="2" charset="-122"/>
              </a:rPr>
              <a:t>实践涉及人生的意义与价值，生产只关心人的欲望与需要的满足。实践的对象是人事，生产的对象是物件。</a:t>
            </a:r>
          </a:p>
          <a:p>
            <a:pPr eaLnBrk="1" hangingPunct="1">
              <a:lnSpc>
                <a:spcPct val="90000"/>
              </a:lnSpc>
            </a:pPr>
            <a:endParaRPr lang="zh-CN" altLang="en-US" sz="1800" dirty="0"/>
          </a:p>
          <a:p>
            <a:pPr eaLnBrk="1" hangingPunct="1">
              <a:lnSpc>
                <a:spcPct val="90000"/>
              </a:lnSpc>
            </a:pPr>
            <a:endParaRPr lang="en-US" altLang="zh-CN" sz="1800" dirty="0"/>
          </a:p>
        </p:txBody>
      </p:sp>
      <p:sp>
        <p:nvSpPr>
          <p:cNvPr id="26626" name="Rectangle 3"/>
          <p:cNvSpPr txBox="1">
            <a:spLocks noRot="1" noChangeArrowheads="1"/>
          </p:cNvSpPr>
          <p:nvPr/>
        </p:nvSpPr>
        <p:spPr>
          <a:xfrm>
            <a:off x="152400" y="2670538"/>
            <a:ext cx="6711654"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buFont typeface="Wingdings" panose="05000000000000000000" pitchFamily="2" charset="2"/>
              <a:buNone/>
            </a:pPr>
            <a:r>
              <a:rPr lang="zh-CN" altLang="en-US" dirty="0">
                <a:latin typeface="华文楷体" panose="02010600040101010101" pitchFamily="2" charset="-122"/>
                <a:ea typeface="华文楷体" panose="02010600040101010101" pitchFamily="2" charset="-122"/>
              </a:rPr>
              <a:t>亚里士多德的灵魂观：</a:t>
            </a:r>
          </a:p>
          <a:p>
            <a:pPr fontAlgn="auto"/>
            <a:r>
              <a:rPr lang="en-US" altLang="zh-CN" sz="1800" dirty="0">
                <a:latin typeface="华文楷体" panose="02010600040101010101" pitchFamily="2" charset="-122"/>
                <a:ea typeface="华文楷体" panose="02010600040101010101" pitchFamily="2" charset="-122"/>
              </a:rPr>
              <a:t>A.</a:t>
            </a:r>
            <a:r>
              <a:rPr lang="zh-CN" altLang="en-US" sz="1800" dirty="0">
                <a:latin typeface="华文楷体" panose="02010600040101010101" pitchFamily="2" charset="-122"/>
                <a:ea typeface="华文楷体" panose="02010600040101010101" pitchFamily="2" charset="-122"/>
              </a:rPr>
              <a:t>情感</a:t>
            </a:r>
          </a:p>
          <a:p>
            <a:pPr fontAlgn="auto"/>
            <a:r>
              <a:rPr lang="en-US" altLang="zh-CN" sz="1800" dirty="0">
                <a:latin typeface="华文楷体" panose="02010600040101010101" pitchFamily="2" charset="-122"/>
                <a:ea typeface="华文楷体" panose="02010600040101010101" pitchFamily="2" charset="-122"/>
              </a:rPr>
              <a:t>B.</a:t>
            </a:r>
            <a:r>
              <a:rPr lang="zh-CN" altLang="en-US" sz="1800" dirty="0">
                <a:latin typeface="华文楷体" panose="02010600040101010101" pitchFamily="2" charset="-122"/>
                <a:ea typeface="华文楷体" panose="02010600040101010101" pitchFamily="2" charset="-122"/>
              </a:rPr>
              <a:t>能力</a:t>
            </a:r>
          </a:p>
          <a:p>
            <a:pPr fontAlgn="auto"/>
            <a:r>
              <a:rPr lang="en-US" altLang="zh-CN" sz="1800" dirty="0">
                <a:latin typeface="华文楷体" panose="02010600040101010101" pitchFamily="2" charset="-122"/>
                <a:ea typeface="华文楷体" panose="02010600040101010101" pitchFamily="2" charset="-122"/>
              </a:rPr>
              <a:t>C.</a:t>
            </a:r>
            <a:r>
              <a:rPr lang="zh-CN" altLang="en-US" sz="1800" dirty="0">
                <a:latin typeface="华文楷体" panose="02010600040101010101" pitchFamily="2" charset="-122"/>
                <a:ea typeface="华文楷体" panose="02010600040101010101" pitchFamily="2" charset="-122"/>
              </a:rPr>
              <a:t>品质</a:t>
            </a:r>
          </a:p>
          <a:p>
            <a:pPr fontAlgn="auto">
              <a:buFont typeface="Wingdings" panose="05000000000000000000" pitchFamily="2" charset="2"/>
              <a:buNone/>
            </a:pPr>
            <a:r>
              <a:rPr lang="zh-CN" altLang="en-US" sz="1800" dirty="0">
                <a:latin typeface="华文楷体" panose="02010600040101010101" pitchFamily="2" charset="-122"/>
                <a:ea typeface="华文楷体" panose="02010600040101010101" pitchFamily="2" charset="-122"/>
              </a:rPr>
              <a:t>灵魂的品质：感觉、努斯、欲求。</a:t>
            </a:r>
            <a:r>
              <a:rPr lang="en-US" altLang="zh-CN" sz="1800" dirty="0">
                <a:latin typeface="华文楷体" panose="02010600040101010101" pitchFamily="2" charset="-122"/>
                <a:ea typeface="华文楷体" panose="02010600040101010101" pitchFamily="2" charset="-122"/>
              </a:rPr>
              <a:t>1139a19</a:t>
            </a:r>
          </a:p>
          <a:p>
            <a:pPr fontAlgn="auto">
              <a:buFont typeface="Wingdings" panose="05000000000000000000" pitchFamily="2" charset="2"/>
              <a:buNone/>
            </a:pPr>
            <a:r>
              <a:rPr lang="zh-CN" altLang="en-US" sz="1800" dirty="0">
                <a:latin typeface="华文楷体" panose="02010600040101010101" pitchFamily="2" charset="-122"/>
                <a:ea typeface="华文楷体" panose="02010600040101010101" pitchFamily="2" charset="-122"/>
              </a:rPr>
              <a:t>具体品质：</a:t>
            </a:r>
            <a:r>
              <a:rPr lang="zh-CN" altLang="en-US" sz="1800" b="1" dirty="0">
                <a:latin typeface="华文楷体" panose="02010600040101010101" pitchFamily="2" charset="-122"/>
                <a:ea typeface="华文楷体" panose="02010600040101010101" pitchFamily="2" charset="-122"/>
              </a:rPr>
              <a:t>技艺</a:t>
            </a:r>
            <a:r>
              <a:rPr lang="zh-CN" altLang="en-US" sz="1800" dirty="0">
                <a:latin typeface="华文楷体" panose="02010600040101010101" pitchFamily="2" charset="-122"/>
                <a:ea typeface="华文楷体" panose="02010600040101010101" pitchFamily="2" charset="-122"/>
              </a:rPr>
              <a:t>、科学、明智、智慧和努斯。</a:t>
            </a:r>
            <a:r>
              <a:rPr lang="en-US" altLang="zh-CN" sz="1800" dirty="0">
                <a:latin typeface="华文楷体" panose="02010600040101010101" pitchFamily="2" charset="-122"/>
                <a:ea typeface="华文楷体" panose="02010600040101010101" pitchFamily="2" charset="-122"/>
              </a:rPr>
              <a:t>1139b15</a:t>
            </a:r>
            <a:r>
              <a:rPr lang="zh-CN" altLang="en-US" sz="1800" dirty="0">
                <a:latin typeface="华文楷体" panose="02010600040101010101" pitchFamily="2" charset="-122"/>
                <a:ea typeface="华文楷体" panose="02010600040101010101" pitchFamily="2" charset="-122"/>
              </a:rPr>
              <a:t>）</a:t>
            </a:r>
          </a:p>
        </p:txBody>
      </p:sp>
      <p:sp>
        <p:nvSpPr>
          <p:cNvPr id="27650" name="Rectangle 3"/>
          <p:cNvSpPr txBox="1">
            <a:spLocks noRot="1" noChangeArrowheads="1"/>
          </p:cNvSpPr>
          <p:nvPr/>
        </p:nvSpPr>
        <p:spPr>
          <a:xfrm>
            <a:off x="3540125" y="2516837"/>
            <a:ext cx="5029200" cy="1824326"/>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affection:</a:t>
            </a:r>
            <a:r>
              <a:rPr lang="zh-CN" altLang="en-US" sz="1800" dirty="0">
                <a:latin typeface="华文楷体" panose="02010600040101010101" pitchFamily="2" charset="-122"/>
                <a:ea typeface="华文楷体" panose="02010600040101010101" pitchFamily="2" charset="-122"/>
              </a:rPr>
              <a:t>欲望、怒气、恐惧、信心、妒忌、愉悦、爱、恨、愿望、怜悯，总之，伴随着快乐与痛苦的那些情感。</a:t>
            </a:r>
          </a:p>
          <a:p>
            <a:pPr marL="0" indent="0" fontAlgn="auto">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potency:</a:t>
            </a:r>
            <a:r>
              <a:rPr lang="zh-CN" altLang="en-US" sz="1800" dirty="0">
                <a:latin typeface="华文楷体" panose="02010600040101010101" pitchFamily="2" charset="-122"/>
                <a:ea typeface="华文楷体" panose="02010600040101010101" pitchFamily="2" charset="-122"/>
              </a:rPr>
              <a:t>使我们获得这些感情，例如使我们能感受到愤怒、痛苦或怜悯的东西。</a:t>
            </a:r>
          </a:p>
          <a:p>
            <a:pPr marL="0" indent="0" fontAlgn="auto">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quality:</a:t>
            </a:r>
            <a:r>
              <a:rPr lang="zh-CN" altLang="en-US" sz="1800" dirty="0">
                <a:latin typeface="华文楷体" panose="02010600040101010101" pitchFamily="2" charset="-122"/>
                <a:ea typeface="华文楷体" panose="02010600040101010101" pitchFamily="2" charset="-122"/>
              </a:rPr>
              <a:t>我们同这些感情的好的或坏的关系</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99" y="0"/>
            <a:ext cx="9144000" cy="2438400"/>
          </a:xfrm>
          <a:prstGeom prst="rect">
            <a:avLst/>
          </a:prstGeom>
        </p:spPr>
      </p:pic>
      <p:pic>
        <p:nvPicPr>
          <p:cNvPr id="11" name="图片 10"/>
          <p:cNvPicPr>
            <a:picLocks noChangeAspect="1"/>
          </p:cNvPicPr>
          <p:nvPr/>
        </p:nvPicPr>
        <p:blipFill>
          <a:blip r:embed="rId4"/>
          <a:stretch>
            <a:fillRect/>
          </a:stretch>
        </p:blipFill>
        <p:spPr>
          <a:xfrm>
            <a:off x="0" y="2438400"/>
            <a:ext cx="9144000" cy="2132119"/>
          </a:xfrm>
          <a:prstGeom prst="rect">
            <a:avLst/>
          </a:prstGeom>
        </p:spPr>
      </p:pic>
      <p:pic>
        <p:nvPicPr>
          <p:cNvPr id="12" name="图片 11"/>
          <p:cNvPicPr>
            <a:picLocks noChangeAspect="1"/>
          </p:cNvPicPr>
          <p:nvPr/>
        </p:nvPicPr>
        <p:blipFill>
          <a:blip r:embed="rId5"/>
          <a:stretch>
            <a:fillRect/>
          </a:stretch>
        </p:blipFill>
        <p:spPr>
          <a:xfrm>
            <a:off x="0" y="4570519"/>
            <a:ext cx="9144000" cy="21321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Rot="1" noChangeArrowheads="1"/>
          </p:cNvSpPr>
          <p:nvPr>
            <p:ph type="body" idx="1"/>
          </p:nvPr>
        </p:nvSpPr>
        <p:spPr>
          <a:xfrm>
            <a:off x="304800" y="1905000"/>
            <a:ext cx="8534400" cy="4800600"/>
          </a:xfrm>
        </p:spPr>
        <p:txBody>
          <a:bodyPr>
            <a:normAutofit/>
          </a:bodyPr>
          <a:lstStyle/>
          <a:p>
            <a:pPr marL="0" indent="0" eaLnBrk="1" hangingPunct="1">
              <a:buNone/>
            </a:pPr>
            <a:r>
              <a:rPr lang="en-US" altLang="zh-CN" sz="2800" dirty="0"/>
              <a:t> </a:t>
            </a:r>
            <a:r>
              <a:rPr lang="zh-CN" altLang="en-US" sz="1900" dirty="0">
                <a:latin typeface="华文楷体" panose="02010600040101010101" pitchFamily="2" charset="-122"/>
                <a:ea typeface="华文楷体" panose="02010600040101010101" pitchFamily="2" charset="-122"/>
              </a:rPr>
              <a:t>阿伦特的“行动”就是亚里士多德的“实践”。</a:t>
            </a:r>
            <a:endParaRPr lang="zh-CN" altLang="en-US" sz="1900" dirty="0"/>
          </a:p>
          <a:p>
            <a:pPr marL="0" indent="0" eaLnBrk="1" hangingPunct="1">
              <a:buNone/>
            </a:pPr>
            <a:r>
              <a:rPr lang="en-US" altLang="zh-CN" sz="1900" dirty="0">
                <a:latin typeface="华文楷体" panose="02010600040101010101" pitchFamily="2" charset="-122"/>
                <a:ea typeface="华文楷体" panose="02010600040101010101" pitchFamily="2" charset="-122"/>
              </a:rPr>
              <a:t>1.</a:t>
            </a:r>
            <a:r>
              <a:rPr lang="zh-CN" altLang="en-US" sz="1900" dirty="0">
                <a:latin typeface="华文楷体" panose="02010600040101010101" pitchFamily="2" charset="-122"/>
                <a:ea typeface="华文楷体" panose="02010600040101010101" pitchFamily="2" charset="-122"/>
              </a:rPr>
              <a:t>行动不是日常生活的习惯行为：吃饭睡觉、散步聊天，而是</a:t>
            </a:r>
            <a:r>
              <a:rPr lang="zh-CN" altLang="en-US" sz="1900" b="1" dirty="0">
                <a:latin typeface="华文楷体" panose="02010600040101010101" pitchFamily="2" charset="-122"/>
                <a:ea typeface="华文楷体" panose="02010600040101010101" pitchFamily="2" charset="-122"/>
              </a:rPr>
              <a:t>重新开始</a:t>
            </a:r>
            <a:r>
              <a:rPr lang="zh-CN" altLang="en-US" sz="1900" dirty="0">
                <a:latin typeface="华文楷体" panose="02010600040101010101" pitchFamily="2" charset="-122"/>
                <a:ea typeface="华文楷体" panose="02010600040101010101" pitchFamily="2" charset="-122"/>
              </a:rPr>
              <a:t>某事。行动与出生（</a:t>
            </a:r>
            <a:r>
              <a:rPr lang="en-US" altLang="zh-CN" sz="1900" dirty="0">
                <a:latin typeface="华文楷体" panose="02010600040101010101" pitchFamily="2" charset="-122"/>
                <a:ea typeface="华文楷体" panose="02010600040101010101" pitchFamily="2" charset="-122"/>
              </a:rPr>
              <a:t>natality</a:t>
            </a:r>
            <a:r>
              <a:rPr lang="zh-CN" altLang="en-US" sz="1900" dirty="0">
                <a:latin typeface="华文楷体" panose="02010600040101010101" pitchFamily="2" charset="-122"/>
                <a:ea typeface="华文楷体" panose="02010600040101010101" pitchFamily="2" charset="-122"/>
              </a:rPr>
              <a:t>）这个人类条件联系最密切。</a:t>
            </a:r>
          </a:p>
          <a:p>
            <a:pPr marL="0" indent="0" eaLnBrk="1" hangingPunct="1">
              <a:buNone/>
            </a:pPr>
            <a:r>
              <a:rPr lang="en-US" altLang="zh-CN" sz="1900" dirty="0">
                <a:latin typeface="华文楷体" panose="02010600040101010101" pitchFamily="2" charset="-122"/>
                <a:ea typeface="华文楷体" panose="02010600040101010101" pitchFamily="2" charset="-122"/>
              </a:rPr>
              <a:t>2.</a:t>
            </a:r>
            <a:r>
              <a:rPr lang="zh-CN" altLang="en-US" sz="1900" dirty="0">
                <a:latin typeface="华文楷体" panose="02010600040101010101" pitchFamily="2" charset="-122"/>
                <a:ea typeface="华文楷体" panose="02010600040101010101" pitchFamily="2" charset="-122"/>
              </a:rPr>
              <a:t>行动需要他人的存在，行动是自发的与人交往的活动，不是例行公事，而是后果难料的个人主动行动。行动与生产的不同首先在于行动的不可预料性。</a:t>
            </a:r>
            <a:endParaRPr lang="en-US" altLang="zh-CN" sz="1900" dirty="0">
              <a:latin typeface="华文楷体" panose="02010600040101010101" pitchFamily="2" charset="-122"/>
              <a:ea typeface="华文楷体" panose="02010600040101010101" pitchFamily="2" charset="-122"/>
            </a:endParaRPr>
          </a:p>
          <a:p>
            <a:pPr marL="0" indent="0">
              <a:lnSpc>
                <a:spcPct val="90000"/>
              </a:lnSpc>
              <a:buNone/>
            </a:pPr>
            <a:r>
              <a:rPr lang="en-US" altLang="zh-CN" dirty="0">
                <a:latin typeface="华文楷体" panose="02010600040101010101" pitchFamily="2" charset="-122"/>
                <a:ea typeface="华文楷体" panose="02010600040101010101" pitchFamily="2" charset="-122"/>
              </a:rPr>
              <a:t>3.</a:t>
            </a:r>
            <a:r>
              <a:rPr lang="zh-CN" altLang="en-US" dirty="0">
                <a:latin typeface="华文楷体" panose="02010600040101010101" pitchFamily="2" charset="-122"/>
                <a:ea typeface="华文楷体" panose="02010600040101010101" pitchFamily="2" charset="-122"/>
              </a:rPr>
              <a:t>行动的后果不仅取决于行动者，而且也共同取决于行动对象，还取决于机遇（</a:t>
            </a:r>
            <a:r>
              <a:rPr lang="en-US" altLang="zh-CN" dirty="0">
                <a:latin typeface="华文楷体" panose="02010600040101010101" pitchFamily="2" charset="-122"/>
                <a:ea typeface="华文楷体" panose="02010600040101010101" pitchFamily="2" charset="-122"/>
              </a:rPr>
              <a:t>chance</a:t>
            </a:r>
            <a:r>
              <a:rPr lang="zh-CN" altLang="en-US" dirty="0">
                <a:latin typeface="华文楷体" panose="02010600040101010101" pitchFamily="2" charset="-122"/>
                <a:ea typeface="华文楷体" panose="02010600040101010101" pitchFamily="2" charset="-122"/>
              </a:rPr>
              <a:t>）。</a:t>
            </a:r>
          </a:p>
          <a:p>
            <a:pPr marL="0" indent="0">
              <a:lnSpc>
                <a:spcPct val="90000"/>
              </a:lnSpc>
              <a:buNone/>
            </a:pPr>
            <a:r>
              <a:rPr lang="en-US" altLang="zh-CN" dirty="0">
                <a:latin typeface="华文楷体" panose="02010600040101010101" pitchFamily="2" charset="-122"/>
                <a:ea typeface="华文楷体" panose="02010600040101010101" pitchFamily="2" charset="-122"/>
              </a:rPr>
              <a:t>4.</a:t>
            </a:r>
            <a:r>
              <a:rPr lang="zh-CN" altLang="en-US" dirty="0">
                <a:latin typeface="华文楷体" panose="02010600040101010101" pitchFamily="2" charset="-122"/>
                <a:ea typeface="华文楷体" panose="02010600040101010101" pitchFamily="2" charset="-122"/>
              </a:rPr>
              <a:t>生产总生产具体的东西，行动不生产具体实在的结果，它追求的是实践及其体现的自由，行动无法控制它的结果。不管一个人怎么积极主动，他都不能控制他一生的种种事情。行动或重新开始本身预示着“冒险”：“自由”与“创造”。</a:t>
            </a:r>
          </a:p>
          <a:p>
            <a:pPr marL="0" indent="0" eaLnBrk="1" hangingPunct="1">
              <a:buNone/>
            </a:pPr>
            <a:endParaRPr lang="zh-CN" altLang="en-US" sz="1900" dirty="0">
              <a:latin typeface="华文楷体" panose="02010600040101010101" pitchFamily="2" charset="-122"/>
              <a:ea typeface="华文楷体" panose="02010600040101010101" pitchFamily="2" charset="-122"/>
            </a:endParaRPr>
          </a:p>
          <a:p>
            <a:pPr eaLnBrk="1" hangingPunct="1"/>
            <a:endParaRPr lang="en-US" altLang="zh-CN" sz="2800" dirty="0"/>
          </a:p>
        </p:txBody>
      </p:sp>
      <p:sp>
        <p:nvSpPr>
          <p:cNvPr id="3" name="Rectangle 3">
            <a:extLst>
              <a:ext uri="{FF2B5EF4-FFF2-40B4-BE49-F238E27FC236}">
                <a16:creationId xmlns:a16="http://schemas.microsoft.com/office/drawing/2014/main" id="{038D780D-46B2-259D-9885-E9AAB430D0B4}"/>
              </a:ext>
            </a:extLst>
          </p:cNvPr>
          <p:cNvSpPr txBox="1">
            <a:spLocks noRot="1" noChangeArrowheads="1"/>
          </p:cNvSpPr>
          <p:nvPr/>
        </p:nvSpPr>
        <p:spPr>
          <a:xfrm>
            <a:off x="304800" y="457200"/>
            <a:ext cx="7543800" cy="1524006"/>
          </a:xfrm>
          <a:prstGeom prst="rect">
            <a:avLst/>
          </a:prstGeom>
        </p:spPr>
        <p:txBody>
          <a:bodyPr vert="horz" lIns="91440" tIns="45720" rIns="91440" bIns="45720" rtlCol="0">
            <a:normAutofit fontScale="400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lnSpc>
                <a:spcPct val="90000"/>
              </a:lnSpc>
              <a:buFont typeface="Wingdings 3" panose="05040102010807070707" charset="2"/>
              <a:buNone/>
            </a:pPr>
            <a:r>
              <a:rPr lang="zh-CN" altLang="en-US" sz="5000" dirty="0">
                <a:latin typeface="华文楷体" panose="02010600040101010101" pitchFamily="2" charset="-122"/>
                <a:ea typeface="华文楷体" panose="02010600040101010101" pitchFamily="2" charset="-122"/>
              </a:rPr>
              <a:t>阿伦特</a:t>
            </a:r>
            <a:endParaRPr lang="en-US" altLang="zh-CN" sz="5000" dirty="0">
              <a:latin typeface="华文楷体" panose="02010600040101010101" pitchFamily="2" charset="-122"/>
              <a:ea typeface="华文楷体" panose="02010600040101010101" pitchFamily="2" charset="-122"/>
            </a:endParaRPr>
          </a:p>
          <a:p>
            <a:pPr marL="0" indent="0" fontAlgn="auto">
              <a:lnSpc>
                <a:spcPct val="90000"/>
              </a:lnSpc>
              <a:buFont typeface="Wingdings 3" panose="05040102010807070707" charset="2"/>
              <a:buNone/>
            </a:pPr>
            <a:r>
              <a:rPr lang="zh-CN" altLang="en-US" sz="4500" dirty="0">
                <a:latin typeface="华文楷体" panose="02010600040101010101" pitchFamily="2" charset="-122"/>
                <a:ea typeface="华文楷体" panose="02010600040101010101" pitchFamily="2" charset="-122"/>
              </a:rPr>
              <a:t>劳动与生产都涉及人与自然的关系；只有行动涉及人与人的关系。</a:t>
            </a:r>
          </a:p>
          <a:p>
            <a:pPr marL="0" indent="0" fontAlgn="auto">
              <a:lnSpc>
                <a:spcPct val="90000"/>
              </a:lnSpc>
              <a:buFont typeface="Wingdings 3" panose="05040102010807070707" charset="2"/>
              <a:buNone/>
            </a:pPr>
            <a:r>
              <a:rPr lang="zh-CN" altLang="en-US" sz="4500" dirty="0">
                <a:latin typeface="华文楷体" panose="02010600040101010101" pitchFamily="2" charset="-122"/>
                <a:ea typeface="华文楷体" panose="02010600040101010101" pitchFamily="2" charset="-122"/>
              </a:rPr>
              <a:t>“行动，是唯一不通过事物或物质的中介直接在人与人之间进行的活动，它对应于复数性这个人类的条件，对应于人们，而不是单数的人，生活在地球上，居住在世界中。</a:t>
            </a:r>
            <a:r>
              <a:rPr lang="zh-CN" altLang="en-US" sz="1800" dirty="0">
                <a:latin typeface="华文楷体" panose="02010600040101010101" pitchFamily="2" charset="-122"/>
                <a:ea typeface="华文楷体" panose="02010600040101010101" pitchFamily="2" charset="-122"/>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Rot="1" noChangeArrowheads="1"/>
          </p:cNvSpPr>
          <p:nvPr>
            <p:ph type="body" idx="1"/>
          </p:nvPr>
        </p:nvSpPr>
        <p:spPr>
          <a:xfrm>
            <a:off x="76200" y="304800"/>
            <a:ext cx="7543800" cy="685800"/>
          </a:xfrm>
        </p:spPr>
        <p:txBody>
          <a:bodyPr>
            <a:normAutofit/>
          </a:bodyPr>
          <a:lstStyle/>
          <a:p>
            <a:pPr eaLnBrk="1" hangingPunct="1"/>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仁之</a:t>
            </a:r>
            <a:r>
              <a:rPr lang="zh-CN" altLang="en-US" sz="1800" dirty="0">
                <a:solidFill>
                  <a:srgbClr val="FF0000"/>
                </a:solidFill>
                <a:latin typeface="华文楷体" panose="02010600040101010101" pitchFamily="2" charset="-122"/>
                <a:ea typeface="华文楷体" panose="02010600040101010101" pitchFamily="2" charset="-122"/>
              </a:rPr>
              <a:t>所在</a:t>
            </a:r>
            <a:r>
              <a:rPr lang="zh-CN" altLang="en-US" sz="1800" dirty="0">
                <a:latin typeface="华文楷体" panose="02010600040101010101" pitchFamily="2" charset="-122"/>
                <a:ea typeface="华文楷体" panose="02010600040101010101" pitchFamily="2" charset="-122"/>
              </a:rPr>
              <a:t>无贫穷，仁之</a:t>
            </a:r>
            <a:r>
              <a:rPr lang="zh-CN" altLang="en-US" sz="1800" dirty="0">
                <a:solidFill>
                  <a:srgbClr val="FF0000"/>
                </a:solidFill>
                <a:latin typeface="华文楷体" panose="02010600040101010101" pitchFamily="2" charset="-122"/>
                <a:ea typeface="华文楷体" panose="02010600040101010101" pitchFamily="2" charset="-122"/>
              </a:rPr>
              <a:t>所亡</a:t>
            </a:r>
            <a:r>
              <a:rPr lang="zh-CN" altLang="en-US" sz="1800" dirty="0">
                <a:latin typeface="华文楷体" panose="02010600040101010101" pitchFamily="2" charset="-122"/>
                <a:ea typeface="华文楷体" panose="02010600040101010101" pitchFamily="2" charset="-122"/>
              </a:rPr>
              <a:t>无富贵；天下</a:t>
            </a:r>
            <a:r>
              <a:rPr lang="zh-CN" altLang="en-US" sz="1800" dirty="0">
                <a:solidFill>
                  <a:srgbClr val="FF0000"/>
                </a:solidFill>
                <a:latin typeface="华文楷体" panose="02010600040101010101" pitchFamily="2" charset="-122"/>
                <a:ea typeface="华文楷体" panose="02010600040101010101" pitchFamily="2" charset="-122"/>
              </a:rPr>
              <a:t>知之</a:t>
            </a:r>
            <a:r>
              <a:rPr lang="zh-CN" altLang="en-US" sz="1800" dirty="0">
                <a:latin typeface="华文楷体" panose="02010600040101010101" pitchFamily="2" charset="-122"/>
                <a:ea typeface="华文楷体" panose="02010600040101010101" pitchFamily="2" charset="-122"/>
              </a:rPr>
              <a:t>，则欲与天下同苦乐；天下不知之，则傀然独立天地之间而无畏；是</a:t>
            </a:r>
            <a:r>
              <a:rPr lang="zh-CN" altLang="en-US" sz="1800" dirty="0">
                <a:solidFill>
                  <a:srgbClr val="FF0000"/>
                </a:solidFill>
                <a:latin typeface="华文楷体" panose="02010600040101010101" pitchFamily="2" charset="-122"/>
                <a:ea typeface="华文楷体" panose="02010600040101010101" pitchFamily="2" charset="-122"/>
              </a:rPr>
              <a:t>上勇</a:t>
            </a:r>
            <a:r>
              <a:rPr lang="zh-CN" altLang="en-US" sz="1800" dirty="0">
                <a:latin typeface="华文楷体" panose="02010600040101010101" pitchFamily="2" charset="-122"/>
                <a:ea typeface="华文楷体" panose="02010600040101010101" pitchFamily="2" charset="-122"/>
              </a:rPr>
              <a:t>也。”</a:t>
            </a:r>
          </a:p>
        </p:txBody>
      </p:sp>
      <p:sp>
        <p:nvSpPr>
          <p:cNvPr id="28676" name="标题 28675"/>
          <p:cNvSpPr>
            <a:spLocks noGrp="1"/>
          </p:cNvSpPr>
          <p:nvPr>
            <p:ph type="title"/>
          </p:nvPr>
        </p:nvSpPr>
        <p:spPr>
          <a:xfrm>
            <a:off x="228600" y="838200"/>
            <a:ext cx="1752600" cy="609600"/>
          </a:xfrm>
        </p:spPr>
        <p:txBody>
          <a:bodyPr anchor="ctr"/>
          <a:lstStyle/>
          <a:p>
            <a:r>
              <a:rPr lang="zh-CN" altLang="en-US" sz="2000" dirty="0">
                <a:solidFill>
                  <a:schemeClr val="tx1"/>
                </a:solidFill>
                <a:latin typeface="华文宋体" panose="02010600040101010101" pitchFamily="2" charset="-122"/>
                <a:ea typeface="华文宋体" panose="02010600040101010101" pitchFamily="2" charset="-122"/>
              </a:rPr>
              <a:t>信念与理想</a:t>
            </a:r>
            <a:endParaRPr lang="en-US" altLang="zh-CN" sz="2000" dirty="0">
              <a:solidFill>
                <a:schemeClr val="tx1"/>
              </a:solidFill>
              <a:latin typeface="华文宋体" panose="02010600040101010101" pitchFamily="2" charset="-122"/>
              <a:ea typeface="华文宋体" panose="02010600040101010101" pitchFamily="2" charset="-122"/>
            </a:endParaRPr>
          </a:p>
        </p:txBody>
      </p:sp>
      <p:sp>
        <p:nvSpPr>
          <p:cNvPr id="28675" name="文本占位符 28674"/>
          <p:cNvSpPr txBox="1">
            <a:spLocks/>
          </p:cNvSpPr>
          <p:nvPr/>
        </p:nvSpPr>
        <p:spPr>
          <a:xfrm>
            <a:off x="304800" y="1371600"/>
            <a:ext cx="7772400" cy="1219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lnSpc>
                <a:spcPct val="90000"/>
              </a:lnSpc>
              <a:buNone/>
            </a:pPr>
            <a:r>
              <a:rPr lang="en-US" altLang="zh-CN" sz="1800" dirty="0">
                <a:solidFill>
                  <a:srgbClr val="FFFF00"/>
                </a:solidFill>
                <a:latin typeface="华文仿宋" panose="02010600040101010101" pitchFamily="2" charset="-122"/>
                <a:ea typeface="华文仿宋" panose="02010600040101010101" pitchFamily="2" charset="-122"/>
              </a:rPr>
              <a:t>    </a:t>
            </a:r>
            <a:r>
              <a:rPr lang="zh-CN" altLang="en-US" sz="1800" b="1" dirty="0">
                <a:latin typeface="华文仿宋" panose="02010600040101010101" pitchFamily="2" charset="-122"/>
                <a:ea typeface="华文仿宋" panose="02010600040101010101" pitchFamily="2" charset="-122"/>
              </a:rPr>
              <a:t>理想是信念的依据和前提，信念则是实现理想的重要保障。 </a:t>
            </a:r>
            <a:endParaRPr lang="en-US" altLang="zh-CN" sz="1800" b="1" dirty="0">
              <a:latin typeface="华文仿宋" panose="02010600040101010101" pitchFamily="2" charset="-122"/>
              <a:ea typeface="华文仿宋" panose="02010600040101010101" pitchFamily="2" charset="-122"/>
            </a:endParaRPr>
          </a:p>
          <a:p>
            <a:pPr marL="0" indent="0" fontAlgn="auto">
              <a:lnSpc>
                <a:spcPct val="90000"/>
              </a:lnSpc>
              <a:buNone/>
            </a:pPr>
            <a:r>
              <a:rPr lang="zh-CN" altLang="en-US" sz="1800" b="1" dirty="0">
                <a:latin typeface="华文仿宋" panose="02010600040101010101" pitchFamily="2" charset="-122"/>
                <a:ea typeface="华文仿宋" panose="02010600040101010101" pitchFamily="2" charset="-122"/>
              </a:rPr>
              <a:t>    理想重在标志人与奋斗目标之间的关系，主要是指向未来的，为人们的行动指明方向；而信念则重在标志人对事物、观念的看法和态度，主要是面对现在的，为人们的行动提供精神支持。</a:t>
            </a:r>
          </a:p>
        </p:txBody>
      </p:sp>
      <p:sp>
        <p:nvSpPr>
          <p:cNvPr id="48130" name="标题 48129"/>
          <p:cNvSpPr txBox="1">
            <a:spLocks/>
          </p:cNvSpPr>
          <p:nvPr/>
        </p:nvSpPr>
        <p:spPr>
          <a:xfrm>
            <a:off x="194930" y="2514600"/>
            <a:ext cx="1905000" cy="5334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dirty="0">
                <a:latin typeface="华文仿宋" panose="02010600040101010101" pitchFamily="2" charset="-122"/>
                <a:ea typeface="华文仿宋" panose="02010600040101010101" pitchFamily="2" charset="-122"/>
              </a:rPr>
              <a:t>信念与信仰：</a:t>
            </a:r>
          </a:p>
        </p:txBody>
      </p:sp>
      <p:sp>
        <p:nvSpPr>
          <p:cNvPr id="48131" name="文本占位符 48130"/>
          <p:cNvSpPr txBox="1">
            <a:spLocks/>
          </p:cNvSpPr>
          <p:nvPr/>
        </p:nvSpPr>
        <p:spPr>
          <a:xfrm>
            <a:off x="228600" y="2971800"/>
            <a:ext cx="6858000" cy="129540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latin typeface="华文仿宋" panose="02010600040101010101" pitchFamily="2" charset="-122"/>
                <a:ea typeface="华文仿宋" panose="02010600040101010101" pitchFamily="2" charset="-122"/>
              </a:rPr>
              <a:t>信仰可以说是最高层次的信念。</a:t>
            </a:r>
          </a:p>
          <a:p>
            <a:pPr fontAlgn="auto"/>
            <a:r>
              <a:rPr lang="zh-CN" altLang="en-US" sz="1800" b="1" dirty="0">
                <a:latin typeface="华文仿宋" panose="02010600040101010101" pitchFamily="2" charset="-122"/>
                <a:ea typeface="华文仿宋" panose="02010600040101010101" pitchFamily="2" charset="-122"/>
              </a:rPr>
              <a:t>凡是信仰，都可以说是信念。</a:t>
            </a:r>
          </a:p>
          <a:p>
            <a:pPr fontAlgn="auto"/>
            <a:r>
              <a:rPr lang="zh-CN" altLang="en-US" sz="1800" b="1" dirty="0">
                <a:latin typeface="华文仿宋" panose="02010600040101010101" pitchFamily="2" charset="-122"/>
                <a:ea typeface="华文仿宋" panose="02010600040101010101" pitchFamily="2" charset="-122"/>
              </a:rPr>
              <a:t>信念与信仰的这种区别，正好相当于信念与相信的区别。 </a:t>
            </a:r>
          </a:p>
        </p:txBody>
      </p:sp>
      <p:sp>
        <p:nvSpPr>
          <p:cNvPr id="49155" name="文本占位符 49154"/>
          <p:cNvSpPr txBox="1">
            <a:spLocks/>
          </p:cNvSpPr>
          <p:nvPr/>
        </p:nvSpPr>
        <p:spPr>
          <a:xfrm>
            <a:off x="228600" y="4191000"/>
            <a:ext cx="6711654"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buFont typeface="Wingdings 3" panose="05040102010807070707" charset="2"/>
              <a:buNone/>
            </a:pPr>
            <a:r>
              <a:rPr lang="zh-CN" altLang="en-US" sz="1800" b="1" dirty="0">
                <a:latin typeface="华文仿宋" panose="02010600040101010101" pitchFamily="2" charset="-122"/>
                <a:ea typeface="华文仿宋" panose="02010600040101010101" pitchFamily="2" charset="-122"/>
              </a:rPr>
              <a:t>一般来说，信仰可分为两种类型：</a:t>
            </a:r>
          </a:p>
          <a:p>
            <a:pPr fontAlgn="auto"/>
            <a:r>
              <a:rPr lang="zh-CN" altLang="en-US" sz="1800" b="1" dirty="0">
                <a:latin typeface="华文仿宋" panose="02010600040101010101" pitchFamily="2" charset="-122"/>
                <a:ea typeface="华文仿宋" panose="02010600040101010101" pitchFamily="2" charset="-122"/>
              </a:rPr>
              <a:t>一种是对虚幻的世界、不切实际的观念、荒谬的理论的盲目相信、狂热崇拜；</a:t>
            </a:r>
          </a:p>
          <a:p>
            <a:pPr fontAlgn="auto"/>
            <a:r>
              <a:rPr lang="zh-CN" altLang="en-US" sz="1800" b="1" dirty="0">
                <a:latin typeface="华文仿宋" panose="02010600040101010101" pitchFamily="2" charset="-122"/>
                <a:ea typeface="华文仿宋" panose="02010600040101010101" pitchFamily="2" charset="-122"/>
              </a:rPr>
              <a:t>另一种是在社会实践活动中，对以事物发展规律的正确认识为基础的思想见解或理论主张的坚信不疑、身体力行。</a:t>
            </a:r>
          </a:p>
          <a:p>
            <a:pPr fontAlgn="auto"/>
            <a:r>
              <a:rPr lang="zh-CN" altLang="en-US" sz="1800" b="1" dirty="0">
                <a:latin typeface="华文仿宋" panose="02010600040101010101" pitchFamily="2" charset="-122"/>
                <a:ea typeface="华文仿宋" panose="02010600040101010101" pitchFamily="2" charset="-122"/>
              </a:rPr>
              <a:t>后者就是我们所讲的理想信念。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ppt_x"/>
                                          </p:val>
                                        </p:tav>
                                        <p:tav tm="100000">
                                          <p:val>
                                            <p:strVal val="#ppt_x"/>
                                          </p:val>
                                        </p:tav>
                                      </p:tavLst>
                                    </p:anim>
                                    <p:anim calcmode="lin" valueType="num">
                                      <p:cBhvr additive="base">
                                        <p:cTn id="8" dur="500" fill="hold"/>
                                        <p:tgtEl>
                                          <p:spTgt spid="286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5">
                                            <p:txEl>
                                              <p:pRg st="0" end="0"/>
                                            </p:txEl>
                                          </p:spTgt>
                                        </p:tgtEl>
                                        <p:attrNameLst>
                                          <p:attrName>style.visibility</p:attrName>
                                        </p:attrNameLst>
                                      </p:cBhvr>
                                      <p:to>
                                        <p:strVal val="visible"/>
                                      </p:to>
                                    </p:set>
                                    <p:anim calcmode="lin" valueType="num">
                                      <p:cBhvr additive="base">
                                        <p:cTn id="13" dur="5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5">
                                            <p:txEl>
                                              <p:pRg st="1" end="1"/>
                                            </p:txEl>
                                          </p:spTgt>
                                        </p:tgtEl>
                                        <p:attrNameLst>
                                          <p:attrName>style.visibility</p:attrName>
                                        </p:attrNameLst>
                                      </p:cBhvr>
                                      <p:to>
                                        <p:strVal val="visible"/>
                                      </p:to>
                                    </p:set>
                                    <p:anim calcmode="lin" valueType="num">
                                      <p:cBhvr additive="base">
                                        <p:cTn id="19"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8130"/>
                                        </p:tgtEl>
                                        <p:attrNameLst>
                                          <p:attrName>style.visibility</p:attrName>
                                        </p:attrNameLst>
                                      </p:cBhvr>
                                      <p:to>
                                        <p:strVal val="visible"/>
                                      </p:to>
                                    </p:set>
                                    <p:anim calcmode="lin" valueType="num">
                                      <p:cBhvr additive="base">
                                        <p:cTn id="25" dur="500" fill="hold"/>
                                        <p:tgtEl>
                                          <p:spTgt spid="48130"/>
                                        </p:tgtEl>
                                        <p:attrNameLst>
                                          <p:attrName>ppt_x</p:attrName>
                                        </p:attrNameLst>
                                      </p:cBhvr>
                                      <p:tavLst>
                                        <p:tav tm="0">
                                          <p:val>
                                            <p:strVal val="#ppt_x"/>
                                          </p:val>
                                        </p:tav>
                                        <p:tav tm="100000">
                                          <p:val>
                                            <p:strVal val="#ppt_x"/>
                                          </p:val>
                                        </p:tav>
                                      </p:tavLst>
                                    </p:anim>
                                    <p:anim calcmode="lin" valueType="num">
                                      <p:cBhvr additive="base">
                                        <p:cTn id="26" dur="500" fill="hold"/>
                                        <p:tgtEl>
                                          <p:spTgt spid="4813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8131">
                                            <p:txEl>
                                              <p:pRg st="0" end="0"/>
                                            </p:txEl>
                                          </p:spTgt>
                                        </p:tgtEl>
                                        <p:attrNameLst>
                                          <p:attrName>style.visibility</p:attrName>
                                        </p:attrNameLst>
                                      </p:cBhvr>
                                      <p:to>
                                        <p:strVal val="visible"/>
                                      </p:to>
                                    </p:set>
                                    <p:anim calcmode="lin" valueType="num">
                                      <p:cBhvr additive="base">
                                        <p:cTn id="31"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8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8131">
                                            <p:txEl>
                                              <p:pRg st="1" end="1"/>
                                            </p:txEl>
                                          </p:spTgt>
                                        </p:tgtEl>
                                        <p:attrNameLst>
                                          <p:attrName>style.visibility</p:attrName>
                                        </p:attrNameLst>
                                      </p:cBhvr>
                                      <p:to>
                                        <p:strVal val="visible"/>
                                      </p:to>
                                    </p:set>
                                    <p:anim calcmode="lin" valueType="num">
                                      <p:cBhvr additive="base">
                                        <p:cTn id="37" dur="5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81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8131">
                                            <p:txEl>
                                              <p:pRg st="2" end="2"/>
                                            </p:txEl>
                                          </p:spTgt>
                                        </p:tgtEl>
                                        <p:attrNameLst>
                                          <p:attrName>style.visibility</p:attrName>
                                        </p:attrNameLst>
                                      </p:cBhvr>
                                      <p:to>
                                        <p:strVal val="visible"/>
                                      </p:to>
                                    </p:set>
                                    <p:anim calcmode="lin" valueType="num">
                                      <p:cBhvr additive="base">
                                        <p:cTn id="43" dur="500" fill="hold"/>
                                        <p:tgtEl>
                                          <p:spTgt spid="48131">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1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9155">
                                            <p:txEl>
                                              <p:pRg st="0" end="0"/>
                                            </p:txEl>
                                          </p:spTgt>
                                        </p:tgtEl>
                                        <p:attrNameLst>
                                          <p:attrName>style.visibility</p:attrName>
                                        </p:attrNameLst>
                                      </p:cBhvr>
                                      <p:to>
                                        <p:strVal val="visible"/>
                                      </p:to>
                                    </p:set>
                                    <p:anim calcmode="lin" valueType="num">
                                      <p:cBhvr additive="base">
                                        <p:cTn id="49" dur="500" fill="hold"/>
                                        <p:tgtEl>
                                          <p:spTgt spid="49155">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91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9155">
                                            <p:txEl>
                                              <p:pRg st="1" end="1"/>
                                            </p:txEl>
                                          </p:spTgt>
                                        </p:tgtEl>
                                        <p:attrNameLst>
                                          <p:attrName>style.visibility</p:attrName>
                                        </p:attrNameLst>
                                      </p:cBhvr>
                                      <p:to>
                                        <p:strVal val="visible"/>
                                      </p:to>
                                    </p:set>
                                    <p:anim calcmode="lin" valueType="num">
                                      <p:cBhvr additive="base">
                                        <p:cTn id="55" dur="500" fill="hold"/>
                                        <p:tgtEl>
                                          <p:spTgt spid="49155">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91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9155">
                                            <p:txEl>
                                              <p:pRg st="2" end="2"/>
                                            </p:txEl>
                                          </p:spTgt>
                                        </p:tgtEl>
                                        <p:attrNameLst>
                                          <p:attrName>style.visibility</p:attrName>
                                        </p:attrNameLst>
                                      </p:cBhvr>
                                      <p:to>
                                        <p:strVal val="visible"/>
                                      </p:to>
                                    </p:set>
                                    <p:anim calcmode="lin" valueType="num">
                                      <p:cBhvr additive="base">
                                        <p:cTn id="61" dur="500" fill="hold"/>
                                        <p:tgtEl>
                                          <p:spTgt spid="49155">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91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9155">
                                            <p:txEl>
                                              <p:pRg st="3" end="3"/>
                                            </p:txEl>
                                          </p:spTgt>
                                        </p:tgtEl>
                                        <p:attrNameLst>
                                          <p:attrName>style.visibility</p:attrName>
                                        </p:attrNameLst>
                                      </p:cBhvr>
                                      <p:to>
                                        <p:strVal val="visible"/>
                                      </p:to>
                                    </p:set>
                                    <p:anim calcmode="lin" valueType="num">
                                      <p:cBhvr additive="base">
                                        <p:cTn id="67" dur="500" fill="hold"/>
                                        <p:tgtEl>
                                          <p:spTgt spid="49155">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915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75" grpId="0" build="p"/>
      <p:bldP spid="48130" grpId="0" animBg="1"/>
      <p:bldP spid="48131" grpId="0" build="p"/>
      <p:bldP spid="4915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4800" y="304800"/>
            <a:ext cx="7391400" cy="1371600"/>
          </a:xfrm>
        </p:spPr>
        <p:txBody>
          <a:bodyPr>
            <a:normAutofit/>
          </a:bodyPr>
          <a:lstStyle/>
          <a:p>
            <a:pPr marL="0" indent="0">
              <a:buNone/>
            </a:pPr>
            <a:r>
              <a:rPr lang="zh-CN" altLang="en-US" sz="1800" dirty="0">
                <a:latin typeface="华文楷体" panose="02010600040101010101" pitchFamily="2" charset="-122"/>
                <a:ea typeface="华文楷体" panose="02010600040101010101" pitchFamily="2" charset="-122"/>
              </a:rPr>
              <a:t>我们在做决定是主要依靠经验来判断，但在很多关键的时候，我们会做出错误的关键决定或关键的错误决定。</a:t>
            </a:r>
            <a:endParaRPr lang="en-US" altLang="zh-CN" sz="1800" dirty="0">
              <a:latin typeface="华文楷体" panose="02010600040101010101" pitchFamily="2" charset="-122"/>
              <a:ea typeface="华文楷体" panose="02010600040101010101" pitchFamily="2" charset="-122"/>
            </a:endParaRPr>
          </a:p>
          <a:p>
            <a:pPr marL="0" indent="0">
              <a:buNone/>
            </a:pPr>
            <a:r>
              <a:rPr lang="zh-CN" altLang="en-US" sz="1800" dirty="0">
                <a:latin typeface="华文楷体" panose="02010600040101010101" pitchFamily="2" charset="-122"/>
                <a:ea typeface="华文楷体" panose="02010600040101010101" pitchFamily="2" charset="-122"/>
              </a:rPr>
              <a:t>如何可能规避这种情况？如果自身具备一种理想信念是否情况就会迥然不同？</a:t>
            </a:r>
            <a:endParaRPr lang="en-US" altLang="zh-CN" sz="1800" dirty="0">
              <a:latin typeface="华文楷体" panose="02010600040101010101" pitchFamily="2" charset="-122"/>
              <a:ea typeface="华文楷体" panose="02010600040101010101" pitchFamily="2" charset="-122"/>
            </a:endParaRPr>
          </a:p>
          <a:p>
            <a:pPr marL="0" indent="0">
              <a:buNone/>
            </a:pPr>
            <a:endParaRPr lang="zh-CN" altLang="en-US" sz="1800" dirty="0">
              <a:latin typeface="华文楷体" panose="02010600040101010101" pitchFamily="2" charset="-122"/>
              <a:ea typeface="华文楷体" panose="02010600040101010101" pitchFamily="2" charset="-122"/>
            </a:endParaRPr>
          </a:p>
        </p:txBody>
      </p:sp>
      <p:sp>
        <p:nvSpPr>
          <p:cNvPr id="2" name="文本框 1">
            <a:extLst>
              <a:ext uri="{FF2B5EF4-FFF2-40B4-BE49-F238E27FC236}">
                <a16:creationId xmlns:a16="http://schemas.microsoft.com/office/drawing/2014/main" id="{E4C7AF47-015F-4F99-E28C-FA11F33C8795}"/>
              </a:ext>
            </a:extLst>
          </p:cNvPr>
          <p:cNvSpPr txBox="1"/>
          <p:nvPr/>
        </p:nvSpPr>
        <p:spPr>
          <a:xfrm>
            <a:off x="304800" y="1752600"/>
            <a:ext cx="8153400" cy="5022914"/>
          </a:xfrm>
          <a:prstGeom prst="rect">
            <a:avLst/>
          </a:prstGeom>
          <a:noFill/>
        </p:spPr>
        <p:txBody>
          <a:bodyPr wrap="square" rtlCol="0">
            <a:spAutoFit/>
          </a:bodyPr>
          <a:lstStyle/>
          <a:p>
            <a:r>
              <a:rPr lang="zh-CN" altLang="zh-CN" sz="1800" b="0" dirty="0">
                <a:solidFill>
                  <a:schemeClr val="tx1"/>
                </a:solidFill>
              </a:rPr>
              <a:t>在关键时刻，人常依赖经验做决定，但经验本质是归纳法，适用于重复性情境。关键时刻往往意味着变量突增、规则改变，此时经验的两大弊端便会暴露：一是路径依赖，过去成功会固化思维，使人用旧地图找新路；二是确认偏误，人会不自觉筛选信息迎合既有经验，忽略相反证据。这两者共同导致了“关键的错误决定”。</a:t>
            </a:r>
          </a:p>
          <a:p>
            <a:r>
              <a:rPr lang="zh-CN" altLang="zh-CN" sz="1800" b="0" dirty="0">
                <a:solidFill>
                  <a:schemeClr val="tx1"/>
                </a:solidFill>
              </a:rPr>
              <a:t>要规避这种情况，不能抛弃经验，而需为经验设置两道护栏。第一，</a:t>
            </a:r>
            <a:r>
              <a:rPr lang="zh-CN" altLang="zh-CN" sz="1800" dirty="0">
                <a:solidFill>
                  <a:schemeClr val="tx1"/>
                </a:solidFill>
              </a:rPr>
              <a:t>事前验尸</a:t>
            </a:r>
            <a:r>
              <a:rPr lang="zh-CN" altLang="zh-CN" sz="1800" b="0" dirty="0">
                <a:solidFill>
                  <a:schemeClr val="tx1"/>
                </a:solidFill>
              </a:rPr>
              <a:t>：正式决定前，假设此事已彻底失败，逆向推演可能原因，这能强制跳出经验构建的成功叙事。第二，</a:t>
            </a:r>
            <a:r>
              <a:rPr lang="zh-CN" altLang="zh-CN" sz="1800" dirty="0">
                <a:solidFill>
                  <a:schemeClr val="tx1"/>
                </a:solidFill>
              </a:rPr>
              <a:t>主动寻求异见</a:t>
            </a:r>
            <a:r>
              <a:rPr lang="zh-CN" altLang="zh-CN" sz="1800" b="0" dirty="0">
                <a:solidFill>
                  <a:schemeClr val="tx1"/>
                </a:solidFill>
              </a:rPr>
              <a:t>：找到持反对意见者进行辩论，不是为了说服，而是为了检验决策的前提是否可靠。</a:t>
            </a:r>
          </a:p>
          <a:p>
            <a:r>
              <a:rPr lang="zh-CN" altLang="zh-CN" sz="1800" b="0" dirty="0">
                <a:solidFill>
                  <a:schemeClr val="tx1"/>
                </a:solidFill>
              </a:rPr>
              <a:t>那么，理想信念能否让情况迥然不同？关键在于信念的性质。健康的理想信念不是对某个具体结果的固执，而是对方向与原则的坚守——如“追求真相”“维护公平”。它在经验失效时提供锚点，使人即便判断错误也能快速学习。然而，若信念演变为僵化的意识形态——对某种教条的绝对忠诚——则会放大经验的弊端，使人将反面证据视为背叛，从而做出更灾难的决定。</a:t>
            </a:r>
          </a:p>
          <a:p>
            <a:r>
              <a:rPr lang="zh-CN" altLang="zh-CN" sz="1800" b="0" dirty="0">
                <a:solidFill>
                  <a:schemeClr val="tx1"/>
                </a:solidFill>
              </a:rPr>
              <a:t>因此，真正可靠的决策系统是“经验+护栏+可证伪的信念”：用经验提供起点，用护栏防止盲目，用信念提供方向，且三者随时准备接受现实的修正。</a:t>
            </a:r>
          </a:p>
          <a:p>
            <a:endParaRPr lang="zh-CN" altLang="en-US" sz="18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4710" y="452718"/>
            <a:ext cx="1801290" cy="385482"/>
          </a:xfrm>
        </p:spPr>
        <p:txBody>
          <a:bodyPr/>
          <a:lstStyle/>
          <a:p>
            <a:r>
              <a:rPr lang="zh-CN" altLang="en-US" sz="2000" dirty="0">
                <a:latin typeface="华文仿宋" panose="02010600040101010101" pitchFamily="2" charset="-122"/>
                <a:ea typeface="华文仿宋" panose="02010600040101010101" pitchFamily="2" charset="-122"/>
              </a:rPr>
              <a:t>信念</a:t>
            </a:r>
            <a:r>
              <a:rPr lang="zh-CN" altLang="zh-CN" sz="2000" dirty="0">
                <a:latin typeface="华文仿宋" panose="02010600040101010101" pitchFamily="2" charset="-122"/>
                <a:ea typeface="华文仿宋" panose="02010600040101010101" pitchFamily="2" charset="-122"/>
              </a:rPr>
              <a:t>概念</a:t>
            </a:r>
            <a:br>
              <a:rPr lang="zh-CN" altLang="zh-CN" sz="2000" dirty="0">
                <a:latin typeface="华文仿宋" panose="02010600040101010101" pitchFamily="2" charset="-122"/>
                <a:ea typeface="华文仿宋" panose="02010600040101010101" pitchFamily="2" charset="-122"/>
              </a:rPr>
            </a:br>
            <a:endParaRPr lang="zh-CN" altLang="en-US" sz="2000" dirty="0">
              <a:latin typeface="华文仿宋" panose="02010600040101010101" pitchFamily="2" charset="-122"/>
              <a:ea typeface="华文仿宋" panose="02010600040101010101" pitchFamily="2" charset="-122"/>
            </a:endParaRPr>
          </a:p>
        </p:txBody>
      </p:sp>
      <p:sp>
        <p:nvSpPr>
          <p:cNvPr id="4" name="Rectangle 3"/>
          <p:cNvSpPr>
            <a:spLocks noGrp="1" noChangeArrowheads="1"/>
          </p:cNvSpPr>
          <p:nvPr>
            <p:ph idx="1"/>
          </p:nvPr>
        </p:nvSpPr>
        <p:spPr>
          <a:xfrm>
            <a:off x="381000" y="914400"/>
            <a:ext cx="6639900" cy="2590799"/>
          </a:xfrm>
        </p:spPr>
        <p:txBody>
          <a:bodyPr>
            <a:normAutofit/>
          </a:bodyPr>
          <a:lstStyle/>
          <a:p>
            <a:pPr marL="0" indent="0">
              <a:lnSpc>
                <a:spcPct val="90000"/>
              </a:lnSpc>
              <a:buNone/>
            </a:pPr>
            <a:r>
              <a:rPr lang="en-US" altLang="zh-CN" sz="1800" dirty="0">
                <a:latin typeface="华文楷体" panose="02010600040101010101" pitchFamily="2" charset="-122"/>
                <a:ea typeface="华文楷体" panose="02010600040101010101" pitchFamily="2" charset="-122"/>
              </a:rPr>
              <a:t>1</a:t>
            </a:r>
            <a:r>
              <a:rPr lang="zh-CN" altLang="zh-CN" sz="1800" dirty="0">
                <a:latin typeface="华文楷体" panose="02010600040101010101" pitchFamily="2" charset="-122"/>
                <a:ea typeface="华文楷体" panose="02010600040101010101" pitchFamily="2" charset="-122"/>
              </a:rPr>
              <a:t>.信念与偏好的关系</a:t>
            </a:r>
          </a:p>
          <a:p>
            <a:pPr>
              <a:lnSpc>
                <a:spcPct val="90000"/>
              </a:lnSpc>
              <a:buFont typeface="Wingdings" panose="05000000000000000000" pitchFamily="2" charset="2"/>
              <a:buNone/>
            </a:pPr>
            <a:r>
              <a:rPr lang="zh-CN" altLang="zh-CN" sz="1800" dirty="0">
                <a:latin typeface="华文楷体" panose="02010600040101010101" pitchFamily="2" charset="-122"/>
                <a:ea typeface="华文楷体" panose="02010600040101010101" pitchFamily="2" charset="-122"/>
              </a:rPr>
              <a:t>   </a:t>
            </a:r>
            <a:r>
              <a:rPr lang="en-US" altLang="zh-CN" sz="1800" dirty="0">
                <a:latin typeface="华文楷体" panose="02010600040101010101" pitchFamily="2" charset="-122"/>
                <a:ea typeface="华文楷体" panose="02010600040101010101" pitchFamily="2" charset="-122"/>
              </a:rPr>
              <a:t> </a:t>
            </a:r>
            <a:r>
              <a:rPr lang="zh-CN" altLang="zh-CN" sz="1800" dirty="0">
                <a:latin typeface="华文楷体" panose="02010600040101010101" pitchFamily="2" charset="-122"/>
                <a:ea typeface="华文楷体" panose="02010600040101010101" pitchFamily="2" charset="-122"/>
              </a:rPr>
              <a:t>  偏好为行为提供动机和目的，最终指向为个体的需求和欲望</a:t>
            </a:r>
          </a:p>
          <a:p>
            <a:pPr>
              <a:lnSpc>
                <a:spcPct val="90000"/>
              </a:lnSpc>
              <a:buFont typeface="Wingdings" panose="05000000000000000000" pitchFamily="2" charset="2"/>
              <a:buNone/>
            </a:pPr>
            <a:r>
              <a:rPr lang="zh-CN" altLang="zh-CN" sz="1800" dirty="0">
                <a:latin typeface="华文楷体" panose="02010600040101010101" pitchFamily="2" charset="-122"/>
                <a:ea typeface="华文楷体" panose="02010600040101010101" pitchFamily="2" charset="-122"/>
              </a:rPr>
              <a:t>      信念为行为提供逻辑和依据，最终指向为个体的认知和信息</a:t>
            </a:r>
            <a:endParaRPr lang="en-US" altLang="zh-CN" sz="1800" dirty="0">
              <a:latin typeface="华文楷体" panose="02010600040101010101" pitchFamily="2" charset="-122"/>
              <a:ea typeface="华文楷体" panose="02010600040101010101" pitchFamily="2" charset="-122"/>
            </a:endParaRPr>
          </a:p>
          <a:p>
            <a:pPr>
              <a:lnSpc>
                <a:spcPct val="90000"/>
              </a:lnSpc>
              <a:buFont typeface="Wingdings" panose="05000000000000000000" pitchFamily="2" charset="2"/>
              <a:buNone/>
            </a:pPr>
            <a:r>
              <a:rPr lang="en-US" altLang="zh-CN" sz="1800" dirty="0">
                <a:latin typeface="华文楷体" panose="02010600040101010101" pitchFamily="2" charset="-122"/>
                <a:ea typeface="华文楷体" panose="02010600040101010101" pitchFamily="2" charset="-122"/>
              </a:rPr>
              <a:t>2</a:t>
            </a:r>
            <a:r>
              <a:rPr lang="zh-CN" altLang="zh-CN" sz="1800" dirty="0">
                <a:latin typeface="华文楷体" panose="02010600040101010101" pitchFamily="2" charset="-122"/>
                <a:ea typeface="华文楷体" panose="02010600040101010101" pitchFamily="2" charset="-122"/>
              </a:rPr>
              <a:t>.信念的内容</a:t>
            </a:r>
          </a:p>
          <a:p>
            <a:pPr>
              <a:lnSpc>
                <a:spcPct val="90000"/>
              </a:lnSpc>
              <a:buFont typeface="Wingdings" panose="05000000000000000000" pitchFamily="2" charset="2"/>
              <a:buNone/>
            </a:pPr>
            <a:r>
              <a:rPr lang="zh-CN" altLang="zh-CN" sz="1800" dirty="0">
                <a:latin typeface="华文楷体" panose="02010600040101010101" pitchFamily="2" charset="-122"/>
                <a:ea typeface="华文楷体" panose="02010600040101010101" pitchFamily="2" charset="-122"/>
              </a:rPr>
              <a:t>      关于自我的信念</a:t>
            </a:r>
          </a:p>
          <a:p>
            <a:pPr>
              <a:lnSpc>
                <a:spcPct val="90000"/>
              </a:lnSpc>
              <a:buFont typeface="Wingdings" panose="05000000000000000000" pitchFamily="2" charset="2"/>
              <a:buNone/>
            </a:pPr>
            <a:r>
              <a:rPr lang="zh-CN" altLang="zh-CN" sz="1800" dirty="0">
                <a:latin typeface="华文楷体" panose="02010600040101010101" pitchFamily="2" charset="-122"/>
                <a:ea typeface="华文楷体" panose="02010600040101010101" pitchFamily="2" charset="-122"/>
              </a:rPr>
              <a:t>      关于他人的信念</a:t>
            </a:r>
          </a:p>
          <a:p>
            <a:pPr>
              <a:lnSpc>
                <a:spcPct val="90000"/>
              </a:lnSpc>
              <a:buFont typeface="Wingdings" panose="05000000000000000000" pitchFamily="2" charset="2"/>
              <a:buNone/>
            </a:pPr>
            <a:r>
              <a:rPr lang="zh-CN" altLang="zh-CN" sz="1800" dirty="0">
                <a:latin typeface="华文楷体" panose="02010600040101010101" pitchFamily="2" charset="-122"/>
                <a:ea typeface="华文楷体" panose="02010600040101010101" pitchFamily="2" charset="-122"/>
              </a:rPr>
              <a:t>      关于自然的信念</a:t>
            </a:r>
          </a:p>
        </p:txBody>
      </p:sp>
      <p:sp>
        <p:nvSpPr>
          <p:cNvPr id="3" name="标题 1">
            <a:extLst>
              <a:ext uri="{FF2B5EF4-FFF2-40B4-BE49-F238E27FC236}">
                <a16:creationId xmlns:a16="http://schemas.microsoft.com/office/drawing/2014/main" id="{532D24FD-722D-DBD4-EE27-06D477C3D13E}"/>
              </a:ext>
            </a:extLst>
          </p:cNvPr>
          <p:cNvSpPr txBox="1">
            <a:spLocks/>
          </p:cNvSpPr>
          <p:nvPr/>
        </p:nvSpPr>
        <p:spPr>
          <a:xfrm>
            <a:off x="381000" y="3554818"/>
            <a:ext cx="1801290" cy="38548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dirty="0">
                <a:latin typeface="华文仿宋" panose="02010600040101010101" pitchFamily="2" charset="-122"/>
                <a:ea typeface="华文仿宋" panose="02010600040101010101" pitchFamily="2" charset="-122"/>
              </a:rPr>
              <a:t>信念特征</a:t>
            </a:r>
            <a:br>
              <a:rPr lang="zh-CN" altLang="zh-CN" sz="2000" dirty="0">
                <a:latin typeface="华文仿宋" panose="02010600040101010101" pitchFamily="2" charset="-122"/>
                <a:ea typeface="华文仿宋" panose="02010600040101010101" pitchFamily="2" charset="-122"/>
              </a:rPr>
            </a:br>
            <a:endParaRPr lang="zh-CN" altLang="en-US" sz="2000" dirty="0">
              <a:latin typeface="华文仿宋" panose="02010600040101010101" pitchFamily="2" charset="-122"/>
              <a:ea typeface="华文仿宋" panose="02010600040101010101" pitchFamily="2" charset="-122"/>
            </a:endParaRPr>
          </a:p>
        </p:txBody>
      </p:sp>
      <p:sp>
        <p:nvSpPr>
          <p:cNvPr id="26627" name="文本占位符 26626"/>
          <p:cNvSpPr txBox="1">
            <a:spLocks/>
          </p:cNvSpPr>
          <p:nvPr/>
        </p:nvSpPr>
        <p:spPr>
          <a:xfrm>
            <a:off x="304800" y="3956249"/>
            <a:ext cx="2296500" cy="16808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latin typeface="华文楷体" panose="02010600040101010101" pitchFamily="2" charset="-122"/>
                <a:ea typeface="华文楷体" panose="02010600040101010101" pitchFamily="2" charset="-122"/>
              </a:rPr>
              <a:t>（</a:t>
            </a:r>
            <a:r>
              <a:rPr lang="en-US" altLang="zh-CN" sz="1800" b="1" dirty="0">
                <a:latin typeface="华文楷体" panose="02010600040101010101" pitchFamily="2" charset="-122"/>
                <a:ea typeface="华文楷体" panose="02010600040101010101" pitchFamily="2" charset="-122"/>
              </a:rPr>
              <a:t>1</a:t>
            </a:r>
            <a:r>
              <a:rPr lang="zh-CN" altLang="en-US" sz="1800" b="1" dirty="0">
                <a:latin typeface="华文楷体" panose="02010600040101010101" pitchFamily="2" charset="-122"/>
                <a:ea typeface="华文楷体" panose="02010600040101010101" pitchFamily="2" charset="-122"/>
              </a:rPr>
              <a:t>）</a:t>
            </a:r>
            <a:r>
              <a:rPr lang="zh-CN" altLang="en-US" sz="1800" b="1" dirty="0">
                <a:latin typeface="华文仿宋" panose="02010600040101010101" pitchFamily="2" charset="-122"/>
                <a:ea typeface="华文仿宋" panose="02010600040101010101" pitchFamily="2" charset="-122"/>
              </a:rPr>
              <a:t>稳定性</a:t>
            </a:r>
            <a:r>
              <a:rPr lang="zh-CN" altLang="en-US" sz="1800" b="1" dirty="0">
                <a:latin typeface="华文楷体" panose="02010600040101010101" pitchFamily="2" charset="-122"/>
                <a:ea typeface="华文楷体" panose="02010600040101010101" pitchFamily="2" charset="-122"/>
              </a:rPr>
              <a:t>。</a:t>
            </a:r>
          </a:p>
          <a:p>
            <a:pPr fontAlgn="auto"/>
            <a:r>
              <a:rPr lang="zh-CN" altLang="en-US" sz="1800" b="1" dirty="0">
                <a:latin typeface="华文楷体" panose="02010600040101010101" pitchFamily="2" charset="-122"/>
                <a:ea typeface="华文楷体" panose="02010600040101010101" pitchFamily="2" charset="-122"/>
              </a:rPr>
              <a:t>（</a:t>
            </a:r>
            <a:r>
              <a:rPr lang="en-US" altLang="zh-CN" sz="1800" b="1" dirty="0">
                <a:latin typeface="华文楷体" panose="02010600040101010101" pitchFamily="2" charset="-122"/>
                <a:ea typeface="华文楷体" panose="02010600040101010101" pitchFamily="2" charset="-122"/>
              </a:rPr>
              <a:t>2</a:t>
            </a:r>
            <a:r>
              <a:rPr lang="zh-CN" altLang="en-US" sz="1800" b="1" dirty="0">
                <a:latin typeface="华文楷体" panose="02010600040101010101" pitchFamily="2" charset="-122"/>
                <a:ea typeface="华文楷体" panose="02010600040101010101" pitchFamily="2" charset="-122"/>
              </a:rPr>
              <a:t>）执著性。</a:t>
            </a:r>
          </a:p>
          <a:p>
            <a:pPr fontAlgn="auto"/>
            <a:r>
              <a:rPr lang="zh-CN" altLang="en-US" sz="1800" b="1" dirty="0">
                <a:latin typeface="华文楷体" panose="02010600040101010101" pitchFamily="2" charset="-122"/>
                <a:ea typeface="华文楷体" panose="02010600040101010101" pitchFamily="2" charset="-122"/>
              </a:rPr>
              <a:t>（</a:t>
            </a:r>
            <a:r>
              <a:rPr lang="en-US" altLang="zh-CN" sz="1800" b="1" dirty="0">
                <a:latin typeface="华文楷体" panose="02010600040101010101" pitchFamily="2" charset="-122"/>
                <a:ea typeface="华文楷体" panose="02010600040101010101" pitchFamily="2" charset="-122"/>
              </a:rPr>
              <a:t>3</a:t>
            </a:r>
            <a:r>
              <a:rPr lang="zh-CN" altLang="en-US" sz="1800" b="1" dirty="0">
                <a:latin typeface="华文楷体" panose="02010600040101010101" pitchFamily="2" charset="-122"/>
                <a:ea typeface="华文楷体" panose="02010600040101010101" pitchFamily="2" charset="-122"/>
              </a:rPr>
              <a:t>）多样性。</a:t>
            </a:r>
          </a:p>
          <a:p>
            <a:pPr fontAlgn="auto"/>
            <a:r>
              <a:rPr lang="zh-CN" altLang="en-US" sz="1800" b="1" dirty="0">
                <a:latin typeface="华文楷体" panose="02010600040101010101" pitchFamily="2" charset="-122"/>
                <a:ea typeface="华文楷体" panose="02010600040101010101" pitchFamily="2" charset="-122"/>
              </a:rPr>
              <a:t>（</a:t>
            </a:r>
            <a:r>
              <a:rPr lang="en-US" altLang="zh-CN" sz="1800" b="1" dirty="0">
                <a:latin typeface="华文楷体" panose="02010600040101010101" pitchFamily="2" charset="-122"/>
                <a:ea typeface="华文楷体" panose="02010600040101010101" pitchFamily="2" charset="-122"/>
              </a:rPr>
              <a:t>4</a:t>
            </a:r>
            <a:r>
              <a:rPr lang="zh-CN" altLang="en-US" sz="1800" b="1" dirty="0">
                <a:latin typeface="华文楷体" panose="02010600040101010101" pitchFamily="2" charset="-122"/>
                <a:ea typeface="华文楷体" panose="02010600040101010101" pitchFamily="2" charset="-122"/>
              </a:rPr>
              <a:t>）亲合性。</a:t>
            </a:r>
          </a:p>
        </p:txBody>
      </p:sp>
      <p:sp>
        <p:nvSpPr>
          <p:cNvPr id="5" name="内容占位符 2"/>
          <p:cNvSpPr txBox="1">
            <a:spLocks/>
          </p:cNvSpPr>
          <p:nvPr/>
        </p:nvSpPr>
        <p:spPr>
          <a:xfrm>
            <a:off x="2819400" y="2052925"/>
            <a:ext cx="6096000" cy="4195481"/>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zh-CN" sz="1800" dirty="0"/>
              <a:t>关于自我属性的信念</a:t>
            </a:r>
          </a:p>
          <a:p>
            <a:pPr fontAlgn="auto">
              <a:buFont typeface="Wingdings 3" panose="05040102010807070707" charset="2"/>
              <a:buNone/>
            </a:pPr>
            <a:r>
              <a:rPr lang="zh-CN" altLang="zh-CN" sz="1800" dirty="0">
                <a:latin typeface="华文楷体" panose="02010600040101010101" pitchFamily="2" charset="-122"/>
                <a:ea typeface="华文楷体" panose="02010600040101010101" pitchFamily="2" charset="-122"/>
              </a:rPr>
              <a:t>         个体对自我属性以及一切与自我相关事物状态及因果关系的感知，对于这些感知，个体倾向于持乐观态度，这是自我导向性影响最为强烈的方面。</a:t>
            </a:r>
            <a:r>
              <a:rPr lang="zh-CN" altLang="en-US" sz="1800" dirty="0">
                <a:latin typeface="华文楷体" panose="02010600040101010101" pitchFamily="2" charset="-122"/>
                <a:ea typeface="华文楷体" panose="02010600040101010101" pitchFamily="2" charset="-122"/>
              </a:rPr>
              <a:t>人们倾向于高估自己的能力。</a:t>
            </a:r>
            <a:endParaRPr lang="en-US" altLang="zh-CN" sz="1800" dirty="0">
              <a:latin typeface="华文楷体" panose="02010600040101010101" pitchFamily="2" charset="-122"/>
              <a:ea typeface="华文楷体" panose="02010600040101010101" pitchFamily="2" charset="-122"/>
            </a:endParaRPr>
          </a:p>
          <a:p>
            <a:pPr>
              <a:buNone/>
            </a:pPr>
            <a:r>
              <a:rPr lang="zh-CN" altLang="zh-CN" sz="1800" dirty="0"/>
              <a:t> </a:t>
            </a:r>
            <a:r>
              <a:rPr lang="zh-CN" altLang="zh-CN" sz="1800" dirty="0">
                <a:latin typeface="华文楷体" panose="02010600040101010101" pitchFamily="2" charset="-122"/>
                <a:ea typeface="华文楷体" panose="02010600040101010101" pitchFamily="2" charset="-122"/>
              </a:rPr>
              <a:t>对于那些与自我相关的人和事物，个体倾向于以最有利于自身的态度来揣测。</a:t>
            </a:r>
          </a:p>
          <a:p>
            <a:pPr>
              <a:buNone/>
            </a:pPr>
            <a:r>
              <a:rPr lang="zh-CN" altLang="zh-CN" sz="1800" dirty="0">
                <a:latin typeface="华文楷体" panose="02010600040101010101" pitchFamily="2" charset="-122"/>
                <a:ea typeface="华文楷体" panose="02010600040101010101" pitchFamily="2" charset="-122"/>
              </a:rPr>
              <a:t>        与自我相关的事物都是有“意义”的；</a:t>
            </a:r>
          </a:p>
          <a:p>
            <a:pPr>
              <a:buNone/>
            </a:pPr>
            <a:r>
              <a:rPr lang="zh-CN" altLang="zh-CN" sz="1800" dirty="0">
                <a:latin typeface="华文楷体" panose="02010600040101010101" pitchFamily="2" charset="-122"/>
                <a:ea typeface="华文楷体" panose="02010600040101010101" pitchFamily="2" charset="-122"/>
              </a:rPr>
              <a:t>        潜意识里相信自我不可替代，事态发展偏向于自我；</a:t>
            </a:r>
          </a:p>
          <a:p>
            <a:pPr>
              <a:buNone/>
            </a:pPr>
            <a:r>
              <a:rPr lang="zh-CN" altLang="zh-CN" sz="1800" dirty="0">
                <a:latin typeface="华文楷体" panose="02010600040101010101" pitchFamily="2" charset="-122"/>
                <a:ea typeface="华文楷体" panose="02010600040101010101" pitchFamily="2" charset="-122"/>
              </a:rPr>
              <a:t>        自己拥有的东西和属性都是独一无二的，期待被别人所欣赏。</a:t>
            </a:r>
          </a:p>
          <a:p>
            <a:pPr>
              <a:buNone/>
            </a:pPr>
            <a:r>
              <a:rPr lang="zh-CN" altLang="zh-CN" sz="1800" dirty="0">
                <a:latin typeface="华文楷体" panose="02010600040101010101" pitchFamily="2" charset="-122"/>
                <a:ea typeface="华文楷体" panose="02010600040101010101" pitchFamily="2" charset="-122"/>
              </a:rPr>
              <a:t>        选择相信</a:t>
            </a:r>
            <a:r>
              <a:rPr lang="zh-CN" altLang="en-US" sz="1800" dirty="0">
                <a:latin typeface="华文楷体" panose="02010600040101010101" pitchFamily="2" charset="-122"/>
                <a:ea typeface="华文楷体" panose="02010600040101010101" pitchFamily="2" charset="-122"/>
              </a:rPr>
              <a:t>于</a:t>
            </a:r>
            <a:r>
              <a:rPr lang="zh-CN" altLang="zh-CN" sz="1800" dirty="0">
                <a:latin typeface="华文楷体" panose="02010600040101010101" pitchFamily="2" charset="-122"/>
                <a:ea typeface="华文楷体" panose="02010600040101010101" pitchFamily="2" charset="-122"/>
              </a:rPr>
              <a:t>自己有利的事情。</a:t>
            </a:r>
          </a:p>
          <a:p>
            <a:pPr>
              <a:buNone/>
            </a:pPr>
            <a:r>
              <a:rPr lang="zh-CN" altLang="zh-CN" sz="1800" dirty="0">
                <a:latin typeface="华文楷体" panose="02010600040101010101" pitchFamily="2" charset="-122"/>
                <a:ea typeface="华文楷体" panose="02010600040101010101" pitchFamily="2" charset="-122"/>
              </a:rPr>
              <a:t>        重视自我在他人意识中的“相”，虚荣心自此而来。</a:t>
            </a:r>
            <a:endParaRPr lang="zh-CN" altLang="en-US" sz="1800" dirty="0">
              <a:latin typeface="华文楷体" panose="02010600040101010101" pitchFamily="2" charset="-122"/>
              <a:ea typeface="华文楷体" panose="02010600040101010101" pitchFamily="2" charset="-122"/>
            </a:endParaRPr>
          </a:p>
          <a:p>
            <a:pPr fontAlgn="auto">
              <a:buFont typeface="Wingdings 3" panose="05040102010807070707" charset="2"/>
              <a:buNone/>
            </a:pP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100" y="152400"/>
            <a:ext cx="9067800" cy="2819400"/>
          </a:xfrm>
        </p:spPr>
        <p:txBody>
          <a:bodyPr>
            <a:noAutofit/>
          </a:bodyPr>
          <a:lstStyle/>
          <a:p>
            <a:pPr marL="0" indent="0">
              <a:lnSpc>
                <a:spcPct val="90000"/>
              </a:lnSpc>
              <a:buNone/>
            </a:pPr>
            <a:r>
              <a:rPr lang="zh-CN" altLang="zh-CN" dirty="0">
                <a:latin typeface="华文楷体" panose="02010600040101010101" pitchFamily="2" charset="-122"/>
                <a:ea typeface="华文楷体" panose="02010600040101010101" pitchFamily="2" charset="-122"/>
              </a:rPr>
              <a:t>关于客观事物的</a:t>
            </a:r>
            <a:r>
              <a:rPr lang="zh-CN" altLang="en-US" dirty="0">
                <a:latin typeface="华文楷体" panose="02010600040101010101" pitchFamily="2" charset="-122"/>
                <a:ea typeface="华文楷体" panose="02010600040101010101" pitchFamily="2" charset="-122"/>
              </a:rPr>
              <a:t>自我</a:t>
            </a:r>
            <a:r>
              <a:rPr lang="zh-CN" altLang="zh-CN" dirty="0">
                <a:latin typeface="华文楷体" panose="02010600040101010101" pitchFamily="2" charset="-122"/>
                <a:ea typeface="华文楷体" panose="02010600040101010101" pitchFamily="2" charset="-122"/>
              </a:rPr>
              <a:t>一系列判断偏差</a:t>
            </a:r>
          </a:p>
          <a:p>
            <a:pPr>
              <a:lnSpc>
                <a:spcPct val="90000"/>
              </a:lnSpc>
              <a:buNone/>
            </a:pPr>
            <a:r>
              <a:rPr lang="zh-CN" altLang="zh-CN" sz="1800" dirty="0">
                <a:latin typeface="华文楷体" panose="02010600040101010101" pitchFamily="2" charset="-122"/>
                <a:ea typeface="华文楷体" panose="02010600040101010101" pitchFamily="2" charset="-122"/>
              </a:rPr>
              <a:t>   1.代表性偏差</a:t>
            </a:r>
            <a:endParaRPr lang="en-US" altLang="zh-CN" sz="1800" dirty="0">
              <a:latin typeface="华文楷体" panose="02010600040101010101" pitchFamily="2" charset="-122"/>
              <a:ea typeface="华文楷体" panose="02010600040101010101" pitchFamily="2" charset="-122"/>
            </a:endParaRPr>
          </a:p>
          <a:p>
            <a:pPr>
              <a:lnSpc>
                <a:spcPct val="90000"/>
              </a:lnSpc>
              <a:buNone/>
            </a:pPr>
            <a:r>
              <a:rPr lang="en-US" altLang="zh-CN" sz="1800" dirty="0">
                <a:latin typeface="华文楷体" panose="02010600040101010101" pitchFamily="2" charset="-122"/>
                <a:ea typeface="华文楷体" panose="02010600040101010101" pitchFamily="2" charset="-122"/>
              </a:rPr>
              <a:t>   </a:t>
            </a:r>
            <a:r>
              <a:rPr lang="zh-CN" altLang="zh-CN" sz="1800" dirty="0">
                <a:latin typeface="华文楷体" panose="02010600040101010101" pitchFamily="2" charset="-122"/>
                <a:ea typeface="华文楷体" panose="02010600040101010101" pitchFamily="2" charset="-122"/>
              </a:rPr>
              <a:t>2.小数法则</a:t>
            </a:r>
            <a:r>
              <a:rPr lang="zh-CN" altLang="en-US" sz="1800" dirty="0">
                <a:latin typeface="华文楷体" panose="02010600040101010101" pitchFamily="2" charset="-122"/>
                <a:ea typeface="华文楷体" panose="02010600040101010101" pitchFamily="2" charset="-122"/>
              </a:rPr>
              <a:t>：心理偏差，是指人们将小样本中某事件的概率分布看成是总体分布，抓住问题的某个特征直接推断结果，而不考虑这种特征出现的真实概率及与特征有关的其他原因</a:t>
            </a:r>
            <a:endParaRPr lang="zh-CN" altLang="zh-CN" sz="1800" dirty="0">
              <a:latin typeface="华文楷体" panose="02010600040101010101" pitchFamily="2" charset="-122"/>
              <a:ea typeface="华文楷体" panose="02010600040101010101" pitchFamily="2" charset="-122"/>
            </a:endParaRPr>
          </a:p>
          <a:p>
            <a:pPr>
              <a:buNone/>
            </a:pPr>
            <a:r>
              <a:rPr lang="zh-CN" altLang="zh-CN" sz="1800" dirty="0">
                <a:latin typeface="华文楷体" panose="02010600040101010101" pitchFamily="2" charset="-122"/>
                <a:ea typeface="华文楷体" panose="02010600040101010101" pitchFamily="2" charset="-122"/>
              </a:rPr>
              <a:t>3.易得性偏差</a:t>
            </a:r>
          </a:p>
          <a:p>
            <a:pPr>
              <a:buNone/>
            </a:pPr>
            <a:r>
              <a:rPr lang="zh-CN" altLang="zh-CN" sz="1800" dirty="0">
                <a:latin typeface="华文楷体" panose="02010600040101010101" pitchFamily="2" charset="-122"/>
                <a:ea typeface="华文楷体" panose="02010600040101010101" pitchFamily="2" charset="-122"/>
              </a:rPr>
              <a:t>   个体通常会依据一些容易想起来的实例来判断一类事物出现的频次或者事件发生的概率</a:t>
            </a:r>
            <a:endParaRPr lang="zh-CN" altLang="zh-CN" sz="2400" dirty="0">
              <a:latin typeface="华文楷体" panose="02010600040101010101" pitchFamily="2" charset="-122"/>
              <a:ea typeface="华文楷体" panose="02010600040101010101" pitchFamily="2" charset="-122"/>
            </a:endParaRPr>
          </a:p>
        </p:txBody>
      </p:sp>
      <p:sp>
        <p:nvSpPr>
          <p:cNvPr id="4" name="标题 1"/>
          <p:cNvSpPr>
            <a:spLocks noGrp="1"/>
          </p:cNvSpPr>
          <p:nvPr>
            <p:ph type="title"/>
          </p:nvPr>
        </p:nvSpPr>
        <p:spPr>
          <a:xfrm>
            <a:off x="75314" y="2592572"/>
            <a:ext cx="2138030" cy="381000"/>
          </a:xfrm>
        </p:spPr>
        <p:txBody>
          <a:bodyPr/>
          <a:lstStyle/>
          <a:p>
            <a:r>
              <a:rPr lang="zh-CN" altLang="zh-CN" sz="2000" dirty="0">
                <a:latin typeface="华文仿宋" panose="02010600040101010101" pitchFamily="2" charset="-122"/>
                <a:ea typeface="华文仿宋" panose="02010600040101010101" pitchFamily="2" charset="-122"/>
              </a:rPr>
              <a:t>关于他人的信念</a:t>
            </a:r>
            <a:endParaRPr lang="zh-CN" altLang="en-US" sz="2000" dirty="0">
              <a:latin typeface="华文仿宋" panose="02010600040101010101" pitchFamily="2" charset="-122"/>
              <a:ea typeface="华文仿宋" panose="02010600040101010101" pitchFamily="2" charset="-122"/>
            </a:endParaRPr>
          </a:p>
        </p:txBody>
      </p:sp>
      <p:sp>
        <p:nvSpPr>
          <p:cNvPr id="5" name="内容占位符 2"/>
          <p:cNvSpPr txBox="1">
            <a:spLocks/>
          </p:cNvSpPr>
          <p:nvPr/>
        </p:nvSpPr>
        <p:spPr>
          <a:xfrm>
            <a:off x="76200" y="3048000"/>
            <a:ext cx="9067800" cy="6248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lnSpc>
                <a:spcPct val="90000"/>
              </a:lnSpc>
              <a:buFont typeface="Wingdings 3" panose="05040102010807070707" charset="2"/>
              <a:buNone/>
            </a:pPr>
            <a:r>
              <a:rPr lang="zh-CN" altLang="zh-CN" sz="1800" dirty="0">
                <a:latin typeface="华文楷体" panose="02010600040101010101" pitchFamily="2" charset="-122"/>
                <a:ea typeface="华文楷体" panose="02010600040101010101" pitchFamily="2" charset="-122"/>
              </a:rPr>
              <a:t>2.包括关于他人的心态和行动倾向，以及关于他人信念的信念，称为二阶信念。</a:t>
            </a:r>
          </a:p>
          <a:p>
            <a:pPr fontAlgn="auto">
              <a:lnSpc>
                <a:spcPct val="90000"/>
              </a:lnSpc>
              <a:buFont typeface="Wingdings 3" panose="05040102010807070707" charset="2"/>
              <a:buNone/>
            </a:pPr>
            <a:r>
              <a:rPr lang="zh-CN" altLang="zh-CN" sz="1800" dirty="0">
                <a:latin typeface="华文楷体" panose="02010600040101010101" pitchFamily="2" charset="-122"/>
                <a:ea typeface="华文楷体" panose="02010600040101010101" pitchFamily="2" charset="-122"/>
              </a:rPr>
              <a:t>3.信息瀑布</a:t>
            </a:r>
            <a:r>
              <a:rPr lang="zh-CN" altLang="en-US" sz="1800" dirty="0">
                <a:latin typeface="华文楷体" panose="02010600040101010101" pitchFamily="2" charset="-122"/>
                <a:ea typeface="华文楷体" panose="02010600040101010101" pitchFamily="2" charset="-122"/>
              </a:rPr>
              <a:t>（</a:t>
            </a:r>
            <a:r>
              <a:rPr lang="en-US" altLang="zh-CN" sz="1800" dirty="0">
                <a:latin typeface="华文楷体" panose="02010600040101010101" pitchFamily="2" charset="-122"/>
                <a:ea typeface="华文楷体" panose="02010600040101010101" pitchFamily="2" charset="-122"/>
              </a:rPr>
              <a:t>Information Cascades</a:t>
            </a:r>
            <a:r>
              <a:rPr lang="zh-CN" altLang="en-US"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与从众行为</a:t>
            </a:r>
          </a:p>
          <a:p>
            <a:pPr fontAlgn="auto">
              <a:lnSpc>
                <a:spcPct val="90000"/>
              </a:lnSpc>
              <a:buFont typeface="Wingdings 3" panose="05040102010807070707" charset="2"/>
              <a:buNone/>
            </a:pPr>
            <a:r>
              <a:rPr lang="zh-CN" altLang="zh-CN" sz="1800" dirty="0">
                <a:latin typeface="华文楷体" panose="02010600040101010101" pitchFamily="2" charset="-122"/>
                <a:ea typeface="华文楷体" panose="02010600040101010101" pitchFamily="2" charset="-122"/>
              </a:rPr>
              <a:t>    </a:t>
            </a:r>
            <a:endParaRPr lang="zh-CN" altLang="zh-CN" sz="1800" dirty="0">
              <a:latin typeface="华文行楷" panose="02010800040101010101" pitchFamily="2" charset="-122"/>
              <a:ea typeface="华文行楷" panose="02010800040101010101" pitchFamily="2" charset="-122"/>
            </a:endParaRPr>
          </a:p>
          <a:p>
            <a:pPr fontAlgn="auto">
              <a:lnSpc>
                <a:spcPct val="90000"/>
              </a:lnSpc>
              <a:buFont typeface="Wingdings 3" panose="05040102010807070707" charset="2"/>
              <a:buNone/>
            </a:pPr>
            <a:r>
              <a:rPr lang="zh-CN" altLang="zh-CN" sz="1800" dirty="0">
                <a:latin typeface="+mn-ea"/>
                <a:ea typeface="+mn-ea"/>
              </a:rPr>
              <a:t>  </a:t>
            </a:r>
            <a:endParaRPr lang="zh-CN" altLang="en-US" sz="1800" dirty="0"/>
          </a:p>
        </p:txBody>
      </p:sp>
      <p:sp>
        <p:nvSpPr>
          <p:cNvPr id="6" name="内容占位符 2"/>
          <p:cNvSpPr txBox="1">
            <a:spLocks/>
          </p:cNvSpPr>
          <p:nvPr/>
        </p:nvSpPr>
        <p:spPr>
          <a:xfrm>
            <a:off x="10633" y="3739116"/>
            <a:ext cx="9144000" cy="55626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zh-CN" sz="1800" dirty="0">
                <a:latin typeface="华文楷体" panose="02010600040101010101" pitchFamily="2" charset="-122"/>
                <a:ea typeface="华文楷体" panose="02010600040101010101" pitchFamily="2" charset="-122"/>
              </a:rPr>
              <a:t>合作倾向信念</a:t>
            </a:r>
          </a:p>
          <a:p>
            <a:pPr fontAlgn="auto">
              <a:buFont typeface="Wingdings 3" panose="05040102010807070707" charset="2"/>
              <a:buNone/>
            </a:pPr>
            <a:r>
              <a:rPr lang="zh-CN" altLang="zh-CN" sz="1800" dirty="0">
                <a:latin typeface="华文楷体" panose="02010600040101010101" pitchFamily="2" charset="-122"/>
                <a:ea typeface="华文楷体" panose="02010600040101010101" pitchFamily="2" charset="-122"/>
              </a:rPr>
              <a:t>          合作倾向信念对于多重均衡博弈的均衡选择具有重要作用。</a:t>
            </a:r>
          </a:p>
          <a:p>
            <a:pPr fontAlgn="auto">
              <a:buFont typeface="Wingdings 3" panose="05040102010807070707" charset="2"/>
              <a:buNone/>
            </a:pPr>
            <a:r>
              <a:rPr lang="zh-CN" altLang="en-US" sz="1800" b="1" dirty="0">
                <a:latin typeface="华文楷体" panose="02010600040101010101" pitchFamily="2" charset="-122"/>
                <a:ea typeface="华文楷体" panose="02010600040101010101" pitchFamily="2" charset="-122"/>
              </a:rPr>
              <a:t>   博弈均衡</a:t>
            </a:r>
            <a:r>
              <a:rPr lang="zh-CN" altLang="en-US" sz="1800" dirty="0">
                <a:latin typeface="华文楷体" panose="02010600040101010101" pitchFamily="2" charset="-122"/>
                <a:ea typeface="华文楷体" panose="02010600040101010101" pitchFamily="2" charset="-122"/>
              </a:rPr>
              <a:t>是指使博弈各方实现各自认为的最大效用，即实现各方对博弈结果的满意，使各方实际得到的效用和满意程度是不同的。在博弈均衡中，所有参与者都不想改变自己的策略的这样一种相对静止的状态。</a:t>
            </a:r>
            <a:endParaRPr lang="en-US" altLang="zh-CN" sz="1800" dirty="0">
              <a:latin typeface="华文楷体" panose="02010600040101010101" pitchFamily="2" charset="-122"/>
              <a:ea typeface="华文楷体" panose="02010600040101010101" pitchFamily="2" charset="-122"/>
            </a:endParaRPr>
          </a:p>
          <a:p>
            <a:pPr fontAlgn="auto">
              <a:buFont typeface="Wingdings 3" panose="05040102010807070707" charset="2"/>
              <a:buNone/>
            </a:pPr>
            <a:r>
              <a:rPr lang="zh-CN" altLang="en-US" sz="1800" dirty="0">
                <a:latin typeface="华文楷体" panose="02010600040101010101" pitchFamily="2" charset="-122"/>
                <a:ea typeface="华文楷体" panose="02010600040101010101" pitchFamily="2" charset="-122"/>
              </a:rPr>
              <a:t>   在一个博弈过程中，无论对方的策略选择如何，当事人一方都会选择某个确定的策略，则该策略被称作支配性策略。如果任意一位参与者在其他所有参与者的策略确定的情况下，其选择的策略是最优的，那么这个组合就被定义为纳什平衡。</a:t>
            </a:r>
            <a:endParaRPr lang="zh-CN" altLang="zh-CN" sz="1800" dirty="0">
              <a:latin typeface="华文楷体" panose="02010600040101010101" pitchFamily="2" charset="-122"/>
              <a:ea typeface="华文楷体" panose="02010600040101010101" pitchFamily="2" charset="-122"/>
            </a:endParaRPr>
          </a:p>
          <a:p>
            <a:pPr fontAlgn="auto"/>
            <a:endParaRPr lang="zh-CN" alt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9697"/>
          <p:cNvSpPr>
            <a:spLocks noGrp="1"/>
          </p:cNvSpPr>
          <p:nvPr>
            <p:ph type="title"/>
          </p:nvPr>
        </p:nvSpPr>
        <p:spPr>
          <a:xfrm>
            <a:off x="-76199" y="183778"/>
            <a:ext cx="4648200" cy="381000"/>
          </a:xfrm>
        </p:spPr>
        <p:txBody>
          <a:bodyPr anchor="ctr"/>
          <a:lstStyle/>
          <a:p>
            <a:r>
              <a:rPr lang="zh-CN" altLang="en-US" sz="2000" dirty="0">
                <a:solidFill>
                  <a:schemeClr val="tx1"/>
                </a:solidFill>
                <a:latin typeface="华文仿宋" panose="02010600040101010101" pitchFamily="2" charset="-122"/>
                <a:ea typeface="华文仿宋" panose="02010600040101010101" pitchFamily="2" charset="-122"/>
              </a:rPr>
              <a:t>理想信念对大学生成长成才的重要意义</a:t>
            </a:r>
          </a:p>
        </p:txBody>
      </p:sp>
      <p:sp>
        <p:nvSpPr>
          <p:cNvPr id="29699" name="文本占位符 29698"/>
          <p:cNvSpPr>
            <a:spLocks noGrp="1"/>
          </p:cNvSpPr>
          <p:nvPr>
            <p:ph idx="1"/>
          </p:nvPr>
        </p:nvSpPr>
        <p:spPr>
          <a:xfrm>
            <a:off x="-152400" y="990600"/>
            <a:ext cx="3705447" cy="3179141"/>
          </a:xfrm>
        </p:spPr>
        <p:txBody>
          <a:bodyPr>
            <a:normAutofit lnSpcReduction="10000"/>
          </a:bodyPr>
          <a:lstStyle/>
          <a:p>
            <a:pPr>
              <a:lnSpc>
                <a:spcPct val="90000"/>
              </a:lnSpc>
            </a:pPr>
            <a:r>
              <a:rPr lang="zh-CN" altLang="en-US" sz="1800" b="1" dirty="0">
                <a:solidFill>
                  <a:srgbClr val="FFFF00"/>
                </a:solidFill>
                <a:latin typeface="华文仿宋" panose="02010600040101010101" pitchFamily="2" charset="-122"/>
                <a:ea typeface="华文仿宋" panose="02010600040101010101" pitchFamily="2" charset="-122"/>
              </a:rPr>
              <a:t>（一）理想信念的作用</a:t>
            </a:r>
          </a:p>
          <a:p>
            <a:pPr>
              <a:lnSpc>
                <a:spcPct val="90000"/>
              </a:lnSpc>
            </a:pPr>
            <a:r>
              <a:rPr lang="zh-CN" altLang="en-US" sz="1800" b="1" dirty="0">
                <a:latin typeface="华文仿宋" panose="02010600040101010101" pitchFamily="2" charset="-122"/>
                <a:ea typeface="华文仿宋" panose="02010600040101010101" pitchFamily="2" charset="-122"/>
              </a:rPr>
              <a:t>理想信念指引人生的奋斗目标。新生活是从选定方向开始的</a:t>
            </a:r>
          </a:p>
          <a:p>
            <a:pPr>
              <a:lnSpc>
                <a:spcPct val="90000"/>
              </a:lnSpc>
            </a:pPr>
            <a:r>
              <a:rPr lang="zh-CN" altLang="en-US" sz="1800" b="1" dirty="0">
                <a:latin typeface="华文仿宋" panose="02010600040101010101" pitchFamily="2" charset="-122"/>
                <a:ea typeface="华文仿宋" panose="02010600040101010101" pitchFamily="2" charset="-122"/>
              </a:rPr>
              <a:t>理想信念提供人生的前进动力。</a:t>
            </a:r>
          </a:p>
          <a:p>
            <a:pPr>
              <a:lnSpc>
                <a:spcPct val="90000"/>
              </a:lnSpc>
            </a:pPr>
            <a:r>
              <a:rPr lang="zh-CN" altLang="en-US" sz="1800" b="1" dirty="0">
                <a:latin typeface="华文仿宋" panose="02010600040101010101" pitchFamily="2" charset="-122"/>
                <a:ea typeface="华文仿宋" panose="02010600040101010101" pitchFamily="2" charset="-122"/>
              </a:rPr>
              <a:t>理想信念提高人生的精神境界</a:t>
            </a:r>
            <a:r>
              <a:rPr lang="zh-CN" altLang="en-US" sz="1800" b="1" dirty="0">
                <a:solidFill>
                  <a:srgbClr val="FFFF00"/>
                </a:solidFill>
                <a:latin typeface="华文仿宋" panose="02010600040101010101" pitchFamily="2" charset="-122"/>
                <a:ea typeface="华文仿宋" panose="02010600040101010101" pitchFamily="2" charset="-122"/>
              </a:rPr>
              <a:t> </a:t>
            </a:r>
          </a:p>
          <a:p>
            <a:pPr>
              <a:lnSpc>
                <a:spcPct val="90000"/>
              </a:lnSpc>
            </a:pPr>
            <a:r>
              <a:rPr lang="zh-CN" altLang="en-US" sz="1800" b="1" dirty="0">
                <a:solidFill>
                  <a:srgbClr val="FFFF00"/>
                </a:solidFill>
                <a:latin typeface="华文仿宋" panose="02010600040101010101" pitchFamily="2" charset="-122"/>
                <a:ea typeface="华文仿宋" panose="02010600040101010101" pitchFamily="2" charset="-122"/>
              </a:rPr>
              <a:t>（二）理想信念与大学生</a:t>
            </a:r>
          </a:p>
          <a:p>
            <a:pPr>
              <a:lnSpc>
                <a:spcPct val="90000"/>
              </a:lnSpc>
            </a:pPr>
            <a:r>
              <a:rPr lang="zh-CN" altLang="en-US" sz="1800" b="1" dirty="0">
                <a:latin typeface="华文仿宋" panose="02010600040101010101" pitchFamily="2" charset="-122"/>
                <a:ea typeface="华文仿宋" panose="02010600040101010101" pitchFamily="2" charset="-122"/>
              </a:rPr>
              <a:t>引导大学生做什么人</a:t>
            </a:r>
          </a:p>
          <a:p>
            <a:pPr>
              <a:lnSpc>
                <a:spcPct val="90000"/>
              </a:lnSpc>
            </a:pPr>
            <a:r>
              <a:rPr lang="zh-CN" altLang="en-US" sz="1800" b="1" dirty="0">
                <a:latin typeface="华文仿宋" panose="02010600040101010101" pitchFamily="2" charset="-122"/>
                <a:ea typeface="华文仿宋" panose="02010600040101010101" pitchFamily="2" charset="-122"/>
              </a:rPr>
              <a:t>指引大学生走什么路</a:t>
            </a:r>
          </a:p>
          <a:p>
            <a:pPr>
              <a:lnSpc>
                <a:spcPct val="90000"/>
              </a:lnSpc>
            </a:pPr>
            <a:r>
              <a:rPr lang="zh-CN" altLang="en-US" sz="1800" b="1" dirty="0">
                <a:latin typeface="华文仿宋" panose="02010600040101010101" pitchFamily="2" charset="-122"/>
                <a:ea typeface="华文仿宋" panose="02010600040101010101" pitchFamily="2" charset="-122"/>
              </a:rPr>
              <a:t>激励大学生为什么学</a:t>
            </a:r>
          </a:p>
        </p:txBody>
      </p:sp>
      <p:sp>
        <p:nvSpPr>
          <p:cNvPr id="117764" name="标题 117763"/>
          <p:cNvSpPr txBox="1">
            <a:spLocks/>
          </p:cNvSpPr>
          <p:nvPr/>
        </p:nvSpPr>
        <p:spPr>
          <a:xfrm>
            <a:off x="4724400" y="201654"/>
            <a:ext cx="2334690" cy="385482"/>
          </a:xfrm>
          <a:prstGeom prst="rect">
            <a:avLst/>
          </a:prstGeom>
        </p:spPr>
        <p:txBody>
          <a:bodyPr vert="horz" wrap="square"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endParaRPr lang="zh-CN" altLang="en-US" sz="2000" b="1" dirty="0">
              <a:latin typeface="华文楷体" panose="02010600040101010101" pitchFamily="2" charset="-122"/>
              <a:ea typeface="华文楷体" panose="02010600040101010101" pitchFamily="2" charset="-122"/>
            </a:endParaRPr>
          </a:p>
        </p:txBody>
      </p:sp>
      <p:sp>
        <p:nvSpPr>
          <p:cNvPr id="4" name="文本框 3">
            <a:extLst>
              <a:ext uri="{FF2B5EF4-FFF2-40B4-BE49-F238E27FC236}">
                <a16:creationId xmlns:a16="http://schemas.microsoft.com/office/drawing/2014/main" id="{2EF612DA-26CC-86B3-5671-04102C363783}"/>
              </a:ext>
            </a:extLst>
          </p:cNvPr>
          <p:cNvSpPr txBox="1"/>
          <p:nvPr/>
        </p:nvSpPr>
        <p:spPr>
          <a:xfrm>
            <a:off x="4419601" y="533400"/>
            <a:ext cx="5069072" cy="343620"/>
          </a:xfrm>
          <a:prstGeom prst="rect">
            <a:avLst/>
          </a:prstGeom>
          <a:noFill/>
        </p:spPr>
        <p:txBody>
          <a:bodyPr wrap="square">
            <a:spAutoFit/>
          </a:bodyPr>
          <a:lstStyle/>
          <a:p>
            <a:pPr>
              <a:lnSpc>
                <a:spcPct val="90000"/>
              </a:lnSpc>
            </a:pPr>
            <a:r>
              <a:rPr lang="zh-CN" altLang="en-US" sz="1800" b="0" dirty="0">
                <a:solidFill>
                  <a:schemeClr val="tx1"/>
                </a:solidFill>
                <a:latin typeface="华文楷体" panose="02010600040101010101" pitchFamily="2" charset="-122"/>
                <a:ea typeface="华文楷体" panose="02010600040101010101" pitchFamily="2" charset="-122"/>
              </a:rPr>
              <a:t>思考：大学生要有怎样的理想？</a:t>
            </a:r>
          </a:p>
        </p:txBody>
      </p:sp>
      <p:sp>
        <p:nvSpPr>
          <p:cNvPr id="6" name="文本框 5">
            <a:extLst>
              <a:ext uri="{FF2B5EF4-FFF2-40B4-BE49-F238E27FC236}">
                <a16:creationId xmlns:a16="http://schemas.microsoft.com/office/drawing/2014/main" id="{362D41CB-8726-5972-2D2E-9FB4707B1B5B}"/>
              </a:ext>
            </a:extLst>
          </p:cNvPr>
          <p:cNvSpPr txBox="1"/>
          <p:nvPr/>
        </p:nvSpPr>
        <p:spPr>
          <a:xfrm>
            <a:off x="3352800" y="857861"/>
            <a:ext cx="5867399" cy="5853910"/>
          </a:xfrm>
          <a:prstGeom prst="rect">
            <a:avLst/>
          </a:prstGeom>
          <a:noFill/>
        </p:spPr>
        <p:txBody>
          <a:bodyPr wrap="square">
            <a:spAutoFit/>
          </a:bodyPr>
          <a:lstStyle/>
          <a:p>
            <a:r>
              <a:rPr lang="zh-CN" altLang="en-US" sz="1800" b="0" dirty="0">
                <a:solidFill>
                  <a:schemeClr val="tx1"/>
                </a:solidFill>
                <a:latin typeface="华文仿宋" panose="02010600040101010101" pitchFamily="2" charset="-122"/>
                <a:ea typeface="华文仿宋" panose="02010600040101010101" pitchFamily="2" charset="-122"/>
              </a:rPr>
              <a:t>对当代大学生而言，理想不是悬浮的宏大口号，而应是在真实生活中扎根的价值坐标。</a:t>
            </a:r>
          </a:p>
          <a:p>
            <a:r>
              <a:rPr lang="zh-CN" altLang="en-US" sz="1800" b="0" dirty="0">
                <a:solidFill>
                  <a:schemeClr val="tx1"/>
                </a:solidFill>
                <a:latin typeface="华文仿宋" panose="02010600040101010101" pitchFamily="2" charset="-122"/>
                <a:ea typeface="华文仿宋" panose="02010600040101010101" pitchFamily="2" charset="-122"/>
              </a:rPr>
              <a:t>首先，理想应锚定于“人的完善”。马加爵的悲剧，根源并非贫困或自卑，而是精神世界的荒芜。大学生理想的起点，应当是成为一个有温度、有同理心、能理解他人痛苦的人。如果只追求知识或技能，却忽略了对善与美的感知，理想便会异化为冷冰冰的工具。</a:t>
            </a:r>
          </a:p>
          <a:p>
            <a:r>
              <a:rPr lang="zh-CN" altLang="en-US" sz="1800" b="0" dirty="0">
                <a:solidFill>
                  <a:schemeClr val="tx1"/>
                </a:solidFill>
                <a:latin typeface="华文仿宋" panose="02010600040101010101" pitchFamily="2" charset="-122"/>
                <a:ea typeface="华文仿宋" panose="02010600040101010101" pitchFamily="2" charset="-122"/>
              </a:rPr>
              <a:t>其次，理想需平衡“自我实现”与“社会责任”。完全沉溺于个人前程，人容易在竞争中变得狭隘；而空谈家国情怀，若缺乏脚踏实地的能力，也只是空中楼阁。真正的理想，是在成就自己的同时，也懂得自己的专业、岗位如何为社会增添一点光亮。</a:t>
            </a:r>
          </a:p>
          <a:p>
            <a:r>
              <a:rPr lang="zh-CN" altLang="en-US" sz="1800" b="0" dirty="0">
                <a:solidFill>
                  <a:schemeClr val="tx1"/>
                </a:solidFill>
                <a:latin typeface="华文仿宋" panose="02010600040101010101" pitchFamily="2" charset="-122"/>
                <a:ea typeface="华文仿宋" panose="02010600040101010101" pitchFamily="2" charset="-122"/>
              </a:rPr>
              <a:t>最后，理想应保持“生长性”。不必在十八九岁就确定一生不变的终极目标，但需要保持对生活的热情、对未知的好奇、对不公的愤怒与改变的勇气。理想是动态的航向，而非僵死的终点。有了它，人才能在日常琐碎中不至于沉沦。</a:t>
            </a:r>
          </a:p>
          <a:p>
            <a:r>
              <a:rPr lang="zh-CN" altLang="en-US" sz="1800" b="0" dirty="0">
                <a:solidFill>
                  <a:schemeClr val="tx1"/>
                </a:solidFill>
                <a:latin typeface="华文仿宋" panose="02010600040101010101" pitchFamily="2" charset="-122"/>
                <a:ea typeface="华文仿宋" panose="02010600040101010101" pitchFamily="2" charset="-122"/>
              </a:rPr>
              <a:t>正如马加爵所言，“没有理想是最大的失败”。大学生的理想，不必惊天动地，但要足够坚韧，足以在迷茫时给予方向，在孤独时提供力量。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anim calcmode="lin" valueType="num">
                                      <p:cBhvr additive="base">
                                        <p:cTn id="7" dur="500" fill="hold"/>
                                        <p:tgtEl>
                                          <p:spTgt spid="29698"/>
                                        </p:tgtEl>
                                        <p:attrNameLst>
                                          <p:attrName>ppt_x</p:attrName>
                                        </p:attrNameLst>
                                      </p:cBhvr>
                                      <p:tavLst>
                                        <p:tav tm="0">
                                          <p:val>
                                            <p:strVal val="#ppt_x"/>
                                          </p:val>
                                        </p:tav>
                                        <p:tav tm="100000">
                                          <p:val>
                                            <p:strVal val="#ppt_x"/>
                                          </p:val>
                                        </p:tav>
                                      </p:tavLst>
                                    </p:anim>
                                    <p:anim calcmode="lin" valueType="num">
                                      <p:cBhvr additive="base">
                                        <p:cTn id="8" dur="500" fill="hold"/>
                                        <p:tgtEl>
                                          <p:spTgt spid="296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9">
                                            <p:txEl>
                                              <p:pRg st="0" end="0"/>
                                            </p:txEl>
                                          </p:spTgt>
                                        </p:tgtEl>
                                        <p:attrNameLst>
                                          <p:attrName>style.visibility</p:attrName>
                                        </p:attrNameLst>
                                      </p:cBhvr>
                                      <p:to>
                                        <p:strVal val="visible"/>
                                      </p:to>
                                    </p:set>
                                    <p:anim calcmode="lin" valueType="num">
                                      <p:cBhvr additive="base">
                                        <p:cTn id="13"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699">
                                            <p:txEl>
                                              <p:pRg st="1" end="1"/>
                                            </p:txEl>
                                          </p:spTgt>
                                        </p:tgtEl>
                                        <p:attrNameLst>
                                          <p:attrName>style.visibility</p:attrName>
                                        </p:attrNameLst>
                                      </p:cBhvr>
                                      <p:to>
                                        <p:strVal val="visible"/>
                                      </p:to>
                                    </p:set>
                                    <p:anim calcmode="lin" valueType="num">
                                      <p:cBhvr additive="base">
                                        <p:cTn id="19"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699">
                                            <p:txEl>
                                              <p:pRg st="2" end="2"/>
                                            </p:txEl>
                                          </p:spTgt>
                                        </p:tgtEl>
                                        <p:attrNameLst>
                                          <p:attrName>style.visibility</p:attrName>
                                        </p:attrNameLst>
                                      </p:cBhvr>
                                      <p:to>
                                        <p:strVal val="visible"/>
                                      </p:to>
                                    </p:set>
                                    <p:anim calcmode="lin" valueType="num">
                                      <p:cBhvr additive="base">
                                        <p:cTn id="25"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699">
                                            <p:txEl>
                                              <p:pRg st="3" end="3"/>
                                            </p:txEl>
                                          </p:spTgt>
                                        </p:tgtEl>
                                        <p:attrNameLst>
                                          <p:attrName>style.visibility</p:attrName>
                                        </p:attrNameLst>
                                      </p:cBhvr>
                                      <p:to>
                                        <p:strVal val="visible"/>
                                      </p:to>
                                    </p:set>
                                    <p:anim calcmode="lin" valueType="num">
                                      <p:cBhvr additive="base">
                                        <p:cTn id="31" dur="5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6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699">
                                            <p:txEl>
                                              <p:pRg st="4" end="4"/>
                                            </p:txEl>
                                          </p:spTgt>
                                        </p:tgtEl>
                                        <p:attrNameLst>
                                          <p:attrName>style.visibility</p:attrName>
                                        </p:attrNameLst>
                                      </p:cBhvr>
                                      <p:to>
                                        <p:strVal val="visible"/>
                                      </p:to>
                                    </p:set>
                                    <p:anim calcmode="lin" valueType="num">
                                      <p:cBhvr additive="base">
                                        <p:cTn id="37" dur="5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699">
                                            <p:txEl>
                                              <p:pRg st="5" end="5"/>
                                            </p:txEl>
                                          </p:spTgt>
                                        </p:tgtEl>
                                        <p:attrNameLst>
                                          <p:attrName>style.visibility</p:attrName>
                                        </p:attrNameLst>
                                      </p:cBhvr>
                                      <p:to>
                                        <p:strVal val="visible"/>
                                      </p:to>
                                    </p:set>
                                    <p:anim calcmode="lin" valueType="num">
                                      <p:cBhvr additive="base">
                                        <p:cTn id="43" dur="5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96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9699">
                                            <p:txEl>
                                              <p:pRg st="6" end="6"/>
                                            </p:txEl>
                                          </p:spTgt>
                                        </p:tgtEl>
                                        <p:attrNameLst>
                                          <p:attrName>style.visibility</p:attrName>
                                        </p:attrNameLst>
                                      </p:cBhvr>
                                      <p:to>
                                        <p:strVal val="visible"/>
                                      </p:to>
                                    </p:set>
                                    <p:anim calcmode="lin" valueType="num">
                                      <p:cBhvr additive="base">
                                        <p:cTn id="49" dur="500" fill="hold"/>
                                        <p:tgtEl>
                                          <p:spTgt spid="29699">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96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9699">
                                            <p:txEl>
                                              <p:pRg st="7" end="7"/>
                                            </p:txEl>
                                          </p:spTgt>
                                        </p:tgtEl>
                                        <p:attrNameLst>
                                          <p:attrName>style.visibility</p:attrName>
                                        </p:attrNameLst>
                                      </p:cBhvr>
                                      <p:to>
                                        <p:strVal val="visible"/>
                                      </p:to>
                                    </p:set>
                                    <p:anim calcmode="lin" valueType="num">
                                      <p:cBhvr additive="base">
                                        <p:cTn id="55"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969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nodePh="1">
                                  <p:stCondLst>
                                    <p:cond delay="0"/>
                                  </p:stCondLst>
                                  <p:endCondLst>
                                    <p:cond evt="begin" delay="0">
                                      <p:tn val="59"/>
                                    </p:cond>
                                  </p:endCondLst>
                                  <p:childTnLst>
                                    <p:set>
                                      <p:cBhvr>
                                        <p:cTn id="60" dur="1" fill="hold">
                                          <p:stCondLst>
                                            <p:cond delay="0"/>
                                          </p:stCondLst>
                                        </p:cTn>
                                        <p:tgtEl>
                                          <p:spTgt spid="117764"/>
                                        </p:tgtEl>
                                        <p:attrNameLst>
                                          <p:attrName>style.visibility</p:attrName>
                                        </p:attrNameLst>
                                      </p:cBhvr>
                                      <p:to>
                                        <p:strVal val="visible"/>
                                      </p:to>
                                    </p:set>
                                    <p:anim calcmode="lin" valueType="num">
                                      <p:cBhvr additive="base">
                                        <p:cTn id="61" dur="500" fill="hold"/>
                                        <p:tgtEl>
                                          <p:spTgt spid="117764"/>
                                        </p:tgtEl>
                                        <p:attrNameLst>
                                          <p:attrName>ppt_x</p:attrName>
                                        </p:attrNameLst>
                                      </p:cBhvr>
                                      <p:tavLst>
                                        <p:tav tm="0">
                                          <p:val>
                                            <p:strVal val="#ppt_x"/>
                                          </p:val>
                                        </p:tav>
                                        <p:tav tm="100000">
                                          <p:val>
                                            <p:strVal val="#ppt_x"/>
                                          </p:val>
                                        </p:tav>
                                      </p:tavLst>
                                    </p:anim>
                                    <p:anim calcmode="lin" valueType="num">
                                      <p:cBhvr additive="base">
                                        <p:cTn id="62" dur="500" fill="hold"/>
                                        <p:tgtEl>
                                          <p:spTgt spid="1177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nimBg="1"/>
      <p:bldP spid="29699" grpId="0" build="p"/>
      <p:bldP spid="11776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文本框 58369"/>
          <p:cNvSpPr txBox="1"/>
          <p:nvPr/>
        </p:nvSpPr>
        <p:spPr>
          <a:xfrm>
            <a:off x="271130" y="758067"/>
            <a:ext cx="7200900" cy="1423916"/>
          </a:xfrm>
          <a:prstGeom prst="rect">
            <a:avLst/>
          </a:prstGeom>
          <a:noFill/>
          <a:ln w="9525">
            <a:noFill/>
          </a:ln>
        </p:spPr>
        <p:txBody>
          <a:bodyPr>
            <a:spAutoFit/>
          </a:bodyPr>
          <a:lstStyle/>
          <a:p>
            <a:pPr>
              <a:lnSpc>
                <a:spcPct val="130000"/>
              </a:lnSpc>
              <a:spcBef>
                <a:spcPct val="50000"/>
              </a:spcBef>
              <a:buSzPct val="80000"/>
              <a:buBlip>
                <a:blip r:embed="rId2"/>
              </a:buBlip>
            </a:pPr>
            <a:r>
              <a:rPr lang="en-US" altLang="zh-CN" sz="1800" b="0" dirty="0">
                <a:solidFill>
                  <a:schemeClr val="tx1"/>
                </a:solidFill>
                <a:effectLst>
                  <a:outerShdw blurRad="38100" dist="38100" dir="2700000">
                    <a:srgbClr val="000000"/>
                  </a:outerShdw>
                </a:effectLst>
                <a:latin typeface="黑体" panose="02010609060101010101" pitchFamily="2" charset="-122"/>
              </a:rPr>
              <a:t> </a:t>
            </a:r>
            <a:r>
              <a:rPr lang="zh-CN" altLang="en-US" sz="1800" b="0" dirty="0">
                <a:solidFill>
                  <a:schemeClr val="tx1"/>
                </a:solidFill>
                <a:effectLst>
                  <a:outerShdw blurRad="38100" dist="38100" dir="2700000">
                    <a:srgbClr val="000000"/>
                  </a:outerShdw>
                </a:effectLst>
                <a:latin typeface="楷体_GB2312" pitchFamily="49" charset="-122"/>
                <a:ea typeface="楷体_GB2312" pitchFamily="49" charset="-122"/>
              </a:rPr>
              <a:t>一、</a:t>
            </a:r>
            <a:r>
              <a:rPr lang="zh-CN" altLang="en-US" sz="1800" b="0" dirty="0">
                <a:solidFill>
                  <a:schemeClr val="tx1"/>
                </a:solidFill>
                <a:effectLst>
                  <a:outerShdw blurRad="38100" dist="38100" dir="2700000">
                    <a:srgbClr val="000000"/>
                  </a:outerShdw>
                </a:effectLst>
                <a:latin typeface="华文楷体" panose="02010600040101010101" pitchFamily="2" charset="-122"/>
                <a:ea typeface="华文楷体" panose="02010600040101010101" pitchFamily="2" charset="-122"/>
              </a:rPr>
              <a:t>认识大学生的历史使命</a:t>
            </a:r>
          </a:p>
          <a:p>
            <a:pPr>
              <a:lnSpc>
                <a:spcPct val="130000"/>
              </a:lnSpc>
              <a:spcBef>
                <a:spcPct val="50000"/>
              </a:spcBef>
              <a:buSzPct val="80000"/>
              <a:buBlip>
                <a:blip r:embed="rId2"/>
              </a:buBlip>
            </a:pPr>
            <a:r>
              <a:rPr lang="zh-CN" altLang="en-US" sz="1800" b="0" dirty="0">
                <a:solidFill>
                  <a:schemeClr val="tx1"/>
                </a:solidFill>
                <a:effectLst>
                  <a:outerShdw blurRad="38100" dist="38100" dir="2700000">
                    <a:srgbClr val="000000"/>
                  </a:outerShdw>
                </a:effectLst>
                <a:latin typeface="华文楷体" panose="02010600040101010101" pitchFamily="2" charset="-122"/>
                <a:ea typeface="华文楷体" panose="02010600040101010101" pitchFamily="2" charset="-122"/>
              </a:rPr>
              <a:t> 二、确立马克思主义的科学信仰</a:t>
            </a:r>
          </a:p>
          <a:p>
            <a:pPr>
              <a:lnSpc>
                <a:spcPct val="130000"/>
              </a:lnSpc>
              <a:spcBef>
                <a:spcPct val="50000"/>
              </a:spcBef>
              <a:buSzPct val="80000"/>
              <a:buBlip>
                <a:blip r:embed="rId2"/>
              </a:buBlip>
            </a:pPr>
            <a:r>
              <a:rPr lang="zh-CN" altLang="en-US" sz="1800" b="0" dirty="0">
                <a:solidFill>
                  <a:schemeClr val="tx1"/>
                </a:solidFill>
                <a:effectLst>
                  <a:outerShdw blurRad="38100" dist="38100" dir="2700000">
                    <a:srgbClr val="000000"/>
                  </a:outerShdw>
                </a:effectLst>
                <a:latin typeface="华文楷体" panose="02010600040101010101" pitchFamily="2" charset="-122"/>
                <a:ea typeface="华文楷体" panose="02010600040101010101" pitchFamily="2" charset="-122"/>
              </a:rPr>
              <a:t> 三、树立中国特色社会主义共同理想</a:t>
            </a:r>
          </a:p>
        </p:txBody>
      </p:sp>
      <p:sp>
        <p:nvSpPr>
          <p:cNvPr id="5" name="矩形 4"/>
          <p:cNvSpPr/>
          <p:nvPr/>
        </p:nvSpPr>
        <p:spPr>
          <a:xfrm>
            <a:off x="304800" y="327025"/>
            <a:ext cx="2667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华文楷体" panose="02010600040101010101" pitchFamily="2" charset="-122"/>
                <a:ea typeface="华文楷体" panose="02010600040101010101" pitchFamily="2" charset="-122"/>
              </a:rPr>
              <a:t>树立科学的理想信念</a:t>
            </a:r>
          </a:p>
        </p:txBody>
      </p:sp>
      <p:sp>
        <p:nvSpPr>
          <p:cNvPr id="148482" name="文本占位符 148481"/>
          <p:cNvSpPr>
            <a:spLocks noGrp="1"/>
          </p:cNvSpPr>
          <p:nvPr>
            <p:ph idx="1"/>
          </p:nvPr>
        </p:nvSpPr>
        <p:spPr>
          <a:xfrm>
            <a:off x="292395" y="2209800"/>
            <a:ext cx="4508205" cy="914400"/>
          </a:xfrm>
        </p:spPr>
        <p:txBody>
          <a:bodyPr>
            <a:normAutofit/>
          </a:bodyPr>
          <a:lstStyle/>
          <a:p>
            <a:r>
              <a:rPr lang="zh-CN" altLang="en-US" sz="1800" dirty="0">
                <a:latin typeface="华文仿宋" panose="02010600040101010101" pitchFamily="2" charset="-122"/>
                <a:ea typeface="华文仿宋" panose="02010600040101010101" pitchFamily="2" charset="-122"/>
              </a:rPr>
              <a:t>理想信念是人们心灵世界的深层核心。</a:t>
            </a:r>
          </a:p>
          <a:p>
            <a:r>
              <a:rPr lang="zh-CN" altLang="en-US" sz="1800" dirty="0">
                <a:latin typeface="华文仿宋" panose="02010600040101010101" pitchFamily="2" charset="-122"/>
                <a:ea typeface="华文仿宋" panose="02010600040101010101" pitchFamily="2" charset="-122"/>
              </a:rPr>
              <a:t>有志之人立长志，无志之人常立志。</a:t>
            </a:r>
          </a:p>
        </p:txBody>
      </p:sp>
      <p:sp>
        <p:nvSpPr>
          <p:cNvPr id="143363" name="文本占位符 143362"/>
          <p:cNvSpPr txBox="1">
            <a:spLocks/>
          </p:cNvSpPr>
          <p:nvPr/>
        </p:nvSpPr>
        <p:spPr>
          <a:xfrm>
            <a:off x="292395" y="2971800"/>
            <a:ext cx="3974805" cy="1828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buFont typeface="Wingdings 3" panose="05040102010807070707" charset="2"/>
              <a:buNone/>
            </a:pPr>
            <a:r>
              <a:rPr lang="zh-CN" altLang="en-US" sz="1800" b="1" dirty="0">
                <a:solidFill>
                  <a:schemeClr val="tx1">
                    <a:lumMod val="85000"/>
                  </a:schemeClr>
                </a:solidFill>
                <a:latin typeface="华文楷体" panose="02010600040101010101" pitchFamily="2" charset="-122"/>
                <a:ea typeface="华文楷体" panose="02010600040101010101" pitchFamily="2" charset="-122"/>
              </a:rPr>
              <a:t>历史使命指的是人们担负的重大的历史任务和重大的历史责任。</a:t>
            </a:r>
          </a:p>
          <a:p>
            <a:pPr fontAlgn="auto">
              <a:buFont typeface="Wingdings 3" panose="05040102010807070707" charset="2"/>
              <a:buNone/>
            </a:pPr>
            <a:r>
              <a:rPr lang="zh-CN" altLang="en-US" sz="1800" b="1" dirty="0">
                <a:solidFill>
                  <a:schemeClr val="tx1">
                    <a:lumMod val="85000"/>
                  </a:schemeClr>
                </a:solidFill>
                <a:latin typeface="华文楷体" panose="02010600040101010101" pitchFamily="2" charset="-122"/>
                <a:ea typeface="华文楷体" panose="02010600040101010101" pitchFamily="2" charset="-122"/>
              </a:rPr>
              <a:t>当代大学生所承担的是建设和发展中国特色社会主义，实现中华民族伟大复兴的历史使命。</a:t>
            </a:r>
          </a:p>
        </p:txBody>
      </p:sp>
      <p:sp>
        <p:nvSpPr>
          <p:cNvPr id="144387" name="文本占位符 144386"/>
          <p:cNvSpPr txBox="1">
            <a:spLocks/>
          </p:cNvSpPr>
          <p:nvPr/>
        </p:nvSpPr>
        <p:spPr>
          <a:xfrm>
            <a:off x="152400" y="4661841"/>
            <a:ext cx="4508205" cy="2438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lnSpc>
                <a:spcPct val="90000"/>
              </a:lnSpc>
            </a:pPr>
            <a:r>
              <a:rPr lang="en-US" altLang="zh-CN" sz="1800" b="1" dirty="0">
                <a:latin typeface="华文仿宋" panose="02010600040101010101" pitchFamily="2" charset="-122"/>
                <a:ea typeface="华文仿宋" panose="02010600040101010101" pitchFamily="2" charset="-122"/>
              </a:rPr>
              <a:t>1</a:t>
            </a:r>
            <a:r>
              <a:rPr lang="zh-CN" altLang="en-US" sz="1800" b="1" dirty="0">
                <a:latin typeface="华文仿宋" panose="02010600040101010101" pitchFamily="2" charset="-122"/>
                <a:ea typeface="华文仿宋" panose="02010600040101010101" pitchFamily="2" charset="-122"/>
              </a:rPr>
              <a:t>、在新的起点上继往开来</a:t>
            </a:r>
          </a:p>
          <a:p>
            <a:pPr fontAlgn="auto">
              <a:lnSpc>
                <a:spcPct val="90000"/>
              </a:lnSpc>
              <a:buFont typeface="Wingdings 3" panose="05040102010807070707" charset="2"/>
              <a:buNone/>
            </a:pPr>
            <a:r>
              <a:rPr lang="zh-CN" altLang="en-US" sz="1800" b="1" dirty="0">
                <a:latin typeface="华文仿宋" panose="02010600040101010101" pitchFamily="2" charset="-122"/>
                <a:ea typeface="华文仿宋" panose="02010600040101010101" pitchFamily="2" charset="-122"/>
              </a:rPr>
              <a:t>     认识我们这个时期在中国历史发展进程中的地位从而明确我们的使命。</a:t>
            </a:r>
          </a:p>
          <a:p>
            <a:pPr fontAlgn="auto">
              <a:lnSpc>
                <a:spcPct val="90000"/>
              </a:lnSpc>
            </a:pPr>
            <a:r>
              <a:rPr lang="en-US" altLang="zh-CN" sz="1800" b="1" dirty="0">
                <a:latin typeface="华文仿宋" panose="02010600040101010101" pitchFamily="2" charset="-122"/>
                <a:ea typeface="华文仿宋" panose="02010600040101010101" pitchFamily="2" charset="-122"/>
              </a:rPr>
              <a:t>2</a:t>
            </a:r>
            <a:r>
              <a:rPr lang="zh-CN" altLang="en-US" sz="1800" b="1" dirty="0">
                <a:latin typeface="华文仿宋" panose="02010600040101010101" pitchFamily="2" charset="-122"/>
                <a:ea typeface="华文仿宋" panose="02010600040101010101" pitchFamily="2" charset="-122"/>
              </a:rPr>
              <a:t>、在现实的基础上迎接挑战  </a:t>
            </a:r>
          </a:p>
          <a:p>
            <a:pPr fontAlgn="auto">
              <a:lnSpc>
                <a:spcPct val="90000"/>
              </a:lnSpc>
              <a:buFont typeface="Wingdings 3" panose="05040102010807070707" charset="2"/>
              <a:buNone/>
            </a:pPr>
            <a:r>
              <a:rPr lang="zh-CN" altLang="en-US" sz="1800" b="1" dirty="0">
                <a:latin typeface="华文仿宋" panose="02010600040101010101" pitchFamily="2" charset="-122"/>
                <a:ea typeface="华文仿宋" panose="02010600040101010101" pitchFamily="2" charset="-122"/>
              </a:rPr>
              <a:t>     认识我们当前面临的困难和挑战，从而明确当前的职责。</a:t>
            </a:r>
          </a:p>
        </p:txBody>
      </p:sp>
      <p:sp>
        <p:nvSpPr>
          <p:cNvPr id="145410" name="标题 145409"/>
          <p:cNvSpPr>
            <a:spLocks noGrp="1"/>
          </p:cNvSpPr>
          <p:nvPr>
            <p:ph type="title"/>
          </p:nvPr>
        </p:nvSpPr>
        <p:spPr>
          <a:xfrm>
            <a:off x="4419600" y="169771"/>
            <a:ext cx="1312985" cy="533400"/>
          </a:xfrm>
        </p:spPr>
        <p:txBody>
          <a:bodyPr anchor="ctr"/>
          <a:lstStyle/>
          <a:p>
            <a:r>
              <a:rPr lang="zh-CN" altLang="en-US" sz="2000" b="1" dirty="0">
                <a:solidFill>
                  <a:schemeClr val="tx1"/>
                </a:solidFill>
                <a:latin typeface="华文仿宋" panose="02010600040101010101" pitchFamily="2" charset="-122"/>
                <a:ea typeface="华文仿宋" panose="02010600040101010101" pitchFamily="2" charset="-122"/>
              </a:rPr>
              <a:t>三大挑战</a:t>
            </a:r>
          </a:p>
        </p:txBody>
      </p:sp>
      <p:sp>
        <p:nvSpPr>
          <p:cNvPr id="145411" name="文本占位符 145410"/>
          <p:cNvSpPr txBox="1">
            <a:spLocks/>
          </p:cNvSpPr>
          <p:nvPr/>
        </p:nvSpPr>
        <p:spPr>
          <a:xfrm>
            <a:off x="4495800" y="658406"/>
            <a:ext cx="3429000" cy="124659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buNone/>
            </a:pPr>
            <a:r>
              <a:rPr lang="zh-CN" altLang="en-US" sz="1800" b="1" dirty="0">
                <a:latin typeface="华文仿宋" panose="02010600040101010101" pitchFamily="2" charset="-122"/>
                <a:ea typeface="华文仿宋" panose="02010600040101010101" pitchFamily="2" charset="-122"/>
              </a:rPr>
              <a:t>一是世界科技文化发展的挑战</a:t>
            </a:r>
          </a:p>
          <a:p>
            <a:pPr marL="0" indent="0" fontAlgn="auto">
              <a:buNone/>
            </a:pPr>
            <a:r>
              <a:rPr lang="zh-CN" altLang="en-US" sz="1800" b="1" dirty="0">
                <a:latin typeface="华文仿宋" panose="02010600040101010101" pitchFamily="2" charset="-122"/>
                <a:ea typeface="华文仿宋" panose="02010600040101010101" pitchFamily="2" charset="-122"/>
              </a:rPr>
              <a:t>二是复杂多变的国际环境的挑战</a:t>
            </a:r>
            <a:endParaRPr lang="en-US" altLang="zh-CN" sz="1800" b="1" dirty="0">
              <a:latin typeface="华文仿宋" panose="02010600040101010101" pitchFamily="2" charset="-122"/>
              <a:ea typeface="华文仿宋" panose="02010600040101010101" pitchFamily="2" charset="-122"/>
            </a:endParaRPr>
          </a:p>
          <a:p>
            <a:pPr marL="0" indent="0" fontAlgn="auto">
              <a:buNone/>
            </a:pPr>
            <a:r>
              <a:rPr lang="zh-CN" altLang="en-US" sz="1800" b="1" dirty="0">
                <a:latin typeface="华文楷体" panose="02010600040101010101" pitchFamily="2" charset="-122"/>
                <a:ea typeface="华文楷体" panose="02010600040101010101" pitchFamily="2" charset="-122"/>
              </a:rPr>
              <a:t>三是我国发展新任务的挑战</a:t>
            </a:r>
          </a:p>
          <a:p>
            <a:pPr marL="0" indent="0" fontAlgn="auto">
              <a:buNone/>
            </a:pPr>
            <a:endParaRPr lang="zh-CN" altLang="en-US" sz="1800" b="1" dirty="0">
              <a:latin typeface="华文仿宋" panose="02010600040101010101" pitchFamily="2" charset="-122"/>
              <a:ea typeface="华文仿宋" panose="02010600040101010101" pitchFamily="2" charset="-122"/>
            </a:endParaRPr>
          </a:p>
        </p:txBody>
      </p:sp>
      <p:sp>
        <p:nvSpPr>
          <p:cNvPr id="65539" name="文本占位符 65538"/>
          <p:cNvSpPr txBox="1">
            <a:spLocks/>
          </p:cNvSpPr>
          <p:nvPr/>
        </p:nvSpPr>
        <p:spPr>
          <a:xfrm>
            <a:off x="4552506" y="1959897"/>
            <a:ext cx="4362894" cy="200250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latin typeface="华文仿宋" panose="02010600040101010101" pitchFamily="2" charset="-122"/>
                <a:ea typeface="华文仿宋" panose="02010600040101010101" pitchFamily="2" charset="-122"/>
              </a:rPr>
              <a:t>中国先人对大同理想的向往和追求络绎不绝，概括起来，主要三条脉络：</a:t>
            </a:r>
          </a:p>
          <a:p>
            <a:pPr fontAlgn="auto"/>
            <a:r>
              <a:rPr lang="zh-CN" altLang="en-US" sz="1800" b="1" dirty="0">
                <a:latin typeface="华文仿宋" panose="02010600040101010101" pitchFamily="2" charset="-122"/>
                <a:ea typeface="华文仿宋" panose="02010600040101010101" pitchFamily="2" charset="-122"/>
              </a:rPr>
              <a:t>一是探讨实现大同理想的方案。</a:t>
            </a:r>
          </a:p>
          <a:p>
            <a:pPr fontAlgn="auto"/>
            <a:r>
              <a:rPr lang="zh-CN" altLang="en-US" sz="1800" b="1" dirty="0">
                <a:latin typeface="华文仿宋" panose="02010600040101010101" pitchFamily="2" charset="-122"/>
                <a:ea typeface="华文仿宋" panose="02010600040101010101" pitchFamily="2" charset="-122"/>
              </a:rPr>
              <a:t>一是描绘理想社会，寄托一种追求。</a:t>
            </a:r>
          </a:p>
          <a:p>
            <a:pPr fontAlgn="auto"/>
            <a:r>
              <a:rPr lang="zh-CN" altLang="en-US" sz="1800" b="1" dirty="0">
                <a:latin typeface="华文仿宋" panose="02010600040101010101" pitchFamily="2" charset="-122"/>
                <a:ea typeface="华文仿宋" panose="02010600040101010101" pitchFamily="2" charset="-122"/>
              </a:rPr>
              <a:t>一是进行大同理想的实践。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animEffect transition="in" filter="checkerboard(across)">
                                      <p:cBhvr>
                                        <p:cTn id="7" dur="500"/>
                                        <p:tgtEl>
                                          <p:spTgt spid="58370">
                                            <p:txEl>
                                              <p:pRg st="0" end="0"/>
                                            </p:txEl>
                                          </p:spTgt>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58370">
                                            <p:txEl>
                                              <p:pRg st="1" end="1"/>
                                            </p:txEl>
                                          </p:spTgt>
                                        </p:tgtEl>
                                        <p:attrNameLst>
                                          <p:attrName>style.visibility</p:attrName>
                                        </p:attrNameLst>
                                      </p:cBhvr>
                                      <p:to>
                                        <p:strVal val="visible"/>
                                      </p:to>
                                    </p:set>
                                    <p:animEffect transition="in" filter="checkerboard(across)">
                                      <p:cBhvr>
                                        <p:cTn id="11" dur="500"/>
                                        <p:tgtEl>
                                          <p:spTgt spid="58370">
                                            <p:txEl>
                                              <p:pRg st="1" end="1"/>
                                            </p:txEl>
                                          </p:spTgt>
                                        </p:tgtEl>
                                      </p:cBhvr>
                                    </p:animEffect>
                                  </p:childTnLst>
                                </p:cTn>
                              </p:par>
                            </p:childTnLst>
                          </p:cTn>
                        </p:par>
                        <p:par>
                          <p:cTn id="12" fill="hold">
                            <p:stCondLst>
                              <p:cond delay="1000"/>
                            </p:stCondLst>
                            <p:childTnLst>
                              <p:par>
                                <p:cTn id="13" presetID="5" presetClass="entr" presetSubtype="10" fill="hold" nodeType="afterEffect">
                                  <p:stCondLst>
                                    <p:cond delay="0"/>
                                  </p:stCondLst>
                                  <p:childTnLst>
                                    <p:set>
                                      <p:cBhvr>
                                        <p:cTn id="14" dur="1" fill="hold">
                                          <p:stCondLst>
                                            <p:cond delay="0"/>
                                          </p:stCondLst>
                                        </p:cTn>
                                        <p:tgtEl>
                                          <p:spTgt spid="58370">
                                            <p:txEl>
                                              <p:pRg st="2" end="2"/>
                                            </p:txEl>
                                          </p:spTgt>
                                        </p:tgtEl>
                                        <p:attrNameLst>
                                          <p:attrName>style.visibility</p:attrName>
                                        </p:attrNameLst>
                                      </p:cBhvr>
                                      <p:to>
                                        <p:strVal val="visible"/>
                                      </p:to>
                                    </p:set>
                                    <p:animEffect transition="in" filter="checkerboard(across)">
                                      <p:cBhvr>
                                        <p:cTn id="15" dur="500"/>
                                        <p:tgtEl>
                                          <p:spTgt spid="5837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48482">
                                            <p:txEl>
                                              <p:pRg st="0" end="0"/>
                                            </p:txEl>
                                          </p:spTgt>
                                        </p:tgtEl>
                                        <p:attrNameLst>
                                          <p:attrName>style.visibility</p:attrName>
                                        </p:attrNameLst>
                                      </p:cBhvr>
                                      <p:to>
                                        <p:strVal val="visible"/>
                                      </p:to>
                                    </p:set>
                                    <p:anim calcmode="lin" valueType="num">
                                      <p:cBhvr additive="base">
                                        <p:cTn id="20" dur="500" fill="hold"/>
                                        <p:tgtEl>
                                          <p:spTgt spid="14848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4848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48482">
                                            <p:txEl>
                                              <p:pRg st="1" end="1"/>
                                            </p:txEl>
                                          </p:spTgt>
                                        </p:tgtEl>
                                        <p:attrNameLst>
                                          <p:attrName>style.visibility</p:attrName>
                                        </p:attrNameLst>
                                      </p:cBhvr>
                                      <p:to>
                                        <p:strVal val="visible"/>
                                      </p:to>
                                    </p:set>
                                    <p:anim calcmode="lin" valueType="num">
                                      <p:cBhvr additive="base">
                                        <p:cTn id="26" dur="500" fill="hold"/>
                                        <p:tgtEl>
                                          <p:spTgt spid="148482">
                                            <p:txEl>
                                              <p:pRg st="1" end="1"/>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4848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3363">
                                            <p:txEl>
                                              <p:pRg st="0" end="0"/>
                                            </p:txEl>
                                          </p:spTgt>
                                        </p:tgtEl>
                                        <p:attrNameLst>
                                          <p:attrName>style.visibility</p:attrName>
                                        </p:attrNameLst>
                                      </p:cBhvr>
                                      <p:to>
                                        <p:strVal val="visible"/>
                                      </p:to>
                                    </p:set>
                                    <p:animEffect transition="in" filter="blinds(horizontal)">
                                      <p:cBhvr>
                                        <p:cTn id="32" dur="500"/>
                                        <p:tgtEl>
                                          <p:spTgt spid="14336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43363">
                                            <p:txEl>
                                              <p:pRg st="1" end="1"/>
                                            </p:txEl>
                                          </p:spTgt>
                                        </p:tgtEl>
                                        <p:attrNameLst>
                                          <p:attrName>style.visibility</p:attrName>
                                        </p:attrNameLst>
                                      </p:cBhvr>
                                      <p:to>
                                        <p:strVal val="visible"/>
                                      </p:to>
                                    </p:set>
                                    <p:animEffect transition="in" filter="blinds(horizontal)">
                                      <p:cBhvr>
                                        <p:cTn id="37" dur="500"/>
                                        <p:tgtEl>
                                          <p:spTgt spid="14336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44387">
                                            <p:bg/>
                                          </p:spTgt>
                                        </p:tgtEl>
                                        <p:attrNameLst>
                                          <p:attrName>style.visibility</p:attrName>
                                        </p:attrNameLst>
                                      </p:cBhvr>
                                      <p:to>
                                        <p:strVal val="visible"/>
                                      </p:to>
                                    </p:set>
                                    <p:anim calcmode="lin" valueType="num">
                                      <p:cBhvr additive="base">
                                        <p:cTn id="42" dur="500" fill="hold"/>
                                        <p:tgtEl>
                                          <p:spTgt spid="144387">
                                            <p:bg/>
                                          </p:spTgt>
                                        </p:tgtEl>
                                        <p:attrNameLst>
                                          <p:attrName>ppt_x</p:attrName>
                                        </p:attrNameLst>
                                      </p:cBhvr>
                                      <p:tavLst>
                                        <p:tav tm="0">
                                          <p:val>
                                            <p:strVal val="#ppt_x"/>
                                          </p:val>
                                        </p:tav>
                                        <p:tav tm="100000">
                                          <p:val>
                                            <p:strVal val="#ppt_x"/>
                                          </p:val>
                                        </p:tav>
                                      </p:tavLst>
                                    </p:anim>
                                    <p:anim calcmode="lin" valueType="num">
                                      <p:cBhvr additive="base">
                                        <p:cTn id="43" dur="500" fill="hold"/>
                                        <p:tgtEl>
                                          <p:spTgt spid="144387">
                                            <p:bg/>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44387">
                                            <p:txEl>
                                              <p:pRg st="0" end="0"/>
                                            </p:txEl>
                                          </p:spTgt>
                                        </p:tgtEl>
                                        <p:attrNameLst>
                                          <p:attrName>style.visibility</p:attrName>
                                        </p:attrNameLst>
                                      </p:cBhvr>
                                      <p:to>
                                        <p:strVal val="visible"/>
                                      </p:to>
                                    </p:set>
                                    <p:anim calcmode="lin" valueType="num">
                                      <p:cBhvr additive="base">
                                        <p:cTn id="48" dur="500" fill="hold"/>
                                        <p:tgtEl>
                                          <p:spTgt spid="144387">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44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44387">
                                            <p:txEl>
                                              <p:pRg st="1" end="1"/>
                                            </p:txEl>
                                          </p:spTgt>
                                        </p:tgtEl>
                                        <p:attrNameLst>
                                          <p:attrName>style.visibility</p:attrName>
                                        </p:attrNameLst>
                                      </p:cBhvr>
                                      <p:to>
                                        <p:strVal val="visible"/>
                                      </p:to>
                                    </p:set>
                                    <p:anim calcmode="lin" valueType="num">
                                      <p:cBhvr additive="base">
                                        <p:cTn id="54" dur="500" fill="hold"/>
                                        <p:tgtEl>
                                          <p:spTgt spid="144387">
                                            <p:txEl>
                                              <p:pRg st="1" end="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44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44387">
                                            <p:txEl>
                                              <p:pRg st="2" end="2"/>
                                            </p:txEl>
                                          </p:spTgt>
                                        </p:tgtEl>
                                        <p:attrNameLst>
                                          <p:attrName>style.visibility</p:attrName>
                                        </p:attrNameLst>
                                      </p:cBhvr>
                                      <p:to>
                                        <p:strVal val="visible"/>
                                      </p:to>
                                    </p:set>
                                    <p:anim calcmode="lin" valueType="num">
                                      <p:cBhvr additive="base">
                                        <p:cTn id="60" dur="500" fill="hold"/>
                                        <p:tgtEl>
                                          <p:spTgt spid="144387">
                                            <p:txEl>
                                              <p:pRg st="2" end="2"/>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44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44387">
                                            <p:txEl>
                                              <p:pRg st="3" end="3"/>
                                            </p:txEl>
                                          </p:spTgt>
                                        </p:tgtEl>
                                        <p:attrNameLst>
                                          <p:attrName>style.visibility</p:attrName>
                                        </p:attrNameLst>
                                      </p:cBhvr>
                                      <p:to>
                                        <p:strVal val="visible"/>
                                      </p:to>
                                    </p:set>
                                    <p:anim calcmode="lin" valueType="num">
                                      <p:cBhvr additive="base">
                                        <p:cTn id="66" dur="500" fill="hold"/>
                                        <p:tgtEl>
                                          <p:spTgt spid="144387">
                                            <p:txEl>
                                              <p:pRg st="3" end="3"/>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44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45410"/>
                                        </p:tgtEl>
                                        <p:attrNameLst>
                                          <p:attrName>style.visibility</p:attrName>
                                        </p:attrNameLst>
                                      </p:cBhvr>
                                      <p:to>
                                        <p:strVal val="visible"/>
                                      </p:to>
                                    </p:set>
                                    <p:anim calcmode="lin" valueType="num">
                                      <p:cBhvr additive="base">
                                        <p:cTn id="72" dur="500" fill="hold"/>
                                        <p:tgtEl>
                                          <p:spTgt spid="145410"/>
                                        </p:tgtEl>
                                        <p:attrNameLst>
                                          <p:attrName>ppt_x</p:attrName>
                                        </p:attrNameLst>
                                      </p:cBhvr>
                                      <p:tavLst>
                                        <p:tav tm="0">
                                          <p:val>
                                            <p:strVal val="#ppt_x"/>
                                          </p:val>
                                        </p:tav>
                                        <p:tav tm="100000">
                                          <p:val>
                                            <p:strVal val="#ppt_x"/>
                                          </p:val>
                                        </p:tav>
                                      </p:tavLst>
                                    </p:anim>
                                    <p:anim calcmode="lin" valueType="num">
                                      <p:cBhvr additive="base">
                                        <p:cTn id="73" dur="500" fill="hold"/>
                                        <p:tgtEl>
                                          <p:spTgt spid="145410"/>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145411">
                                            <p:txEl>
                                              <p:pRg st="0" end="0"/>
                                            </p:txEl>
                                          </p:spTgt>
                                        </p:tgtEl>
                                        <p:attrNameLst>
                                          <p:attrName>style.visibility</p:attrName>
                                        </p:attrNameLst>
                                      </p:cBhvr>
                                      <p:to>
                                        <p:strVal val="visible"/>
                                      </p:to>
                                    </p:set>
                                    <p:anim calcmode="lin" valueType="num">
                                      <p:cBhvr additive="base">
                                        <p:cTn id="78" dur="500" fill="hold"/>
                                        <p:tgtEl>
                                          <p:spTgt spid="145411">
                                            <p:txEl>
                                              <p:pRg st="0" end="0"/>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145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145411">
                                            <p:txEl>
                                              <p:pRg st="1" end="1"/>
                                            </p:txEl>
                                          </p:spTgt>
                                        </p:tgtEl>
                                        <p:attrNameLst>
                                          <p:attrName>style.visibility</p:attrName>
                                        </p:attrNameLst>
                                      </p:cBhvr>
                                      <p:to>
                                        <p:strVal val="visible"/>
                                      </p:to>
                                    </p:set>
                                    <p:anim calcmode="lin" valueType="num">
                                      <p:cBhvr additive="base">
                                        <p:cTn id="84" dur="500" fill="hold"/>
                                        <p:tgtEl>
                                          <p:spTgt spid="145411">
                                            <p:txEl>
                                              <p:pRg st="1" end="1"/>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145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145411">
                                            <p:txEl>
                                              <p:pRg st="2" end="2"/>
                                            </p:txEl>
                                          </p:spTgt>
                                        </p:tgtEl>
                                        <p:attrNameLst>
                                          <p:attrName>style.visibility</p:attrName>
                                        </p:attrNameLst>
                                      </p:cBhvr>
                                      <p:to>
                                        <p:strVal val="visible"/>
                                      </p:to>
                                    </p:set>
                                    <p:anim calcmode="lin" valueType="num">
                                      <p:cBhvr additive="base">
                                        <p:cTn id="90" dur="500" fill="hold"/>
                                        <p:tgtEl>
                                          <p:spTgt spid="145411">
                                            <p:txEl>
                                              <p:pRg st="2" end="2"/>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145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65539">
                                            <p:bg/>
                                          </p:spTgt>
                                        </p:tgtEl>
                                        <p:attrNameLst>
                                          <p:attrName>style.visibility</p:attrName>
                                        </p:attrNameLst>
                                      </p:cBhvr>
                                      <p:to>
                                        <p:strVal val="visible"/>
                                      </p:to>
                                    </p:set>
                                    <p:anim calcmode="lin" valueType="num">
                                      <p:cBhvr additive="base">
                                        <p:cTn id="96" dur="500" fill="hold"/>
                                        <p:tgtEl>
                                          <p:spTgt spid="65539">
                                            <p:bg/>
                                          </p:spTgt>
                                        </p:tgtEl>
                                        <p:attrNameLst>
                                          <p:attrName>ppt_x</p:attrName>
                                        </p:attrNameLst>
                                      </p:cBhvr>
                                      <p:tavLst>
                                        <p:tav tm="0">
                                          <p:val>
                                            <p:strVal val="#ppt_x"/>
                                          </p:val>
                                        </p:tav>
                                        <p:tav tm="100000">
                                          <p:val>
                                            <p:strVal val="#ppt_x"/>
                                          </p:val>
                                        </p:tav>
                                      </p:tavLst>
                                    </p:anim>
                                    <p:anim calcmode="lin" valueType="num">
                                      <p:cBhvr additive="base">
                                        <p:cTn id="97" dur="500" fill="hold"/>
                                        <p:tgtEl>
                                          <p:spTgt spid="65539">
                                            <p:bg/>
                                          </p:spTgt>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65539">
                                            <p:txEl>
                                              <p:pRg st="0" end="0"/>
                                            </p:txEl>
                                          </p:spTgt>
                                        </p:tgtEl>
                                        <p:attrNameLst>
                                          <p:attrName>style.visibility</p:attrName>
                                        </p:attrNameLst>
                                      </p:cBhvr>
                                      <p:to>
                                        <p:strVal val="visible"/>
                                      </p:to>
                                    </p:set>
                                    <p:anim calcmode="lin" valueType="num">
                                      <p:cBhvr additive="base">
                                        <p:cTn id="102" dur="500" fill="hold"/>
                                        <p:tgtEl>
                                          <p:spTgt spid="65539">
                                            <p:txEl>
                                              <p:pRg st="0" end="0"/>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655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65539">
                                            <p:txEl>
                                              <p:pRg st="1" end="1"/>
                                            </p:txEl>
                                          </p:spTgt>
                                        </p:tgtEl>
                                        <p:attrNameLst>
                                          <p:attrName>style.visibility</p:attrName>
                                        </p:attrNameLst>
                                      </p:cBhvr>
                                      <p:to>
                                        <p:strVal val="visible"/>
                                      </p:to>
                                    </p:set>
                                    <p:anim calcmode="lin" valueType="num">
                                      <p:cBhvr additive="base">
                                        <p:cTn id="108" dur="500" fill="hold"/>
                                        <p:tgtEl>
                                          <p:spTgt spid="65539">
                                            <p:txEl>
                                              <p:pRg st="1" end="1"/>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655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 presetClass="entr" presetSubtype="4" fill="hold" grpId="0" nodeType="clickEffect">
                                  <p:stCondLst>
                                    <p:cond delay="0"/>
                                  </p:stCondLst>
                                  <p:childTnLst>
                                    <p:set>
                                      <p:cBhvr>
                                        <p:cTn id="113" dur="1" fill="hold">
                                          <p:stCondLst>
                                            <p:cond delay="0"/>
                                          </p:stCondLst>
                                        </p:cTn>
                                        <p:tgtEl>
                                          <p:spTgt spid="65539">
                                            <p:txEl>
                                              <p:pRg st="2" end="2"/>
                                            </p:txEl>
                                          </p:spTgt>
                                        </p:tgtEl>
                                        <p:attrNameLst>
                                          <p:attrName>style.visibility</p:attrName>
                                        </p:attrNameLst>
                                      </p:cBhvr>
                                      <p:to>
                                        <p:strVal val="visible"/>
                                      </p:to>
                                    </p:set>
                                    <p:anim calcmode="lin" valueType="num">
                                      <p:cBhvr additive="base">
                                        <p:cTn id="114" dur="500" fill="hold"/>
                                        <p:tgtEl>
                                          <p:spTgt spid="65539">
                                            <p:txEl>
                                              <p:pRg st="2" end="2"/>
                                            </p:txEl>
                                          </p:spTgt>
                                        </p:tgtEl>
                                        <p:attrNameLst>
                                          <p:attrName>ppt_x</p:attrName>
                                        </p:attrNameLst>
                                      </p:cBhvr>
                                      <p:tavLst>
                                        <p:tav tm="0">
                                          <p:val>
                                            <p:strVal val="#ppt_x"/>
                                          </p:val>
                                        </p:tav>
                                        <p:tav tm="100000">
                                          <p:val>
                                            <p:strVal val="#ppt_x"/>
                                          </p:val>
                                        </p:tav>
                                      </p:tavLst>
                                    </p:anim>
                                    <p:anim calcmode="lin" valueType="num">
                                      <p:cBhvr additive="base">
                                        <p:cTn id="115" dur="500" fill="hold"/>
                                        <p:tgtEl>
                                          <p:spTgt spid="655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2" presetClass="entr" presetSubtype="4" fill="hold" grpId="0" nodeType="clickEffect">
                                  <p:stCondLst>
                                    <p:cond delay="0"/>
                                  </p:stCondLst>
                                  <p:childTnLst>
                                    <p:set>
                                      <p:cBhvr>
                                        <p:cTn id="119" dur="1" fill="hold">
                                          <p:stCondLst>
                                            <p:cond delay="0"/>
                                          </p:stCondLst>
                                        </p:cTn>
                                        <p:tgtEl>
                                          <p:spTgt spid="65539">
                                            <p:txEl>
                                              <p:pRg st="3" end="3"/>
                                            </p:txEl>
                                          </p:spTgt>
                                        </p:tgtEl>
                                        <p:attrNameLst>
                                          <p:attrName>style.visibility</p:attrName>
                                        </p:attrNameLst>
                                      </p:cBhvr>
                                      <p:to>
                                        <p:strVal val="visible"/>
                                      </p:to>
                                    </p:set>
                                    <p:anim calcmode="lin" valueType="num">
                                      <p:cBhvr additive="base">
                                        <p:cTn id="120" dur="500" fill="hold"/>
                                        <p:tgtEl>
                                          <p:spTgt spid="65539">
                                            <p:txEl>
                                              <p:pRg st="3" end="3"/>
                                            </p:txEl>
                                          </p:spTgt>
                                        </p:tgtEl>
                                        <p:attrNameLst>
                                          <p:attrName>ppt_x</p:attrName>
                                        </p:attrNameLst>
                                      </p:cBhvr>
                                      <p:tavLst>
                                        <p:tav tm="0">
                                          <p:val>
                                            <p:strVal val="#ppt_x"/>
                                          </p:val>
                                        </p:tav>
                                        <p:tav tm="100000">
                                          <p:val>
                                            <p:strVal val="#ppt_x"/>
                                          </p:val>
                                        </p:tav>
                                      </p:tavLst>
                                    </p:anim>
                                    <p:anim calcmode="lin" valueType="num">
                                      <p:cBhvr additive="base">
                                        <p:cTn id="121" dur="500" fill="hold"/>
                                        <p:tgtEl>
                                          <p:spTgt spid="655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build="p"/>
      <p:bldP spid="144387" grpId="0" build="p" animBg="1"/>
      <p:bldP spid="145410" grpId="0" animBg="1"/>
      <p:bldP spid="145411" grpId="0" build="p"/>
      <p:bldP spid="65539"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66561"/>
          <p:cNvSpPr>
            <a:spLocks noGrp="1"/>
          </p:cNvSpPr>
          <p:nvPr>
            <p:ph type="title"/>
          </p:nvPr>
        </p:nvSpPr>
        <p:spPr>
          <a:xfrm>
            <a:off x="304800" y="217024"/>
            <a:ext cx="2106090" cy="385482"/>
          </a:xfrm>
        </p:spPr>
        <p:txBody>
          <a:bodyPr anchor="ctr"/>
          <a:lstStyle/>
          <a:p>
            <a:r>
              <a:rPr lang="zh-CN" altLang="en-US" sz="2000" dirty="0">
                <a:solidFill>
                  <a:schemeClr val="tx1"/>
                </a:solidFill>
                <a:latin typeface="华文仿宋" panose="02010600040101010101" pitchFamily="2" charset="-122"/>
                <a:ea typeface="华文仿宋" panose="02010600040101010101" pitchFamily="2" charset="-122"/>
              </a:rPr>
              <a:t>大同理想的方案</a:t>
            </a:r>
          </a:p>
        </p:txBody>
      </p:sp>
      <p:sp>
        <p:nvSpPr>
          <p:cNvPr id="66563" name="文本占位符 66562"/>
          <p:cNvSpPr>
            <a:spLocks noGrp="1"/>
          </p:cNvSpPr>
          <p:nvPr>
            <p:ph idx="1"/>
          </p:nvPr>
        </p:nvSpPr>
        <p:spPr>
          <a:xfrm>
            <a:off x="152400" y="602507"/>
            <a:ext cx="7620000" cy="2674094"/>
          </a:xfrm>
        </p:spPr>
        <p:txBody>
          <a:bodyPr>
            <a:normAutofit/>
          </a:bodyPr>
          <a:lstStyle/>
          <a:p>
            <a:pPr>
              <a:lnSpc>
                <a:spcPct val="90000"/>
              </a:lnSpc>
            </a:pPr>
            <a:r>
              <a:rPr lang="zh-CN" altLang="en-US" sz="1800" b="1" dirty="0">
                <a:latin typeface="华文楷体" panose="02010600040101010101" pitchFamily="2" charset="-122"/>
                <a:ea typeface="华文楷体" panose="02010600040101010101" pitchFamily="2" charset="-122"/>
              </a:rPr>
              <a:t>孟子的方案“井田制”。</a:t>
            </a:r>
          </a:p>
          <a:p>
            <a:pPr>
              <a:lnSpc>
                <a:spcPct val="90000"/>
              </a:lnSpc>
            </a:pPr>
            <a:r>
              <a:rPr lang="zh-CN" altLang="en-US" sz="1800" b="1" dirty="0">
                <a:latin typeface="华文楷体" panose="02010600040101010101" pitchFamily="2" charset="-122"/>
                <a:ea typeface="华文楷体" panose="02010600040101010101" pitchFamily="2" charset="-122"/>
              </a:rPr>
              <a:t>宋代张载设计了以田官取代地主的方法。</a:t>
            </a:r>
          </a:p>
          <a:p>
            <a:pPr>
              <a:lnSpc>
                <a:spcPct val="90000"/>
              </a:lnSpc>
            </a:pPr>
            <a:r>
              <a:rPr lang="zh-CN" altLang="en-US" sz="1800" b="1" dirty="0">
                <a:latin typeface="华文楷体" panose="02010600040101010101" pitchFamily="2" charset="-122"/>
                <a:ea typeface="华文楷体" panose="02010600040101010101" pitchFamily="2" charset="-122"/>
              </a:rPr>
              <a:t>北宋李觏则提出“平土”法以“均贫富”。</a:t>
            </a:r>
          </a:p>
          <a:p>
            <a:pPr>
              <a:lnSpc>
                <a:spcPct val="90000"/>
              </a:lnSpc>
            </a:pPr>
            <a:r>
              <a:rPr lang="zh-CN" altLang="en-US" sz="1800" b="1" dirty="0">
                <a:latin typeface="华文楷体" panose="02010600040101010101" pitchFamily="2" charset="-122"/>
                <a:ea typeface="华文楷体" panose="02010600040101010101" pitchFamily="2" charset="-122"/>
              </a:rPr>
              <a:t>清初的颜李学派，提出“畺田”的方法，以“不为农则无田”的措施来实现。</a:t>
            </a:r>
          </a:p>
          <a:p>
            <a:pPr>
              <a:lnSpc>
                <a:spcPct val="90000"/>
              </a:lnSpc>
            </a:pPr>
            <a:r>
              <a:rPr lang="zh-CN" altLang="en-US" sz="1800" b="1" dirty="0">
                <a:latin typeface="华文楷体" panose="02010600040101010101" pitchFamily="2" charset="-122"/>
                <a:ea typeface="华文楷体" panose="02010600040101010101" pitchFamily="2" charset="-122"/>
              </a:rPr>
              <a:t>    他们认识到土地是当时社会贫富不均的根源，但没有认识到土地制度是整个封建社会的基础和根本，想在不动摇封建统治的前提下以改良来解决土地问题是不可能的。 </a:t>
            </a:r>
          </a:p>
        </p:txBody>
      </p:sp>
      <p:sp>
        <p:nvSpPr>
          <p:cNvPr id="2" name="标题 67585">
            <a:extLst>
              <a:ext uri="{FF2B5EF4-FFF2-40B4-BE49-F238E27FC236}">
                <a16:creationId xmlns:a16="http://schemas.microsoft.com/office/drawing/2014/main" id="{6ABE1710-8A8E-7D32-E20A-5B2A7AD3DC45}"/>
              </a:ext>
            </a:extLst>
          </p:cNvPr>
          <p:cNvSpPr txBox="1">
            <a:spLocks/>
          </p:cNvSpPr>
          <p:nvPr/>
        </p:nvSpPr>
        <p:spPr>
          <a:xfrm>
            <a:off x="267586" y="3048000"/>
            <a:ext cx="2736112" cy="5334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b="1" dirty="0">
                <a:solidFill>
                  <a:schemeClr val="tx1"/>
                </a:solidFill>
                <a:latin typeface="华文仿宋" panose="02010600040101010101" pitchFamily="2" charset="-122"/>
                <a:ea typeface="华文仿宋" panose="02010600040101010101" pitchFamily="2" charset="-122"/>
              </a:rPr>
              <a:t>描绘理想社会寄托追求</a:t>
            </a:r>
          </a:p>
        </p:txBody>
      </p:sp>
      <p:sp>
        <p:nvSpPr>
          <p:cNvPr id="67587" name="文本占位符 67586"/>
          <p:cNvSpPr txBox="1">
            <a:spLocks/>
          </p:cNvSpPr>
          <p:nvPr/>
        </p:nvSpPr>
        <p:spPr>
          <a:xfrm>
            <a:off x="161260" y="3505200"/>
            <a:ext cx="7554300" cy="24428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latin typeface="华文楷体" panose="02010600040101010101" pitchFamily="2" charset="-122"/>
                <a:ea typeface="华文楷体" panose="02010600040101010101" pitchFamily="2" charset="-122"/>
              </a:rPr>
              <a:t>最有代表性的构想是“桃花源”和“君子国”。</a:t>
            </a:r>
          </a:p>
          <a:p>
            <a:pPr fontAlgn="auto"/>
            <a:r>
              <a:rPr lang="zh-CN" altLang="en-US" sz="1800" b="1" dirty="0">
                <a:latin typeface="华文楷体" panose="02010600040101010101" pitchFamily="2" charset="-122"/>
                <a:ea typeface="华文楷体" panose="02010600040101010101" pitchFamily="2" charset="-122"/>
              </a:rPr>
              <a:t>陶渊明描述的桃花源是一处与人类社会隔绝的乐土，是一个小国寡民的世界。那里人人自食其力，没有剥削压迫，民风淳朴。</a:t>
            </a:r>
          </a:p>
          <a:p>
            <a:pPr fontAlgn="auto"/>
            <a:r>
              <a:rPr lang="zh-CN" altLang="en-US" sz="1800" b="1" dirty="0">
                <a:latin typeface="华文楷体" panose="02010600040101010101" pitchFamily="2" charset="-122"/>
                <a:ea typeface="华文楷体" panose="02010600040101010101" pitchFamily="2" charset="-122"/>
              </a:rPr>
              <a:t>李汝珍在</a:t>
            </a:r>
            <a:r>
              <a:rPr lang="en-US" altLang="zh-CN" sz="1800" b="1" dirty="0">
                <a:latin typeface="华文楷体" panose="02010600040101010101" pitchFamily="2" charset="-122"/>
                <a:ea typeface="华文楷体" panose="02010600040101010101" pitchFamily="2" charset="-122"/>
              </a:rPr>
              <a:t>《</a:t>
            </a:r>
            <a:r>
              <a:rPr lang="zh-CN" altLang="en-US" sz="1800" b="1" dirty="0">
                <a:latin typeface="华文楷体" panose="02010600040101010101" pitchFamily="2" charset="-122"/>
                <a:ea typeface="华文楷体" panose="02010600040101010101" pitchFamily="2" charset="-122"/>
              </a:rPr>
              <a:t>镜花缘</a:t>
            </a:r>
            <a:r>
              <a:rPr lang="en-US" altLang="zh-CN" sz="1800" b="1" dirty="0">
                <a:latin typeface="华文楷体" panose="02010600040101010101" pitchFamily="2" charset="-122"/>
                <a:ea typeface="华文楷体" panose="02010600040101010101" pitchFamily="2" charset="-122"/>
              </a:rPr>
              <a:t>》</a:t>
            </a:r>
            <a:r>
              <a:rPr lang="zh-CN" altLang="en-US" sz="1800" b="1" dirty="0">
                <a:latin typeface="华文楷体" panose="02010600040101010101" pitchFamily="2" charset="-122"/>
                <a:ea typeface="华文楷体" panose="02010600040101010101" pitchFamily="2" charset="-122"/>
              </a:rPr>
              <a:t>中所描绘的君子国是一处个个君子、人人好让不争的礼乐之邦。</a:t>
            </a:r>
          </a:p>
          <a:p>
            <a:pPr fontAlgn="auto"/>
            <a:r>
              <a:rPr lang="zh-CN" altLang="en-US" sz="1800" b="1" dirty="0">
                <a:latin typeface="华文楷体" panose="02010600040101010101" pitchFamily="2" charset="-122"/>
                <a:ea typeface="华文楷体" panose="02010600040101010101" pitchFamily="2" charset="-122"/>
              </a:rPr>
              <a:t>文学虚构描绘的世界反映对现实弊端的不满及对未来的向往，是大同理想的体现。</a:t>
            </a:r>
            <a:r>
              <a:rPr lang="zh-CN" altLang="en-US" sz="1800" dirty="0">
                <a:latin typeface="华文楷体" panose="02010600040101010101" pitchFamily="2" charset="-122"/>
                <a:ea typeface="华文楷体" panose="0201060004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additive="base">
                                        <p:cTn id="7" dur="500" fill="hold"/>
                                        <p:tgtEl>
                                          <p:spTgt spid="66562"/>
                                        </p:tgtEl>
                                        <p:attrNameLst>
                                          <p:attrName>ppt_x</p:attrName>
                                        </p:attrNameLst>
                                      </p:cBhvr>
                                      <p:tavLst>
                                        <p:tav tm="0">
                                          <p:val>
                                            <p:strVal val="#ppt_x"/>
                                          </p:val>
                                        </p:tav>
                                        <p:tav tm="100000">
                                          <p:val>
                                            <p:strVal val="#ppt_x"/>
                                          </p:val>
                                        </p:tav>
                                      </p:tavLst>
                                    </p:anim>
                                    <p:anim calcmode="lin" valueType="num">
                                      <p:cBhvr additive="base">
                                        <p:cTn id="8" dur="500" fill="hold"/>
                                        <p:tgtEl>
                                          <p:spTgt spid="665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6563">
                                            <p:txEl>
                                              <p:pRg st="0" end="0"/>
                                            </p:txEl>
                                          </p:spTgt>
                                        </p:tgtEl>
                                        <p:attrNameLst>
                                          <p:attrName>style.visibility</p:attrName>
                                        </p:attrNameLst>
                                      </p:cBhvr>
                                      <p:to>
                                        <p:strVal val="visible"/>
                                      </p:to>
                                    </p:set>
                                    <p:anim calcmode="lin" valueType="num">
                                      <p:cBhvr additive="base">
                                        <p:cTn id="13" dur="2000" fill="hold"/>
                                        <p:tgtEl>
                                          <p:spTgt spid="66563">
                                            <p:txEl>
                                              <p:pRg st="0" end="0"/>
                                            </p:txEl>
                                          </p:spTgt>
                                        </p:tgtEl>
                                        <p:attrNameLst>
                                          <p:attrName>ppt_x</p:attrName>
                                        </p:attrNameLst>
                                      </p:cBhvr>
                                      <p:tavLst>
                                        <p:tav tm="0">
                                          <p:val>
                                            <p:strVal val="1+#ppt_w/2"/>
                                          </p:val>
                                        </p:tav>
                                        <p:tav tm="100000">
                                          <p:val>
                                            <p:strVal val="#ppt_x"/>
                                          </p:val>
                                        </p:tav>
                                      </p:tavLst>
                                    </p:anim>
                                    <p:anim calcmode="lin" valueType="num">
                                      <p:cBhvr additive="base">
                                        <p:cTn id="14" dur="2000" fill="hold"/>
                                        <p:tgtEl>
                                          <p:spTgt spid="66563">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66563">
                                            <p:txEl>
                                              <p:pRg st="1" end="1"/>
                                            </p:txEl>
                                          </p:spTgt>
                                        </p:tgtEl>
                                        <p:attrNameLst>
                                          <p:attrName>style.visibility</p:attrName>
                                        </p:attrNameLst>
                                      </p:cBhvr>
                                      <p:to>
                                        <p:strVal val="visible"/>
                                      </p:to>
                                    </p:set>
                                    <p:anim calcmode="lin" valueType="num">
                                      <p:cBhvr additive="base">
                                        <p:cTn id="17" dur="2000" fill="hold"/>
                                        <p:tgtEl>
                                          <p:spTgt spid="66563">
                                            <p:txEl>
                                              <p:pRg st="1" end="1"/>
                                            </p:txEl>
                                          </p:spTgt>
                                        </p:tgtEl>
                                        <p:attrNameLst>
                                          <p:attrName>ppt_x</p:attrName>
                                        </p:attrNameLst>
                                      </p:cBhvr>
                                      <p:tavLst>
                                        <p:tav tm="0">
                                          <p:val>
                                            <p:strVal val="1+#ppt_w/2"/>
                                          </p:val>
                                        </p:tav>
                                        <p:tav tm="100000">
                                          <p:val>
                                            <p:strVal val="#ppt_x"/>
                                          </p:val>
                                        </p:tav>
                                      </p:tavLst>
                                    </p:anim>
                                    <p:anim calcmode="lin" valueType="num">
                                      <p:cBhvr additive="base">
                                        <p:cTn id="18" dur="2000" fill="hold"/>
                                        <p:tgtEl>
                                          <p:spTgt spid="66563">
                                            <p:txEl>
                                              <p:pRg st="1" end="1"/>
                                            </p:txEl>
                                          </p:spTgt>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66563">
                                            <p:txEl>
                                              <p:pRg st="2" end="2"/>
                                            </p:txEl>
                                          </p:spTgt>
                                        </p:tgtEl>
                                        <p:attrNameLst>
                                          <p:attrName>style.visibility</p:attrName>
                                        </p:attrNameLst>
                                      </p:cBhvr>
                                      <p:to>
                                        <p:strVal val="visible"/>
                                      </p:to>
                                    </p:set>
                                    <p:anim calcmode="lin" valueType="num">
                                      <p:cBhvr additive="base">
                                        <p:cTn id="21" dur="2000" fill="hold"/>
                                        <p:tgtEl>
                                          <p:spTgt spid="66563">
                                            <p:txEl>
                                              <p:pRg st="2" end="2"/>
                                            </p:txEl>
                                          </p:spTgt>
                                        </p:tgtEl>
                                        <p:attrNameLst>
                                          <p:attrName>ppt_x</p:attrName>
                                        </p:attrNameLst>
                                      </p:cBhvr>
                                      <p:tavLst>
                                        <p:tav tm="0">
                                          <p:val>
                                            <p:strVal val="1+#ppt_w/2"/>
                                          </p:val>
                                        </p:tav>
                                        <p:tav tm="100000">
                                          <p:val>
                                            <p:strVal val="#ppt_x"/>
                                          </p:val>
                                        </p:tav>
                                      </p:tavLst>
                                    </p:anim>
                                    <p:anim calcmode="lin" valueType="num">
                                      <p:cBhvr additive="base">
                                        <p:cTn id="22" dur="2000" fill="hold"/>
                                        <p:tgtEl>
                                          <p:spTgt spid="66563">
                                            <p:txEl>
                                              <p:pRg st="2" end="2"/>
                                            </p:txEl>
                                          </p:spTgt>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66563">
                                            <p:txEl>
                                              <p:pRg st="3" end="3"/>
                                            </p:txEl>
                                          </p:spTgt>
                                        </p:tgtEl>
                                        <p:attrNameLst>
                                          <p:attrName>style.visibility</p:attrName>
                                        </p:attrNameLst>
                                      </p:cBhvr>
                                      <p:to>
                                        <p:strVal val="visible"/>
                                      </p:to>
                                    </p:set>
                                    <p:anim calcmode="lin" valueType="num">
                                      <p:cBhvr additive="base">
                                        <p:cTn id="25" dur="2000" fill="hold"/>
                                        <p:tgtEl>
                                          <p:spTgt spid="66563">
                                            <p:txEl>
                                              <p:pRg st="3" end="3"/>
                                            </p:txEl>
                                          </p:spTgt>
                                        </p:tgtEl>
                                        <p:attrNameLst>
                                          <p:attrName>ppt_x</p:attrName>
                                        </p:attrNameLst>
                                      </p:cBhvr>
                                      <p:tavLst>
                                        <p:tav tm="0">
                                          <p:val>
                                            <p:strVal val="1+#ppt_w/2"/>
                                          </p:val>
                                        </p:tav>
                                        <p:tav tm="100000">
                                          <p:val>
                                            <p:strVal val="#ppt_x"/>
                                          </p:val>
                                        </p:tav>
                                      </p:tavLst>
                                    </p:anim>
                                    <p:anim calcmode="lin" valueType="num">
                                      <p:cBhvr additive="base">
                                        <p:cTn id="26" dur="2000" fill="hold"/>
                                        <p:tgtEl>
                                          <p:spTgt spid="665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6563">
                                            <p:txEl>
                                              <p:pRg st="4" end="4"/>
                                            </p:txEl>
                                          </p:spTgt>
                                        </p:tgtEl>
                                        <p:attrNameLst>
                                          <p:attrName>style.visibility</p:attrName>
                                        </p:attrNameLst>
                                      </p:cBhvr>
                                      <p:to>
                                        <p:strVal val="visible"/>
                                      </p:to>
                                    </p:set>
                                    <p:anim calcmode="lin" valueType="num">
                                      <p:cBhvr additive="base">
                                        <p:cTn id="31" dur="2000" fill="hold"/>
                                        <p:tgtEl>
                                          <p:spTgt spid="66563">
                                            <p:txEl>
                                              <p:pRg st="4" end="4"/>
                                            </p:txEl>
                                          </p:spTgt>
                                        </p:tgtEl>
                                        <p:attrNameLst>
                                          <p:attrName>ppt_x</p:attrName>
                                        </p:attrNameLst>
                                      </p:cBhvr>
                                      <p:tavLst>
                                        <p:tav tm="0">
                                          <p:val>
                                            <p:strVal val="1+#ppt_w/2"/>
                                          </p:val>
                                        </p:tav>
                                        <p:tav tm="100000">
                                          <p:val>
                                            <p:strVal val="#ppt_x"/>
                                          </p:val>
                                        </p:tav>
                                      </p:tavLst>
                                    </p:anim>
                                    <p:anim calcmode="lin" valueType="num">
                                      <p:cBhvr additive="base">
                                        <p:cTn id="32" dur="2000" fill="hold"/>
                                        <p:tgtEl>
                                          <p:spTgt spid="6656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0" presetClass="entr" presetSubtype="0" fill="hold" nodeType="clickEffect">
                                  <p:stCondLst>
                                    <p:cond delay="0"/>
                                  </p:stCondLst>
                                  <p:childTnLst>
                                    <p:set>
                                      <p:cBhvr>
                                        <p:cTn id="42" dur="1" fill="hold">
                                          <p:stCondLst>
                                            <p:cond delay="0"/>
                                          </p:stCondLst>
                                        </p:cTn>
                                        <p:tgtEl>
                                          <p:spTgt spid="67587">
                                            <p:txEl>
                                              <p:pRg st="1" end="1"/>
                                            </p:txEl>
                                          </p:spTgt>
                                        </p:tgtEl>
                                        <p:attrNameLst>
                                          <p:attrName>style.visibility</p:attrName>
                                        </p:attrNameLst>
                                      </p:cBhvr>
                                      <p:to>
                                        <p:strVal val="visible"/>
                                      </p:to>
                                    </p:set>
                                    <p:animEffect transition="in" filter="wedge">
                                      <p:cBhvr>
                                        <p:cTn id="43" dur="2000"/>
                                        <p:tgtEl>
                                          <p:spTgt spid="67587">
                                            <p:txEl>
                                              <p:pRg st="1" end="1"/>
                                            </p:txEl>
                                          </p:spTgt>
                                        </p:tgtEl>
                                      </p:cBhvr>
                                    </p:animEffect>
                                  </p:childTnLst>
                                </p:cTn>
                              </p:par>
                              <p:par>
                                <p:cTn id="44" presetID="20" presetClass="entr" presetSubtype="0" fill="hold" nodeType="withEffect">
                                  <p:stCondLst>
                                    <p:cond delay="0"/>
                                  </p:stCondLst>
                                  <p:childTnLst>
                                    <p:set>
                                      <p:cBhvr>
                                        <p:cTn id="45" dur="1" fill="hold">
                                          <p:stCondLst>
                                            <p:cond delay="0"/>
                                          </p:stCondLst>
                                        </p:cTn>
                                        <p:tgtEl>
                                          <p:spTgt spid="67587">
                                            <p:txEl>
                                              <p:pRg st="2" end="2"/>
                                            </p:txEl>
                                          </p:spTgt>
                                        </p:tgtEl>
                                        <p:attrNameLst>
                                          <p:attrName>style.visibility</p:attrName>
                                        </p:attrNameLst>
                                      </p:cBhvr>
                                      <p:to>
                                        <p:strVal val="visible"/>
                                      </p:to>
                                    </p:set>
                                    <p:animEffect transition="in" filter="wedge">
                                      <p:cBhvr>
                                        <p:cTn id="46" dur="2000"/>
                                        <p:tgtEl>
                                          <p:spTgt spid="67587">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6" fill="hold" nodeType="clickEffect">
                                  <p:stCondLst>
                                    <p:cond delay="0"/>
                                  </p:stCondLst>
                                  <p:childTnLst>
                                    <p:set>
                                      <p:cBhvr>
                                        <p:cTn id="50" dur="1" fill="hold">
                                          <p:stCondLst>
                                            <p:cond delay="0"/>
                                          </p:stCondLst>
                                        </p:cTn>
                                        <p:tgtEl>
                                          <p:spTgt spid="67587">
                                            <p:txEl>
                                              <p:pRg st="3" end="3"/>
                                            </p:txEl>
                                          </p:spTgt>
                                        </p:tgtEl>
                                        <p:attrNameLst>
                                          <p:attrName>style.visibility</p:attrName>
                                        </p:attrNameLst>
                                      </p:cBhvr>
                                      <p:to>
                                        <p:strVal val="visible"/>
                                      </p:to>
                                    </p:set>
                                    <p:animEffect transition="in" filter="barn(inHorizontal)">
                                      <p:cBhvr>
                                        <p:cTn id="51" dur="500"/>
                                        <p:tgtEl>
                                          <p:spTgt spid="675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nimBg="1"/>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68609"/>
          <p:cNvSpPr>
            <a:spLocks noGrp="1"/>
          </p:cNvSpPr>
          <p:nvPr>
            <p:ph type="title"/>
          </p:nvPr>
        </p:nvSpPr>
        <p:spPr>
          <a:xfrm>
            <a:off x="202019" y="152400"/>
            <a:ext cx="2715690" cy="309282"/>
          </a:xfrm>
        </p:spPr>
        <p:txBody>
          <a:bodyPr anchor="ctr"/>
          <a:lstStyle/>
          <a:p>
            <a:r>
              <a:rPr lang="zh-CN" altLang="en-US" sz="2000" dirty="0">
                <a:solidFill>
                  <a:schemeClr val="tx1"/>
                </a:solidFill>
                <a:latin typeface="华文仿宋" panose="02010600040101010101" pitchFamily="2" charset="-122"/>
                <a:ea typeface="华文仿宋" panose="02010600040101010101" pitchFamily="2" charset="-122"/>
              </a:rPr>
              <a:t>农民大同理想的实践</a:t>
            </a:r>
          </a:p>
        </p:txBody>
      </p:sp>
      <p:sp>
        <p:nvSpPr>
          <p:cNvPr id="68611" name="文本占位符 68610"/>
          <p:cNvSpPr>
            <a:spLocks noGrp="1"/>
          </p:cNvSpPr>
          <p:nvPr>
            <p:ph idx="1"/>
          </p:nvPr>
        </p:nvSpPr>
        <p:spPr>
          <a:xfrm>
            <a:off x="193158" y="433232"/>
            <a:ext cx="7325700" cy="2061875"/>
          </a:xfrm>
        </p:spPr>
        <p:txBody>
          <a:bodyPr>
            <a:normAutofit fontScale="92500"/>
          </a:bodyPr>
          <a:lstStyle/>
          <a:p>
            <a:r>
              <a:rPr lang="zh-CN" altLang="en-US" sz="1800" dirty="0">
                <a:latin typeface="华文仿宋" panose="02010600040101010101" pitchFamily="2" charset="-122"/>
                <a:ea typeface="华文仿宋" panose="02010600040101010101" pitchFamily="2" charset="-122"/>
              </a:rPr>
              <a:t>大同理想在农民战争中的首次表现，当是黄巾起义。领导者张角组建太平道，其主要思想来自</a:t>
            </a:r>
            <a:r>
              <a:rPr lang="en-US" altLang="zh-CN" sz="1800" dirty="0">
                <a:latin typeface="华文仿宋" panose="02010600040101010101" pitchFamily="2" charset="-122"/>
                <a:ea typeface="华文仿宋" panose="02010600040101010101" pitchFamily="2" charset="-122"/>
              </a:rPr>
              <a:t>《</a:t>
            </a:r>
            <a:r>
              <a:rPr lang="zh-CN" altLang="en-US" sz="1800" dirty="0">
                <a:latin typeface="华文仿宋" panose="02010600040101010101" pitchFamily="2" charset="-122"/>
                <a:ea typeface="华文仿宋" panose="02010600040101010101" pitchFamily="2" charset="-122"/>
              </a:rPr>
              <a:t>太平经</a:t>
            </a:r>
            <a:r>
              <a:rPr lang="en-US" altLang="zh-CN" sz="1800" dirty="0">
                <a:latin typeface="华文仿宋" panose="02010600040101010101" pitchFamily="2" charset="-122"/>
                <a:ea typeface="华文仿宋" panose="02010600040101010101" pitchFamily="2" charset="-122"/>
              </a:rPr>
              <a:t>》</a:t>
            </a:r>
            <a:r>
              <a:rPr lang="zh-CN" altLang="en-US" sz="1800" dirty="0">
                <a:latin typeface="华文仿宋" panose="02010600040101010101" pitchFamily="2" charset="-122"/>
                <a:ea typeface="华文仿宋" panose="02010600040101010101" pitchFamily="2" charset="-122"/>
              </a:rPr>
              <a:t>，核心是平均主义原则。</a:t>
            </a:r>
          </a:p>
          <a:p>
            <a:r>
              <a:rPr lang="zh-CN" altLang="en-US" sz="1800" dirty="0">
                <a:latin typeface="华文仿宋" panose="02010600040101010101" pitchFamily="2" charset="-122"/>
                <a:ea typeface="华文仿宋" panose="02010600040101010101" pitchFamily="2" charset="-122"/>
              </a:rPr>
              <a:t>张鲁利用天师道割据汉中，辖区内“不设长吏”，实行“义舍”制度等，实践平均主义理想。</a:t>
            </a:r>
          </a:p>
          <a:p>
            <a:r>
              <a:rPr lang="zh-CN" altLang="en-US" sz="1800" dirty="0">
                <a:latin typeface="华文仿宋" panose="02010600040101010101" pitchFamily="2" charset="-122"/>
                <a:ea typeface="华文仿宋" panose="02010600040101010101" pitchFamily="2" charset="-122"/>
              </a:rPr>
              <a:t>黄巢的“均平”，钟相、杨幺 的“等贵贱，均贫富”，红巾起义的“摧富益贫”，李自成的“均田免粮”“平买平卖”“割富济贫”等。</a:t>
            </a:r>
          </a:p>
        </p:txBody>
      </p:sp>
      <p:sp>
        <p:nvSpPr>
          <p:cNvPr id="69634" name="标题 69633"/>
          <p:cNvSpPr txBox="1">
            <a:spLocks/>
          </p:cNvSpPr>
          <p:nvPr/>
        </p:nvSpPr>
        <p:spPr>
          <a:xfrm>
            <a:off x="202019" y="2216946"/>
            <a:ext cx="2307265" cy="3810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dirty="0">
                <a:solidFill>
                  <a:schemeClr val="tx1"/>
                </a:solidFill>
                <a:latin typeface="仿宋" panose="02010609060101010101" pitchFamily="49" charset="-122"/>
                <a:ea typeface="仿宋" panose="02010609060101010101" pitchFamily="49" charset="-122"/>
              </a:rPr>
              <a:t>近代中国三大理想</a:t>
            </a:r>
          </a:p>
        </p:txBody>
      </p:sp>
      <p:sp>
        <p:nvSpPr>
          <p:cNvPr id="69635" name="文本占位符 69634"/>
          <p:cNvSpPr txBox="1">
            <a:spLocks/>
          </p:cNvSpPr>
          <p:nvPr/>
        </p:nvSpPr>
        <p:spPr>
          <a:xfrm>
            <a:off x="202019" y="2542070"/>
            <a:ext cx="8941981" cy="223106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dirty="0">
                <a:latin typeface="仿宋" panose="02010609060101010101" pitchFamily="49" charset="-122"/>
                <a:ea typeface="仿宋" panose="02010609060101010101" pitchFamily="49" charset="-122"/>
              </a:rPr>
              <a:t>洪秀全的“太平天国”，</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天朝田亩制度</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提出“有田同耕，有饭同吃，有衣同穿，有钱同使，无处不均匀，无人不饱暖”的口号，是农民阶级的理想“天国”。</a:t>
            </a:r>
          </a:p>
          <a:p>
            <a:pPr fontAlgn="auto"/>
            <a:r>
              <a:rPr lang="zh-CN" altLang="en-US" sz="1800" dirty="0">
                <a:latin typeface="仿宋" panose="02010609060101010101" pitchFamily="49" charset="-122"/>
                <a:ea typeface="仿宋" panose="02010609060101010101" pitchFamily="49" charset="-122"/>
              </a:rPr>
              <a:t>康有为的“大同世界”，</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大同书</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设计的美好世界无私产、无阶级、无家族、无邦国，无帝王，人人相亲，人人平等，天下为公。</a:t>
            </a:r>
          </a:p>
          <a:p>
            <a:pPr fontAlgn="auto"/>
            <a:r>
              <a:rPr lang="zh-CN" altLang="en-US" sz="1800" dirty="0">
                <a:latin typeface="仿宋" panose="02010609060101010101" pitchFamily="49" charset="-122"/>
                <a:ea typeface="仿宋" panose="02010609060101010101" pitchFamily="49" charset="-122"/>
              </a:rPr>
              <a:t>孙中山的“三民主义”，其民生主义就是用“平均地权”方法，解决土地问题，防止贫富分化。</a:t>
            </a:r>
          </a:p>
        </p:txBody>
      </p:sp>
      <p:sp>
        <p:nvSpPr>
          <p:cNvPr id="154626" name="标题 154625"/>
          <p:cNvSpPr txBox="1">
            <a:spLocks/>
          </p:cNvSpPr>
          <p:nvPr/>
        </p:nvSpPr>
        <p:spPr>
          <a:xfrm>
            <a:off x="178981" y="4501072"/>
            <a:ext cx="5181600" cy="302194"/>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b="1" dirty="0">
                <a:solidFill>
                  <a:schemeClr val="tx1"/>
                </a:solidFill>
                <a:latin typeface="仿宋" panose="02010609060101010101" pitchFamily="49" charset="-122"/>
                <a:ea typeface="仿宋" panose="02010609060101010101" pitchFamily="49" charset="-122"/>
              </a:rPr>
              <a:t>传统大同理想追求失败原因及近现代的发展</a:t>
            </a:r>
          </a:p>
        </p:txBody>
      </p:sp>
      <p:sp>
        <p:nvSpPr>
          <p:cNvPr id="154627" name="文本占位符 154626"/>
          <p:cNvSpPr txBox="1">
            <a:spLocks/>
          </p:cNvSpPr>
          <p:nvPr/>
        </p:nvSpPr>
        <p:spPr>
          <a:xfrm>
            <a:off x="381000" y="4822704"/>
            <a:ext cx="8001000" cy="1924498"/>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dirty="0">
                <a:latin typeface="仿宋" panose="02010609060101010101" pitchFamily="49" charset="-122"/>
                <a:ea typeface="仿宋" panose="02010609060101010101" pitchFamily="49" charset="-122"/>
              </a:rPr>
              <a:t>不患寡而患不均，不患贫而患不安。</a:t>
            </a:r>
          </a:p>
          <a:p>
            <a:pPr fontAlgn="auto"/>
            <a:r>
              <a:rPr lang="zh-CN" altLang="en-US" sz="1800" dirty="0">
                <a:latin typeface="仿宋" panose="02010609060101010101" pitchFamily="49" charset="-122"/>
                <a:ea typeface="仿宋" panose="02010609060101010101" pitchFamily="49" charset="-122"/>
              </a:rPr>
              <a:t>只重生产关系的变革，忽视生产力的发展。</a:t>
            </a:r>
          </a:p>
          <a:p>
            <a:pPr fontAlgn="auto"/>
            <a:r>
              <a:rPr lang="zh-CN" altLang="en-US" sz="1800" dirty="0">
                <a:latin typeface="仿宋" panose="02010609060101010101" pitchFamily="49" charset="-122"/>
                <a:ea typeface="仿宋" panose="02010609060101010101" pitchFamily="49" charset="-122"/>
              </a:rPr>
              <a:t>毛泽东的认识和批判及其人民公社实践。</a:t>
            </a:r>
          </a:p>
          <a:p>
            <a:pPr fontAlgn="auto"/>
            <a:r>
              <a:rPr lang="zh-CN" altLang="en-US" sz="1800" dirty="0">
                <a:latin typeface="仿宋" panose="02010609060101010101" pitchFamily="49" charset="-122"/>
                <a:ea typeface="仿宋" panose="02010609060101010101" pitchFamily="49" charset="-122"/>
              </a:rPr>
              <a:t>邓小平贫穷不是社会主义的意义及改革开放的合理性：发展生产力。</a:t>
            </a:r>
          </a:p>
          <a:p>
            <a:pPr fontAlgn="auto"/>
            <a:r>
              <a:rPr lang="zh-CN" altLang="en-US" sz="1800" dirty="0">
                <a:latin typeface="仿宋" panose="02010609060101010101" pitchFamily="49" charset="-122"/>
                <a:ea typeface="仿宋" panose="02010609060101010101" pitchFamily="49" charset="-122"/>
              </a:rPr>
              <a:t>从小康社会到和谐社会的追求。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610"/>
                                        </p:tgtEl>
                                        <p:attrNameLst>
                                          <p:attrName>style.visibility</p:attrName>
                                        </p:attrNameLst>
                                      </p:cBhvr>
                                      <p:to>
                                        <p:strVal val="visible"/>
                                      </p:to>
                                    </p:set>
                                    <p:anim calcmode="lin" valueType="num">
                                      <p:cBhvr additive="base">
                                        <p:cTn id="7" dur="500" fill="hold"/>
                                        <p:tgtEl>
                                          <p:spTgt spid="68610"/>
                                        </p:tgtEl>
                                        <p:attrNameLst>
                                          <p:attrName>ppt_x</p:attrName>
                                        </p:attrNameLst>
                                      </p:cBhvr>
                                      <p:tavLst>
                                        <p:tav tm="0">
                                          <p:val>
                                            <p:strVal val="#ppt_x"/>
                                          </p:val>
                                        </p:tav>
                                        <p:tav tm="100000">
                                          <p:val>
                                            <p:strVal val="#ppt_x"/>
                                          </p:val>
                                        </p:tav>
                                      </p:tavLst>
                                    </p:anim>
                                    <p:anim calcmode="lin" valueType="num">
                                      <p:cBhvr additive="base">
                                        <p:cTn id="8" dur="500" fill="hold"/>
                                        <p:tgtEl>
                                          <p:spTgt spid="686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8611">
                                            <p:bg/>
                                          </p:spTgt>
                                        </p:tgtEl>
                                        <p:attrNameLst>
                                          <p:attrName>style.visibility</p:attrName>
                                        </p:attrNameLst>
                                      </p:cBhvr>
                                      <p:to>
                                        <p:strVal val="visible"/>
                                      </p:to>
                                    </p:set>
                                    <p:anim calcmode="lin" valueType="num">
                                      <p:cBhvr additive="base">
                                        <p:cTn id="13" dur="500" fill="hold"/>
                                        <p:tgtEl>
                                          <p:spTgt spid="68611">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68611">
                                            <p:bg/>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8611">
                                            <p:txEl>
                                              <p:pRg st="0" end="0"/>
                                            </p:txEl>
                                          </p:spTgt>
                                        </p:tgtEl>
                                        <p:attrNameLst>
                                          <p:attrName>style.visibility</p:attrName>
                                        </p:attrNameLst>
                                      </p:cBhvr>
                                      <p:to>
                                        <p:strVal val="visible"/>
                                      </p:to>
                                    </p:set>
                                    <p:anim calcmode="lin" valueType="num">
                                      <p:cBhvr additive="base">
                                        <p:cTn id="19" dur="500" fill="hold"/>
                                        <p:tgtEl>
                                          <p:spTgt spid="6861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8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8611">
                                            <p:txEl>
                                              <p:pRg st="1" end="1"/>
                                            </p:txEl>
                                          </p:spTgt>
                                        </p:tgtEl>
                                        <p:attrNameLst>
                                          <p:attrName>style.visibility</p:attrName>
                                        </p:attrNameLst>
                                      </p:cBhvr>
                                      <p:to>
                                        <p:strVal val="visible"/>
                                      </p:to>
                                    </p:set>
                                    <p:anim calcmode="lin" valueType="num">
                                      <p:cBhvr additive="base">
                                        <p:cTn id="25" dur="500" fill="hold"/>
                                        <p:tgtEl>
                                          <p:spTgt spid="68611">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8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8611">
                                            <p:txEl>
                                              <p:pRg st="2" end="2"/>
                                            </p:txEl>
                                          </p:spTgt>
                                        </p:tgtEl>
                                        <p:attrNameLst>
                                          <p:attrName>style.visibility</p:attrName>
                                        </p:attrNameLst>
                                      </p:cBhvr>
                                      <p:to>
                                        <p:strVal val="visible"/>
                                      </p:to>
                                    </p:set>
                                    <p:anim calcmode="lin" valueType="num">
                                      <p:cBhvr additive="base">
                                        <p:cTn id="31" dur="500" fill="hold"/>
                                        <p:tgtEl>
                                          <p:spTgt spid="68611">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86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9634"/>
                                        </p:tgtEl>
                                        <p:attrNameLst>
                                          <p:attrName>style.visibility</p:attrName>
                                        </p:attrNameLst>
                                      </p:cBhvr>
                                      <p:to>
                                        <p:strVal val="visible"/>
                                      </p:to>
                                    </p:set>
                                    <p:anim calcmode="lin" valueType="num">
                                      <p:cBhvr additive="base">
                                        <p:cTn id="37" dur="500" fill="hold"/>
                                        <p:tgtEl>
                                          <p:spTgt spid="69634"/>
                                        </p:tgtEl>
                                        <p:attrNameLst>
                                          <p:attrName>ppt_x</p:attrName>
                                        </p:attrNameLst>
                                      </p:cBhvr>
                                      <p:tavLst>
                                        <p:tav tm="0">
                                          <p:val>
                                            <p:strVal val="#ppt_x"/>
                                          </p:val>
                                        </p:tav>
                                        <p:tav tm="100000">
                                          <p:val>
                                            <p:strVal val="#ppt_x"/>
                                          </p:val>
                                        </p:tav>
                                      </p:tavLst>
                                    </p:anim>
                                    <p:anim calcmode="lin" valueType="num">
                                      <p:cBhvr additive="base">
                                        <p:cTn id="38" dur="500" fill="hold"/>
                                        <p:tgtEl>
                                          <p:spTgt spid="6963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9635">
                                            <p:bg/>
                                          </p:spTgt>
                                        </p:tgtEl>
                                        <p:attrNameLst>
                                          <p:attrName>style.visibility</p:attrName>
                                        </p:attrNameLst>
                                      </p:cBhvr>
                                      <p:to>
                                        <p:strVal val="visible"/>
                                      </p:to>
                                    </p:set>
                                    <p:anim calcmode="lin" valueType="num">
                                      <p:cBhvr additive="base">
                                        <p:cTn id="43" dur="500" fill="hold"/>
                                        <p:tgtEl>
                                          <p:spTgt spid="69635">
                                            <p:bg/>
                                          </p:spTgt>
                                        </p:tgtEl>
                                        <p:attrNameLst>
                                          <p:attrName>ppt_x</p:attrName>
                                        </p:attrNameLst>
                                      </p:cBhvr>
                                      <p:tavLst>
                                        <p:tav tm="0">
                                          <p:val>
                                            <p:strVal val="#ppt_x"/>
                                          </p:val>
                                        </p:tav>
                                        <p:tav tm="100000">
                                          <p:val>
                                            <p:strVal val="#ppt_x"/>
                                          </p:val>
                                        </p:tav>
                                      </p:tavLst>
                                    </p:anim>
                                    <p:anim calcmode="lin" valueType="num">
                                      <p:cBhvr additive="base">
                                        <p:cTn id="44" dur="500" fill="hold"/>
                                        <p:tgtEl>
                                          <p:spTgt spid="69635">
                                            <p:bg/>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9635">
                                            <p:txEl>
                                              <p:pRg st="0" end="0"/>
                                            </p:txEl>
                                          </p:spTgt>
                                        </p:tgtEl>
                                        <p:attrNameLst>
                                          <p:attrName>style.visibility</p:attrName>
                                        </p:attrNameLst>
                                      </p:cBhvr>
                                      <p:to>
                                        <p:strVal val="visible"/>
                                      </p:to>
                                    </p:set>
                                    <p:anim calcmode="lin" valueType="num">
                                      <p:cBhvr additive="base">
                                        <p:cTn id="49" dur="500" fill="hold"/>
                                        <p:tgtEl>
                                          <p:spTgt spid="69635">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96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9635">
                                            <p:txEl>
                                              <p:pRg st="1" end="1"/>
                                            </p:txEl>
                                          </p:spTgt>
                                        </p:tgtEl>
                                        <p:attrNameLst>
                                          <p:attrName>style.visibility</p:attrName>
                                        </p:attrNameLst>
                                      </p:cBhvr>
                                      <p:to>
                                        <p:strVal val="visible"/>
                                      </p:to>
                                    </p:set>
                                    <p:anim calcmode="lin" valueType="num">
                                      <p:cBhvr additive="base">
                                        <p:cTn id="55" dur="5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96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9635">
                                            <p:txEl>
                                              <p:pRg st="2" end="2"/>
                                            </p:txEl>
                                          </p:spTgt>
                                        </p:tgtEl>
                                        <p:attrNameLst>
                                          <p:attrName>style.visibility</p:attrName>
                                        </p:attrNameLst>
                                      </p:cBhvr>
                                      <p:to>
                                        <p:strVal val="visible"/>
                                      </p:to>
                                    </p:set>
                                    <p:anim calcmode="lin" valueType="num">
                                      <p:cBhvr additive="base">
                                        <p:cTn id="61" dur="500" fill="hold"/>
                                        <p:tgtEl>
                                          <p:spTgt spid="69635">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96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4626"/>
                                        </p:tgtEl>
                                        <p:attrNameLst>
                                          <p:attrName>style.visibility</p:attrName>
                                        </p:attrNameLst>
                                      </p:cBhvr>
                                      <p:to>
                                        <p:strVal val="visible"/>
                                      </p:to>
                                    </p:set>
                                    <p:anim calcmode="lin" valueType="num">
                                      <p:cBhvr additive="base">
                                        <p:cTn id="67" dur="500" fill="hold"/>
                                        <p:tgtEl>
                                          <p:spTgt spid="154626"/>
                                        </p:tgtEl>
                                        <p:attrNameLst>
                                          <p:attrName>ppt_x</p:attrName>
                                        </p:attrNameLst>
                                      </p:cBhvr>
                                      <p:tavLst>
                                        <p:tav tm="0">
                                          <p:val>
                                            <p:strVal val="#ppt_x"/>
                                          </p:val>
                                        </p:tav>
                                        <p:tav tm="100000">
                                          <p:val>
                                            <p:strVal val="#ppt_x"/>
                                          </p:val>
                                        </p:tav>
                                      </p:tavLst>
                                    </p:anim>
                                    <p:anim calcmode="lin" valueType="num">
                                      <p:cBhvr additive="base">
                                        <p:cTn id="68" dur="500" fill="hold"/>
                                        <p:tgtEl>
                                          <p:spTgt spid="154626"/>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154627">
                                            <p:txEl>
                                              <p:pRg st="0" end="0"/>
                                            </p:txEl>
                                          </p:spTgt>
                                        </p:tgtEl>
                                        <p:attrNameLst>
                                          <p:attrName>style.visibility</p:attrName>
                                        </p:attrNameLst>
                                      </p:cBhvr>
                                      <p:to>
                                        <p:strVal val="visible"/>
                                      </p:to>
                                    </p:set>
                                    <p:anim calcmode="lin" valueType="num">
                                      <p:cBhvr additive="base">
                                        <p:cTn id="73" dur="2000" fill="hold"/>
                                        <p:tgtEl>
                                          <p:spTgt spid="154627">
                                            <p:txEl>
                                              <p:pRg st="0" end="0"/>
                                            </p:txEl>
                                          </p:spTgt>
                                        </p:tgtEl>
                                        <p:attrNameLst>
                                          <p:attrName>ppt_x</p:attrName>
                                        </p:attrNameLst>
                                      </p:cBhvr>
                                      <p:tavLst>
                                        <p:tav tm="0">
                                          <p:val>
                                            <p:strVal val="1+#ppt_w/2"/>
                                          </p:val>
                                        </p:tav>
                                        <p:tav tm="100000">
                                          <p:val>
                                            <p:strVal val="#ppt_x"/>
                                          </p:val>
                                        </p:tav>
                                      </p:tavLst>
                                    </p:anim>
                                    <p:anim calcmode="lin" valueType="num">
                                      <p:cBhvr additive="base">
                                        <p:cTn id="74" dur="20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nodeType="clickEffect">
                                  <p:stCondLst>
                                    <p:cond delay="0"/>
                                  </p:stCondLst>
                                  <p:childTnLst>
                                    <p:set>
                                      <p:cBhvr>
                                        <p:cTn id="78" dur="1" fill="hold">
                                          <p:stCondLst>
                                            <p:cond delay="0"/>
                                          </p:stCondLst>
                                        </p:cTn>
                                        <p:tgtEl>
                                          <p:spTgt spid="154627">
                                            <p:txEl>
                                              <p:pRg st="1" end="1"/>
                                            </p:txEl>
                                          </p:spTgt>
                                        </p:tgtEl>
                                        <p:attrNameLst>
                                          <p:attrName>style.visibility</p:attrName>
                                        </p:attrNameLst>
                                      </p:cBhvr>
                                      <p:to>
                                        <p:strVal val="visible"/>
                                      </p:to>
                                    </p:set>
                                    <p:anim calcmode="lin" valueType="num">
                                      <p:cBhvr additive="base">
                                        <p:cTn id="79" dur="2000" fill="hold"/>
                                        <p:tgtEl>
                                          <p:spTgt spid="154627">
                                            <p:txEl>
                                              <p:pRg st="1" end="1"/>
                                            </p:txEl>
                                          </p:spTgt>
                                        </p:tgtEl>
                                        <p:attrNameLst>
                                          <p:attrName>ppt_x</p:attrName>
                                        </p:attrNameLst>
                                      </p:cBhvr>
                                      <p:tavLst>
                                        <p:tav tm="0">
                                          <p:val>
                                            <p:strVal val="1+#ppt_w/2"/>
                                          </p:val>
                                        </p:tav>
                                        <p:tav tm="100000">
                                          <p:val>
                                            <p:strVal val="#ppt_x"/>
                                          </p:val>
                                        </p:tav>
                                      </p:tavLst>
                                    </p:anim>
                                    <p:anim calcmode="lin" valueType="num">
                                      <p:cBhvr additive="base">
                                        <p:cTn id="80" dur="20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nodeType="clickEffect">
                                  <p:stCondLst>
                                    <p:cond delay="0"/>
                                  </p:stCondLst>
                                  <p:childTnLst>
                                    <p:set>
                                      <p:cBhvr>
                                        <p:cTn id="84" dur="1" fill="hold">
                                          <p:stCondLst>
                                            <p:cond delay="0"/>
                                          </p:stCondLst>
                                        </p:cTn>
                                        <p:tgtEl>
                                          <p:spTgt spid="154627">
                                            <p:txEl>
                                              <p:pRg st="2" end="2"/>
                                            </p:txEl>
                                          </p:spTgt>
                                        </p:tgtEl>
                                        <p:attrNameLst>
                                          <p:attrName>style.visibility</p:attrName>
                                        </p:attrNameLst>
                                      </p:cBhvr>
                                      <p:to>
                                        <p:strVal val="visible"/>
                                      </p:to>
                                    </p:set>
                                    <p:anim calcmode="lin" valueType="num">
                                      <p:cBhvr additive="base">
                                        <p:cTn id="85" dur="2000" fill="hold"/>
                                        <p:tgtEl>
                                          <p:spTgt spid="154627">
                                            <p:txEl>
                                              <p:pRg st="2" end="2"/>
                                            </p:txEl>
                                          </p:spTgt>
                                        </p:tgtEl>
                                        <p:attrNameLst>
                                          <p:attrName>ppt_x</p:attrName>
                                        </p:attrNameLst>
                                      </p:cBhvr>
                                      <p:tavLst>
                                        <p:tav tm="0">
                                          <p:val>
                                            <p:strVal val="1+#ppt_w/2"/>
                                          </p:val>
                                        </p:tav>
                                        <p:tav tm="100000">
                                          <p:val>
                                            <p:strVal val="#ppt_x"/>
                                          </p:val>
                                        </p:tav>
                                      </p:tavLst>
                                    </p:anim>
                                    <p:anim calcmode="lin" valueType="num">
                                      <p:cBhvr additive="base">
                                        <p:cTn id="86" dur="2000" fill="hold"/>
                                        <p:tgtEl>
                                          <p:spTgt spid="154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nodeType="clickEffect">
                                  <p:stCondLst>
                                    <p:cond delay="0"/>
                                  </p:stCondLst>
                                  <p:childTnLst>
                                    <p:set>
                                      <p:cBhvr>
                                        <p:cTn id="90" dur="1" fill="hold">
                                          <p:stCondLst>
                                            <p:cond delay="0"/>
                                          </p:stCondLst>
                                        </p:cTn>
                                        <p:tgtEl>
                                          <p:spTgt spid="154627">
                                            <p:txEl>
                                              <p:pRg st="3" end="3"/>
                                            </p:txEl>
                                          </p:spTgt>
                                        </p:tgtEl>
                                        <p:attrNameLst>
                                          <p:attrName>style.visibility</p:attrName>
                                        </p:attrNameLst>
                                      </p:cBhvr>
                                      <p:to>
                                        <p:strVal val="visible"/>
                                      </p:to>
                                    </p:set>
                                    <p:anim calcmode="lin" valueType="num">
                                      <p:cBhvr additive="base">
                                        <p:cTn id="91" dur="2000" fill="hold"/>
                                        <p:tgtEl>
                                          <p:spTgt spid="154627">
                                            <p:txEl>
                                              <p:pRg st="3" end="3"/>
                                            </p:txEl>
                                          </p:spTgt>
                                        </p:tgtEl>
                                        <p:attrNameLst>
                                          <p:attrName>ppt_x</p:attrName>
                                        </p:attrNameLst>
                                      </p:cBhvr>
                                      <p:tavLst>
                                        <p:tav tm="0">
                                          <p:val>
                                            <p:strVal val="1+#ppt_w/2"/>
                                          </p:val>
                                        </p:tav>
                                        <p:tav tm="100000">
                                          <p:val>
                                            <p:strVal val="#ppt_x"/>
                                          </p:val>
                                        </p:tav>
                                      </p:tavLst>
                                    </p:anim>
                                    <p:anim calcmode="lin" valueType="num">
                                      <p:cBhvr additive="base">
                                        <p:cTn id="92" dur="2000" fill="hold"/>
                                        <p:tgtEl>
                                          <p:spTgt spid="1546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nodeType="clickEffect">
                                  <p:stCondLst>
                                    <p:cond delay="0"/>
                                  </p:stCondLst>
                                  <p:childTnLst>
                                    <p:set>
                                      <p:cBhvr>
                                        <p:cTn id="96" dur="1" fill="hold">
                                          <p:stCondLst>
                                            <p:cond delay="0"/>
                                          </p:stCondLst>
                                        </p:cTn>
                                        <p:tgtEl>
                                          <p:spTgt spid="154627">
                                            <p:txEl>
                                              <p:pRg st="4" end="4"/>
                                            </p:txEl>
                                          </p:spTgt>
                                        </p:tgtEl>
                                        <p:attrNameLst>
                                          <p:attrName>style.visibility</p:attrName>
                                        </p:attrNameLst>
                                      </p:cBhvr>
                                      <p:to>
                                        <p:strVal val="visible"/>
                                      </p:to>
                                    </p:set>
                                    <p:anim calcmode="lin" valueType="num">
                                      <p:cBhvr additive="base">
                                        <p:cTn id="97" dur="2000" fill="hold"/>
                                        <p:tgtEl>
                                          <p:spTgt spid="154627">
                                            <p:txEl>
                                              <p:pRg st="4" end="4"/>
                                            </p:txEl>
                                          </p:spTgt>
                                        </p:tgtEl>
                                        <p:attrNameLst>
                                          <p:attrName>ppt_x</p:attrName>
                                        </p:attrNameLst>
                                      </p:cBhvr>
                                      <p:tavLst>
                                        <p:tav tm="0">
                                          <p:val>
                                            <p:strVal val="1+#ppt_w/2"/>
                                          </p:val>
                                        </p:tav>
                                        <p:tav tm="100000">
                                          <p:val>
                                            <p:strVal val="#ppt_x"/>
                                          </p:val>
                                        </p:tav>
                                      </p:tavLst>
                                    </p:anim>
                                    <p:anim calcmode="lin" valueType="num">
                                      <p:cBhvr additive="base">
                                        <p:cTn id="98" dur="2000" fill="hold"/>
                                        <p:tgtEl>
                                          <p:spTgt spid="15462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animBg="1"/>
      <p:bldP spid="68611" grpId="0" build="p" animBg="1"/>
      <p:bldP spid="69634" grpId="0" animBg="1"/>
      <p:bldP spid="69635" grpId="0" build="p" animBg="1"/>
      <p:bldP spid="15462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71681"/>
          <p:cNvSpPr>
            <a:spLocks noGrp="1"/>
          </p:cNvSpPr>
          <p:nvPr>
            <p:ph type="title"/>
          </p:nvPr>
        </p:nvSpPr>
        <p:spPr>
          <a:xfrm>
            <a:off x="304800" y="228600"/>
            <a:ext cx="3325290" cy="309282"/>
          </a:xfrm>
        </p:spPr>
        <p:txBody>
          <a:bodyPr anchor="ctr"/>
          <a:lstStyle/>
          <a:p>
            <a:r>
              <a:rPr lang="zh-CN" altLang="en-US" sz="2000" dirty="0">
                <a:solidFill>
                  <a:schemeClr val="tx1"/>
                </a:solidFill>
                <a:latin typeface="仿宋" panose="02010609060101010101" pitchFamily="49" charset="-122"/>
                <a:ea typeface="仿宋" panose="02010609060101010101" pitchFamily="49" charset="-122"/>
              </a:rPr>
              <a:t>西方社会理想社会观的发展 </a:t>
            </a:r>
          </a:p>
        </p:txBody>
      </p:sp>
      <p:sp>
        <p:nvSpPr>
          <p:cNvPr id="71683" name="文本占位符 71682"/>
          <p:cNvSpPr>
            <a:spLocks noGrp="1"/>
          </p:cNvSpPr>
          <p:nvPr>
            <p:ph idx="1"/>
          </p:nvPr>
        </p:nvSpPr>
        <p:spPr>
          <a:xfrm>
            <a:off x="228600" y="609600"/>
            <a:ext cx="7401900" cy="2290475"/>
          </a:xfrm>
        </p:spPr>
        <p:txBody>
          <a:bodyPr>
            <a:normAutofit/>
          </a:bodyPr>
          <a:lstStyle/>
          <a:p>
            <a:r>
              <a:rPr lang="zh-CN" altLang="en-US" sz="1800" dirty="0">
                <a:latin typeface="仿宋" panose="02010609060101010101" pitchFamily="49" charset="-122"/>
                <a:ea typeface="仿宋" panose="02010609060101010101" pitchFamily="49" charset="-122"/>
              </a:rPr>
              <a:t>柏拉图的“理想国”：理想的国家由四个等级的人组成：统治者、武士、平民、奴隶，实质是理想的奴隶社会；</a:t>
            </a:r>
          </a:p>
          <a:p>
            <a:r>
              <a:rPr lang="zh-CN" altLang="en-US" sz="1800" dirty="0">
                <a:latin typeface="仿宋" panose="02010609060101010101" pitchFamily="49" charset="-122"/>
                <a:ea typeface="仿宋" panose="02010609060101010101" pitchFamily="49" charset="-122"/>
              </a:rPr>
              <a:t>英国的莫尔描绘的“乌托邦”，意大利人康帕内拉的“太阳城”，都幻想海外有一个仙岛，那里是一个与资本主义完全对立的，没有私有制的，平等、和睦、幸福的理想社会。</a:t>
            </a:r>
          </a:p>
          <a:p>
            <a:r>
              <a:rPr lang="zh-CN" altLang="en-US" sz="1800" dirty="0">
                <a:latin typeface="仿宋" panose="02010609060101010101" pitchFamily="49" charset="-122"/>
                <a:ea typeface="仿宋" panose="02010609060101010101" pitchFamily="49" charset="-122"/>
              </a:rPr>
              <a:t>三大空想社会主义者：圣西门的实业制度、傅立叶的和谐社会、欧文的劳动公社等。</a:t>
            </a:r>
          </a:p>
        </p:txBody>
      </p:sp>
      <p:sp>
        <p:nvSpPr>
          <p:cNvPr id="82946" name="标题 82945"/>
          <p:cNvSpPr txBox="1">
            <a:spLocks/>
          </p:cNvSpPr>
          <p:nvPr/>
        </p:nvSpPr>
        <p:spPr>
          <a:xfrm>
            <a:off x="292395" y="2819400"/>
            <a:ext cx="2944290" cy="537882"/>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a:solidFill>
                  <a:schemeClr val="tx1"/>
                </a:solidFill>
                <a:latin typeface="仿宋" panose="02010609060101010101" pitchFamily="49" charset="-122"/>
                <a:ea typeface="仿宋" panose="02010609060101010101" pitchFamily="49" charset="-122"/>
              </a:rPr>
              <a:t>马克思主义的社会理想</a:t>
            </a:r>
            <a:endParaRPr lang="zh-CN" altLang="en-US" sz="2000" dirty="0">
              <a:solidFill>
                <a:schemeClr val="tx1"/>
              </a:solidFill>
              <a:latin typeface="仿宋" panose="02010609060101010101" pitchFamily="49" charset="-122"/>
              <a:ea typeface="仿宋" panose="02010609060101010101" pitchFamily="49" charset="-122"/>
            </a:endParaRPr>
          </a:p>
        </p:txBody>
      </p:sp>
      <p:sp>
        <p:nvSpPr>
          <p:cNvPr id="82947" name="文本占位符 82946"/>
          <p:cNvSpPr txBox="1">
            <a:spLocks/>
          </p:cNvSpPr>
          <p:nvPr/>
        </p:nvSpPr>
        <p:spPr>
          <a:xfrm>
            <a:off x="262268" y="3276601"/>
            <a:ext cx="8729331" cy="13716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a:latin typeface="仿宋" panose="02010609060101010101" pitchFamily="49" charset="-122"/>
                <a:ea typeface="仿宋" panose="02010609060101010101" pitchFamily="49" charset="-122"/>
              </a:rPr>
              <a:t>人类社会最终都将走向共产主义社会。在这个社会，生产力高度发展，社会产品极大丰富，实行单一的全民所有制和“各尽所能，按需分配”的原则，彻底消灭了阶级，国家已经消亡，消灭了三大差别，人类获得全面而自由的发展。</a:t>
            </a:r>
          </a:p>
          <a:p>
            <a:pPr fontAlgn="auto"/>
            <a:r>
              <a:rPr lang="zh-CN" altLang="en-US" sz="1800">
                <a:latin typeface="仿宋" panose="02010609060101010101" pitchFamily="49" charset="-122"/>
                <a:ea typeface="仿宋" panose="02010609060101010101" pitchFamily="49" charset="-122"/>
              </a:rPr>
              <a:t>这是人类历史上最理想、最进步、最美好的社会。</a:t>
            </a:r>
            <a:endParaRPr lang="zh-CN" altLang="en-US" sz="1800" dirty="0">
              <a:latin typeface="仿宋" panose="02010609060101010101" pitchFamily="49" charset="-122"/>
              <a:ea typeface="仿宋" panose="02010609060101010101" pitchFamily="49" charset="-122"/>
            </a:endParaRPr>
          </a:p>
        </p:txBody>
      </p:sp>
      <p:sp>
        <p:nvSpPr>
          <p:cNvPr id="95234" name="标题 95233"/>
          <p:cNvSpPr txBox="1">
            <a:spLocks/>
          </p:cNvSpPr>
          <p:nvPr/>
        </p:nvSpPr>
        <p:spPr>
          <a:xfrm>
            <a:off x="381000" y="4495800"/>
            <a:ext cx="3886200" cy="457199"/>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dirty="0">
                <a:latin typeface="仿宋" panose="02010609060101010101" pitchFamily="49" charset="-122"/>
                <a:ea typeface="仿宋" panose="02010609060101010101" pitchFamily="49" charset="-122"/>
              </a:rPr>
              <a:t>马克思主义具有持久的生命力</a:t>
            </a:r>
          </a:p>
        </p:txBody>
      </p:sp>
      <p:sp>
        <p:nvSpPr>
          <p:cNvPr id="95235" name="文本占位符 95234"/>
          <p:cNvSpPr txBox="1">
            <a:spLocks/>
          </p:cNvSpPr>
          <p:nvPr/>
        </p:nvSpPr>
        <p:spPr>
          <a:xfrm>
            <a:off x="381000" y="4881282"/>
            <a:ext cx="7391400" cy="685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buFont typeface="Wingdings 3" panose="05040102010807070707" charset="2"/>
              <a:buNone/>
            </a:pPr>
            <a:r>
              <a:rPr lang="zh-CN" altLang="en-US" sz="1800" b="1">
                <a:latin typeface="+mj-ea"/>
              </a:rPr>
              <a:t>马克思主义具有与时俱进的理论品质，是一个开放的理论体系。马克思主义发展史是一部不断发展、完善和创新的历史。</a:t>
            </a:r>
            <a:r>
              <a:rPr lang="zh-CN" altLang="en-US" sz="1800">
                <a:latin typeface="+mj-ea"/>
              </a:rPr>
              <a:t> </a:t>
            </a:r>
            <a:endParaRPr lang="zh-CN" altLang="en-US" sz="1800" dirty="0">
              <a:latin typeface="+mj-ea"/>
            </a:endParaRPr>
          </a:p>
        </p:txBody>
      </p:sp>
      <p:sp>
        <p:nvSpPr>
          <p:cNvPr id="75779" name="文本占位符 75778"/>
          <p:cNvSpPr txBox="1">
            <a:spLocks/>
          </p:cNvSpPr>
          <p:nvPr/>
        </p:nvSpPr>
        <p:spPr>
          <a:xfrm>
            <a:off x="381000" y="5520019"/>
            <a:ext cx="3886200" cy="533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buFont typeface="Wingdings 3" panose="05040102010807070707" charset="2"/>
              <a:buNone/>
            </a:pPr>
            <a:r>
              <a:rPr lang="zh-CN" altLang="en-US" b="1">
                <a:latin typeface="仿宋" panose="02010609060101010101" pitchFamily="49" charset="-122"/>
                <a:ea typeface="仿宋" panose="02010609060101010101" pitchFamily="49" charset="-122"/>
              </a:rPr>
              <a:t>马克思主义以改造世界为己任</a:t>
            </a:r>
            <a:endParaRPr lang="zh-CN" altLang="en-US" b="1" dirty="0">
              <a:latin typeface="仿宋" panose="02010609060101010101" pitchFamily="49" charset="-122"/>
              <a:ea typeface="仿宋" panose="02010609060101010101" pitchFamily="49" charset="-122"/>
            </a:endParaRPr>
          </a:p>
        </p:txBody>
      </p:sp>
      <p:sp>
        <p:nvSpPr>
          <p:cNvPr id="139267" name="文本占位符 139266"/>
          <p:cNvSpPr txBox="1">
            <a:spLocks/>
          </p:cNvSpPr>
          <p:nvPr/>
        </p:nvSpPr>
        <p:spPr>
          <a:xfrm>
            <a:off x="384544" y="5901019"/>
            <a:ext cx="6858000" cy="838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lnSpc>
                <a:spcPct val="90000"/>
              </a:lnSpc>
              <a:buNone/>
            </a:pPr>
            <a:r>
              <a:rPr lang="zh-CN" altLang="en-US" sz="1800" b="1" dirty="0">
                <a:latin typeface="仿宋" panose="02010609060101010101" pitchFamily="49" charset="-122"/>
                <a:ea typeface="仿宋" panose="02010609060101010101" pitchFamily="49" charset="-122"/>
              </a:rPr>
              <a:t>自由、平等、公正、法治，是马克思主义的社会理想，也是社会主义的价值理想，它体现了广大人民普遍追求的精神价值，也是对中国特色社会主义的价值理念认同。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682"/>
                                        </p:tgtEl>
                                        <p:attrNameLst>
                                          <p:attrName>style.visibility</p:attrName>
                                        </p:attrNameLst>
                                      </p:cBhvr>
                                      <p:to>
                                        <p:strVal val="visible"/>
                                      </p:to>
                                    </p:set>
                                    <p:anim calcmode="lin" valueType="num">
                                      <p:cBhvr additive="base">
                                        <p:cTn id="7" dur="500" fill="hold"/>
                                        <p:tgtEl>
                                          <p:spTgt spid="71682"/>
                                        </p:tgtEl>
                                        <p:attrNameLst>
                                          <p:attrName>ppt_x</p:attrName>
                                        </p:attrNameLst>
                                      </p:cBhvr>
                                      <p:tavLst>
                                        <p:tav tm="0">
                                          <p:val>
                                            <p:strVal val="#ppt_x"/>
                                          </p:val>
                                        </p:tav>
                                        <p:tav tm="100000">
                                          <p:val>
                                            <p:strVal val="#ppt_x"/>
                                          </p:val>
                                        </p:tav>
                                      </p:tavLst>
                                    </p:anim>
                                    <p:anim calcmode="lin" valueType="num">
                                      <p:cBhvr additive="base">
                                        <p:cTn id="8" dur="500" fill="hold"/>
                                        <p:tgtEl>
                                          <p:spTgt spid="716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683">
                                            <p:bg/>
                                          </p:spTgt>
                                        </p:tgtEl>
                                        <p:attrNameLst>
                                          <p:attrName>style.visibility</p:attrName>
                                        </p:attrNameLst>
                                      </p:cBhvr>
                                      <p:to>
                                        <p:strVal val="visible"/>
                                      </p:to>
                                    </p:set>
                                    <p:anim calcmode="lin" valueType="num">
                                      <p:cBhvr additive="base">
                                        <p:cTn id="13" dur="500" fill="hold"/>
                                        <p:tgtEl>
                                          <p:spTgt spid="71683">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71683">
                                            <p:bg/>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683">
                                            <p:txEl>
                                              <p:pRg st="0" end="0"/>
                                            </p:txEl>
                                          </p:spTgt>
                                        </p:tgtEl>
                                        <p:attrNameLst>
                                          <p:attrName>style.visibility</p:attrName>
                                        </p:attrNameLst>
                                      </p:cBhvr>
                                      <p:to>
                                        <p:strVal val="visible"/>
                                      </p:to>
                                    </p:set>
                                    <p:anim calcmode="lin" valueType="num">
                                      <p:cBhvr additive="base">
                                        <p:cTn id="19" dur="500" fill="hold"/>
                                        <p:tgtEl>
                                          <p:spTgt spid="7168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6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683">
                                            <p:txEl>
                                              <p:pRg st="1" end="1"/>
                                            </p:txEl>
                                          </p:spTgt>
                                        </p:tgtEl>
                                        <p:attrNameLst>
                                          <p:attrName>style.visibility</p:attrName>
                                        </p:attrNameLst>
                                      </p:cBhvr>
                                      <p:to>
                                        <p:strVal val="visible"/>
                                      </p:to>
                                    </p:set>
                                    <p:anim calcmode="lin" valueType="num">
                                      <p:cBhvr additive="base">
                                        <p:cTn id="25" dur="500" fill="hold"/>
                                        <p:tgtEl>
                                          <p:spTgt spid="7168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6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1683">
                                            <p:txEl>
                                              <p:pRg st="2" end="2"/>
                                            </p:txEl>
                                          </p:spTgt>
                                        </p:tgtEl>
                                        <p:attrNameLst>
                                          <p:attrName>style.visibility</p:attrName>
                                        </p:attrNameLst>
                                      </p:cBhvr>
                                      <p:to>
                                        <p:strVal val="visible"/>
                                      </p:to>
                                    </p:set>
                                    <p:anim calcmode="lin" valueType="num">
                                      <p:cBhvr additive="base">
                                        <p:cTn id="31" dur="500" fill="hold"/>
                                        <p:tgtEl>
                                          <p:spTgt spid="7168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6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2946"/>
                                        </p:tgtEl>
                                        <p:attrNameLst>
                                          <p:attrName>style.visibility</p:attrName>
                                        </p:attrNameLst>
                                      </p:cBhvr>
                                      <p:to>
                                        <p:strVal val="visible"/>
                                      </p:to>
                                    </p:set>
                                    <p:anim calcmode="lin" valueType="num">
                                      <p:cBhvr additive="base">
                                        <p:cTn id="37" dur="500" fill="hold"/>
                                        <p:tgtEl>
                                          <p:spTgt spid="82946"/>
                                        </p:tgtEl>
                                        <p:attrNameLst>
                                          <p:attrName>ppt_x</p:attrName>
                                        </p:attrNameLst>
                                      </p:cBhvr>
                                      <p:tavLst>
                                        <p:tav tm="0">
                                          <p:val>
                                            <p:strVal val="#ppt_x"/>
                                          </p:val>
                                        </p:tav>
                                        <p:tav tm="100000">
                                          <p:val>
                                            <p:strVal val="#ppt_x"/>
                                          </p:val>
                                        </p:tav>
                                      </p:tavLst>
                                    </p:anim>
                                    <p:anim calcmode="lin" valueType="num">
                                      <p:cBhvr additive="base">
                                        <p:cTn id="38" dur="500" fill="hold"/>
                                        <p:tgtEl>
                                          <p:spTgt spid="8294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2947">
                                            <p:bg/>
                                          </p:spTgt>
                                        </p:tgtEl>
                                        <p:attrNameLst>
                                          <p:attrName>style.visibility</p:attrName>
                                        </p:attrNameLst>
                                      </p:cBhvr>
                                      <p:to>
                                        <p:strVal val="visible"/>
                                      </p:to>
                                    </p:set>
                                    <p:anim calcmode="lin" valueType="num">
                                      <p:cBhvr additive="base">
                                        <p:cTn id="43" dur="500" fill="hold"/>
                                        <p:tgtEl>
                                          <p:spTgt spid="82947">
                                            <p:bg/>
                                          </p:spTgt>
                                        </p:tgtEl>
                                        <p:attrNameLst>
                                          <p:attrName>ppt_x</p:attrName>
                                        </p:attrNameLst>
                                      </p:cBhvr>
                                      <p:tavLst>
                                        <p:tav tm="0">
                                          <p:val>
                                            <p:strVal val="#ppt_x"/>
                                          </p:val>
                                        </p:tav>
                                        <p:tav tm="100000">
                                          <p:val>
                                            <p:strVal val="#ppt_x"/>
                                          </p:val>
                                        </p:tav>
                                      </p:tavLst>
                                    </p:anim>
                                    <p:anim calcmode="lin" valueType="num">
                                      <p:cBhvr additive="base">
                                        <p:cTn id="44" dur="500" fill="hold"/>
                                        <p:tgtEl>
                                          <p:spTgt spid="82947">
                                            <p:bg/>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2947">
                                            <p:txEl>
                                              <p:pRg st="0" end="0"/>
                                            </p:txEl>
                                          </p:spTgt>
                                        </p:tgtEl>
                                        <p:attrNameLst>
                                          <p:attrName>style.visibility</p:attrName>
                                        </p:attrNameLst>
                                      </p:cBhvr>
                                      <p:to>
                                        <p:strVal val="visible"/>
                                      </p:to>
                                    </p:set>
                                    <p:anim calcmode="lin" valueType="num">
                                      <p:cBhvr additive="base">
                                        <p:cTn id="49" dur="500" fill="hold"/>
                                        <p:tgtEl>
                                          <p:spTgt spid="82947">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29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2947">
                                            <p:txEl>
                                              <p:pRg st="1" end="1"/>
                                            </p:txEl>
                                          </p:spTgt>
                                        </p:tgtEl>
                                        <p:attrNameLst>
                                          <p:attrName>style.visibility</p:attrName>
                                        </p:attrNameLst>
                                      </p:cBhvr>
                                      <p:to>
                                        <p:strVal val="visible"/>
                                      </p:to>
                                    </p:set>
                                    <p:anim calcmode="lin" valueType="num">
                                      <p:cBhvr additive="base">
                                        <p:cTn id="55" dur="500" fill="hold"/>
                                        <p:tgtEl>
                                          <p:spTgt spid="82947">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29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5234"/>
                                        </p:tgtEl>
                                        <p:attrNameLst>
                                          <p:attrName>style.visibility</p:attrName>
                                        </p:attrNameLst>
                                      </p:cBhvr>
                                      <p:to>
                                        <p:strVal val="visible"/>
                                      </p:to>
                                    </p:set>
                                    <p:anim calcmode="lin" valueType="num">
                                      <p:cBhvr additive="base">
                                        <p:cTn id="61" dur="500" fill="hold"/>
                                        <p:tgtEl>
                                          <p:spTgt spid="95234"/>
                                        </p:tgtEl>
                                        <p:attrNameLst>
                                          <p:attrName>ppt_x</p:attrName>
                                        </p:attrNameLst>
                                      </p:cBhvr>
                                      <p:tavLst>
                                        <p:tav tm="0">
                                          <p:val>
                                            <p:strVal val="#ppt_x"/>
                                          </p:val>
                                        </p:tav>
                                        <p:tav tm="100000">
                                          <p:val>
                                            <p:strVal val="#ppt_x"/>
                                          </p:val>
                                        </p:tav>
                                      </p:tavLst>
                                    </p:anim>
                                    <p:anim calcmode="lin" valueType="num">
                                      <p:cBhvr additive="base">
                                        <p:cTn id="62" dur="500" fill="hold"/>
                                        <p:tgtEl>
                                          <p:spTgt spid="9523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95235">
                                            <p:txEl>
                                              <p:pRg st="0" end="0"/>
                                            </p:txEl>
                                          </p:spTgt>
                                        </p:tgtEl>
                                        <p:attrNameLst>
                                          <p:attrName>style.visibility</p:attrName>
                                        </p:attrNameLst>
                                      </p:cBhvr>
                                      <p:to>
                                        <p:strVal val="visible"/>
                                      </p:to>
                                    </p:set>
                                    <p:anim calcmode="lin" valueType="num">
                                      <p:cBhvr additive="base">
                                        <p:cTn id="67" dur="500" fill="hold"/>
                                        <p:tgtEl>
                                          <p:spTgt spid="95235">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52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75779">
                                            <p:txEl>
                                              <p:pRg st="0" end="0"/>
                                            </p:txEl>
                                          </p:spTgt>
                                        </p:tgtEl>
                                        <p:attrNameLst>
                                          <p:attrName>style.visibility</p:attrName>
                                        </p:attrNameLst>
                                      </p:cBhvr>
                                      <p:to>
                                        <p:strVal val="visible"/>
                                      </p:to>
                                    </p:set>
                                    <p:anim calcmode="lin" valueType="num">
                                      <p:cBhvr additive="base">
                                        <p:cTn id="73" dur="500" fill="hold"/>
                                        <p:tgtEl>
                                          <p:spTgt spid="75779">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757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39267">
                                            <p:txEl>
                                              <p:pRg st="0" end="0"/>
                                            </p:txEl>
                                          </p:spTgt>
                                        </p:tgtEl>
                                        <p:attrNameLst>
                                          <p:attrName>style.visibility</p:attrName>
                                        </p:attrNameLst>
                                      </p:cBhvr>
                                      <p:to>
                                        <p:strVal val="visible"/>
                                      </p:to>
                                    </p:set>
                                    <p:anim calcmode="lin" valueType="num">
                                      <p:cBhvr additive="base">
                                        <p:cTn id="79" dur="500" fill="hold"/>
                                        <p:tgtEl>
                                          <p:spTgt spid="139267">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3926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nimBg="1"/>
      <p:bldP spid="71683" grpId="0" build="p" animBg="1"/>
      <p:bldP spid="82946" grpId="0" animBg="1"/>
      <p:bldP spid="82947" grpId="0" build="p" animBg="1"/>
      <p:bldP spid="95234" grpId="0" animBg="1"/>
      <p:bldP spid="75779" grpId="0" build="p"/>
      <p:bldP spid="13926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文本占位符 76802"/>
          <p:cNvSpPr>
            <a:spLocks noGrp="1"/>
          </p:cNvSpPr>
          <p:nvPr>
            <p:ph idx="1"/>
          </p:nvPr>
        </p:nvSpPr>
        <p:spPr>
          <a:xfrm>
            <a:off x="190500" y="838200"/>
            <a:ext cx="7696200" cy="1219200"/>
          </a:xfrm>
        </p:spPr>
        <p:txBody>
          <a:bodyPr>
            <a:normAutofit/>
          </a:bodyPr>
          <a:lstStyle/>
          <a:p>
            <a:pPr>
              <a:buNone/>
            </a:pPr>
            <a:r>
              <a:rPr lang="en-US" altLang="zh-CN" sz="1800" b="1" dirty="0">
                <a:solidFill>
                  <a:srgbClr val="FFFF00"/>
                </a:solidFill>
                <a:latin typeface="+mj-ea"/>
              </a:rPr>
              <a:t>1</a:t>
            </a:r>
            <a:r>
              <a:rPr lang="zh-CN" altLang="en-US" sz="1800" b="1" dirty="0">
                <a:solidFill>
                  <a:srgbClr val="FFFF00"/>
                </a:solidFill>
                <a:latin typeface="+mj-ea"/>
              </a:rPr>
              <a:t>、坚定对中国共产党的信任</a:t>
            </a:r>
            <a:endParaRPr lang="en-US" altLang="zh-CN" sz="1800" b="1" dirty="0">
              <a:solidFill>
                <a:srgbClr val="FFFF00"/>
              </a:solidFill>
              <a:latin typeface="+mj-ea"/>
            </a:endParaRPr>
          </a:p>
          <a:p>
            <a:pPr>
              <a:buNone/>
            </a:pPr>
            <a:r>
              <a:rPr lang="zh-CN" altLang="en-US" sz="1800" b="1" dirty="0">
                <a:latin typeface="+mj-ea"/>
              </a:rPr>
              <a:t>看历史，只有共产党才找到了国家民族的出路，其他的政党都无法做到；</a:t>
            </a:r>
          </a:p>
          <a:p>
            <a:pPr>
              <a:buNone/>
            </a:pPr>
            <a:r>
              <a:rPr lang="zh-CN" altLang="en-US" sz="1800" b="1" dirty="0">
                <a:latin typeface="+mj-ea"/>
              </a:rPr>
              <a:t>在当今，也只有中国共产党，才能领导中国人民建设中国特色社会主义。</a:t>
            </a:r>
            <a:r>
              <a:rPr lang="zh-CN" altLang="en-US" sz="1800" dirty="0">
                <a:latin typeface="+mj-ea"/>
              </a:rPr>
              <a:t> </a:t>
            </a:r>
          </a:p>
        </p:txBody>
      </p:sp>
      <p:sp>
        <p:nvSpPr>
          <p:cNvPr id="2" name="文本框 1">
            <a:extLst>
              <a:ext uri="{FF2B5EF4-FFF2-40B4-BE49-F238E27FC236}">
                <a16:creationId xmlns:a16="http://schemas.microsoft.com/office/drawing/2014/main" id="{18EBCEB7-5DB3-7BA6-5777-DCB33C029C3C}"/>
              </a:ext>
            </a:extLst>
          </p:cNvPr>
          <p:cNvSpPr txBox="1"/>
          <p:nvPr/>
        </p:nvSpPr>
        <p:spPr>
          <a:xfrm>
            <a:off x="76200" y="304800"/>
            <a:ext cx="3962400" cy="400110"/>
          </a:xfrm>
          <a:prstGeom prst="rect">
            <a:avLst/>
          </a:prstGeom>
          <a:noFill/>
        </p:spPr>
        <p:txBody>
          <a:bodyPr wrap="square" rtlCol="0">
            <a:spAutoFit/>
          </a:bodyPr>
          <a:lstStyle/>
          <a:p>
            <a:r>
              <a:rPr lang="zh-CN" altLang="en-US" sz="2000" dirty="0">
                <a:solidFill>
                  <a:schemeClr val="tx1"/>
                </a:solidFill>
                <a:latin typeface="仿宋" panose="02010609060101010101" pitchFamily="49" charset="-122"/>
                <a:ea typeface="仿宋" panose="02010609060101010101" pitchFamily="49" charset="-122"/>
              </a:rPr>
              <a:t>树立中国特色社会主义共同理想</a:t>
            </a:r>
          </a:p>
        </p:txBody>
      </p:sp>
      <p:sp>
        <p:nvSpPr>
          <p:cNvPr id="96261" name="矩形 96260"/>
          <p:cNvSpPr/>
          <p:nvPr/>
        </p:nvSpPr>
        <p:spPr>
          <a:xfrm>
            <a:off x="190500" y="2006024"/>
            <a:ext cx="3300904" cy="369332"/>
          </a:xfrm>
          <a:prstGeom prst="rect">
            <a:avLst/>
          </a:prstGeom>
          <a:noFill/>
          <a:ln w="9525">
            <a:noFill/>
          </a:ln>
        </p:spPr>
        <p:txBody>
          <a:bodyPr wrap="none" anchor="t">
            <a:spAutoFit/>
          </a:bodyPr>
          <a:lstStyle/>
          <a:p>
            <a:pPr>
              <a:buClr>
                <a:schemeClr val="hlink"/>
              </a:buClr>
              <a:buSzPct val="70000"/>
            </a:pPr>
            <a:r>
              <a:rPr lang="en-US" altLang="zh-CN" sz="1800" b="0" dirty="0">
                <a:solidFill>
                  <a:srgbClr val="FFFF00"/>
                </a:solidFill>
                <a:effectLst>
                  <a:outerShdw blurRad="38100" dist="38100" dir="2700000">
                    <a:srgbClr val="000000"/>
                  </a:outerShdw>
                </a:effectLst>
                <a:latin typeface="+mj-ea"/>
                <a:ea typeface="+mj-ea"/>
              </a:rPr>
              <a:t>2</a:t>
            </a:r>
            <a:r>
              <a:rPr lang="zh-CN" altLang="en-US" sz="1800" b="0" dirty="0">
                <a:solidFill>
                  <a:srgbClr val="FFFF00"/>
                </a:solidFill>
                <a:effectLst>
                  <a:outerShdw blurRad="38100" dist="38100" dir="2700000">
                    <a:srgbClr val="000000"/>
                  </a:outerShdw>
                </a:effectLst>
                <a:latin typeface="+mj-ea"/>
                <a:ea typeface="+mj-ea"/>
              </a:rPr>
              <a:t>、坚定中国特色社会主义信念</a:t>
            </a:r>
          </a:p>
        </p:txBody>
      </p:sp>
      <p:sp>
        <p:nvSpPr>
          <p:cNvPr id="97285" name="矩形 97284"/>
          <p:cNvSpPr/>
          <p:nvPr/>
        </p:nvSpPr>
        <p:spPr>
          <a:xfrm>
            <a:off x="190500" y="2438400"/>
            <a:ext cx="4020652" cy="369332"/>
          </a:xfrm>
          <a:prstGeom prst="rect">
            <a:avLst/>
          </a:prstGeom>
          <a:noFill/>
          <a:ln w="9525">
            <a:noFill/>
          </a:ln>
        </p:spPr>
        <p:txBody>
          <a:bodyPr wrap="none" anchor="t">
            <a:spAutoFit/>
          </a:bodyPr>
          <a:lstStyle/>
          <a:p>
            <a:pPr>
              <a:buClr>
                <a:schemeClr val="hlink"/>
              </a:buClr>
              <a:buSzPct val="70000"/>
            </a:pPr>
            <a:r>
              <a:rPr lang="en-US" altLang="zh-CN" sz="1800" dirty="0">
                <a:solidFill>
                  <a:srgbClr val="FFFF00"/>
                </a:solidFill>
                <a:effectLst>
                  <a:outerShdw blurRad="38100" dist="38100" dir="2700000">
                    <a:srgbClr val="000000"/>
                  </a:outerShdw>
                </a:effectLst>
                <a:latin typeface="+mj-ea"/>
                <a:ea typeface="+mj-ea"/>
              </a:rPr>
              <a:t>3</a:t>
            </a:r>
            <a:r>
              <a:rPr lang="zh-CN" altLang="en-US" sz="1800" dirty="0">
                <a:solidFill>
                  <a:srgbClr val="FFFF00"/>
                </a:solidFill>
                <a:effectLst>
                  <a:outerShdw blurRad="38100" dist="38100" dir="2700000">
                    <a:srgbClr val="000000"/>
                  </a:outerShdw>
                </a:effectLst>
                <a:latin typeface="+mj-ea"/>
                <a:ea typeface="+mj-ea"/>
              </a:rPr>
              <a:t>、坚定实现中华民族伟大复兴的信心</a:t>
            </a:r>
          </a:p>
        </p:txBody>
      </p:sp>
      <p:sp>
        <p:nvSpPr>
          <p:cNvPr id="3" name="文本占位符 97282">
            <a:extLst>
              <a:ext uri="{FF2B5EF4-FFF2-40B4-BE49-F238E27FC236}">
                <a16:creationId xmlns:a16="http://schemas.microsoft.com/office/drawing/2014/main" id="{D036533A-D790-2F21-FDB1-BD73A2B64B76}"/>
              </a:ext>
            </a:extLst>
          </p:cNvPr>
          <p:cNvSpPr txBox="1">
            <a:spLocks/>
          </p:cNvSpPr>
          <p:nvPr/>
        </p:nvSpPr>
        <p:spPr>
          <a:xfrm>
            <a:off x="-76200" y="2438400"/>
            <a:ext cx="4018450" cy="236220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buFont typeface="Wingdings 3" panose="05040102010807070707" charset="2"/>
              <a:buNone/>
            </a:pPr>
            <a:endParaRPr lang="en-US" altLang="zh-CN" sz="1800" b="1" dirty="0">
              <a:solidFill>
                <a:srgbClr val="FFFF00"/>
              </a:solidFill>
              <a:latin typeface="+mj-ea"/>
            </a:endParaRPr>
          </a:p>
          <a:p>
            <a:pPr fontAlgn="auto">
              <a:buFont typeface="Wingdings 3" panose="05040102010807070707" charset="2"/>
              <a:buNone/>
            </a:pPr>
            <a:r>
              <a:rPr lang="en-US" altLang="zh-CN" sz="1800" b="1" dirty="0">
                <a:latin typeface="+mj-ea"/>
              </a:rPr>
              <a:t>    </a:t>
            </a:r>
            <a:r>
              <a:rPr lang="zh-CN" altLang="en-US" sz="1800" b="1" dirty="0">
                <a:latin typeface="+mj-ea"/>
              </a:rPr>
              <a:t>落后之时，我们依然满怀希望</a:t>
            </a:r>
            <a:r>
              <a:rPr lang="en-US" altLang="zh-CN" sz="1800" b="1" dirty="0">
                <a:latin typeface="+mj-ea"/>
              </a:rPr>
              <a:t>;</a:t>
            </a:r>
          </a:p>
          <a:p>
            <a:pPr fontAlgn="auto">
              <a:buFont typeface="Wingdings 3" panose="05040102010807070707" charset="2"/>
              <a:buNone/>
            </a:pPr>
            <a:r>
              <a:rPr lang="en-US" altLang="zh-CN" sz="1800" b="1" dirty="0">
                <a:latin typeface="+mj-ea"/>
              </a:rPr>
              <a:t>  </a:t>
            </a:r>
            <a:r>
              <a:rPr lang="zh-CN" altLang="en-US" sz="1800" b="1" dirty="0">
                <a:latin typeface="+mj-ea"/>
              </a:rPr>
              <a:t>发展之中，我们更应有信心。</a:t>
            </a:r>
          </a:p>
          <a:p>
            <a:pPr fontAlgn="auto">
              <a:buFont typeface="Wingdings 3" panose="05040102010807070707" charset="2"/>
              <a:buNone/>
            </a:pPr>
            <a:r>
              <a:rPr lang="zh-CN" altLang="en-US" sz="1800" b="1" dirty="0">
                <a:latin typeface="+mj-ea"/>
              </a:rPr>
              <a:t>  李大钊：“要知在艰难的国运中建  </a:t>
            </a:r>
          </a:p>
          <a:p>
            <a:pPr fontAlgn="auto">
              <a:buFont typeface="Wingdings 3" panose="05040102010807070707" charset="2"/>
              <a:buNone/>
            </a:pPr>
            <a:r>
              <a:rPr lang="zh-CN" altLang="en-US" sz="1800" b="1" dirty="0">
                <a:latin typeface="+mj-ea"/>
              </a:rPr>
              <a:t>  造国家，亦是人生最有趣的事”。</a:t>
            </a:r>
            <a:r>
              <a:rPr lang="zh-CN" altLang="en-US" sz="1800" dirty="0">
                <a:latin typeface="+mj-ea"/>
              </a:rPr>
              <a:t> </a:t>
            </a:r>
          </a:p>
        </p:txBody>
      </p:sp>
      <p:sp>
        <p:nvSpPr>
          <p:cNvPr id="4" name="标题 137217">
            <a:extLst>
              <a:ext uri="{FF2B5EF4-FFF2-40B4-BE49-F238E27FC236}">
                <a16:creationId xmlns:a16="http://schemas.microsoft.com/office/drawing/2014/main" id="{FCB5BF0C-EC15-391D-E35C-959C9000427C}"/>
              </a:ext>
            </a:extLst>
          </p:cNvPr>
          <p:cNvSpPr>
            <a:spLocks noGrp="1"/>
          </p:cNvSpPr>
          <p:nvPr>
            <p:ph type="title"/>
          </p:nvPr>
        </p:nvSpPr>
        <p:spPr>
          <a:xfrm>
            <a:off x="217081" y="4380003"/>
            <a:ext cx="1877490" cy="322438"/>
          </a:xfrm>
        </p:spPr>
        <p:txBody>
          <a:bodyPr anchor="ctr"/>
          <a:lstStyle/>
          <a:p>
            <a:r>
              <a:rPr lang="zh-CN" altLang="en-US" sz="2000" dirty="0">
                <a:latin typeface="+mj-ea"/>
              </a:rPr>
              <a:t>“三个倡导”</a:t>
            </a:r>
          </a:p>
        </p:txBody>
      </p:sp>
      <p:sp>
        <p:nvSpPr>
          <p:cNvPr id="137220" name="矩形 137219"/>
          <p:cNvSpPr/>
          <p:nvPr/>
        </p:nvSpPr>
        <p:spPr>
          <a:xfrm>
            <a:off x="190500" y="4863645"/>
            <a:ext cx="3657600" cy="1143000"/>
          </a:xfrm>
          <a:prstGeom prst="rect">
            <a:avLst/>
          </a:prstGeom>
          <a:noFill/>
          <a:ln w="12700" cap="flat" cmpd="sng">
            <a:solidFill>
              <a:srgbClr val="FF0000"/>
            </a:solidFill>
            <a:prstDash val="solid"/>
            <a:miter/>
            <a:headEnd type="none" w="med" len="med"/>
            <a:tailEnd type="none" w="med" len="med"/>
          </a:ln>
        </p:spPr>
        <p:txBody>
          <a:bodyPr/>
          <a:lstStyle>
            <a:lvl1pPr marL="34290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sz="3200" u="none" kern="1200" baseline="0">
                <a:solidFill>
                  <a:schemeClr val="tx1"/>
                </a:solidFill>
                <a:effectLst>
                  <a:outerShdw blurRad="38100" dist="38100" dir="2700000">
                    <a:srgbClr val="000000"/>
                  </a:outerShdw>
                </a:effectLst>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1"/>
              </a:buClr>
              <a:buSzTx/>
              <a:buFontTx/>
              <a:buChar char="–"/>
              <a:defRPr sz="2800" b="0" i="0" u="none" kern="1200" baseline="0">
                <a:solidFill>
                  <a:schemeClr val="tx1"/>
                </a:solidFill>
                <a:effectLst>
                  <a:outerShdw blurRad="38100" dist="38100" dir="2700000">
                    <a:srgbClr val="000000"/>
                  </a:outerShdw>
                </a:effectLst>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sz="2400" b="0" i="0" u="none" kern="1200" baseline="0">
                <a:solidFill>
                  <a:schemeClr val="tx1"/>
                </a:solidFill>
                <a:effectLst>
                  <a:outerShdw blurRad="38100" dist="38100" dir="2700000">
                    <a:srgbClr val="000000"/>
                  </a:outerShdw>
                </a:effectLst>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1"/>
              </a:buClr>
              <a:buSzTx/>
              <a:buFontTx/>
              <a:buChar char="–"/>
              <a:defRPr sz="2000" b="0" i="0" u="none" kern="1200" baseline="0">
                <a:solidFill>
                  <a:schemeClr val="tx1"/>
                </a:solidFill>
                <a:effectLst>
                  <a:outerShdw blurRad="38100" dist="38100" dir="2700000">
                    <a:srgbClr val="000000"/>
                  </a:outerShdw>
                </a:effectLst>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sz="2000" b="0" i="0" u="none" kern="1200" baseline="0">
                <a:solidFill>
                  <a:schemeClr val="tx1"/>
                </a:solidFill>
                <a:effectLst>
                  <a:outerShdw blurRad="38100" dist="38100" dir="2700000">
                    <a:srgbClr val="000000"/>
                  </a:outerShdw>
                </a:effectLst>
                <a:latin typeface="Tahoma" panose="020B0604030504040204" pitchFamily="34" charset="0"/>
                <a:ea typeface="宋体" panose="02010600030101010101" pitchFamily="2" charset="-122"/>
              </a:defRPr>
            </a:lvl5pPr>
          </a:lstStyle>
          <a:p>
            <a:pPr lvl="0">
              <a:buNone/>
            </a:pPr>
            <a:r>
              <a:rPr lang="en-US" altLang="zh-CN" sz="1800" b="0" dirty="0">
                <a:latin typeface="+mj-ea"/>
                <a:ea typeface="+mj-ea"/>
              </a:rPr>
              <a:t>  </a:t>
            </a:r>
            <a:r>
              <a:rPr lang="zh-CN" altLang="en-US" sz="1800" b="1" dirty="0">
                <a:latin typeface="+mj-ea"/>
                <a:ea typeface="+mj-ea"/>
              </a:rPr>
              <a:t>倡导富强、民主、文明、和谐，</a:t>
            </a:r>
          </a:p>
          <a:p>
            <a:pPr lvl="0">
              <a:buNone/>
            </a:pPr>
            <a:r>
              <a:rPr lang="zh-CN" altLang="en-US" sz="1800" b="1" dirty="0">
                <a:latin typeface="+mj-ea"/>
                <a:ea typeface="+mj-ea"/>
              </a:rPr>
              <a:t>  倡导自由、平等、公正、法治，</a:t>
            </a:r>
          </a:p>
          <a:p>
            <a:pPr lvl="0">
              <a:buNone/>
            </a:pPr>
            <a:r>
              <a:rPr lang="zh-CN" altLang="en-US" sz="1800" b="1" dirty="0">
                <a:latin typeface="+mj-ea"/>
                <a:ea typeface="+mj-ea"/>
              </a:rPr>
              <a:t>  倡导爱国、敬业、诚信、友善。</a:t>
            </a:r>
          </a:p>
        </p:txBody>
      </p:sp>
      <p:sp>
        <p:nvSpPr>
          <p:cNvPr id="138242" name="标题 138241"/>
          <p:cNvSpPr txBox="1">
            <a:spLocks/>
          </p:cNvSpPr>
          <p:nvPr/>
        </p:nvSpPr>
        <p:spPr>
          <a:xfrm>
            <a:off x="4114800" y="1961945"/>
            <a:ext cx="2944290" cy="413411"/>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1800" dirty="0">
                <a:latin typeface="+mj-ea"/>
              </a:rPr>
              <a:t>三个倡导是理想追求的体现</a:t>
            </a:r>
          </a:p>
        </p:txBody>
      </p:sp>
      <p:sp>
        <p:nvSpPr>
          <p:cNvPr id="138243" name="文本占位符 138242"/>
          <p:cNvSpPr txBox="1">
            <a:spLocks/>
          </p:cNvSpPr>
          <p:nvPr/>
        </p:nvSpPr>
        <p:spPr>
          <a:xfrm>
            <a:off x="4114800" y="2282262"/>
            <a:ext cx="4825916"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fontAlgn="auto">
              <a:buNone/>
            </a:pPr>
            <a:r>
              <a:rPr lang="zh-CN" altLang="en-US" sz="1800" b="1" dirty="0">
                <a:latin typeface="+mj-ea"/>
              </a:rPr>
              <a:t>富强、民主、文明、和谐，美丽，是在中国特色社会主义道路上实现民族复兴伟大梦想的国家目标，也是全社会和全体中国人的价值追求，它体现了中国特色社会主义经济、政治、文化、社会、生态建设的使命要求，是对社会主义现代化追求的现实目标的价值理念认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additive="base">
                                        <p:cTn id="7" dur="500" fill="hold"/>
                                        <p:tgtEl>
                                          <p:spTgt spid="76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8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6803">
                                            <p:txEl>
                                              <p:pRg st="1" end="1"/>
                                            </p:txEl>
                                          </p:spTgt>
                                        </p:tgtEl>
                                        <p:attrNameLst>
                                          <p:attrName>style.visibility</p:attrName>
                                        </p:attrNameLst>
                                      </p:cBhvr>
                                      <p:to>
                                        <p:strVal val="visible"/>
                                      </p:to>
                                    </p:set>
                                    <p:anim calcmode="lin" valueType="num">
                                      <p:cBhvr additive="base">
                                        <p:cTn id="13" dur="500" fill="hold"/>
                                        <p:tgtEl>
                                          <p:spTgt spid="768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68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6803">
                                            <p:txEl>
                                              <p:pRg st="2" end="2"/>
                                            </p:txEl>
                                          </p:spTgt>
                                        </p:tgtEl>
                                        <p:attrNameLst>
                                          <p:attrName>style.visibility</p:attrName>
                                        </p:attrNameLst>
                                      </p:cBhvr>
                                      <p:to>
                                        <p:strVal val="visible"/>
                                      </p:to>
                                    </p:set>
                                    <p:anim calcmode="lin" valueType="num">
                                      <p:cBhvr additive="base">
                                        <p:cTn id="19" dur="500" fill="hold"/>
                                        <p:tgtEl>
                                          <p:spTgt spid="768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68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6261">
                                            <p:txEl>
                                              <p:pRg st="0" end="0"/>
                                            </p:txEl>
                                          </p:spTgt>
                                        </p:tgtEl>
                                        <p:attrNameLst>
                                          <p:attrName>style.visibility</p:attrName>
                                        </p:attrNameLst>
                                      </p:cBhvr>
                                      <p:to>
                                        <p:strVal val="visible"/>
                                      </p:to>
                                    </p:set>
                                    <p:anim calcmode="lin" valueType="num">
                                      <p:cBhvr additive="base">
                                        <p:cTn id="25" dur="500" fill="hold"/>
                                        <p:tgtEl>
                                          <p:spTgt spid="9626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626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7285">
                                            <p:txEl>
                                              <p:pRg st="0" end="0"/>
                                            </p:txEl>
                                          </p:spTgt>
                                        </p:tgtEl>
                                        <p:attrNameLst>
                                          <p:attrName>style.visibility</p:attrName>
                                        </p:attrNameLst>
                                      </p:cBhvr>
                                      <p:to>
                                        <p:strVal val="visible"/>
                                      </p:to>
                                    </p:set>
                                    <p:anim calcmode="lin" valueType="num">
                                      <p:cBhvr additive="base">
                                        <p:cTn id="31" dur="500" fill="hold"/>
                                        <p:tgtEl>
                                          <p:spTgt spid="9728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72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 calcmode="lin" valueType="num">
                                      <p:cBhvr additive="base">
                                        <p:cTn id="3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 calcmode="lin" valueType="num">
                                      <p:cBhvr additive="base">
                                        <p:cTn id="4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 calcmode="lin" valueType="num">
                                      <p:cBhvr additive="base">
                                        <p:cTn id="4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additive="base">
                                        <p:cTn id="5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7220"/>
                                        </p:tgtEl>
                                        <p:attrNameLst>
                                          <p:attrName>style.visibility</p:attrName>
                                        </p:attrNameLst>
                                      </p:cBhvr>
                                      <p:to>
                                        <p:strVal val="visible"/>
                                      </p:to>
                                    </p:set>
                                    <p:anim calcmode="lin" valueType="num">
                                      <p:cBhvr additive="base">
                                        <p:cTn id="67" dur="500" fill="hold"/>
                                        <p:tgtEl>
                                          <p:spTgt spid="137220"/>
                                        </p:tgtEl>
                                        <p:attrNameLst>
                                          <p:attrName>ppt_x</p:attrName>
                                        </p:attrNameLst>
                                      </p:cBhvr>
                                      <p:tavLst>
                                        <p:tav tm="0">
                                          <p:val>
                                            <p:strVal val="#ppt_x"/>
                                          </p:val>
                                        </p:tav>
                                        <p:tav tm="100000">
                                          <p:val>
                                            <p:strVal val="#ppt_x"/>
                                          </p:val>
                                        </p:tav>
                                      </p:tavLst>
                                    </p:anim>
                                    <p:anim calcmode="lin" valueType="num">
                                      <p:cBhvr additive="base">
                                        <p:cTn id="68" dur="500" fill="hold"/>
                                        <p:tgtEl>
                                          <p:spTgt spid="13722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38242"/>
                                        </p:tgtEl>
                                        <p:attrNameLst>
                                          <p:attrName>style.visibility</p:attrName>
                                        </p:attrNameLst>
                                      </p:cBhvr>
                                      <p:to>
                                        <p:strVal val="visible"/>
                                      </p:to>
                                    </p:set>
                                    <p:anim calcmode="lin" valueType="num">
                                      <p:cBhvr additive="base">
                                        <p:cTn id="73" dur="500" fill="hold"/>
                                        <p:tgtEl>
                                          <p:spTgt spid="138242"/>
                                        </p:tgtEl>
                                        <p:attrNameLst>
                                          <p:attrName>ppt_x</p:attrName>
                                        </p:attrNameLst>
                                      </p:cBhvr>
                                      <p:tavLst>
                                        <p:tav tm="0">
                                          <p:val>
                                            <p:strVal val="#ppt_x"/>
                                          </p:val>
                                        </p:tav>
                                        <p:tav tm="100000">
                                          <p:val>
                                            <p:strVal val="#ppt_x"/>
                                          </p:val>
                                        </p:tav>
                                      </p:tavLst>
                                    </p:anim>
                                    <p:anim calcmode="lin" valueType="num">
                                      <p:cBhvr additive="base">
                                        <p:cTn id="74" dur="500" fill="hold"/>
                                        <p:tgtEl>
                                          <p:spTgt spid="138242"/>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38243">
                                            <p:txEl>
                                              <p:pRg st="0" end="0"/>
                                            </p:txEl>
                                          </p:spTgt>
                                        </p:tgtEl>
                                        <p:attrNameLst>
                                          <p:attrName>style.visibility</p:attrName>
                                        </p:attrNameLst>
                                      </p:cBhvr>
                                      <p:to>
                                        <p:strVal val="visible"/>
                                      </p:to>
                                    </p:set>
                                    <p:anim calcmode="lin" valueType="num">
                                      <p:cBhvr additive="base">
                                        <p:cTn id="79" dur="500" fill="hold"/>
                                        <p:tgtEl>
                                          <p:spTgt spid="138243">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3824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P spid="3" grpId="0" build="p"/>
      <p:bldP spid="4" grpId="0" animBg="1"/>
      <p:bldP spid="137220" grpId="0" animBg="1"/>
      <p:bldP spid="138242" grpId="0" animBg="1"/>
      <p:bldP spid="13824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文本框 78849"/>
          <p:cNvSpPr txBox="1"/>
          <p:nvPr/>
        </p:nvSpPr>
        <p:spPr>
          <a:xfrm>
            <a:off x="152400" y="762000"/>
            <a:ext cx="7921625" cy="1615827"/>
          </a:xfrm>
          <a:prstGeom prst="rect">
            <a:avLst/>
          </a:prstGeom>
          <a:noFill/>
          <a:ln w="9525">
            <a:noFill/>
          </a:ln>
        </p:spPr>
        <p:txBody>
          <a:bodyPr>
            <a:spAutoFit/>
          </a:bodyPr>
          <a:lstStyle/>
          <a:p>
            <a:pPr>
              <a:spcBef>
                <a:spcPct val="50000"/>
              </a:spcBef>
              <a:buSzPct val="80000"/>
              <a:buBlip>
                <a:blip r:embed="rId2"/>
              </a:buBlip>
            </a:pPr>
            <a:r>
              <a:rPr lang="en-US" altLang="zh-CN"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rPr>
              <a:t> </a:t>
            </a:r>
            <a:r>
              <a:rPr lang="zh-CN" altLang="en-US"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rPr>
              <a:t>一、坚持个人理想与社会理想的统一</a:t>
            </a:r>
          </a:p>
          <a:p>
            <a:pPr>
              <a:spcBef>
                <a:spcPct val="50000"/>
              </a:spcBef>
              <a:buSzPct val="80000"/>
              <a:buBlip>
                <a:blip r:embed="rId2"/>
              </a:buBlip>
            </a:pPr>
            <a:r>
              <a:rPr lang="zh-CN" altLang="en-US"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rPr>
              <a:t> 二、立志高远与始于足下</a:t>
            </a:r>
          </a:p>
          <a:p>
            <a:pPr>
              <a:spcBef>
                <a:spcPct val="50000"/>
              </a:spcBef>
              <a:buSzPct val="80000"/>
              <a:buBlip>
                <a:blip r:embed="rId2"/>
              </a:buBlip>
            </a:pPr>
            <a:r>
              <a:rPr lang="zh-CN" altLang="en-US"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rPr>
              <a:t> </a:t>
            </a:r>
            <a:r>
              <a:rPr lang="zh-CN" altLang="zh-CN"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rPr>
              <a:t>三、</a:t>
            </a:r>
            <a:r>
              <a:rPr lang="zh-CN" altLang="en-US"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rPr>
              <a:t>认清实现理想的长期性、艰巨性和曲折性</a:t>
            </a:r>
          </a:p>
          <a:p>
            <a:pPr>
              <a:spcBef>
                <a:spcPct val="50000"/>
              </a:spcBef>
              <a:buSzPct val="80000"/>
              <a:buBlip>
                <a:blip r:embed="rId2"/>
              </a:buBlip>
            </a:pPr>
            <a:r>
              <a:rPr lang="zh-CN" altLang="en-US"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rPr>
              <a:t> 四、</a:t>
            </a:r>
            <a:r>
              <a:rPr lang="zh-CN" altLang="zh-CN"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rPr>
              <a:t>在实践中化理想为现实</a:t>
            </a:r>
            <a:endParaRPr lang="zh-CN" altLang="en-US" sz="1800" b="0" dirty="0">
              <a:solidFill>
                <a:schemeClr val="tx1"/>
              </a:solidFill>
              <a:effectLst>
                <a:outerShdw blurRad="38100" dist="38100" dir="2700000">
                  <a:srgbClr val="000000"/>
                </a:outerShdw>
              </a:effectLst>
              <a:latin typeface="仿宋" panose="02010609060101010101" pitchFamily="49" charset="-122"/>
              <a:ea typeface="仿宋" panose="02010609060101010101" pitchFamily="49" charset="-122"/>
            </a:endParaRPr>
          </a:p>
        </p:txBody>
      </p:sp>
      <p:sp>
        <p:nvSpPr>
          <p:cNvPr id="78853" name="文本框 78852"/>
          <p:cNvSpPr txBox="1"/>
          <p:nvPr/>
        </p:nvSpPr>
        <p:spPr>
          <a:xfrm>
            <a:off x="1743075" y="2728913"/>
            <a:ext cx="184150" cy="519112"/>
          </a:xfrm>
          <a:prstGeom prst="rect">
            <a:avLst/>
          </a:prstGeom>
          <a:noFill/>
          <a:ln w="9525">
            <a:noFill/>
          </a:ln>
        </p:spPr>
        <p:txBody>
          <a:bodyPr wrap="none" anchor="t">
            <a:spAutoFit/>
          </a:bodyPr>
          <a:lstStyle/>
          <a:p>
            <a:pPr>
              <a:spcBef>
                <a:spcPct val="0"/>
              </a:spcBef>
            </a:pPr>
            <a:endParaRPr sz="2800" b="0" dirty="0">
              <a:solidFill>
                <a:schemeClr val="tx1"/>
              </a:solidFill>
              <a:latin typeface="Arial" panose="020B0604020202020204" pitchFamily="34" charset="0"/>
              <a:ea typeface="宋体" panose="02010600030101010101" pitchFamily="2" charset="-122"/>
            </a:endParaRPr>
          </a:p>
        </p:txBody>
      </p:sp>
      <p:sp>
        <p:nvSpPr>
          <p:cNvPr id="2" name="文本框 1">
            <a:extLst>
              <a:ext uri="{FF2B5EF4-FFF2-40B4-BE49-F238E27FC236}">
                <a16:creationId xmlns:a16="http://schemas.microsoft.com/office/drawing/2014/main" id="{D1671102-5EF3-7572-0C27-D70117F4DC70}"/>
              </a:ext>
            </a:extLst>
          </p:cNvPr>
          <p:cNvSpPr txBox="1"/>
          <p:nvPr/>
        </p:nvSpPr>
        <p:spPr>
          <a:xfrm>
            <a:off x="381000" y="381000"/>
            <a:ext cx="4876800" cy="400110"/>
          </a:xfrm>
          <a:prstGeom prst="rect">
            <a:avLst/>
          </a:prstGeom>
          <a:noFill/>
        </p:spPr>
        <p:txBody>
          <a:bodyPr wrap="square" rtlCol="0">
            <a:spAutoFit/>
          </a:bodyPr>
          <a:lstStyle/>
          <a:p>
            <a:r>
              <a:rPr lang="zh-CN" altLang="en-US" sz="2000" b="0" dirty="0">
                <a:solidFill>
                  <a:schemeClr val="tx1"/>
                </a:solidFill>
                <a:latin typeface="+mj-ea"/>
                <a:ea typeface="+mj-ea"/>
              </a:rPr>
              <a:t>架起通往理想彼岸的桥梁</a:t>
            </a:r>
          </a:p>
        </p:txBody>
      </p:sp>
      <p:sp>
        <p:nvSpPr>
          <p:cNvPr id="150531" name="文本占位符 150530"/>
          <p:cNvSpPr>
            <a:spLocks noGrp="1"/>
          </p:cNvSpPr>
          <p:nvPr>
            <p:ph idx="1"/>
          </p:nvPr>
        </p:nvSpPr>
        <p:spPr>
          <a:xfrm>
            <a:off x="74612" y="2419380"/>
            <a:ext cx="8077200" cy="1657290"/>
          </a:xfrm>
        </p:spPr>
        <p:txBody>
          <a:bodyPr>
            <a:normAutofit/>
          </a:bodyPr>
          <a:lstStyle/>
          <a:p>
            <a:r>
              <a:rPr lang="zh-CN" altLang="en-US" sz="1800" b="1" dirty="0">
                <a:latin typeface="仿宋" panose="02010609060101010101" pitchFamily="49" charset="-122"/>
                <a:ea typeface="仿宋" panose="02010609060101010101" pitchFamily="49" charset="-122"/>
              </a:rPr>
              <a:t>个人理想是指处于一定历史条件和社会关系中的个体对于自己未来的物质生活、精神生活所产生的种种向往和追求，它包括个人具体的社会政治理想、道德理想、职业理想和生活理想等。</a:t>
            </a:r>
          </a:p>
          <a:p>
            <a:r>
              <a:rPr lang="zh-CN" altLang="en-US" sz="1800" b="1" dirty="0">
                <a:latin typeface="仿宋" panose="02010609060101010101" pitchFamily="49" charset="-122"/>
                <a:ea typeface="仿宋" panose="02010609060101010101" pitchFamily="49" charset="-122"/>
              </a:rPr>
              <a:t>社会理想是指社会集体乃至社会全体成员的共同理想，指在全社会占主导地位的共同奋斗目标。</a:t>
            </a:r>
          </a:p>
        </p:txBody>
      </p:sp>
      <p:sp>
        <p:nvSpPr>
          <p:cNvPr id="151554" name="标题 151553"/>
          <p:cNvSpPr>
            <a:spLocks noGrp="1"/>
          </p:cNvSpPr>
          <p:nvPr>
            <p:ph type="title"/>
          </p:nvPr>
        </p:nvSpPr>
        <p:spPr>
          <a:xfrm>
            <a:off x="288925" y="4022977"/>
            <a:ext cx="3276600" cy="312010"/>
          </a:xfrm>
        </p:spPr>
        <p:txBody>
          <a:bodyPr anchor="ctr"/>
          <a:lstStyle/>
          <a:p>
            <a:r>
              <a:rPr lang="zh-CN" altLang="en-US" sz="2000" dirty="0">
                <a:latin typeface="仿宋" panose="02010609060101010101" pitchFamily="49" charset="-122"/>
                <a:ea typeface="仿宋" panose="02010609060101010101" pitchFamily="49" charset="-122"/>
              </a:rPr>
              <a:t>理想的核心内容是社会理想 </a:t>
            </a:r>
          </a:p>
        </p:txBody>
      </p:sp>
      <p:sp>
        <p:nvSpPr>
          <p:cNvPr id="151555" name="文本占位符 151554"/>
          <p:cNvSpPr txBox="1">
            <a:spLocks/>
          </p:cNvSpPr>
          <p:nvPr/>
        </p:nvSpPr>
        <p:spPr>
          <a:xfrm>
            <a:off x="74612" y="4327899"/>
            <a:ext cx="8121428" cy="161582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dirty="0">
                <a:latin typeface="仿宋" panose="02010609060101010101" pitchFamily="49" charset="-122"/>
                <a:ea typeface="仿宋" panose="02010609060101010101" pitchFamily="49" charset="-122"/>
              </a:rPr>
              <a:t>我国人民的社会理想从总体上可分为两个层次：</a:t>
            </a:r>
          </a:p>
          <a:p>
            <a:pPr fontAlgn="auto"/>
            <a:r>
              <a:rPr lang="zh-CN" altLang="en-US" sz="1800" dirty="0">
                <a:latin typeface="仿宋" panose="02010609060101010101" pitchFamily="49" charset="-122"/>
                <a:ea typeface="仿宋" panose="02010609060101010101" pitchFamily="49" charset="-122"/>
              </a:rPr>
              <a:t>一是现阶段我国各族人民的共同理想。这是对当代大学生的要求。</a:t>
            </a:r>
          </a:p>
          <a:p>
            <a:pPr fontAlgn="auto"/>
            <a:r>
              <a:rPr lang="zh-CN" altLang="en-US" sz="1800" dirty="0">
                <a:latin typeface="仿宋" panose="02010609060101010101" pitchFamily="49" charset="-122"/>
                <a:ea typeface="仿宋" panose="02010609060101010101" pitchFamily="49" charset="-122"/>
              </a:rPr>
              <a:t>二是中国共产党建立共产主义社会的远大理想。这是对大学生中的共产党员和先进分子的要求。</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8850"/>
                                        </p:tgtEl>
                                        <p:attrNameLst>
                                          <p:attrName>style.visibility</p:attrName>
                                        </p:attrNameLst>
                                      </p:cBhvr>
                                      <p:to>
                                        <p:strVal val="visible"/>
                                      </p:to>
                                    </p:set>
                                    <p:anim calcmode="lin" valueType="num">
                                      <p:cBhvr>
                                        <p:cTn id="7" dur="500" fill="hold"/>
                                        <p:tgtEl>
                                          <p:spTgt spid="78850"/>
                                        </p:tgtEl>
                                        <p:attrNameLst>
                                          <p:attrName>ppt_w</p:attrName>
                                        </p:attrNameLst>
                                      </p:cBhvr>
                                      <p:tavLst>
                                        <p:tav tm="0">
                                          <p:val>
                                            <p:fltVal val="0"/>
                                          </p:val>
                                        </p:tav>
                                        <p:tav tm="100000">
                                          <p:val>
                                            <p:strVal val="#ppt_w"/>
                                          </p:val>
                                        </p:tav>
                                      </p:tavLst>
                                    </p:anim>
                                    <p:anim calcmode="lin" valueType="num">
                                      <p:cBhvr>
                                        <p:cTn id="8" dur="500" fill="hold"/>
                                        <p:tgtEl>
                                          <p:spTgt spid="7885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0531">
                                            <p:txEl>
                                              <p:pRg st="0" end="0"/>
                                            </p:txEl>
                                          </p:spTgt>
                                        </p:tgtEl>
                                        <p:attrNameLst>
                                          <p:attrName>style.visibility</p:attrName>
                                        </p:attrNameLst>
                                      </p:cBhvr>
                                      <p:to>
                                        <p:strVal val="visible"/>
                                      </p:to>
                                    </p:set>
                                    <p:anim calcmode="lin" valueType="num">
                                      <p:cBhvr additive="base">
                                        <p:cTn id="13" dur="500" fill="hold"/>
                                        <p:tgtEl>
                                          <p:spTgt spid="15053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0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0531">
                                            <p:txEl>
                                              <p:pRg st="1" end="1"/>
                                            </p:txEl>
                                          </p:spTgt>
                                        </p:tgtEl>
                                        <p:attrNameLst>
                                          <p:attrName>style.visibility</p:attrName>
                                        </p:attrNameLst>
                                      </p:cBhvr>
                                      <p:to>
                                        <p:strVal val="visible"/>
                                      </p:to>
                                    </p:set>
                                    <p:anim calcmode="lin" valueType="num">
                                      <p:cBhvr additive="base">
                                        <p:cTn id="19" dur="500" fill="hold"/>
                                        <p:tgtEl>
                                          <p:spTgt spid="15053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0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1554"/>
                                        </p:tgtEl>
                                        <p:attrNameLst>
                                          <p:attrName>style.visibility</p:attrName>
                                        </p:attrNameLst>
                                      </p:cBhvr>
                                      <p:to>
                                        <p:strVal val="visible"/>
                                      </p:to>
                                    </p:set>
                                    <p:anim calcmode="lin" valueType="num">
                                      <p:cBhvr additive="base">
                                        <p:cTn id="25" dur="500" fill="hold"/>
                                        <p:tgtEl>
                                          <p:spTgt spid="151554"/>
                                        </p:tgtEl>
                                        <p:attrNameLst>
                                          <p:attrName>ppt_x</p:attrName>
                                        </p:attrNameLst>
                                      </p:cBhvr>
                                      <p:tavLst>
                                        <p:tav tm="0">
                                          <p:val>
                                            <p:strVal val="#ppt_x"/>
                                          </p:val>
                                        </p:tav>
                                        <p:tav tm="100000">
                                          <p:val>
                                            <p:strVal val="#ppt_x"/>
                                          </p:val>
                                        </p:tav>
                                      </p:tavLst>
                                    </p:anim>
                                    <p:anim calcmode="lin" valueType="num">
                                      <p:cBhvr additive="base">
                                        <p:cTn id="26" dur="500" fill="hold"/>
                                        <p:tgtEl>
                                          <p:spTgt spid="15155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1555">
                                            <p:txEl>
                                              <p:pRg st="0" end="0"/>
                                            </p:txEl>
                                          </p:spTgt>
                                        </p:tgtEl>
                                        <p:attrNameLst>
                                          <p:attrName>style.visibility</p:attrName>
                                        </p:attrNameLst>
                                      </p:cBhvr>
                                      <p:to>
                                        <p:strVal val="visible"/>
                                      </p:to>
                                    </p:set>
                                    <p:anim calcmode="lin" valueType="num">
                                      <p:cBhvr additive="base">
                                        <p:cTn id="31" dur="500" fill="hold"/>
                                        <p:tgtEl>
                                          <p:spTgt spid="15155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1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1555">
                                            <p:txEl>
                                              <p:pRg st="1" end="1"/>
                                            </p:txEl>
                                          </p:spTgt>
                                        </p:tgtEl>
                                        <p:attrNameLst>
                                          <p:attrName>style.visibility</p:attrName>
                                        </p:attrNameLst>
                                      </p:cBhvr>
                                      <p:to>
                                        <p:strVal val="visible"/>
                                      </p:to>
                                    </p:set>
                                    <p:anim calcmode="lin" valueType="num">
                                      <p:cBhvr additive="base">
                                        <p:cTn id="37" dur="500" fill="hold"/>
                                        <p:tgtEl>
                                          <p:spTgt spid="151555">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1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1555">
                                            <p:txEl>
                                              <p:pRg st="2" end="2"/>
                                            </p:txEl>
                                          </p:spTgt>
                                        </p:tgtEl>
                                        <p:attrNameLst>
                                          <p:attrName>style.visibility</p:attrName>
                                        </p:attrNameLst>
                                      </p:cBhvr>
                                      <p:to>
                                        <p:strVal val="visible"/>
                                      </p:to>
                                    </p:set>
                                    <p:anim calcmode="lin" valueType="num">
                                      <p:cBhvr additive="base">
                                        <p:cTn id="43" dur="500" fill="hold"/>
                                        <p:tgtEl>
                                          <p:spTgt spid="151555">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155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p:bldP spid="150531" grpId="0" build="p"/>
      <p:bldP spid="151554" grpId="0" animBg="1"/>
      <p:bldP spid="15155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标题 153601"/>
          <p:cNvSpPr>
            <a:spLocks noGrp="1"/>
          </p:cNvSpPr>
          <p:nvPr>
            <p:ph type="title"/>
          </p:nvPr>
        </p:nvSpPr>
        <p:spPr>
          <a:xfrm>
            <a:off x="152400" y="76200"/>
            <a:ext cx="7668690" cy="385481"/>
          </a:xfrm>
        </p:spPr>
        <p:txBody>
          <a:bodyPr anchor="ctr"/>
          <a:lstStyle/>
          <a:p>
            <a:r>
              <a:rPr lang="zh-CN" altLang="en-US" sz="1800" dirty="0">
                <a:latin typeface="仿宋" panose="02010609060101010101" pitchFamily="49" charset="-122"/>
                <a:ea typeface="仿宋" panose="02010609060101010101" pitchFamily="49" charset="-122"/>
              </a:rPr>
              <a:t>个人理想与社会理想的关系实质上是个人与社会关系在理想层面上的反映。</a:t>
            </a:r>
          </a:p>
        </p:txBody>
      </p:sp>
      <p:sp>
        <p:nvSpPr>
          <p:cNvPr id="153603" name="文本占位符 153602"/>
          <p:cNvSpPr>
            <a:spLocks noGrp="1"/>
          </p:cNvSpPr>
          <p:nvPr>
            <p:ph idx="1"/>
          </p:nvPr>
        </p:nvSpPr>
        <p:spPr>
          <a:xfrm>
            <a:off x="152400" y="381000"/>
            <a:ext cx="8686800" cy="4195481"/>
          </a:xfrm>
        </p:spPr>
        <p:txBody>
          <a:bodyPr>
            <a:normAutofit/>
          </a:bodyPr>
          <a:lstStyle/>
          <a:p>
            <a:r>
              <a:rPr lang="zh-CN" altLang="en-US" sz="1800" b="1" dirty="0">
                <a:solidFill>
                  <a:srgbClr val="FF6600"/>
                </a:solidFill>
                <a:latin typeface="仿宋" panose="02010609060101010101" pitchFamily="49" charset="-122"/>
                <a:ea typeface="仿宋" panose="02010609060101010101" pitchFamily="49" charset="-122"/>
              </a:rPr>
              <a:t>社会理想决定、制约着个人理想。</a:t>
            </a:r>
          </a:p>
          <a:p>
            <a:r>
              <a:rPr lang="zh-CN" altLang="en-US" sz="1800" b="1" dirty="0">
                <a:latin typeface="仿宋" panose="02010609060101010101" pitchFamily="49" charset="-122"/>
                <a:ea typeface="仿宋" panose="02010609060101010101" pitchFamily="49" charset="-122"/>
              </a:rPr>
              <a:t>个人理想的确立要以社会理想为指导，</a:t>
            </a:r>
          </a:p>
          <a:p>
            <a:r>
              <a:rPr lang="zh-CN" altLang="en-US" sz="1800" b="1" dirty="0">
                <a:latin typeface="仿宋" panose="02010609060101010101" pitchFamily="49" charset="-122"/>
                <a:ea typeface="仿宋" panose="02010609060101010101" pitchFamily="49" charset="-122"/>
              </a:rPr>
              <a:t>个人理想的实现依赖于社会理想的实现。</a:t>
            </a:r>
          </a:p>
          <a:p>
            <a:r>
              <a:rPr lang="zh-CN" altLang="en-US" sz="1800" b="1" dirty="0">
                <a:solidFill>
                  <a:srgbClr val="FF6600"/>
                </a:solidFill>
                <a:latin typeface="仿宋" panose="02010609060101010101" pitchFamily="49" charset="-122"/>
                <a:ea typeface="仿宋" panose="02010609060101010101" pitchFamily="49" charset="-122"/>
              </a:rPr>
              <a:t>社会理想又是个人理想的凝练和升华。</a:t>
            </a:r>
          </a:p>
          <a:p>
            <a:r>
              <a:rPr lang="zh-CN" altLang="en-US" sz="1800" b="1" dirty="0">
                <a:latin typeface="仿宋" panose="02010609060101010101" pitchFamily="49" charset="-122"/>
                <a:ea typeface="仿宋" panose="02010609060101010101" pitchFamily="49" charset="-122"/>
              </a:rPr>
              <a:t>社会理想不是凭空产生的，是建立在许许多多个人理想基础之上的。</a:t>
            </a:r>
          </a:p>
          <a:p>
            <a:r>
              <a:rPr lang="zh-CN" altLang="en-US" sz="1800" b="1" dirty="0">
                <a:latin typeface="仿宋" panose="02010609060101010101" pitchFamily="49" charset="-122"/>
                <a:ea typeface="仿宋" panose="02010609060101010101" pitchFamily="49" charset="-122"/>
              </a:rPr>
              <a:t>社会理想的实现归根到底还要依靠社会成员的共同努力，并体现在实现个人理想的具体实践之中。</a:t>
            </a:r>
          </a:p>
        </p:txBody>
      </p:sp>
      <p:sp>
        <p:nvSpPr>
          <p:cNvPr id="2" name="文本占位符 77826">
            <a:extLst>
              <a:ext uri="{FF2B5EF4-FFF2-40B4-BE49-F238E27FC236}">
                <a16:creationId xmlns:a16="http://schemas.microsoft.com/office/drawing/2014/main" id="{1EF8B318-6185-E492-E282-8893DA32401A}"/>
              </a:ext>
            </a:extLst>
          </p:cNvPr>
          <p:cNvSpPr txBox="1">
            <a:spLocks/>
          </p:cNvSpPr>
          <p:nvPr/>
        </p:nvSpPr>
        <p:spPr>
          <a:xfrm>
            <a:off x="76200" y="2971800"/>
            <a:ext cx="7592490" cy="1828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609600" indent="-609600" fontAlgn="auto">
              <a:lnSpc>
                <a:spcPct val="90000"/>
              </a:lnSpc>
            </a:pPr>
            <a:r>
              <a:rPr lang="zh-CN" altLang="en-US" sz="1800" dirty="0">
                <a:solidFill>
                  <a:srgbClr val="FFFF00"/>
                </a:solidFill>
                <a:latin typeface="仿宋" panose="02010609060101010101" pitchFamily="49" charset="-122"/>
                <a:ea typeface="仿宋" panose="02010609060101010101" pitchFamily="49" charset="-122"/>
              </a:rPr>
              <a:t>（一）立志当高远</a:t>
            </a:r>
          </a:p>
          <a:p>
            <a:pPr marL="609600" indent="-609600" fontAlgn="auto">
              <a:lnSpc>
                <a:spcPct val="90000"/>
              </a:lnSpc>
            </a:pPr>
            <a:r>
              <a:rPr lang="zh-CN" altLang="en-US" sz="1800" dirty="0">
                <a:latin typeface="仿宋" panose="02010609060101010101" pitchFamily="49" charset="-122"/>
                <a:ea typeface="仿宋" panose="02010609060101010101" pitchFamily="49" charset="-122"/>
              </a:rPr>
              <a:t>诸葛亮：“志当存高远”；</a:t>
            </a:r>
          </a:p>
          <a:p>
            <a:pPr marL="609600" indent="-609600" fontAlgn="auto">
              <a:lnSpc>
                <a:spcPct val="90000"/>
              </a:lnSpc>
            </a:pP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吕氏春秋</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：“凡举人之本，太上以志，其次以事，其次以功。”</a:t>
            </a:r>
          </a:p>
          <a:p>
            <a:pPr marL="609600" indent="-609600" fontAlgn="auto">
              <a:lnSpc>
                <a:spcPct val="90000"/>
              </a:lnSpc>
            </a:pPr>
            <a:r>
              <a:rPr lang="zh-CN" altLang="en-US" sz="1800" dirty="0">
                <a:latin typeface="仿宋" panose="02010609060101010101" pitchFamily="49" charset="-122"/>
                <a:ea typeface="仿宋" panose="02010609060101010101" pitchFamily="49" charset="-122"/>
              </a:rPr>
              <a:t>邓小平：“现在中国提出‘四有’，有理想、有道德、有文化、有纪律。其中我们最强调的，是有理想。” </a:t>
            </a:r>
          </a:p>
        </p:txBody>
      </p:sp>
      <p:sp>
        <p:nvSpPr>
          <p:cNvPr id="98307" name="文本占位符 98306"/>
          <p:cNvSpPr txBox="1">
            <a:spLocks/>
          </p:cNvSpPr>
          <p:nvPr/>
        </p:nvSpPr>
        <p:spPr>
          <a:xfrm>
            <a:off x="164805" y="4648200"/>
            <a:ext cx="6320890" cy="1447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lnSpc>
                <a:spcPct val="90000"/>
              </a:lnSpc>
            </a:pPr>
            <a:r>
              <a:rPr lang="zh-CN" altLang="en-US" sz="1800" dirty="0">
                <a:solidFill>
                  <a:srgbClr val="FFFF00"/>
                </a:solidFill>
                <a:latin typeface="仿宋" panose="02010609060101010101" pitchFamily="49" charset="-122"/>
                <a:ea typeface="仿宋" panose="02010609060101010101" pitchFamily="49" charset="-122"/>
              </a:rPr>
              <a:t>（二）立志做大事</a:t>
            </a:r>
          </a:p>
          <a:p>
            <a:pPr fontAlgn="auto">
              <a:lnSpc>
                <a:spcPct val="90000"/>
              </a:lnSpc>
            </a:pPr>
            <a:r>
              <a:rPr lang="zh-CN" altLang="en-US" sz="1800" dirty="0">
                <a:latin typeface="仿宋" panose="02010609060101010101" pitchFamily="49" charset="-122"/>
                <a:ea typeface="仿宋" panose="02010609060101010101" pitchFamily="49" charset="-122"/>
              </a:rPr>
              <a:t>马克思批评的“自私的可怜的欢乐”。 </a:t>
            </a:r>
          </a:p>
          <a:p>
            <a:pPr fontAlgn="auto">
              <a:lnSpc>
                <a:spcPct val="90000"/>
              </a:lnSpc>
            </a:pPr>
            <a:r>
              <a:rPr lang="zh-CN" altLang="en-US" sz="1800" dirty="0">
                <a:latin typeface="仿宋" panose="02010609060101010101" pitchFamily="49" charset="-122"/>
                <a:ea typeface="仿宋" panose="02010609060101010101" pitchFamily="49" charset="-122"/>
              </a:rPr>
              <a:t>孙中山当年对青年说：要立志做大事，不要立志做大官。 </a:t>
            </a:r>
          </a:p>
        </p:txBody>
      </p:sp>
      <p:sp>
        <p:nvSpPr>
          <p:cNvPr id="99331" name="文本占位符 99330"/>
          <p:cNvSpPr txBox="1">
            <a:spLocks/>
          </p:cNvSpPr>
          <p:nvPr/>
        </p:nvSpPr>
        <p:spPr>
          <a:xfrm>
            <a:off x="188686" y="5567081"/>
            <a:ext cx="8763000" cy="1600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b="1" dirty="0">
                <a:solidFill>
                  <a:srgbClr val="FFFF00"/>
                </a:solidFill>
                <a:latin typeface="仿宋" panose="02010609060101010101" pitchFamily="49" charset="-122"/>
                <a:ea typeface="仿宋" panose="02010609060101010101" pitchFamily="49" charset="-122"/>
              </a:rPr>
              <a:t>（三）立志须躬行</a:t>
            </a:r>
          </a:p>
          <a:p>
            <a:pPr fontAlgn="auto"/>
            <a:r>
              <a:rPr lang="zh-CN" altLang="en-US" sz="1800" b="1" dirty="0">
                <a:latin typeface="仿宋" panose="02010609060101010101" pitchFamily="49" charset="-122"/>
                <a:ea typeface="仿宋" panose="02010609060101010101" pitchFamily="49" charset="-122"/>
              </a:rPr>
              <a:t>荀子：“骐骥一跃，不能十步，驽马十驾，功在不舍”。 </a:t>
            </a:r>
          </a:p>
          <a:p>
            <a:pPr fontAlgn="auto"/>
            <a:r>
              <a:rPr lang="zh-CN" altLang="en-US" sz="1800" b="1" dirty="0">
                <a:latin typeface="仿宋" panose="02010609060101010101" pitchFamily="49" charset="-122"/>
                <a:ea typeface="仿宋" panose="02010609060101010101" pitchFamily="49" charset="-122"/>
              </a:rPr>
              <a:t>老子：“合抱之木，生于毫末；九层之台，起于累土；千里之行，始于足下”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02"/>
                                        </p:tgtEl>
                                        <p:attrNameLst>
                                          <p:attrName>style.visibility</p:attrName>
                                        </p:attrNameLst>
                                      </p:cBhvr>
                                      <p:to>
                                        <p:strVal val="visible"/>
                                      </p:to>
                                    </p:set>
                                    <p:anim calcmode="lin" valueType="num">
                                      <p:cBhvr additive="base">
                                        <p:cTn id="7" dur="500" fill="hold"/>
                                        <p:tgtEl>
                                          <p:spTgt spid="153602"/>
                                        </p:tgtEl>
                                        <p:attrNameLst>
                                          <p:attrName>ppt_x</p:attrName>
                                        </p:attrNameLst>
                                      </p:cBhvr>
                                      <p:tavLst>
                                        <p:tav tm="0">
                                          <p:val>
                                            <p:strVal val="#ppt_x"/>
                                          </p:val>
                                        </p:tav>
                                        <p:tav tm="100000">
                                          <p:val>
                                            <p:strVal val="#ppt_x"/>
                                          </p:val>
                                        </p:tav>
                                      </p:tavLst>
                                    </p:anim>
                                    <p:anim calcmode="lin" valueType="num">
                                      <p:cBhvr additive="base">
                                        <p:cTn id="8" dur="500" fill="hold"/>
                                        <p:tgtEl>
                                          <p:spTgt spid="1536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03">
                                            <p:txEl>
                                              <p:pRg st="0" end="0"/>
                                            </p:txEl>
                                          </p:spTgt>
                                        </p:tgtEl>
                                        <p:attrNameLst>
                                          <p:attrName>style.visibility</p:attrName>
                                        </p:attrNameLst>
                                      </p:cBhvr>
                                      <p:to>
                                        <p:strVal val="visible"/>
                                      </p:to>
                                    </p:set>
                                    <p:anim calcmode="lin" valueType="num">
                                      <p:cBhvr additive="base">
                                        <p:cTn id="13" dur="500" fill="hold"/>
                                        <p:tgtEl>
                                          <p:spTgt spid="15360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03">
                                            <p:txEl>
                                              <p:pRg st="1" end="1"/>
                                            </p:txEl>
                                          </p:spTgt>
                                        </p:tgtEl>
                                        <p:attrNameLst>
                                          <p:attrName>style.visibility</p:attrName>
                                        </p:attrNameLst>
                                      </p:cBhvr>
                                      <p:to>
                                        <p:strVal val="visible"/>
                                      </p:to>
                                    </p:set>
                                    <p:anim calcmode="lin" valueType="num">
                                      <p:cBhvr additive="base">
                                        <p:cTn id="19" dur="500" fill="hold"/>
                                        <p:tgtEl>
                                          <p:spTgt spid="15360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03">
                                            <p:txEl>
                                              <p:pRg st="2" end="2"/>
                                            </p:txEl>
                                          </p:spTgt>
                                        </p:tgtEl>
                                        <p:attrNameLst>
                                          <p:attrName>style.visibility</p:attrName>
                                        </p:attrNameLst>
                                      </p:cBhvr>
                                      <p:to>
                                        <p:strVal val="visible"/>
                                      </p:to>
                                    </p:set>
                                    <p:anim calcmode="lin" valueType="num">
                                      <p:cBhvr additive="base">
                                        <p:cTn id="25" dur="500" fill="hold"/>
                                        <p:tgtEl>
                                          <p:spTgt spid="15360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603">
                                            <p:txEl>
                                              <p:pRg st="3" end="3"/>
                                            </p:txEl>
                                          </p:spTgt>
                                        </p:tgtEl>
                                        <p:attrNameLst>
                                          <p:attrName>style.visibility</p:attrName>
                                        </p:attrNameLst>
                                      </p:cBhvr>
                                      <p:to>
                                        <p:strVal val="visible"/>
                                      </p:to>
                                    </p:set>
                                    <p:anim calcmode="lin" valueType="num">
                                      <p:cBhvr additive="base">
                                        <p:cTn id="31" dur="500" fill="hold"/>
                                        <p:tgtEl>
                                          <p:spTgt spid="15360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3603">
                                            <p:txEl>
                                              <p:pRg st="4" end="4"/>
                                            </p:txEl>
                                          </p:spTgt>
                                        </p:tgtEl>
                                        <p:attrNameLst>
                                          <p:attrName>style.visibility</p:attrName>
                                        </p:attrNameLst>
                                      </p:cBhvr>
                                      <p:to>
                                        <p:strVal val="visible"/>
                                      </p:to>
                                    </p:set>
                                    <p:anim calcmode="lin" valueType="num">
                                      <p:cBhvr additive="base">
                                        <p:cTn id="37" dur="500" fill="hold"/>
                                        <p:tgtEl>
                                          <p:spTgt spid="15360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36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3603">
                                            <p:txEl>
                                              <p:pRg st="5" end="5"/>
                                            </p:txEl>
                                          </p:spTgt>
                                        </p:tgtEl>
                                        <p:attrNameLst>
                                          <p:attrName>style.visibility</p:attrName>
                                        </p:attrNameLst>
                                      </p:cBhvr>
                                      <p:to>
                                        <p:strVal val="visible"/>
                                      </p:to>
                                    </p:set>
                                    <p:anim calcmode="lin" valueType="num">
                                      <p:cBhvr additive="base">
                                        <p:cTn id="43" dur="500" fill="hold"/>
                                        <p:tgtEl>
                                          <p:spTgt spid="15360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36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0" end="0"/>
                                            </p:txEl>
                                          </p:spTgt>
                                        </p:tgtEl>
                                        <p:attrNameLst>
                                          <p:attrName>style.visibility</p:attrName>
                                        </p:attrNameLst>
                                      </p:cBhvr>
                                      <p:to>
                                        <p:strVal val="visible"/>
                                      </p:to>
                                    </p:set>
                                    <p:anim calcmode="lin" valueType="num">
                                      <p:cBhvr additive="base">
                                        <p:cTn id="49"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1" end="1"/>
                                            </p:txEl>
                                          </p:spTgt>
                                        </p:tgtEl>
                                        <p:attrNameLst>
                                          <p:attrName>style.visibility</p:attrName>
                                        </p:attrNameLst>
                                      </p:cBhvr>
                                      <p:to>
                                        <p:strVal val="visible"/>
                                      </p:to>
                                    </p:set>
                                    <p:anim calcmode="lin" valueType="num">
                                      <p:cBhvr additive="base">
                                        <p:cTn id="55"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
                                            <p:txEl>
                                              <p:pRg st="2" end="2"/>
                                            </p:txEl>
                                          </p:spTgt>
                                        </p:tgtEl>
                                        <p:attrNameLst>
                                          <p:attrName>style.visibility</p:attrName>
                                        </p:attrNameLst>
                                      </p:cBhvr>
                                      <p:to>
                                        <p:strVal val="visible"/>
                                      </p:to>
                                    </p:set>
                                    <p:anim calcmode="lin" valueType="num">
                                      <p:cBhvr additive="base">
                                        <p:cTn id="6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
                                            <p:txEl>
                                              <p:pRg st="3" end="3"/>
                                            </p:txEl>
                                          </p:spTgt>
                                        </p:tgtEl>
                                        <p:attrNameLst>
                                          <p:attrName>style.visibility</p:attrName>
                                        </p:attrNameLst>
                                      </p:cBhvr>
                                      <p:to>
                                        <p:strVal val="visible"/>
                                      </p:to>
                                    </p:set>
                                    <p:anim calcmode="lin" valueType="num">
                                      <p:cBhvr additive="base">
                                        <p:cTn id="6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98307">
                                            <p:txEl>
                                              <p:pRg st="0" end="0"/>
                                            </p:txEl>
                                          </p:spTgt>
                                        </p:tgtEl>
                                        <p:attrNameLst>
                                          <p:attrName>style.visibility</p:attrName>
                                        </p:attrNameLst>
                                      </p:cBhvr>
                                      <p:to>
                                        <p:strVal val="visible"/>
                                      </p:to>
                                    </p:set>
                                    <p:anim calcmode="lin" valueType="num">
                                      <p:cBhvr additive="base">
                                        <p:cTn id="73" dur="500" fill="hold"/>
                                        <p:tgtEl>
                                          <p:spTgt spid="98307">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98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98307">
                                            <p:txEl>
                                              <p:pRg st="1" end="1"/>
                                            </p:txEl>
                                          </p:spTgt>
                                        </p:tgtEl>
                                        <p:attrNameLst>
                                          <p:attrName>style.visibility</p:attrName>
                                        </p:attrNameLst>
                                      </p:cBhvr>
                                      <p:to>
                                        <p:strVal val="visible"/>
                                      </p:to>
                                    </p:set>
                                    <p:anim calcmode="lin" valueType="num">
                                      <p:cBhvr additive="base">
                                        <p:cTn id="79" dur="500" fill="hold"/>
                                        <p:tgtEl>
                                          <p:spTgt spid="98307">
                                            <p:txEl>
                                              <p:pRg st="1" end="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983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98307">
                                            <p:txEl>
                                              <p:pRg st="2" end="2"/>
                                            </p:txEl>
                                          </p:spTgt>
                                        </p:tgtEl>
                                        <p:attrNameLst>
                                          <p:attrName>style.visibility</p:attrName>
                                        </p:attrNameLst>
                                      </p:cBhvr>
                                      <p:to>
                                        <p:strVal val="visible"/>
                                      </p:to>
                                    </p:set>
                                    <p:anim calcmode="lin" valueType="num">
                                      <p:cBhvr additive="base">
                                        <p:cTn id="85" dur="500" fill="hold"/>
                                        <p:tgtEl>
                                          <p:spTgt spid="98307">
                                            <p:txEl>
                                              <p:pRg st="2" end="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983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99331">
                                            <p:txEl>
                                              <p:pRg st="1" end="1"/>
                                            </p:txEl>
                                          </p:spTgt>
                                        </p:tgtEl>
                                        <p:attrNameLst>
                                          <p:attrName>style.visibility</p:attrName>
                                        </p:attrNameLst>
                                      </p:cBhvr>
                                      <p:to>
                                        <p:strVal val="visible"/>
                                      </p:to>
                                    </p:set>
                                    <p:anim calcmode="lin" valueType="num">
                                      <p:cBhvr additive="base">
                                        <p:cTn id="91" dur="2000" fill="hold"/>
                                        <p:tgtEl>
                                          <p:spTgt spid="99331">
                                            <p:txEl>
                                              <p:pRg st="1" end="1"/>
                                            </p:txEl>
                                          </p:spTgt>
                                        </p:tgtEl>
                                        <p:attrNameLst>
                                          <p:attrName>ppt_x</p:attrName>
                                        </p:attrNameLst>
                                      </p:cBhvr>
                                      <p:tavLst>
                                        <p:tav tm="0">
                                          <p:val>
                                            <p:strVal val="#ppt_x"/>
                                          </p:val>
                                        </p:tav>
                                        <p:tav tm="100000">
                                          <p:val>
                                            <p:strVal val="#ppt_x"/>
                                          </p:val>
                                        </p:tav>
                                      </p:tavLst>
                                    </p:anim>
                                    <p:anim calcmode="lin" valueType="num">
                                      <p:cBhvr additive="base">
                                        <p:cTn id="92" dur="2000" fill="hold"/>
                                        <p:tgtEl>
                                          <p:spTgt spid="993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99331">
                                            <p:txEl>
                                              <p:pRg st="2" end="2"/>
                                            </p:txEl>
                                          </p:spTgt>
                                        </p:tgtEl>
                                        <p:attrNameLst>
                                          <p:attrName>style.visibility</p:attrName>
                                        </p:attrNameLst>
                                      </p:cBhvr>
                                      <p:to>
                                        <p:strVal val="visible"/>
                                      </p:to>
                                    </p:set>
                                    <p:anim calcmode="lin" valueType="num">
                                      <p:cBhvr additive="base">
                                        <p:cTn id="97" dur="1000" fill="hold"/>
                                        <p:tgtEl>
                                          <p:spTgt spid="99331">
                                            <p:txEl>
                                              <p:pRg st="2" end="2"/>
                                            </p:txEl>
                                          </p:spTgt>
                                        </p:tgtEl>
                                        <p:attrNameLst>
                                          <p:attrName>ppt_x</p:attrName>
                                        </p:attrNameLst>
                                      </p:cBhvr>
                                      <p:tavLst>
                                        <p:tav tm="0">
                                          <p:val>
                                            <p:strVal val="#ppt_x"/>
                                          </p:val>
                                        </p:tav>
                                        <p:tav tm="100000">
                                          <p:val>
                                            <p:strVal val="#ppt_x"/>
                                          </p:val>
                                        </p:tav>
                                      </p:tavLst>
                                    </p:anim>
                                    <p:anim calcmode="lin" valueType="num">
                                      <p:cBhvr additive="base">
                                        <p:cTn id="98" dur="1000" fill="hold"/>
                                        <p:tgtEl>
                                          <p:spTgt spid="9933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animBg="1"/>
      <p:bldP spid="153603" grpId="0" build="p"/>
      <p:bldP spid="2" grpId="0" build="p"/>
      <p:bldP spid="9830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79873"/>
          <p:cNvSpPr>
            <a:spLocks noGrp="1"/>
          </p:cNvSpPr>
          <p:nvPr>
            <p:ph type="title"/>
          </p:nvPr>
        </p:nvSpPr>
        <p:spPr>
          <a:xfrm>
            <a:off x="304800" y="228600"/>
            <a:ext cx="4953000" cy="304800"/>
          </a:xfrm>
        </p:spPr>
        <p:txBody>
          <a:bodyPr anchor="ctr"/>
          <a:lstStyle/>
          <a:p>
            <a:r>
              <a:rPr lang="zh-CN" altLang="en-US" sz="2000" dirty="0">
                <a:solidFill>
                  <a:schemeClr val="tx1"/>
                </a:solidFill>
                <a:latin typeface="华文仿宋" panose="02010600040101010101" pitchFamily="2" charset="-122"/>
                <a:ea typeface="华文仿宋" panose="02010600040101010101" pitchFamily="2" charset="-122"/>
              </a:rPr>
              <a:t>认清实现理想的长期性、艰巨性与曲折性</a:t>
            </a:r>
          </a:p>
        </p:txBody>
      </p:sp>
      <p:sp>
        <p:nvSpPr>
          <p:cNvPr id="79875" name="文本占位符 79874"/>
          <p:cNvSpPr>
            <a:spLocks noGrp="1"/>
          </p:cNvSpPr>
          <p:nvPr>
            <p:ph idx="1"/>
          </p:nvPr>
        </p:nvSpPr>
        <p:spPr>
          <a:xfrm>
            <a:off x="358775" y="609600"/>
            <a:ext cx="7315200" cy="3200400"/>
          </a:xfrm>
        </p:spPr>
        <p:txBody>
          <a:bodyPr>
            <a:normAutofit/>
          </a:bodyPr>
          <a:lstStyle/>
          <a:p>
            <a:r>
              <a:rPr lang="zh-CN" altLang="en-US" sz="1800" dirty="0">
                <a:latin typeface="+mj-ea"/>
              </a:rPr>
              <a:t>（一）理想的实现是一个过程。          </a:t>
            </a:r>
          </a:p>
          <a:p>
            <a:r>
              <a:rPr lang="zh-CN" altLang="en-US" sz="1800" dirty="0">
                <a:latin typeface="+mj-ea"/>
              </a:rPr>
              <a:t>（二）正确对待实现理想过程中的顺境与逆境。</a:t>
            </a:r>
          </a:p>
        </p:txBody>
      </p:sp>
      <p:sp>
        <p:nvSpPr>
          <p:cNvPr id="104451" name="文本占位符 104450"/>
          <p:cNvSpPr txBox="1">
            <a:spLocks/>
          </p:cNvSpPr>
          <p:nvPr/>
        </p:nvSpPr>
        <p:spPr>
          <a:xfrm>
            <a:off x="282575" y="1371600"/>
            <a:ext cx="7467600" cy="11430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dirty="0">
                <a:solidFill>
                  <a:srgbClr val="FF9900"/>
                </a:solidFill>
                <a:latin typeface="仿宋" panose="02010609060101010101" pitchFamily="49" charset="-122"/>
                <a:ea typeface="仿宋" panose="02010609060101010101" pitchFamily="49" charset="-122"/>
              </a:rPr>
              <a:t>理想的实现具有长期性。</a:t>
            </a:r>
          </a:p>
          <a:p>
            <a:pPr fontAlgn="auto"/>
            <a:r>
              <a:rPr lang="zh-CN" altLang="en-US" sz="1800" dirty="0">
                <a:latin typeface="仿宋" panose="02010609060101010101" pitchFamily="49" charset="-122"/>
                <a:ea typeface="仿宋" panose="02010609060101010101" pitchFamily="49" charset="-122"/>
              </a:rPr>
              <a:t>理想目标越小越低，它的实现需要的时间就越短；而理想越是高远，它的实现需要的时间就越长。 </a:t>
            </a:r>
          </a:p>
        </p:txBody>
      </p:sp>
      <p:sp>
        <p:nvSpPr>
          <p:cNvPr id="105475" name="文本占位符 105474"/>
          <p:cNvSpPr txBox="1">
            <a:spLocks/>
          </p:cNvSpPr>
          <p:nvPr/>
        </p:nvSpPr>
        <p:spPr>
          <a:xfrm>
            <a:off x="247133" y="2359960"/>
            <a:ext cx="8240100"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dirty="0">
                <a:solidFill>
                  <a:srgbClr val="FF9900"/>
                </a:solidFill>
                <a:latin typeface="+mn-ea"/>
                <a:ea typeface="+mn-ea"/>
              </a:rPr>
              <a:t>理想的实现具有曲折性。</a:t>
            </a:r>
          </a:p>
          <a:p>
            <a:pPr fontAlgn="auto"/>
            <a:r>
              <a:rPr lang="zh-CN" altLang="en-US" sz="1800" dirty="0">
                <a:latin typeface="+mn-ea"/>
                <a:ea typeface="+mn-ea"/>
              </a:rPr>
              <a:t>鲁迅：“不是正因为黑暗，正因为没有出路，所以要革命的么？倘必须前面贴着‘光明’和‘出路’的包票，这才雄赳赳地去革命，那就不但不是革命者，简直连投机家都不如了。虽是投机，成败之数也不能预卜的。” </a:t>
            </a:r>
          </a:p>
        </p:txBody>
      </p:sp>
      <p:sp>
        <p:nvSpPr>
          <p:cNvPr id="2" name="文本占位符 106498"/>
          <p:cNvSpPr txBox="1">
            <a:spLocks/>
          </p:cNvSpPr>
          <p:nvPr/>
        </p:nvSpPr>
        <p:spPr>
          <a:xfrm>
            <a:off x="206375" y="3581400"/>
            <a:ext cx="7543800" cy="3505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dirty="0">
                <a:solidFill>
                  <a:srgbClr val="FF9900"/>
                </a:solidFill>
                <a:latin typeface="仿宋" panose="02010609060101010101" pitchFamily="49" charset="-122"/>
                <a:ea typeface="仿宋" panose="02010609060101010101" pitchFamily="49" charset="-122"/>
              </a:rPr>
              <a:t>理想的实现具有艰巨性。 </a:t>
            </a:r>
          </a:p>
          <a:p>
            <a:pPr fontAlgn="auto"/>
            <a:r>
              <a:rPr lang="zh-CN" altLang="en-US" sz="1800" dirty="0">
                <a:latin typeface="仿宋" panose="02010609060101010101" pitchFamily="49" charset="-122"/>
                <a:ea typeface="仿宋" panose="02010609060101010101" pitchFamily="49" charset="-122"/>
              </a:rPr>
              <a:t>吴起改革，万箭穿心；</a:t>
            </a:r>
          </a:p>
          <a:p>
            <a:pPr fontAlgn="auto"/>
            <a:r>
              <a:rPr lang="zh-CN" altLang="en-US" sz="1800" dirty="0">
                <a:latin typeface="仿宋" panose="02010609060101010101" pitchFamily="49" charset="-122"/>
                <a:ea typeface="仿宋" panose="02010609060101010101" pitchFamily="49" charset="-122"/>
              </a:rPr>
              <a:t>商鞅变法，五马分尸。</a:t>
            </a:r>
          </a:p>
          <a:p>
            <a:pPr fontAlgn="auto"/>
            <a:r>
              <a:rPr lang="zh-CN" altLang="en-US" sz="1800" dirty="0">
                <a:latin typeface="仿宋" panose="02010609060101010101" pitchFamily="49" charset="-122"/>
                <a:ea typeface="仿宋" panose="02010609060101010101" pitchFamily="49" charset="-122"/>
              </a:rPr>
              <a:t>谭嗣同参与戊戌变法，横尸菜市口。</a:t>
            </a:r>
          </a:p>
        </p:txBody>
      </p:sp>
      <p:sp>
        <p:nvSpPr>
          <p:cNvPr id="108546" name="标题 108545"/>
          <p:cNvSpPr txBox="1">
            <a:spLocks/>
          </p:cNvSpPr>
          <p:nvPr/>
        </p:nvSpPr>
        <p:spPr>
          <a:xfrm>
            <a:off x="3657600" y="3736040"/>
            <a:ext cx="5410200" cy="533399"/>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2000" b="1">
                <a:solidFill>
                  <a:schemeClr val="tx1"/>
                </a:solidFill>
                <a:latin typeface="仿宋" panose="02010609060101010101" pitchFamily="49" charset="-122"/>
                <a:ea typeface="仿宋" panose="02010609060101010101" pitchFamily="49" charset="-122"/>
              </a:rPr>
              <a:t>（二）正确对待实现理想过程中的顺境与逆境</a:t>
            </a:r>
            <a:endParaRPr lang="zh-CN" altLang="en-US" sz="2000" b="1" dirty="0">
              <a:solidFill>
                <a:schemeClr val="tx1"/>
              </a:solidFill>
              <a:latin typeface="仿宋" panose="02010609060101010101" pitchFamily="49" charset="-122"/>
              <a:ea typeface="仿宋" panose="02010609060101010101" pitchFamily="49" charset="-122"/>
            </a:endParaRPr>
          </a:p>
        </p:txBody>
      </p:sp>
      <p:sp>
        <p:nvSpPr>
          <p:cNvPr id="108547" name="文本占位符 108546"/>
          <p:cNvSpPr txBox="1">
            <a:spLocks/>
          </p:cNvSpPr>
          <p:nvPr/>
        </p:nvSpPr>
        <p:spPr>
          <a:xfrm>
            <a:off x="4724400" y="4305300"/>
            <a:ext cx="3429000" cy="2057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r>
              <a:rPr lang="zh-CN" altLang="en-US" sz="1800" dirty="0">
                <a:latin typeface="仿宋" panose="02010609060101010101" pitchFamily="49" charset="-122"/>
                <a:ea typeface="仿宋" panose="02010609060101010101" pitchFamily="49" charset="-122"/>
              </a:rPr>
              <a:t>人生需要顺境，也需要逆境。 </a:t>
            </a:r>
          </a:p>
          <a:p>
            <a:pPr fontAlgn="auto"/>
            <a:r>
              <a:rPr lang="zh-CN" altLang="en-US" sz="1800" dirty="0">
                <a:latin typeface="仿宋" panose="02010609060101010101" pitchFamily="49" charset="-122"/>
                <a:ea typeface="仿宋" panose="02010609060101010101" pitchFamily="49" charset="-122"/>
              </a:rPr>
              <a:t>顺境：迎高潮而快上，</a:t>
            </a:r>
          </a:p>
          <a:p>
            <a:pPr fontAlgn="auto">
              <a:buFont typeface="Wingdings 3" panose="05040102010807070707" charset="2"/>
              <a:buNone/>
            </a:pPr>
            <a:r>
              <a:rPr lang="zh-CN" altLang="en-US" sz="1800" dirty="0">
                <a:latin typeface="仿宋" panose="02010609060101010101" pitchFamily="49" charset="-122"/>
                <a:ea typeface="仿宋" panose="02010609060101010101" pitchFamily="49" charset="-122"/>
              </a:rPr>
              <a:t>       乘顺风而勇进；</a:t>
            </a:r>
          </a:p>
          <a:p>
            <a:pPr fontAlgn="auto"/>
            <a:r>
              <a:rPr lang="zh-CN" altLang="en-US" sz="1800" dirty="0">
                <a:latin typeface="仿宋" panose="02010609060101010101" pitchFamily="49" charset="-122"/>
                <a:ea typeface="仿宋" panose="02010609060101010101" pitchFamily="49" charset="-122"/>
              </a:rPr>
              <a:t>逆境：处低谷而力争，</a:t>
            </a:r>
          </a:p>
          <a:p>
            <a:pPr fontAlgn="auto">
              <a:buFont typeface="Wingdings 3" panose="05040102010807070707" charset="2"/>
              <a:buNone/>
            </a:pPr>
            <a:r>
              <a:rPr lang="zh-CN" altLang="en-US" sz="1800" dirty="0">
                <a:latin typeface="仿宋" panose="02010609060101010101" pitchFamily="49" charset="-122"/>
                <a:ea typeface="仿宋" panose="02010609060101010101" pitchFamily="49" charset="-122"/>
              </a:rPr>
              <a:t>       受磨难而奋进。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anim calcmode="lin" valueType="num">
                                      <p:cBhvr additive="base">
                                        <p:cTn id="7" dur="500" fill="hold"/>
                                        <p:tgtEl>
                                          <p:spTgt spid="79874"/>
                                        </p:tgtEl>
                                        <p:attrNameLst>
                                          <p:attrName>ppt_x</p:attrName>
                                        </p:attrNameLst>
                                      </p:cBhvr>
                                      <p:tavLst>
                                        <p:tav tm="0">
                                          <p:val>
                                            <p:strVal val="#ppt_x"/>
                                          </p:val>
                                        </p:tav>
                                        <p:tav tm="100000">
                                          <p:val>
                                            <p:strVal val="#ppt_x"/>
                                          </p:val>
                                        </p:tav>
                                      </p:tavLst>
                                    </p:anim>
                                    <p:anim calcmode="lin" valueType="num">
                                      <p:cBhvr additive="base">
                                        <p:cTn id="8" dur="500" fill="hold"/>
                                        <p:tgtEl>
                                          <p:spTgt spid="798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9875">
                                            <p:txEl>
                                              <p:pRg st="0" end="0"/>
                                            </p:txEl>
                                          </p:spTgt>
                                        </p:tgtEl>
                                        <p:attrNameLst>
                                          <p:attrName>style.visibility</p:attrName>
                                        </p:attrNameLst>
                                      </p:cBhvr>
                                      <p:to>
                                        <p:strVal val="visible"/>
                                      </p:to>
                                    </p:set>
                                    <p:anim calcmode="lin" valueType="num">
                                      <p:cBhvr additive="base">
                                        <p:cTn id="13" dur="500" fill="hold"/>
                                        <p:tgtEl>
                                          <p:spTgt spid="7987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98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9875">
                                            <p:txEl>
                                              <p:pRg st="1" end="1"/>
                                            </p:txEl>
                                          </p:spTgt>
                                        </p:tgtEl>
                                        <p:attrNameLst>
                                          <p:attrName>style.visibility</p:attrName>
                                        </p:attrNameLst>
                                      </p:cBhvr>
                                      <p:to>
                                        <p:strVal val="visible"/>
                                      </p:to>
                                    </p:set>
                                    <p:anim calcmode="lin" valueType="num">
                                      <p:cBhvr additive="base">
                                        <p:cTn id="19" dur="500" fill="hold"/>
                                        <p:tgtEl>
                                          <p:spTgt spid="7987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98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4451">
                                            <p:txEl>
                                              <p:pRg st="0" end="0"/>
                                            </p:txEl>
                                          </p:spTgt>
                                        </p:tgtEl>
                                        <p:attrNameLst>
                                          <p:attrName>style.visibility</p:attrName>
                                        </p:attrNameLst>
                                      </p:cBhvr>
                                      <p:to>
                                        <p:strVal val="visible"/>
                                      </p:to>
                                    </p:set>
                                    <p:anim calcmode="lin" valueType="num">
                                      <p:cBhvr additive="base">
                                        <p:cTn id="25" dur="500" fill="hold"/>
                                        <p:tgtEl>
                                          <p:spTgt spid="10445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44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4451">
                                            <p:txEl>
                                              <p:pRg st="1" end="1"/>
                                            </p:txEl>
                                          </p:spTgt>
                                        </p:tgtEl>
                                        <p:attrNameLst>
                                          <p:attrName>style.visibility</p:attrName>
                                        </p:attrNameLst>
                                      </p:cBhvr>
                                      <p:to>
                                        <p:strVal val="visible"/>
                                      </p:to>
                                    </p:set>
                                    <p:anim calcmode="lin" valueType="num">
                                      <p:cBhvr additive="base">
                                        <p:cTn id="31" dur="500" fill="hold"/>
                                        <p:tgtEl>
                                          <p:spTgt spid="104451">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44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5475">
                                            <p:txEl>
                                              <p:pRg st="0" end="0"/>
                                            </p:txEl>
                                          </p:spTgt>
                                        </p:tgtEl>
                                        <p:attrNameLst>
                                          <p:attrName>style.visibility</p:attrName>
                                        </p:attrNameLst>
                                      </p:cBhvr>
                                      <p:to>
                                        <p:strVal val="visible"/>
                                      </p:to>
                                    </p:set>
                                    <p:anim calcmode="lin" valueType="num">
                                      <p:cBhvr additive="base">
                                        <p:cTn id="37" dur="500" fill="hold"/>
                                        <p:tgtEl>
                                          <p:spTgt spid="105475">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54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5475">
                                            <p:txEl>
                                              <p:pRg st="1" end="1"/>
                                            </p:txEl>
                                          </p:spTgt>
                                        </p:tgtEl>
                                        <p:attrNameLst>
                                          <p:attrName>style.visibility</p:attrName>
                                        </p:attrNameLst>
                                      </p:cBhvr>
                                      <p:to>
                                        <p:strVal val="visible"/>
                                      </p:to>
                                    </p:set>
                                    <p:anim calcmode="lin" valueType="num">
                                      <p:cBhvr additive="base">
                                        <p:cTn id="43" dur="500" fill="hold"/>
                                        <p:tgtEl>
                                          <p:spTgt spid="105475">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54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0" end="0"/>
                                            </p:txEl>
                                          </p:spTgt>
                                        </p:tgtEl>
                                        <p:attrNameLst>
                                          <p:attrName>style.visibility</p:attrName>
                                        </p:attrNameLst>
                                      </p:cBhvr>
                                      <p:to>
                                        <p:strVal val="visible"/>
                                      </p:to>
                                    </p:set>
                                    <p:anim calcmode="lin" valueType="num">
                                      <p:cBhvr additive="base">
                                        <p:cTn id="49"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1" end="1"/>
                                            </p:txEl>
                                          </p:spTgt>
                                        </p:tgtEl>
                                        <p:attrNameLst>
                                          <p:attrName>style.visibility</p:attrName>
                                        </p:attrNameLst>
                                      </p:cBhvr>
                                      <p:to>
                                        <p:strVal val="visible"/>
                                      </p:to>
                                    </p:set>
                                    <p:anim calcmode="lin" valueType="num">
                                      <p:cBhvr additive="base">
                                        <p:cTn id="55"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
                                            <p:txEl>
                                              <p:pRg st="2" end="2"/>
                                            </p:txEl>
                                          </p:spTgt>
                                        </p:tgtEl>
                                        <p:attrNameLst>
                                          <p:attrName>style.visibility</p:attrName>
                                        </p:attrNameLst>
                                      </p:cBhvr>
                                      <p:to>
                                        <p:strVal val="visible"/>
                                      </p:to>
                                    </p:set>
                                    <p:anim calcmode="lin" valueType="num">
                                      <p:cBhvr additive="base">
                                        <p:cTn id="6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
                                            <p:txEl>
                                              <p:pRg st="3" end="3"/>
                                            </p:txEl>
                                          </p:spTgt>
                                        </p:tgtEl>
                                        <p:attrNameLst>
                                          <p:attrName>style.visibility</p:attrName>
                                        </p:attrNameLst>
                                      </p:cBhvr>
                                      <p:to>
                                        <p:strVal val="visible"/>
                                      </p:to>
                                    </p:set>
                                    <p:anim calcmode="lin" valueType="num">
                                      <p:cBhvr additive="base">
                                        <p:cTn id="6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8546"/>
                                        </p:tgtEl>
                                        <p:attrNameLst>
                                          <p:attrName>style.visibility</p:attrName>
                                        </p:attrNameLst>
                                      </p:cBhvr>
                                      <p:to>
                                        <p:strVal val="visible"/>
                                      </p:to>
                                    </p:set>
                                    <p:anim calcmode="lin" valueType="num">
                                      <p:cBhvr additive="base">
                                        <p:cTn id="73" dur="500" fill="hold"/>
                                        <p:tgtEl>
                                          <p:spTgt spid="108546"/>
                                        </p:tgtEl>
                                        <p:attrNameLst>
                                          <p:attrName>ppt_x</p:attrName>
                                        </p:attrNameLst>
                                      </p:cBhvr>
                                      <p:tavLst>
                                        <p:tav tm="0">
                                          <p:val>
                                            <p:strVal val="#ppt_x"/>
                                          </p:val>
                                        </p:tav>
                                        <p:tav tm="100000">
                                          <p:val>
                                            <p:strVal val="#ppt_x"/>
                                          </p:val>
                                        </p:tav>
                                      </p:tavLst>
                                    </p:anim>
                                    <p:anim calcmode="lin" valueType="num">
                                      <p:cBhvr additive="base">
                                        <p:cTn id="74" dur="500" fill="hold"/>
                                        <p:tgtEl>
                                          <p:spTgt spid="10854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8547">
                                            <p:txEl>
                                              <p:pRg st="0" end="0"/>
                                            </p:txEl>
                                          </p:spTgt>
                                        </p:tgtEl>
                                        <p:attrNameLst>
                                          <p:attrName>style.visibility</p:attrName>
                                        </p:attrNameLst>
                                      </p:cBhvr>
                                      <p:to>
                                        <p:strVal val="visible"/>
                                      </p:to>
                                    </p:set>
                                    <p:anim calcmode="lin" valueType="num">
                                      <p:cBhvr additive="base">
                                        <p:cTn id="79" dur="500" fill="hold"/>
                                        <p:tgtEl>
                                          <p:spTgt spid="108547">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085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8547">
                                            <p:txEl>
                                              <p:pRg st="1" end="1"/>
                                            </p:txEl>
                                          </p:spTgt>
                                        </p:tgtEl>
                                        <p:attrNameLst>
                                          <p:attrName>style.visibility</p:attrName>
                                        </p:attrNameLst>
                                      </p:cBhvr>
                                      <p:to>
                                        <p:strVal val="visible"/>
                                      </p:to>
                                    </p:set>
                                    <p:anim calcmode="lin" valueType="num">
                                      <p:cBhvr additive="base">
                                        <p:cTn id="85" dur="500" fill="hold"/>
                                        <p:tgtEl>
                                          <p:spTgt spid="108547">
                                            <p:txEl>
                                              <p:pRg st="1" end="1"/>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085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08547">
                                            <p:txEl>
                                              <p:pRg st="2" end="2"/>
                                            </p:txEl>
                                          </p:spTgt>
                                        </p:tgtEl>
                                        <p:attrNameLst>
                                          <p:attrName>style.visibility</p:attrName>
                                        </p:attrNameLst>
                                      </p:cBhvr>
                                      <p:to>
                                        <p:strVal val="visible"/>
                                      </p:to>
                                    </p:set>
                                    <p:anim calcmode="lin" valueType="num">
                                      <p:cBhvr additive="base">
                                        <p:cTn id="91" dur="500" fill="hold"/>
                                        <p:tgtEl>
                                          <p:spTgt spid="108547">
                                            <p:txEl>
                                              <p:pRg st="2" end="2"/>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085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08547">
                                            <p:txEl>
                                              <p:pRg st="3" end="3"/>
                                            </p:txEl>
                                          </p:spTgt>
                                        </p:tgtEl>
                                        <p:attrNameLst>
                                          <p:attrName>style.visibility</p:attrName>
                                        </p:attrNameLst>
                                      </p:cBhvr>
                                      <p:to>
                                        <p:strVal val="visible"/>
                                      </p:to>
                                    </p:set>
                                    <p:anim calcmode="lin" valueType="num">
                                      <p:cBhvr additive="base">
                                        <p:cTn id="97" dur="500" fill="hold"/>
                                        <p:tgtEl>
                                          <p:spTgt spid="108547">
                                            <p:txEl>
                                              <p:pRg st="3" end="3"/>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085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08547">
                                            <p:txEl>
                                              <p:pRg st="4" end="4"/>
                                            </p:txEl>
                                          </p:spTgt>
                                        </p:tgtEl>
                                        <p:attrNameLst>
                                          <p:attrName>style.visibility</p:attrName>
                                        </p:attrNameLst>
                                      </p:cBhvr>
                                      <p:to>
                                        <p:strVal val="visible"/>
                                      </p:to>
                                    </p:set>
                                    <p:anim calcmode="lin" valueType="num">
                                      <p:cBhvr additive="base">
                                        <p:cTn id="103" dur="500" fill="hold"/>
                                        <p:tgtEl>
                                          <p:spTgt spid="108547">
                                            <p:txEl>
                                              <p:pRg st="4" end="4"/>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085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nimBg="1"/>
      <p:bldP spid="79875" grpId="0" build="p"/>
      <p:bldP spid="104451" grpId="0" build="p"/>
      <p:bldP spid="105475" grpId="0" build="p"/>
      <p:bldP spid="2" grpId="0" build="p"/>
      <p:bldP spid="108546" grpId="0"/>
      <p:bldP spid="10854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07521"/>
          <p:cNvSpPr>
            <a:spLocks noGrp="1"/>
          </p:cNvSpPr>
          <p:nvPr>
            <p:ph type="title"/>
          </p:nvPr>
        </p:nvSpPr>
        <p:spPr>
          <a:xfrm>
            <a:off x="304800" y="228600"/>
            <a:ext cx="3096690" cy="537882"/>
          </a:xfrm>
        </p:spPr>
        <p:txBody>
          <a:bodyPr anchor="ctr"/>
          <a:lstStyle/>
          <a:p>
            <a:r>
              <a:rPr lang="zh-CN" altLang="en-US" sz="2000" dirty="0">
                <a:latin typeface="+mn-ea"/>
                <a:ea typeface="+mn-ea"/>
              </a:rPr>
              <a:t>如何看待社会主义的发展？</a:t>
            </a:r>
          </a:p>
        </p:txBody>
      </p:sp>
      <p:sp>
        <p:nvSpPr>
          <p:cNvPr id="4" name="文本框 3">
            <a:extLst>
              <a:ext uri="{FF2B5EF4-FFF2-40B4-BE49-F238E27FC236}">
                <a16:creationId xmlns:a16="http://schemas.microsoft.com/office/drawing/2014/main" id="{4A80178A-197C-6822-E646-285F2455DBAF}"/>
              </a:ext>
            </a:extLst>
          </p:cNvPr>
          <p:cNvSpPr txBox="1"/>
          <p:nvPr/>
        </p:nvSpPr>
        <p:spPr>
          <a:xfrm>
            <a:off x="228600" y="803696"/>
            <a:ext cx="8458200" cy="5715000"/>
          </a:xfrm>
          <a:prstGeom prst="rect">
            <a:avLst/>
          </a:prstGeom>
          <a:noFill/>
        </p:spPr>
        <p:txBody>
          <a:bodyPr wrap="square" rtlCol="0">
            <a:spAutoFit/>
          </a:bodyPr>
          <a:lstStyle/>
          <a:p>
            <a:r>
              <a:rPr lang="zh-CN" altLang="en-US" sz="1800" b="0" dirty="0">
                <a:solidFill>
                  <a:schemeClr val="tx1"/>
                </a:solidFill>
                <a:latin typeface="仿宋" panose="02010609060101010101" pitchFamily="49" charset="-122"/>
                <a:ea typeface="仿宋" panose="02010609060101010101" pitchFamily="49" charset="-122"/>
              </a:rPr>
              <a:t>社会主义的发展，必须放在人类文明演进的长周期中来审视。从历史比较的视角看，每一次社会形态的更替都经历了一个漫长、曲折且充满反复的过程。原始社会向奴隶社会的过渡耗时数千年，奴隶社会向封建社会的演进在西方经历了约五百年至一千年，封建社会向资本主义的转型也用了两三百年的时间。相比之下，社会主义从理论诞生到实践探索至今不到两百年，其历史跨度远短于以往任何一次制度更替。</a:t>
            </a:r>
          </a:p>
          <a:p>
            <a:endParaRPr lang="zh-CN" altLang="en-US" sz="1800" b="0" dirty="0">
              <a:solidFill>
                <a:schemeClr val="tx1"/>
              </a:solidFill>
              <a:latin typeface="仿宋" panose="02010609060101010101" pitchFamily="49" charset="-122"/>
              <a:ea typeface="仿宋" panose="02010609060101010101" pitchFamily="49" charset="-122"/>
            </a:endParaRPr>
          </a:p>
          <a:p>
            <a:r>
              <a:rPr lang="zh-CN" altLang="en-US" sz="1800" b="0" dirty="0">
                <a:solidFill>
                  <a:schemeClr val="tx1"/>
                </a:solidFill>
                <a:latin typeface="仿宋" panose="02010609060101010101" pitchFamily="49" charset="-122"/>
                <a:ea typeface="仿宋" panose="02010609060101010101" pitchFamily="49" charset="-122"/>
              </a:rPr>
              <a:t>这意味着，社会主义在发展进程中遭遇困难、挫折甚至暂时的倒退，并非异常，而是符合社会演进的一般规律。作为一种全新的、旨在消灭剥削和实现公平正义的社会形态，社会主义没有现成的蓝本可循，需要在实践中不断摸索、修正和完善。苏联解体、东欧剧变等曲折，可以看作是这一漫长过渡期的阵痛。</a:t>
            </a:r>
          </a:p>
          <a:p>
            <a:endParaRPr lang="zh-CN" altLang="en-US" sz="1800" b="0" dirty="0">
              <a:solidFill>
                <a:schemeClr val="tx1"/>
              </a:solidFill>
              <a:latin typeface="仿宋" panose="02010609060101010101" pitchFamily="49" charset="-122"/>
              <a:ea typeface="仿宋" panose="02010609060101010101" pitchFamily="49" charset="-122"/>
            </a:endParaRPr>
          </a:p>
          <a:p>
            <a:r>
              <a:rPr lang="zh-CN" altLang="en-US" sz="1800" b="0" dirty="0">
                <a:solidFill>
                  <a:schemeClr val="tx1"/>
                </a:solidFill>
                <a:latin typeface="仿宋" panose="02010609060101010101" pitchFamily="49" charset="-122"/>
                <a:ea typeface="仿宋" panose="02010609060101010101" pitchFamily="49" charset="-122"/>
              </a:rPr>
              <a:t>更重要的是，社会主义展现了强大的自我革新能力。中国的改革开放，就是在总结经验教训基础上，探索出符合本国国情的社会主义道路。它证明了社会主义并非僵化的教条，而是可以根据现实条件不断调整和发展的活生生的实践。</a:t>
            </a:r>
          </a:p>
          <a:p>
            <a:endParaRPr lang="zh-CN" altLang="en-US" sz="1800" b="0" dirty="0">
              <a:solidFill>
                <a:schemeClr val="tx1"/>
              </a:solidFill>
              <a:latin typeface="仿宋" panose="02010609060101010101" pitchFamily="49" charset="-122"/>
              <a:ea typeface="仿宋" panose="02010609060101010101" pitchFamily="49" charset="-122"/>
            </a:endParaRPr>
          </a:p>
          <a:p>
            <a:r>
              <a:rPr lang="zh-CN" altLang="en-US" sz="1800" b="0" dirty="0">
                <a:solidFill>
                  <a:schemeClr val="tx1"/>
                </a:solidFill>
                <a:latin typeface="仿宋" panose="02010609060101010101" pitchFamily="49" charset="-122"/>
                <a:ea typeface="仿宋" panose="02010609060101010101" pitchFamily="49" charset="-122"/>
              </a:rPr>
              <a:t>因此，看待社会主义的发展既要有历史的耐心，也要有坚定的信心。不能因为一时的困难或周期较长就否定其历史必然性和进步性。只要坚持以人民为中心，不断推进理论和实践创新，社会主义就一定能展现出超越旧制度的优越性，最终完成这一伟大的社会转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 calcmode="lin" valueType="num">
                                      <p:cBhvr additive="base">
                                        <p:cTn id="7" dur="500" fill="hold"/>
                                        <p:tgtEl>
                                          <p:spTgt spid="107522"/>
                                        </p:tgtEl>
                                        <p:attrNameLst>
                                          <p:attrName>ppt_x</p:attrName>
                                        </p:attrNameLst>
                                      </p:cBhvr>
                                      <p:tavLst>
                                        <p:tav tm="0">
                                          <p:val>
                                            <p:strVal val="#ppt_x"/>
                                          </p:val>
                                        </p:tav>
                                        <p:tav tm="100000">
                                          <p:val>
                                            <p:strVal val="#ppt_x"/>
                                          </p:val>
                                        </p:tav>
                                      </p:tavLst>
                                    </p:anim>
                                    <p:anim calcmode="lin" valueType="num">
                                      <p:cBhvr additive="base">
                                        <p:cTn id="8" dur="500" fill="hold"/>
                                        <p:tgtEl>
                                          <p:spTgt spid="1075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80897"/>
          <p:cNvSpPr>
            <a:spLocks noGrp="1"/>
          </p:cNvSpPr>
          <p:nvPr>
            <p:ph type="title"/>
          </p:nvPr>
        </p:nvSpPr>
        <p:spPr>
          <a:xfrm>
            <a:off x="304800" y="316267"/>
            <a:ext cx="2791890" cy="461682"/>
          </a:xfrm>
        </p:spPr>
        <p:txBody>
          <a:bodyPr anchor="ctr"/>
          <a:lstStyle/>
          <a:p>
            <a:r>
              <a:rPr lang="zh-CN" altLang="en-US" sz="2000" dirty="0">
                <a:solidFill>
                  <a:schemeClr val="tx1"/>
                </a:solidFill>
                <a:latin typeface="+mn-ea"/>
                <a:ea typeface="+mn-ea"/>
              </a:rPr>
              <a:t>在实践中化理想为现实</a:t>
            </a:r>
          </a:p>
        </p:txBody>
      </p:sp>
      <p:sp>
        <p:nvSpPr>
          <p:cNvPr id="80899" name="文本占位符 80898"/>
          <p:cNvSpPr>
            <a:spLocks noGrp="1"/>
          </p:cNvSpPr>
          <p:nvPr>
            <p:ph idx="1"/>
          </p:nvPr>
        </p:nvSpPr>
        <p:spPr>
          <a:xfrm>
            <a:off x="152400" y="838200"/>
            <a:ext cx="5742510" cy="1752600"/>
          </a:xfrm>
        </p:spPr>
        <p:txBody>
          <a:bodyPr>
            <a:normAutofit/>
          </a:bodyPr>
          <a:lstStyle/>
          <a:p>
            <a:r>
              <a:rPr lang="zh-CN" altLang="en-US" sz="1800" b="1" dirty="0">
                <a:latin typeface="仿宋" panose="02010609060101010101" pitchFamily="49" charset="-122"/>
                <a:ea typeface="仿宋" panose="02010609060101010101" pitchFamily="49" charset="-122"/>
              </a:rPr>
              <a:t>（一）正确认识理想与现实的关系</a:t>
            </a:r>
            <a:endParaRPr lang="en-US" altLang="zh-CN" sz="1800" b="1" dirty="0">
              <a:latin typeface="仿宋" panose="02010609060101010101" pitchFamily="49" charset="-122"/>
              <a:ea typeface="仿宋" panose="02010609060101010101" pitchFamily="49" charset="-122"/>
            </a:endParaRPr>
          </a:p>
          <a:p>
            <a:pPr marL="0" indent="0">
              <a:buNone/>
            </a:pPr>
            <a:r>
              <a:rPr lang="en-US" altLang="zh-CN" sz="1800" b="1" dirty="0">
                <a:latin typeface="仿宋" panose="02010609060101010101" pitchFamily="49" charset="-122"/>
                <a:ea typeface="仿宋" panose="02010609060101010101" pitchFamily="49" charset="-122"/>
              </a:rPr>
              <a:t>         </a:t>
            </a:r>
            <a:r>
              <a:rPr lang="zh-CN" altLang="en-US" sz="1800" b="1" dirty="0">
                <a:latin typeface="仿宋" panose="02010609060101010101" pitchFamily="49" charset="-122"/>
                <a:ea typeface="仿宋" panose="02010609060101010101" pitchFamily="49" charset="-122"/>
              </a:rPr>
              <a:t>是实现理想的思想基础 </a:t>
            </a:r>
          </a:p>
          <a:p>
            <a:r>
              <a:rPr lang="zh-CN" altLang="en-US" sz="1800" b="1" dirty="0">
                <a:latin typeface="仿宋" panose="02010609060101010101" pitchFamily="49" charset="-122"/>
                <a:ea typeface="仿宋" panose="02010609060101010101" pitchFamily="49" charset="-122"/>
              </a:rPr>
              <a:t>（二）坚定的信念是实现理想的重要条件。</a:t>
            </a:r>
          </a:p>
          <a:p>
            <a:r>
              <a:rPr lang="zh-CN" altLang="en-US" sz="1800" b="1" dirty="0">
                <a:latin typeface="仿宋" panose="02010609060101010101" pitchFamily="49" charset="-122"/>
                <a:ea typeface="仿宋" panose="02010609060101010101" pitchFamily="49" charset="-122"/>
              </a:rPr>
              <a:t>（三）勇于实践、艰苦奋斗是实现理想的根本途径。</a:t>
            </a:r>
          </a:p>
        </p:txBody>
      </p:sp>
      <p:sp>
        <p:nvSpPr>
          <p:cNvPr id="87043" name="文本占位符 87042"/>
          <p:cNvSpPr txBox="1">
            <a:spLocks/>
          </p:cNvSpPr>
          <p:nvPr/>
        </p:nvSpPr>
        <p:spPr>
          <a:xfrm>
            <a:off x="228600" y="2438400"/>
            <a:ext cx="5105400" cy="3124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lnSpc>
                <a:spcPct val="80000"/>
              </a:lnSpc>
            </a:pPr>
            <a:r>
              <a:rPr lang="zh-CN" altLang="en-US" sz="1800" dirty="0">
                <a:solidFill>
                  <a:srgbClr val="FF9900"/>
                </a:solidFill>
                <a:latin typeface="仿宋" panose="02010609060101010101" pitchFamily="49" charset="-122"/>
                <a:ea typeface="仿宋" panose="02010609060101010101" pitchFamily="49" charset="-122"/>
              </a:rPr>
              <a:t>理想与现实的辨证统一</a:t>
            </a:r>
            <a:endParaRPr lang="zh-CN" altLang="en-US" sz="1800" dirty="0">
              <a:solidFill>
                <a:srgbClr val="FFFF00"/>
              </a:solidFill>
              <a:latin typeface="仿宋" panose="02010609060101010101" pitchFamily="49" charset="-122"/>
              <a:ea typeface="仿宋" panose="02010609060101010101" pitchFamily="49" charset="-122"/>
            </a:endParaRPr>
          </a:p>
          <a:p>
            <a:pPr fontAlgn="auto">
              <a:lnSpc>
                <a:spcPct val="80000"/>
              </a:lnSpc>
            </a:pPr>
            <a:r>
              <a:rPr lang="en-US" altLang="zh-CN" sz="1800" dirty="0">
                <a:latin typeface="仿宋" panose="02010609060101010101" pitchFamily="49" charset="-122"/>
                <a:ea typeface="仿宋" panose="02010609060101010101" pitchFamily="49" charset="-122"/>
              </a:rPr>
              <a:t>A</a:t>
            </a:r>
            <a:r>
              <a:rPr lang="zh-CN" altLang="en-US" sz="1800" dirty="0">
                <a:latin typeface="仿宋" panose="02010609060101010101" pitchFamily="49" charset="-122"/>
                <a:ea typeface="仿宋" panose="02010609060101010101" pitchFamily="49" charset="-122"/>
              </a:rPr>
              <a:t>、理想不等于现实。理想</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真善美，现实</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真   </a:t>
            </a:r>
          </a:p>
          <a:p>
            <a:pPr fontAlgn="auto">
              <a:lnSpc>
                <a:spcPct val="80000"/>
              </a:lnSpc>
              <a:buFont typeface="Wingdings 3" panose="05040102010807070707" charset="2"/>
              <a:buNone/>
            </a:pPr>
            <a:r>
              <a:rPr lang="zh-CN" altLang="en-US" sz="1800" dirty="0">
                <a:latin typeface="仿宋" panose="02010609060101010101" pitchFamily="49" charset="-122"/>
                <a:ea typeface="仿宋" panose="02010609060101010101" pitchFamily="49" charset="-122"/>
              </a:rPr>
              <a:t>     善美</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假恶丑，因而，理想</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现实。</a:t>
            </a:r>
          </a:p>
          <a:p>
            <a:pPr fontAlgn="auto">
              <a:lnSpc>
                <a:spcPct val="80000"/>
              </a:lnSpc>
            </a:pPr>
            <a:r>
              <a:rPr lang="en-US" altLang="zh-CN" sz="1800" dirty="0">
                <a:latin typeface="仿宋" panose="02010609060101010101" pitchFamily="49" charset="-122"/>
                <a:ea typeface="仿宋" panose="02010609060101010101" pitchFamily="49" charset="-122"/>
              </a:rPr>
              <a:t>B</a:t>
            </a:r>
            <a:r>
              <a:rPr lang="zh-CN" altLang="en-US" sz="1800" dirty="0">
                <a:latin typeface="仿宋" panose="02010609060101010101" pitchFamily="49" charset="-122"/>
                <a:ea typeface="仿宋" panose="02010609060101010101" pitchFamily="49" charset="-122"/>
              </a:rPr>
              <a:t>、现实是理想的基础和摇篮。</a:t>
            </a:r>
          </a:p>
          <a:p>
            <a:pPr fontAlgn="auto">
              <a:lnSpc>
                <a:spcPct val="80000"/>
              </a:lnSpc>
              <a:buFont typeface="Wingdings 3" panose="05040102010807070707" charset="2"/>
              <a:buNone/>
            </a:pPr>
            <a:r>
              <a:rPr lang="zh-CN" altLang="en-US" sz="1800" dirty="0">
                <a:latin typeface="仿宋" panose="02010609060101010101" pitchFamily="49" charset="-122"/>
                <a:ea typeface="仿宋" panose="02010609060101010101" pitchFamily="49" charset="-122"/>
              </a:rPr>
              <a:t>     理想的材料来源于现实；理想的可能性来  </a:t>
            </a:r>
          </a:p>
          <a:p>
            <a:pPr fontAlgn="auto">
              <a:lnSpc>
                <a:spcPct val="80000"/>
              </a:lnSpc>
              <a:buFont typeface="Wingdings 3" panose="05040102010807070707" charset="2"/>
              <a:buNone/>
            </a:pPr>
            <a:r>
              <a:rPr lang="zh-CN" altLang="en-US" sz="1800" dirty="0">
                <a:latin typeface="仿宋" panose="02010609060101010101" pitchFamily="49" charset="-122"/>
                <a:ea typeface="仿宋" panose="02010609060101010101" pitchFamily="49" charset="-122"/>
              </a:rPr>
              <a:t>     自于现实；理想产生的动机来源于现实。</a:t>
            </a:r>
          </a:p>
          <a:p>
            <a:pPr fontAlgn="auto">
              <a:lnSpc>
                <a:spcPct val="80000"/>
              </a:lnSpc>
            </a:pPr>
            <a:r>
              <a:rPr lang="en-US" altLang="zh-CN" sz="1800" dirty="0">
                <a:latin typeface="仿宋" panose="02010609060101010101" pitchFamily="49" charset="-122"/>
                <a:ea typeface="仿宋" panose="02010609060101010101" pitchFamily="49" charset="-122"/>
              </a:rPr>
              <a:t>C</a:t>
            </a:r>
            <a:r>
              <a:rPr lang="zh-CN" altLang="en-US" sz="1800" dirty="0">
                <a:latin typeface="仿宋" panose="02010609060101010101" pitchFamily="49" charset="-122"/>
                <a:ea typeface="仿宋" panose="02010609060101010101" pitchFamily="49" charset="-122"/>
              </a:rPr>
              <a:t>、理想高于现实，是现实的升华，但又不脱</a:t>
            </a:r>
          </a:p>
          <a:p>
            <a:pPr fontAlgn="auto">
              <a:lnSpc>
                <a:spcPct val="80000"/>
              </a:lnSpc>
              <a:buFont typeface="Wingdings 3" panose="05040102010807070707" charset="2"/>
              <a:buNone/>
            </a:pPr>
            <a:r>
              <a:rPr lang="zh-CN" altLang="en-US" sz="1800" dirty="0">
                <a:latin typeface="仿宋" panose="02010609060101010101" pitchFamily="49" charset="-122"/>
                <a:ea typeface="仿宋" panose="02010609060101010101" pitchFamily="49" charset="-122"/>
              </a:rPr>
              <a:t>     离现实。</a:t>
            </a:r>
          </a:p>
          <a:p>
            <a:pPr fontAlgn="auto">
              <a:lnSpc>
                <a:spcPct val="80000"/>
              </a:lnSpc>
            </a:pPr>
            <a:r>
              <a:rPr lang="en-US" altLang="zh-CN" sz="1800" dirty="0">
                <a:latin typeface="仿宋" panose="02010609060101010101" pitchFamily="49" charset="-122"/>
                <a:ea typeface="仿宋" panose="02010609060101010101" pitchFamily="49" charset="-122"/>
              </a:rPr>
              <a:t>D</a:t>
            </a:r>
            <a:r>
              <a:rPr lang="zh-CN" altLang="en-US" sz="1800" dirty="0">
                <a:latin typeface="仿宋" panose="02010609060101010101" pitchFamily="49" charset="-122"/>
                <a:ea typeface="仿宋" panose="02010609060101010101" pitchFamily="49" charset="-122"/>
              </a:rPr>
              <a:t>、理想转化为现实，需要一定的条件。</a:t>
            </a:r>
            <a:r>
              <a:rPr lang="zh-CN" altLang="en-US" sz="1800" dirty="0">
                <a:solidFill>
                  <a:srgbClr val="FFFF00"/>
                </a:solidFill>
                <a:latin typeface="仿宋" panose="02010609060101010101" pitchFamily="49" charset="-122"/>
                <a:ea typeface="仿宋" panose="02010609060101010101" pitchFamily="49" charset="-122"/>
              </a:rPr>
              <a:t> </a:t>
            </a:r>
          </a:p>
        </p:txBody>
      </p:sp>
      <p:sp>
        <p:nvSpPr>
          <p:cNvPr id="88067" name="文本占位符 88066"/>
          <p:cNvSpPr txBox="1">
            <a:spLocks/>
          </p:cNvSpPr>
          <p:nvPr/>
        </p:nvSpPr>
        <p:spPr>
          <a:xfrm>
            <a:off x="5126665" y="2476455"/>
            <a:ext cx="3810000" cy="3052475"/>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lnSpc>
                <a:spcPct val="90000"/>
              </a:lnSpc>
            </a:pPr>
            <a:r>
              <a:rPr lang="zh-CN" altLang="en-US" sz="1800">
                <a:solidFill>
                  <a:srgbClr val="FF9900"/>
                </a:solidFill>
                <a:latin typeface="仿宋" panose="02010609060101010101" pitchFamily="49" charset="-122"/>
                <a:ea typeface="仿宋" panose="02010609060101010101" pitchFamily="49" charset="-122"/>
              </a:rPr>
              <a:t>正确看待理想与现实的矛盾</a:t>
            </a:r>
            <a:endParaRPr lang="zh-CN" altLang="en-US" sz="1800">
              <a:latin typeface="仿宋" panose="02010609060101010101" pitchFamily="49" charset="-122"/>
              <a:ea typeface="仿宋" panose="02010609060101010101" pitchFamily="49" charset="-122"/>
            </a:endParaRPr>
          </a:p>
          <a:p>
            <a:pPr fontAlgn="auto">
              <a:lnSpc>
                <a:spcPct val="90000"/>
              </a:lnSpc>
            </a:pPr>
            <a:r>
              <a:rPr lang="zh-CN" altLang="en-US" sz="1800">
                <a:latin typeface="仿宋" panose="02010609060101010101" pitchFamily="49" charset="-122"/>
                <a:ea typeface="仿宋" panose="02010609060101010101" pitchFamily="49" charset="-122"/>
              </a:rPr>
              <a:t>李敖在复旦大学的演讲 “尼姑思凡”的含义</a:t>
            </a:r>
          </a:p>
          <a:p>
            <a:pPr fontAlgn="auto">
              <a:lnSpc>
                <a:spcPct val="90000"/>
              </a:lnSpc>
            </a:pPr>
            <a:r>
              <a:rPr lang="en-US" altLang="zh-CN" sz="1800">
                <a:solidFill>
                  <a:srgbClr val="FF0000"/>
                </a:solidFill>
                <a:latin typeface="仿宋" panose="02010609060101010101" pitchFamily="49" charset="-122"/>
                <a:ea typeface="仿宋" panose="02010609060101010101" pitchFamily="49" charset="-122"/>
              </a:rPr>
              <a:t>A</a:t>
            </a:r>
            <a:r>
              <a:rPr lang="zh-CN" altLang="en-US" sz="1800">
                <a:solidFill>
                  <a:srgbClr val="FF0000"/>
                </a:solidFill>
                <a:latin typeface="仿宋" panose="02010609060101010101" pitchFamily="49" charset="-122"/>
                <a:ea typeface="仿宋" panose="02010609060101010101" pitchFamily="49" charset="-122"/>
              </a:rPr>
              <a:t>、走出“以理想来否定现实”的误区。</a:t>
            </a:r>
            <a:r>
              <a:rPr lang="zh-CN" altLang="en-US" sz="1800">
                <a:latin typeface="仿宋" panose="02010609060101010101" pitchFamily="49" charset="-122"/>
                <a:ea typeface="仿宋" panose="02010609060101010101" pitchFamily="49" charset="-122"/>
              </a:rPr>
              <a:t> </a:t>
            </a:r>
          </a:p>
          <a:p>
            <a:pPr fontAlgn="auto">
              <a:lnSpc>
                <a:spcPct val="90000"/>
              </a:lnSpc>
            </a:pPr>
            <a:r>
              <a:rPr lang="zh-CN" altLang="en-US" sz="1800">
                <a:latin typeface="仿宋" panose="02010609060101010101" pitchFamily="49" charset="-122"/>
                <a:ea typeface="仿宋" panose="02010609060101010101" pitchFamily="49" charset="-122"/>
              </a:rPr>
              <a:t>黑格尔：“在现在的十字架中去认识作为蔷薇的理性，并对现在感到乐观”。 </a:t>
            </a:r>
          </a:p>
          <a:p>
            <a:pPr fontAlgn="auto">
              <a:lnSpc>
                <a:spcPct val="90000"/>
              </a:lnSpc>
            </a:pPr>
            <a:r>
              <a:rPr lang="en-US" altLang="zh-CN" sz="1800">
                <a:solidFill>
                  <a:srgbClr val="FF0000"/>
                </a:solidFill>
                <a:latin typeface="仿宋" panose="02010609060101010101" pitchFamily="49" charset="-122"/>
                <a:ea typeface="仿宋" panose="02010609060101010101" pitchFamily="49" charset="-122"/>
              </a:rPr>
              <a:t>B</a:t>
            </a:r>
            <a:r>
              <a:rPr lang="zh-CN" altLang="en-US" sz="1800">
                <a:solidFill>
                  <a:srgbClr val="FF0000"/>
                </a:solidFill>
                <a:latin typeface="仿宋" panose="02010609060101010101" pitchFamily="49" charset="-122"/>
                <a:ea typeface="仿宋" panose="02010609060101010101" pitchFamily="49" charset="-122"/>
              </a:rPr>
              <a:t>、走出“以现实来否定理想”的误区。</a:t>
            </a:r>
            <a:r>
              <a:rPr lang="zh-CN" altLang="en-US" sz="1800">
                <a:latin typeface="仿宋" panose="02010609060101010101" pitchFamily="49" charset="-122"/>
                <a:ea typeface="仿宋" panose="02010609060101010101" pitchFamily="49" charset="-122"/>
              </a:rPr>
              <a:t> </a:t>
            </a:r>
          </a:p>
          <a:p>
            <a:pPr fontAlgn="auto">
              <a:lnSpc>
                <a:spcPct val="90000"/>
              </a:lnSpc>
            </a:pPr>
            <a:r>
              <a:rPr lang="zh-CN" altLang="en-US" sz="1800">
                <a:latin typeface="仿宋" panose="02010609060101010101" pitchFamily="49" charset="-122"/>
                <a:ea typeface="仿宋" panose="02010609060101010101" pitchFamily="49" charset="-122"/>
              </a:rPr>
              <a:t>人无远虑，必有近忧 </a:t>
            </a:r>
            <a:endParaRPr lang="zh-CN" altLang="en-US" sz="18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898"/>
                                        </p:tgtEl>
                                        <p:attrNameLst>
                                          <p:attrName>style.visibility</p:attrName>
                                        </p:attrNameLst>
                                      </p:cBhvr>
                                      <p:to>
                                        <p:strVal val="visible"/>
                                      </p:to>
                                    </p:set>
                                    <p:anim calcmode="lin" valueType="num">
                                      <p:cBhvr additive="base">
                                        <p:cTn id="7" dur="500" fill="hold"/>
                                        <p:tgtEl>
                                          <p:spTgt spid="80898"/>
                                        </p:tgtEl>
                                        <p:attrNameLst>
                                          <p:attrName>ppt_x</p:attrName>
                                        </p:attrNameLst>
                                      </p:cBhvr>
                                      <p:tavLst>
                                        <p:tav tm="0">
                                          <p:val>
                                            <p:strVal val="#ppt_x"/>
                                          </p:val>
                                        </p:tav>
                                        <p:tav tm="100000">
                                          <p:val>
                                            <p:strVal val="#ppt_x"/>
                                          </p:val>
                                        </p:tav>
                                      </p:tavLst>
                                    </p:anim>
                                    <p:anim calcmode="lin" valueType="num">
                                      <p:cBhvr additive="base">
                                        <p:cTn id="8" dur="500" fill="hold"/>
                                        <p:tgtEl>
                                          <p:spTgt spid="808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0899">
                                            <p:txEl>
                                              <p:pRg st="0" end="0"/>
                                            </p:txEl>
                                          </p:spTgt>
                                        </p:tgtEl>
                                        <p:attrNameLst>
                                          <p:attrName>style.visibility</p:attrName>
                                        </p:attrNameLst>
                                      </p:cBhvr>
                                      <p:to>
                                        <p:strVal val="visible"/>
                                      </p:to>
                                    </p:set>
                                    <p:anim calcmode="lin" valueType="num">
                                      <p:cBhvr additive="base">
                                        <p:cTn id="13" dur="500" fill="hold"/>
                                        <p:tgtEl>
                                          <p:spTgt spid="8089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8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0899">
                                            <p:txEl>
                                              <p:pRg st="1" end="1"/>
                                            </p:txEl>
                                          </p:spTgt>
                                        </p:tgtEl>
                                        <p:attrNameLst>
                                          <p:attrName>style.visibility</p:attrName>
                                        </p:attrNameLst>
                                      </p:cBhvr>
                                      <p:to>
                                        <p:strVal val="visible"/>
                                      </p:to>
                                    </p:set>
                                    <p:anim calcmode="lin" valueType="num">
                                      <p:cBhvr additive="base">
                                        <p:cTn id="19" dur="500" fill="hold"/>
                                        <p:tgtEl>
                                          <p:spTgt spid="8089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8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0899">
                                            <p:txEl>
                                              <p:pRg st="2" end="2"/>
                                            </p:txEl>
                                          </p:spTgt>
                                        </p:tgtEl>
                                        <p:attrNameLst>
                                          <p:attrName>style.visibility</p:attrName>
                                        </p:attrNameLst>
                                      </p:cBhvr>
                                      <p:to>
                                        <p:strVal val="visible"/>
                                      </p:to>
                                    </p:set>
                                    <p:anim calcmode="lin" valueType="num">
                                      <p:cBhvr additive="base">
                                        <p:cTn id="25" dur="500" fill="hold"/>
                                        <p:tgtEl>
                                          <p:spTgt spid="8089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08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0899">
                                            <p:txEl>
                                              <p:pRg st="3" end="3"/>
                                            </p:txEl>
                                          </p:spTgt>
                                        </p:tgtEl>
                                        <p:attrNameLst>
                                          <p:attrName>style.visibility</p:attrName>
                                        </p:attrNameLst>
                                      </p:cBhvr>
                                      <p:to>
                                        <p:strVal val="visible"/>
                                      </p:to>
                                    </p:set>
                                    <p:anim calcmode="lin" valueType="num">
                                      <p:cBhvr additive="base">
                                        <p:cTn id="31" dur="500" fill="hold"/>
                                        <p:tgtEl>
                                          <p:spTgt spid="80899">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08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7043">
                                            <p:txEl>
                                              <p:pRg st="0" end="0"/>
                                            </p:txEl>
                                          </p:spTgt>
                                        </p:tgtEl>
                                        <p:attrNameLst>
                                          <p:attrName>style.visibility</p:attrName>
                                        </p:attrNameLst>
                                      </p:cBhvr>
                                      <p:to>
                                        <p:strVal val="visible"/>
                                      </p:to>
                                    </p:set>
                                    <p:anim calcmode="lin" valueType="num">
                                      <p:cBhvr additive="base">
                                        <p:cTn id="37" dur="500" fill="hold"/>
                                        <p:tgtEl>
                                          <p:spTgt spid="87043">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70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7043">
                                            <p:txEl>
                                              <p:pRg st="1" end="1"/>
                                            </p:txEl>
                                          </p:spTgt>
                                        </p:tgtEl>
                                        <p:attrNameLst>
                                          <p:attrName>style.visibility</p:attrName>
                                        </p:attrNameLst>
                                      </p:cBhvr>
                                      <p:to>
                                        <p:strVal val="visible"/>
                                      </p:to>
                                    </p:set>
                                    <p:anim calcmode="lin" valueType="num">
                                      <p:cBhvr additive="base">
                                        <p:cTn id="43" dur="500" fill="hold"/>
                                        <p:tgtEl>
                                          <p:spTgt spid="87043">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70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7043">
                                            <p:txEl>
                                              <p:pRg st="2" end="2"/>
                                            </p:txEl>
                                          </p:spTgt>
                                        </p:tgtEl>
                                        <p:attrNameLst>
                                          <p:attrName>style.visibility</p:attrName>
                                        </p:attrNameLst>
                                      </p:cBhvr>
                                      <p:to>
                                        <p:strVal val="visible"/>
                                      </p:to>
                                    </p:set>
                                    <p:anim calcmode="lin" valueType="num">
                                      <p:cBhvr additive="base">
                                        <p:cTn id="49" dur="500" fill="hold"/>
                                        <p:tgtEl>
                                          <p:spTgt spid="87043">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70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7043">
                                            <p:txEl>
                                              <p:pRg st="3" end="3"/>
                                            </p:txEl>
                                          </p:spTgt>
                                        </p:tgtEl>
                                        <p:attrNameLst>
                                          <p:attrName>style.visibility</p:attrName>
                                        </p:attrNameLst>
                                      </p:cBhvr>
                                      <p:to>
                                        <p:strVal val="visible"/>
                                      </p:to>
                                    </p:set>
                                    <p:anim calcmode="lin" valueType="num">
                                      <p:cBhvr additive="base">
                                        <p:cTn id="55" dur="500" fill="hold"/>
                                        <p:tgtEl>
                                          <p:spTgt spid="87043">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70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7043">
                                            <p:txEl>
                                              <p:pRg st="4" end="4"/>
                                            </p:txEl>
                                          </p:spTgt>
                                        </p:tgtEl>
                                        <p:attrNameLst>
                                          <p:attrName>style.visibility</p:attrName>
                                        </p:attrNameLst>
                                      </p:cBhvr>
                                      <p:to>
                                        <p:strVal val="visible"/>
                                      </p:to>
                                    </p:set>
                                    <p:anim calcmode="lin" valueType="num">
                                      <p:cBhvr additive="base">
                                        <p:cTn id="61" dur="500" fill="hold"/>
                                        <p:tgtEl>
                                          <p:spTgt spid="87043">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70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87043">
                                            <p:txEl>
                                              <p:pRg st="5" end="5"/>
                                            </p:txEl>
                                          </p:spTgt>
                                        </p:tgtEl>
                                        <p:attrNameLst>
                                          <p:attrName>style.visibility</p:attrName>
                                        </p:attrNameLst>
                                      </p:cBhvr>
                                      <p:to>
                                        <p:strVal val="visible"/>
                                      </p:to>
                                    </p:set>
                                    <p:anim calcmode="lin" valueType="num">
                                      <p:cBhvr additive="base">
                                        <p:cTn id="67" dur="500" fill="hold"/>
                                        <p:tgtEl>
                                          <p:spTgt spid="87043">
                                            <p:txEl>
                                              <p:pRg st="5" end="5"/>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870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87043">
                                            <p:txEl>
                                              <p:pRg st="6" end="6"/>
                                            </p:txEl>
                                          </p:spTgt>
                                        </p:tgtEl>
                                        <p:attrNameLst>
                                          <p:attrName>style.visibility</p:attrName>
                                        </p:attrNameLst>
                                      </p:cBhvr>
                                      <p:to>
                                        <p:strVal val="visible"/>
                                      </p:to>
                                    </p:set>
                                    <p:anim calcmode="lin" valueType="num">
                                      <p:cBhvr additive="base">
                                        <p:cTn id="73" dur="500" fill="hold"/>
                                        <p:tgtEl>
                                          <p:spTgt spid="87043">
                                            <p:txEl>
                                              <p:pRg st="6" end="6"/>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8704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87043">
                                            <p:txEl>
                                              <p:pRg st="7" end="7"/>
                                            </p:txEl>
                                          </p:spTgt>
                                        </p:tgtEl>
                                        <p:attrNameLst>
                                          <p:attrName>style.visibility</p:attrName>
                                        </p:attrNameLst>
                                      </p:cBhvr>
                                      <p:to>
                                        <p:strVal val="visible"/>
                                      </p:to>
                                    </p:set>
                                    <p:anim calcmode="lin" valueType="num">
                                      <p:cBhvr additive="base">
                                        <p:cTn id="79" dur="500" fill="hold"/>
                                        <p:tgtEl>
                                          <p:spTgt spid="87043">
                                            <p:txEl>
                                              <p:pRg st="7" end="7"/>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8704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87043">
                                            <p:txEl>
                                              <p:pRg st="8" end="8"/>
                                            </p:txEl>
                                          </p:spTgt>
                                        </p:tgtEl>
                                        <p:attrNameLst>
                                          <p:attrName>style.visibility</p:attrName>
                                        </p:attrNameLst>
                                      </p:cBhvr>
                                      <p:to>
                                        <p:strVal val="visible"/>
                                      </p:to>
                                    </p:set>
                                    <p:anim calcmode="lin" valueType="num">
                                      <p:cBhvr additive="base">
                                        <p:cTn id="85" dur="500" fill="hold"/>
                                        <p:tgtEl>
                                          <p:spTgt spid="87043">
                                            <p:txEl>
                                              <p:pRg st="8" end="8"/>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8704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88067">
                                            <p:txEl>
                                              <p:pRg st="0" end="0"/>
                                            </p:txEl>
                                          </p:spTgt>
                                        </p:tgtEl>
                                        <p:attrNameLst>
                                          <p:attrName>style.visibility</p:attrName>
                                        </p:attrNameLst>
                                      </p:cBhvr>
                                      <p:to>
                                        <p:strVal val="visible"/>
                                      </p:to>
                                    </p:set>
                                    <p:anim calcmode="lin" valueType="num">
                                      <p:cBhvr additive="base">
                                        <p:cTn id="91" dur="500" fill="hold"/>
                                        <p:tgtEl>
                                          <p:spTgt spid="88067">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880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88067">
                                            <p:txEl>
                                              <p:pRg st="1" end="1"/>
                                            </p:txEl>
                                          </p:spTgt>
                                        </p:tgtEl>
                                        <p:attrNameLst>
                                          <p:attrName>style.visibility</p:attrName>
                                        </p:attrNameLst>
                                      </p:cBhvr>
                                      <p:to>
                                        <p:strVal val="visible"/>
                                      </p:to>
                                    </p:set>
                                    <p:anim calcmode="lin" valueType="num">
                                      <p:cBhvr additive="base">
                                        <p:cTn id="97" dur="500" fill="hold"/>
                                        <p:tgtEl>
                                          <p:spTgt spid="88067">
                                            <p:txEl>
                                              <p:pRg st="1" end="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880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88067">
                                            <p:txEl>
                                              <p:pRg st="2" end="2"/>
                                            </p:txEl>
                                          </p:spTgt>
                                        </p:tgtEl>
                                        <p:attrNameLst>
                                          <p:attrName>style.visibility</p:attrName>
                                        </p:attrNameLst>
                                      </p:cBhvr>
                                      <p:to>
                                        <p:strVal val="visible"/>
                                      </p:to>
                                    </p:set>
                                    <p:anim calcmode="lin" valueType="num">
                                      <p:cBhvr additive="base">
                                        <p:cTn id="103" dur="500" fill="hold"/>
                                        <p:tgtEl>
                                          <p:spTgt spid="88067">
                                            <p:txEl>
                                              <p:pRg st="2" end="2"/>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880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88067">
                                            <p:txEl>
                                              <p:pRg st="3" end="3"/>
                                            </p:txEl>
                                          </p:spTgt>
                                        </p:tgtEl>
                                        <p:attrNameLst>
                                          <p:attrName>style.visibility</p:attrName>
                                        </p:attrNameLst>
                                      </p:cBhvr>
                                      <p:to>
                                        <p:strVal val="visible"/>
                                      </p:to>
                                    </p:set>
                                    <p:anim calcmode="lin" valueType="num">
                                      <p:cBhvr additive="base">
                                        <p:cTn id="109" dur="500" fill="hold"/>
                                        <p:tgtEl>
                                          <p:spTgt spid="88067">
                                            <p:txEl>
                                              <p:pRg st="3" end="3"/>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880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88067">
                                            <p:txEl>
                                              <p:pRg st="4" end="4"/>
                                            </p:txEl>
                                          </p:spTgt>
                                        </p:tgtEl>
                                        <p:attrNameLst>
                                          <p:attrName>style.visibility</p:attrName>
                                        </p:attrNameLst>
                                      </p:cBhvr>
                                      <p:to>
                                        <p:strVal val="visible"/>
                                      </p:to>
                                    </p:set>
                                    <p:anim calcmode="lin" valueType="num">
                                      <p:cBhvr additive="base">
                                        <p:cTn id="115" dur="500" fill="hold"/>
                                        <p:tgtEl>
                                          <p:spTgt spid="88067">
                                            <p:txEl>
                                              <p:pRg st="4" end="4"/>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880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88067">
                                            <p:txEl>
                                              <p:pRg st="5" end="5"/>
                                            </p:txEl>
                                          </p:spTgt>
                                        </p:tgtEl>
                                        <p:attrNameLst>
                                          <p:attrName>style.visibility</p:attrName>
                                        </p:attrNameLst>
                                      </p:cBhvr>
                                      <p:to>
                                        <p:strVal val="visible"/>
                                      </p:to>
                                    </p:set>
                                    <p:anim calcmode="lin" valueType="num">
                                      <p:cBhvr additive="base">
                                        <p:cTn id="121" dur="500" fill="hold"/>
                                        <p:tgtEl>
                                          <p:spTgt spid="88067">
                                            <p:txEl>
                                              <p:pRg st="5" end="5"/>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880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animBg="1"/>
      <p:bldP spid="80899" grpId="0" build="p"/>
      <p:bldP spid="87043" grpId="0" build="p"/>
      <p:bldP spid="8806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89089"/>
          <p:cNvSpPr>
            <a:spLocks noGrp="1"/>
          </p:cNvSpPr>
          <p:nvPr>
            <p:ph type="title"/>
          </p:nvPr>
        </p:nvSpPr>
        <p:spPr>
          <a:xfrm>
            <a:off x="30126" y="304794"/>
            <a:ext cx="5181600" cy="609600"/>
          </a:xfrm>
        </p:spPr>
        <p:txBody>
          <a:bodyPr anchor="ctr"/>
          <a:lstStyle/>
          <a:p>
            <a:pPr algn="ctr"/>
            <a:r>
              <a:rPr lang="zh-CN" altLang="en-US" sz="2000" dirty="0">
                <a:solidFill>
                  <a:schemeClr val="tx1"/>
                </a:solidFill>
                <a:ea typeface="楷体_GB2312" pitchFamily="49" charset="-122"/>
              </a:rPr>
              <a:t>（二）坚定的信念是实现理想的重要条件</a:t>
            </a:r>
            <a:r>
              <a:rPr lang="zh-CN" altLang="en-US" sz="2000" dirty="0"/>
              <a:t> </a:t>
            </a:r>
          </a:p>
        </p:txBody>
      </p:sp>
      <p:sp>
        <p:nvSpPr>
          <p:cNvPr id="89091" name="文本占位符 89090"/>
          <p:cNvSpPr>
            <a:spLocks noGrp="1"/>
          </p:cNvSpPr>
          <p:nvPr>
            <p:ph idx="1"/>
          </p:nvPr>
        </p:nvSpPr>
        <p:spPr>
          <a:xfrm>
            <a:off x="228600" y="914394"/>
            <a:ext cx="7782900" cy="1604675"/>
          </a:xfrm>
        </p:spPr>
        <p:txBody>
          <a:bodyPr>
            <a:normAutofit/>
          </a:bodyPr>
          <a:lstStyle/>
          <a:p>
            <a:pPr>
              <a:lnSpc>
                <a:spcPct val="90000"/>
              </a:lnSpc>
            </a:pPr>
            <a:r>
              <a:rPr lang="zh-CN" altLang="en-US" sz="1800" dirty="0">
                <a:latin typeface="楷体_GB2312" pitchFamily="49" charset="-122"/>
                <a:ea typeface="楷体_GB2312" pitchFamily="49" charset="-122"/>
              </a:rPr>
              <a:t>王国维；古今之成大事业、大学问者，必经历三种之境界：</a:t>
            </a:r>
          </a:p>
          <a:p>
            <a:pPr>
              <a:lnSpc>
                <a:spcPct val="90000"/>
              </a:lnSpc>
            </a:pPr>
            <a:r>
              <a:rPr lang="zh-CN" altLang="en-US" sz="1800" dirty="0">
                <a:latin typeface="楷体_GB2312" pitchFamily="49" charset="-122"/>
                <a:ea typeface="楷体_GB2312" pitchFamily="49" charset="-122"/>
              </a:rPr>
              <a:t>第一种境界是“昨夜西风凋碧树，独上高楼，望尽天涯路”。</a:t>
            </a:r>
          </a:p>
          <a:p>
            <a:pPr>
              <a:lnSpc>
                <a:spcPct val="90000"/>
              </a:lnSpc>
            </a:pPr>
            <a:r>
              <a:rPr lang="zh-CN" altLang="en-US" sz="1800" dirty="0">
                <a:latin typeface="楷体_GB2312" pitchFamily="49" charset="-122"/>
                <a:ea typeface="楷体_GB2312" pitchFamily="49" charset="-122"/>
              </a:rPr>
              <a:t>第二种境界是“衣带渐宽终不悔，为伊消得人憔悴”。</a:t>
            </a:r>
          </a:p>
          <a:p>
            <a:pPr>
              <a:lnSpc>
                <a:spcPct val="90000"/>
              </a:lnSpc>
            </a:pPr>
            <a:r>
              <a:rPr lang="zh-CN" altLang="en-US" sz="1800" dirty="0">
                <a:latin typeface="楷体_GB2312" pitchFamily="49" charset="-122"/>
                <a:ea typeface="楷体_GB2312" pitchFamily="49" charset="-122"/>
              </a:rPr>
              <a:t>第三种境界是“众里寻她千百度，蓦然回首，那人却在灯火阑珊处”。 </a:t>
            </a:r>
          </a:p>
        </p:txBody>
      </p:sp>
      <p:sp>
        <p:nvSpPr>
          <p:cNvPr id="91138" name="标题 91137"/>
          <p:cNvSpPr txBox="1">
            <a:spLocks/>
          </p:cNvSpPr>
          <p:nvPr/>
        </p:nvSpPr>
        <p:spPr>
          <a:xfrm>
            <a:off x="-28353" y="2362200"/>
            <a:ext cx="6019800" cy="6096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fontAlgn="auto">
              <a:spcAft>
                <a:spcPts val="0"/>
              </a:spcAft>
            </a:pPr>
            <a:r>
              <a:rPr lang="zh-CN" altLang="en-US" sz="2000">
                <a:solidFill>
                  <a:schemeClr val="tx1"/>
                </a:solidFill>
                <a:ea typeface="楷体_GB2312" pitchFamily="49" charset="-122"/>
              </a:rPr>
              <a:t>（三）勇于实践、艰苦奋斗是实现理想的根本途径</a:t>
            </a:r>
            <a:r>
              <a:rPr lang="zh-CN" altLang="en-US" sz="2000"/>
              <a:t> </a:t>
            </a:r>
            <a:endParaRPr lang="zh-CN" altLang="en-US" sz="2000" dirty="0"/>
          </a:p>
        </p:txBody>
      </p:sp>
      <p:sp>
        <p:nvSpPr>
          <p:cNvPr id="2" name="文本占位符 91138">
            <a:extLst>
              <a:ext uri="{FF2B5EF4-FFF2-40B4-BE49-F238E27FC236}">
                <a16:creationId xmlns:a16="http://schemas.microsoft.com/office/drawing/2014/main" id="{F0137B38-4B79-229C-625D-9AD9C6A4BF30}"/>
              </a:ext>
            </a:extLst>
          </p:cNvPr>
          <p:cNvSpPr txBox="1">
            <a:spLocks/>
          </p:cNvSpPr>
          <p:nvPr/>
        </p:nvSpPr>
        <p:spPr>
          <a:xfrm>
            <a:off x="228600" y="2971800"/>
            <a:ext cx="7620000" cy="1295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fontAlgn="auto">
              <a:lnSpc>
                <a:spcPct val="90000"/>
              </a:lnSpc>
            </a:pPr>
            <a:r>
              <a:rPr lang="zh-CN" altLang="en-US" sz="1800" dirty="0">
                <a:latin typeface="华文宋体" panose="02010600040101010101" pitchFamily="2" charset="-122"/>
                <a:ea typeface="华文宋体" panose="02010600040101010101" pitchFamily="2" charset="-122"/>
              </a:rPr>
              <a:t>道虽迩，不行不至；事虽小，不为不成。</a:t>
            </a:r>
          </a:p>
          <a:p>
            <a:pPr fontAlgn="auto">
              <a:lnSpc>
                <a:spcPct val="90000"/>
              </a:lnSpc>
            </a:pPr>
            <a:r>
              <a:rPr lang="zh-CN" altLang="en-US" sz="1800" dirty="0">
                <a:latin typeface="华文宋体" panose="02010600040101010101" pitchFamily="2" charset="-122"/>
                <a:ea typeface="华文宋体" panose="02010600040101010101" pitchFamily="2" charset="-122"/>
              </a:rPr>
              <a:t>为了理想而艰苦奋斗，也是一种充实而愉悦的人生体验。 </a:t>
            </a:r>
          </a:p>
          <a:p>
            <a:pPr fontAlgn="auto">
              <a:lnSpc>
                <a:spcPct val="90000"/>
              </a:lnSpc>
            </a:pPr>
            <a:r>
              <a:rPr lang="zh-CN" altLang="en-US" sz="1800" dirty="0">
                <a:latin typeface="华文宋体" panose="02010600040101010101" pitchFamily="2" charset="-122"/>
                <a:ea typeface="华文宋体" panose="02010600040101010101" pitchFamily="2" charset="-122"/>
              </a:rPr>
              <a:t>是否具有吃苦耐劳的优秀品质越来越受到用人单位的重视。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additive="base">
                                        <p:cTn id="7" dur="500" fill="hold"/>
                                        <p:tgtEl>
                                          <p:spTgt spid="89090"/>
                                        </p:tgtEl>
                                        <p:attrNameLst>
                                          <p:attrName>ppt_x</p:attrName>
                                        </p:attrNameLst>
                                      </p:cBhvr>
                                      <p:tavLst>
                                        <p:tav tm="0">
                                          <p:val>
                                            <p:strVal val="#ppt_x"/>
                                          </p:val>
                                        </p:tav>
                                        <p:tav tm="100000">
                                          <p:val>
                                            <p:strVal val="#ppt_x"/>
                                          </p:val>
                                        </p:tav>
                                      </p:tavLst>
                                    </p:anim>
                                    <p:anim calcmode="lin" valueType="num">
                                      <p:cBhvr additive="base">
                                        <p:cTn id="8" dur="500" fill="hold"/>
                                        <p:tgtEl>
                                          <p:spTgt spid="890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9091">
                                            <p:txEl>
                                              <p:pRg st="0" end="0"/>
                                            </p:txEl>
                                          </p:spTgt>
                                        </p:tgtEl>
                                        <p:attrNameLst>
                                          <p:attrName>style.visibility</p:attrName>
                                        </p:attrNameLst>
                                      </p:cBhvr>
                                      <p:to>
                                        <p:strVal val="visible"/>
                                      </p:to>
                                    </p:set>
                                    <p:anim calcmode="lin" valueType="num">
                                      <p:cBhvr additive="base">
                                        <p:cTn id="13" dur="500" fill="hold"/>
                                        <p:tgtEl>
                                          <p:spTgt spid="8909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90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9091">
                                            <p:txEl>
                                              <p:pRg st="1" end="1"/>
                                            </p:txEl>
                                          </p:spTgt>
                                        </p:tgtEl>
                                        <p:attrNameLst>
                                          <p:attrName>style.visibility</p:attrName>
                                        </p:attrNameLst>
                                      </p:cBhvr>
                                      <p:to>
                                        <p:strVal val="visible"/>
                                      </p:to>
                                    </p:set>
                                    <p:anim calcmode="lin" valueType="num">
                                      <p:cBhvr additive="base">
                                        <p:cTn id="19" dur="500" fill="hold"/>
                                        <p:tgtEl>
                                          <p:spTgt spid="8909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90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9091">
                                            <p:txEl>
                                              <p:pRg st="2" end="2"/>
                                            </p:txEl>
                                          </p:spTgt>
                                        </p:tgtEl>
                                        <p:attrNameLst>
                                          <p:attrName>style.visibility</p:attrName>
                                        </p:attrNameLst>
                                      </p:cBhvr>
                                      <p:to>
                                        <p:strVal val="visible"/>
                                      </p:to>
                                    </p:set>
                                    <p:anim calcmode="lin" valueType="num">
                                      <p:cBhvr additive="base">
                                        <p:cTn id="25" dur="500" fill="hold"/>
                                        <p:tgtEl>
                                          <p:spTgt spid="8909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90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9091">
                                            <p:txEl>
                                              <p:pRg st="3" end="3"/>
                                            </p:txEl>
                                          </p:spTgt>
                                        </p:tgtEl>
                                        <p:attrNameLst>
                                          <p:attrName>style.visibility</p:attrName>
                                        </p:attrNameLst>
                                      </p:cBhvr>
                                      <p:to>
                                        <p:strVal val="visible"/>
                                      </p:to>
                                    </p:set>
                                    <p:anim calcmode="lin" valueType="num">
                                      <p:cBhvr additive="base">
                                        <p:cTn id="31" dur="500" fill="hold"/>
                                        <p:tgtEl>
                                          <p:spTgt spid="8909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90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1138"/>
                                        </p:tgtEl>
                                        <p:attrNameLst>
                                          <p:attrName>style.visibility</p:attrName>
                                        </p:attrNameLst>
                                      </p:cBhvr>
                                      <p:to>
                                        <p:strVal val="visible"/>
                                      </p:to>
                                    </p:set>
                                    <p:anim calcmode="lin" valueType="num">
                                      <p:cBhvr additive="base">
                                        <p:cTn id="37" dur="500" fill="hold"/>
                                        <p:tgtEl>
                                          <p:spTgt spid="91138"/>
                                        </p:tgtEl>
                                        <p:attrNameLst>
                                          <p:attrName>ppt_x</p:attrName>
                                        </p:attrNameLst>
                                      </p:cBhvr>
                                      <p:tavLst>
                                        <p:tav tm="0">
                                          <p:val>
                                            <p:strVal val="#ppt_x"/>
                                          </p:val>
                                        </p:tav>
                                        <p:tav tm="100000">
                                          <p:val>
                                            <p:strVal val="#ppt_x"/>
                                          </p:val>
                                        </p:tav>
                                      </p:tavLst>
                                    </p:anim>
                                    <p:anim calcmode="lin" valueType="num">
                                      <p:cBhvr additive="base">
                                        <p:cTn id="38" dur="500" fill="hold"/>
                                        <p:tgtEl>
                                          <p:spTgt spid="9113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0" end="0"/>
                                            </p:txEl>
                                          </p:spTgt>
                                        </p:tgtEl>
                                        <p:attrNameLst>
                                          <p:attrName>style.visibility</p:attrName>
                                        </p:attrNameLst>
                                      </p:cBhvr>
                                      <p:to>
                                        <p:strVal val="visible"/>
                                      </p:to>
                                    </p:set>
                                    <p:anim calcmode="lin" valueType="num">
                                      <p:cBhvr additive="base">
                                        <p:cTn id="4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1" end="1"/>
                                            </p:txEl>
                                          </p:spTgt>
                                        </p:tgtEl>
                                        <p:attrNameLst>
                                          <p:attrName>style.visibility</p:attrName>
                                        </p:attrNameLst>
                                      </p:cBhvr>
                                      <p:to>
                                        <p:strVal val="visible"/>
                                      </p:to>
                                    </p:set>
                                    <p:anim calcmode="lin" valueType="num">
                                      <p:cBhvr additive="base">
                                        <p:cTn id="4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2" end="2"/>
                                            </p:txEl>
                                          </p:spTgt>
                                        </p:tgtEl>
                                        <p:attrNameLst>
                                          <p:attrName>style.visibility</p:attrName>
                                        </p:attrNameLst>
                                      </p:cBhvr>
                                      <p:to>
                                        <p:strVal val="visible"/>
                                      </p:to>
                                    </p:set>
                                    <p:anim calcmode="lin" valueType="num">
                                      <p:cBhvr additive="base">
                                        <p:cTn id="5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nimBg="1"/>
      <p:bldP spid="89091" grpId="0" build="p"/>
      <p:bldP spid="91138" grpId="0" animBg="1"/>
      <p:bldP spid="2"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33b8cc65-b09f-4635-aa68-ec28a7a30bce"/>
  <p:tag name="COMMONDATA" val="eyJoZGlkIjoiYjNkZjdmZjcwM2I5YzRhMjg5YmE5M2I1OWVkMzcyMjU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228</TotalTime>
  <Words>6189</Words>
  <Application>Microsoft Office PowerPoint</Application>
  <PresentationFormat>全屏显示(4:3)</PresentationFormat>
  <Paragraphs>342</Paragraphs>
  <Slides>27</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27</vt:i4>
      </vt:variant>
    </vt:vector>
  </HeadingPairs>
  <TitlesOfParts>
    <vt:vector size="43" baseType="lpstr">
      <vt:lpstr>等线</vt:lpstr>
      <vt:lpstr>仿宋</vt:lpstr>
      <vt:lpstr>黑体</vt:lpstr>
      <vt:lpstr>华文仿宋</vt:lpstr>
      <vt:lpstr>华文楷体</vt:lpstr>
      <vt:lpstr>华文宋体</vt:lpstr>
      <vt:lpstr>华文新魏</vt:lpstr>
      <vt:lpstr>华文行楷</vt:lpstr>
      <vt:lpstr>楷体_GB2312</vt:lpstr>
      <vt:lpstr>宋体</vt:lpstr>
      <vt:lpstr>Arial</vt:lpstr>
      <vt:lpstr>Century Gothic</vt:lpstr>
      <vt:lpstr>Tahoma</vt:lpstr>
      <vt:lpstr>Wingdings</vt:lpstr>
      <vt:lpstr>Wingdings 3</vt:lpstr>
      <vt:lpstr>离子</vt:lpstr>
      <vt:lpstr>PowerPoint 演示文稿</vt:lpstr>
      <vt:lpstr>PowerPoint 演示文稿</vt:lpstr>
      <vt:lpstr>PowerPoint 演示文稿</vt:lpstr>
      <vt:lpstr>PowerPoint 演示文稿</vt:lpstr>
      <vt:lpstr>社会政治理想:</vt:lpstr>
      <vt:lpstr>PowerPoint 演示文稿</vt:lpstr>
      <vt:lpstr>柏拉图的灵魂结构</vt:lpstr>
      <vt:lpstr>PowerPoint 演示文稿</vt:lpstr>
      <vt:lpstr>亚里士多德的实践与生产：</vt:lpstr>
      <vt:lpstr>PowerPoint 演示文稿</vt:lpstr>
      <vt:lpstr>PowerPoint 演示文稿</vt:lpstr>
      <vt:lpstr>信念与理想</vt:lpstr>
      <vt:lpstr>PowerPoint 演示文稿</vt:lpstr>
      <vt:lpstr>信念概念 </vt:lpstr>
      <vt:lpstr>关于他人的信念</vt:lpstr>
      <vt:lpstr>理想信念对大学生成长成才的重要意义</vt:lpstr>
      <vt:lpstr>三大挑战</vt:lpstr>
      <vt:lpstr>大同理想的方案</vt:lpstr>
      <vt:lpstr>农民大同理想的实践</vt:lpstr>
      <vt:lpstr>西方社会理想社会观的发展 </vt:lpstr>
      <vt:lpstr>“三个倡导”</vt:lpstr>
      <vt:lpstr>理想的核心内容是社会理想 </vt:lpstr>
      <vt:lpstr>个人理想与社会理想的关系实质上是个人与社会关系在理想层面上的反映。</vt:lpstr>
      <vt:lpstr>认清实现理想的长期性、艰巨性与曲折性</vt:lpstr>
      <vt:lpstr>如何看待社会主义的发展？</vt:lpstr>
      <vt:lpstr>在实践中化理想为现实</vt:lpstr>
      <vt:lpstr>（二）坚定的信念是实现理想的重要条件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Ruiyang Xu</cp:lastModifiedBy>
  <cp:revision>461</cp:revision>
  <cp:lastPrinted>2026-06-11T08:01:28Z</cp:lastPrinted>
  <dcterms:created xsi:type="dcterms:W3CDTF">2021-03-19T00:38:00Z</dcterms:created>
  <dcterms:modified xsi:type="dcterms:W3CDTF">2026-06-11T08:01:43Z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2052-12.1.0.25225</vt:lpwstr>
  </property>
  <property fmtid="{D5CDD505-2E9C-101B-9397-08002B2CF9AE}" pid="4" name="ICV">
    <vt:lpwstr>52452219B0754EA2A72F5A6E1760A1E0_13</vt:lpwstr>
  </property>
</Properties>
</file>