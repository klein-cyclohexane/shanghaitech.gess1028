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78" r:id="rId2"/>
    <p:sldId id="1084" r:id="rId3"/>
    <p:sldId id="299" r:id="rId4"/>
    <p:sldId id="268" r:id="rId5"/>
    <p:sldId id="677" r:id="rId6"/>
    <p:sldId id="680" r:id="rId7"/>
    <p:sldId id="682" r:id="rId8"/>
    <p:sldId id="345" r:id="rId9"/>
    <p:sldId id="855" r:id="rId10"/>
    <p:sldId id="399" r:id="rId11"/>
    <p:sldId id="309" r:id="rId12"/>
    <p:sldId id="930" r:id="rId13"/>
    <p:sldId id="1080" r:id="rId14"/>
    <p:sldId id="1081" r:id="rId15"/>
    <p:sldId id="269" r:id="rId16"/>
    <p:sldId id="809" r:id="rId17"/>
    <p:sldId id="342" r:id="rId18"/>
    <p:sldId id="316" r:id="rId19"/>
    <p:sldId id="1085" r:id="rId20"/>
    <p:sldId id="1086" r:id="rId21"/>
    <p:sldId id="324" r:id="rId22"/>
    <p:sldId id="319" r:id="rId23"/>
    <p:sldId id="348" r:id="rId24"/>
    <p:sldId id="351" r:id="rId25"/>
  </p:sldIdLst>
  <p:sldSz cx="12192000" cy="6858000"/>
  <p:notesSz cx="10234613" cy="7102475"/>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434999" cy="356357"/>
          </a:xfrm>
          <a:prstGeom prst="rect">
            <a:avLst/>
          </a:prstGeom>
        </p:spPr>
        <p:txBody>
          <a:bodyPr vert="horz" lIns="99066" tIns="49533" rIns="99066" bIns="49533" rtlCol="0"/>
          <a:lstStyle>
            <a:lvl1pPr algn="l">
              <a:defRPr sz="1300"/>
            </a:lvl1pPr>
          </a:lstStyle>
          <a:p>
            <a:endParaRPr lang="zh-CN" altLang="en-US"/>
          </a:p>
        </p:txBody>
      </p:sp>
      <p:sp>
        <p:nvSpPr>
          <p:cNvPr id="3" name="日期占位符 2"/>
          <p:cNvSpPr>
            <a:spLocks noGrp="1"/>
          </p:cNvSpPr>
          <p:nvPr>
            <p:ph type="dt" idx="1"/>
          </p:nvPr>
        </p:nvSpPr>
        <p:spPr>
          <a:xfrm>
            <a:off x="5797246" y="1"/>
            <a:ext cx="4434999" cy="356357"/>
          </a:xfrm>
          <a:prstGeom prst="rect">
            <a:avLst/>
          </a:prstGeom>
        </p:spPr>
        <p:txBody>
          <a:bodyPr vert="horz" lIns="99066" tIns="49533" rIns="99066" bIns="49533" rtlCol="0"/>
          <a:lstStyle>
            <a:lvl1pPr algn="r">
              <a:defRPr sz="1300"/>
            </a:lvl1pPr>
          </a:lstStyle>
          <a:p>
            <a:fld id="{41A8E424-2BBE-442B-BA02-068E234F98DC}" type="datetimeFigureOut">
              <a:rPr lang="zh-CN" altLang="en-US" smtClean="0"/>
              <a:t>2026/6/13</a:t>
            </a:fld>
            <a:endParaRPr lang="zh-CN" altLang="en-US"/>
          </a:p>
        </p:txBody>
      </p:sp>
      <p:sp>
        <p:nvSpPr>
          <p:cNvPr id="4" name="幻灯片图像占位符 3"/>
          <p:cNvSpPr>
            <a:spLocks noGrp="1" noRot="1" noChangeAspect="1"/>
          </p:cNvSpPr>
          <p:nvPr>
            <p:ph type="sldImg" idx="2"/>
          </p:nvPr>
        </p:nvSpPr>
        <p:spPr>
          <a:xfrm>
            <a:off x="2986088" y="887413"/>
            <a:ext cx="4262437" cy="2397125"/>
          </a:xfrm>
          <a:prstGeom prst="rect">
            <a:avLst/>
          </a:prstGeom>
          <a:noFill/>
          <a:ln w="12700">
            <a:solidFill>
              <a:prstClr val="black"/>
            </a:solidFill>
          </a:ln>
        </p:spPr>
        <p:txBody>
          <a:bodyPr vert="horz" lIns="99066" tIns="49533" rIns="99066" bIns="49533" rtlCol="0" anchor="ctr"/>
          <a:lstStyle/>
          <a:p>
            <a:endParaRPr lang="zh-CN" altLang="en-US"/>
          </a:p>
        </p:txBody>
      </p:sp>
      <p:sp>
        <p:nvSpPr>
          <p:cNvPr id="5" name="备注占位符 4"/>
          <p:cNvSpPr>
            <a:spLocks noGrp="1"/>
          </p:cNvSpPr>
          <p:nvPr>
            <p:ph type="body" sz="quarter" idx="3"/>
          </p:nvPr>
        </p:nvSpPr>
        <p:spPr>
          <a:xfrm>
            <a:off x="1023462" y="3418066"/>
            <a:ext cx="8187690" cy="2796600"/>
          </a:xfrm>
          <a:prstGeom prst="rect">
            <a:avLst/>
          </a:prstGeom>
        </p:spPr>
        <p:txBody>
          <a:bodyPr vert="horz" lIns="99066" tIns="49533" rIns="99066" bIns="49533"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746119"/>
            <a:ext cx="4434999" cy="356356"/>
          </a:xfrm>
          <a:prstGeom prst="rect">
            <a:avLst/>
          </a:prstGeom>
        </p:spPr>
        <p:txBody>
          <a:bodyPr vert="horz" lIns="99066" tIns="49533" rIns="99066" bIns="49533"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5797246" y="6746119"/>
            <a:ext cx="4434999" cy="356356"/>
          </a:xfrm>
          <a:prstGeom prst="rect">
            <a:avLst/>
          </a:prstGeom>
        </p:spPr>
        <p:txBody>
          <a:bodyPr vert="horz" lIns="99066" tIns="49533" rIns="99066" bIns="49533" rtlCol="0" anchor="b"/>
          <a:lstStyle>
            <a:lvl1pPr algn="r">
              <a:defRPr sz="1300"/>
            </a:lvl1pPr>
          </a:lstStyle>
          <a:p>
            <a:fld id="{56650024-AC09-4719-9112-27A446A188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smtClean="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586B75A-687E-405C-8A0B-8D00578BA2C3}" type="datetimeFigureOut">
              <a:rPr lang="en-US" smtClean="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1097279" y="1845734"/>
            <a:ext cx="4937760" cy="402336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217920" y="1845735"/>
            <a:ext cx="4937760" cy="402336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smtClean="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1097280" y="2582334"/>
            <a:ext cx="4937760" cy="3378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217920" y="2582334"/>
            <a:ext cx="4937760" cy="3378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smtClean="0"/>
              <a:t>6/13/2026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smtClean="0"/>
              <a:t>6/13/2026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DDF5F92-E675-4B36-9A60-69A962A68675}" type="datetimeFigureOut">
              <a:rPr lang="en-US" smtClean="0"/>
              <a:t>6/13/2026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800600" y="731520"/>
            <a:ext cx="6492240" cy="5257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F6E2C9B-5FA2-460D-9BE7-B0812FC2A6FF}" type="datetimeFigureOut">
              <a:rPr lang="en-US" smtClean="0"/>
              <a:t>6/13/2026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5586B75A-687E-405C-8A0B-8D00578BA2C3}" type="datetimeFigureOut">
              <a:rPr lang="en-US" smtClean="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lIns="45720" tIns="0" rIns="45720" bIns="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smtClean="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414778"/>
            <a:ext cx="7734300" cy="5757422"/>
          </a:xfrm>
        </p:spPr>
        <p:txBody>
          <a:bodyPr vert="eaVert" lIns="45720" tIns="0" rIns="45720" bIns="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smtClean="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6B75A-687E-405C-8A0B-8D00578BA2C3}" type="datetimeFigureOut">
              <a:rPr lang="en-US" smtClean="0"/>
              <a:t>6/13/2026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229" y="0"/>
            <a:ext cx="11479743" cy="1833645"/>
          </a:xfrm>
        </p:spPr>
        <p:txBody>
          <a:bodyPr>
            <a:normAutofit/>
          </a:bodyPr>
          <a:lstStyle/>
          <a:p>
            <a:pPr>
              <a:lnSpc>
                <a:spcPct val="80000"/>
              </a:lnSpc>
              <a:buNone/>
            </a:pPr>
            <a:r>
              <a:rPr lang="en-US" altLang="zh-CN" sz="1800" dirty="0">
                <a:latin typeface="华文楷体" panose="02010600040101010101" pitchFamily="2" charset="-122"/>
                <a:ea typeface="华文楷体" panose="02010600040101010101" pitchFamily="2" charset="-122"/>
                <a:cs typeface="宋体" panose="02010600030101010101" pitchFamily="2" charset="-122"/>
              </a:rPr>
              <a:t>1.</a:t>
            </a:r>
            <a:r>
              <a:rPr lang="zh-CN" altLang="en-US" sz="1800" dirty="0">
                <a:latin typeface="华文楷体" panose="02010600040101010101" pitchFamily="2" charset="-122"/>
                <a:ea typeface="华文楷体" panose="02010600040101010101" pitchFamily="2" charset="-122"/>
                <a:cs typeface="宋体" panose="02010600030101010101" pitchFamily="2" charset="-122"/>
              </a:rPr>
              <a:t>你在校园里看到一个因跑得太快而摔倒的小朋友，你没有去扶他，这个行为是道德的行为吗？如果这个小朋友是你认识的熟人或者亲戚（你弟弟，堂弟，侄儿等），你会扶他吗，这个行为是一个道德的行为吗？为什么？</a:t>
            </a:r>
            <a:endParaRPr lang="en-US" altLang="zh-CN" sz="1800" dirty="0">
              <a:latin typeface="华文楷体" panose="02010600040101010101" pitchFamily="2" charset="-122"/>
              <a:ea typeface="华文楷体" panose="02010600040101010101" pitchFamily="2" charset="-122"/>
              <a:cs typeface="宋体" panose="02010600030101010101" pitchFamily="2" charset="-122"/>
            </a:endParaRPr>
          </a:p>
          <a:p>
            <a:pPr>
              <a:lnSpc>
                <a:spcPct val="80000"/>
              </a:lnSpc>
              <a:buNone/>
            </a:pPr>
            <a:r>
              <a:rPr lang="en-US" altLang="zh-CN" sz="1800" dirty="0">
                <a:latin typeface="华文楷体" panose="02010600040101010101" pitchFamily="2" charset="-122"/>
                <a:ea typeface="华文楷体" panose="02010600040101010101" pitchFamily="2" charset="-122"/>
                <a:cs typeface="宋体" panose="02010600030101010101" pitchFamily="2" charset="-122"/>
              </a:rPr>
              <a:t>2.</a:t>
            </a:r>
            <a:r>
              <a:rPr lang="zh-CN" altLang="en-US" sz="1800" dirty="0">
                <a:latin typeface="华文楷体" panose="02010600040101010101" pitchFamily="2" charset="-122"/>
                <a:ea typeface="华文楷体" panose="02010600040101010101" pitchFamily="2" charset="-122"/>
                <a:cs typeface="宋体" panose="02010600030101010101" pitchFamily="2" charset="-122"/>
              </a:rPr>
              <a:t>我们在吃肉的时候，会不会去想这是一种道德行为吗，还是食肉是一种自然而然的、“天经地义”的行为？我们的食肉行为在什么意义上是正当的？（我们是否对动物具有一种道德义务吗？）（道德的限度）</a:t>
            </a:r>
            <a:endParaRPr lang="en-US" altLang="zh-CN" sz="1800" dirty="0">
              <a:latin typeface="华文楷体" panose="02010600040101010101" pitchFamily="2" charset="-122"/>
              <a:ea typeface="华文楷体" panose="02010600040101010101" pitchFamily="2" charset="-122"/>
              <a:cs typeface="宋体" panose="02010600030101010101" pitchFamily="2" charset="-122"/>
            </a:endParaRPr>
          </a:p>
          <a:p>
            <a:pPr>
              <a:lnSpc>
                <a:spcPct val="80000"/>
              </a:lnSpc>
              <a:buNone/>
            </a:pPr>
            <a:r>
              <a:rPr lang="en-US" altLang="zh-CN" sz="1800" dirty="0">
                <a:latin typeface="华文楷体" panose="02010600040101010101" pitchFamily="2" charset="-122"/>
                <a:ea typeface="华文楷体" panose="02010600040101010101" pitchFamily="2" charset="-122"/>
                <a:cs typeface="宋体" panose="02010600030101010101" pitchFamily="2" charset="-122"/>
              </a:rPr>
              <a:t>3.</a:t>
            </a:r>
            <a:r>
              <a:rPr lang="zh-CN" altLang="en-US" sz="1800" dirty="0">
                <a:latin typeface="华文楷体" panose="02010600040101010101" pitchFamily="2" charset="-122"/>
                <a:ea typeface="华文楷体" panose="02010600040101010101" pitchFamily="2" charset="-122"/>
                <a:cs typeface="宋体" panose="02010600030101010101" pitchFamily="2" charset="-122"/>
              </a:rPr>
              <a:t>我们会不会始终生活于一种张力之中，那就是对个体生命本身的道德义务与对类的生命的法律义务之间冲突之中吗？（法权）</a:t>
            </a:r>
            <a:endParaRPr lang="en-US" altLang="zh-CN" sz="1800" dirty="0">
              <a:latin typeface="华文楷体" panose="02010600040101010101" pitchFamily="2" charset="-122"/>
              <a:ea typeface="华文楷体" panose="02010600040101010101" pitchFamily="2" charset="-122"/>
              <a:cs typeface="宋体" panose="02010600030101010101" pitchFamily="2" charset="-122"/>
            </a:endParaRPr>
          </a:p>
          <a:p>
            <a:pPr>
              <a:lnSpc>
                <a:spcPct val="80000"/>
              </a:lnSpc>
              <a:buNone/>
            </a:pPr>
            <a:endParaRPr lang="en-US" altLang="zh-CN" sz="1800" dirty="0">
              <a:latin typeface="华文楷体" panose="02010600040101010101" pitchFamily="2" charset="-122"/>
              <a:ea typeface="华文楷体" panose="0201060004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640599C0-8F0E-B617-4534-326F58CC005D}"/>
              </a:ext>
            </a:extLst>
          </p:cNvPr>
          <p:cNvSpPr txBox="1"/>
          <p:nvPr/>
        </p:nvSpPr>
        <p:spPr>
          <a:xfrm>
            <a:off x="185706" y="2052859"/>
            <a:ext cx="11820588" cy="2308324"/>
          </a:xfrm>
          <a:prstGeom prst="rect">
            <a:avLst/>
          </a:prstGeom>
          <a:noFill/>
        </p:spPr>
        <p:txBody>
          <a:bodyPr wrap="square">
            <a:spAutoFit/>
          </a:bodyPr>
          <a:lstStyle/>
          <a:p>
            <a:r>
              <a:rPr lang="zh-CN" altLang="en-US" dirty="0"/>
              <a:t>针对第一个情境：在校园里看到一个因跑得太快而摔倒的陌生小朋友，你没有去扶。这个行为在道德上存在争议，但通常不被视为完全道德的行为。从义务论角度看，助人为乐、救助弱者是一种普遍道德义务；从后果论看，不扶可能导致孩子受伤加重或心理受挫。当然，若你有正当理由（如担心造成二次伤害、需呼叫专业人士），不扶可被理解。但若无特殊原因，袖手旁观有违基本人道关怀，因此难称道德。</a:t>
            </a:r>
          </a:p>
          <a:p>
            <a:r>
              <a:rPr lang="zh-CN" altLang="en-US" dirty="0"/>
              <a:t>针对第二个情境：如果摔倒的小朋友是你认识的熟人、弟弟、堂弟或侄儿，你通常会选择去扶。这一行为无疑是道德的，因为亲缘关系强化了关爱和救助的伦理要求。儒家强调“亲亲之爱”，即从亲近之人开始践行仁爱；现代伦理学也承认，对亲人的特殊责任是道德体系的合理组成部分。扶起亲戚体现了责任感与亲情，符合社会期待和美德伦理。因此，不仅应当扶，而且不扶反而更可能被视为不道德。</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3FADC-47EC-32FA-5144-1B735B3C3E4F}"/>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FE6E7E94-46BF-4872-12E8-A9836D72C46D}"/>
              </a:ext>
            </a:extLst>
          </p:cNvPr>
          <p:cNvSpPr txBox="1"/>
          <p:nvPr/>
        </p:nvSpPr>
        <p:spPr>
          <a:xfrm>
            <a:off x="107992" y="0"/>
            <a:ext cx="11976016" cy="2851071"/>
          </a:xfrm>
          <a:prstGeom prst="rect">
            <a:avLst/>
          </a:prstGeom>
          <a:noFill/>
        </p:spPr>
        <p:txBody>
          <a:bodyPr wrap="square">
            <a:spAutoFit/>
          </a:bodyPr>
          <a:lstStyle/>
          <a:p>
            <a:r>
              <a:rPr lang="zh-CN" altLang="en-US"/>
              <a:t>食肉行为常被视为“天经地义”的自然需求，但这种默认并非道德豁免。从道德哲学看，食肉的正当性需要辩护，而非天然成立。</a:t>
            </a:r>
          </a:p>
          <a:p>
            <a:r>
              <a:rPr lang="zh-CN" altLang="en-US"/>
              <a:t>首先，若我们承认动物能感受痛苦（科学已证实），则对动物负有不造成不必要痛苦的道德义务。工业化养殖中的密集囚禁、残忍屠宰，显然违背这一义务。因此，食肉是否正当，关键取决于动物是否获得了相对人道的生存与死亡条件，以及人类是否有非肉替代品（现代营养学表明植物性饮食完全可行）。在可替代的情况下，仅为口腹之欲而食肉，道德正当性存疑。</a:t>
            </a:r>
          </a:p>
          <a:p>
            <a:r>
              <a:rPr lang="zh-CN" altLang="en-US"/>
              <a:t>其次，道德的限度在于：人类与其他动物的道德地位不必完全等同。人可以主张生命优先自保、文化传统或生态位事实，但“自然”不等于“应当”。在资源充足的社会，食肉不再是生存必需，而成为一种可选择的、应受道德审视的行为。对动物负有有限义务（如避免虐待、减少痛苦）是道德进步的体现。因此，食肉并非天然正当，其正当性依赖于人道条件和必要性考量。</a:t>
            </a:r>
            <a:endParaRPr lang="zh-CN" altLang="en-US" dirty="0"/>
          </a:p>
        </p:txBody>
      </p:sp>
      <p:sp>
        <p:nvSpPr>
          <p:cNvPr id="15" name="文本框 14">
            <a:extLst>
              <a:ext uri="{FF2B5EF4-FFF2-40B4-BE49-F238E27FC236}">
                <a16:creationId xmlns:a16="http://schemas.microsoft.com/office/drawing/2014/main" id="{88B9A838-6D85-4708-392E-35912EFCE732}"/>
              </a:ext>
            </a:extLst>
          </p:cNvPr>
          <p:cNvSpPr txBox="1"/>
          <p:nvPr/>
        </p:nvSpPr>
        <p:spPr>
          <a:xfrm>
            <a:off x="107992" y="2923157"/>
            <a:ext cx="12196037" cy="3139321"/>
          </a:xfrm>
          <a:prstGeom prst="rect">
            <a:avLst/>
          </a:prstGeom>
          <a:noFill/>
        </p:spPr>
        <p:txBody>
          <a:bodyPr wrap="square">
            <a:spAutoFit/>
          </a:bodyPr>
          <a:lstStyle/>
          <a:p>
            <a:r>
              <a:rPr lang="zh-CN" altLang="en-US" dirty="0"/>
              <a:t>是的，个体生命与类生命的义务之间的张力，是现代道德与法律实践中的核心困境之一。这种张力无法彻底消除，但可以通过法权原则得到缓冲。</a:t>
            </a:r>
          </a:p>
          <a:p>
            <a:r>
              <a:rPr lang="zh-CN" altLang="en-US" dirty="0"/>
              <a:t>从道德角度看，我们对具体的、有面孔的个体负有直接的救助义务——比如扶起摔倒的孩子、救治眼前的病人。这种义务要求即时、具体、情感驱动。而从法律角度看，对“类生命”（人类整体或种群延续）的义务则是抽象、系统性的，如制定疫苗政策、管理公共资源、应对气候变化，有时甚至要求牺牲个体权益（如强制隔离、征收土地）。</a:t>
            </a:r>
          </a:p>
          <a:p>
            <a:r>
              <a:rPr lang="zh-CN" altLang="en-US" dirty="0"/>
              <a:t>这两种义务并不总是和谐一致。例如，强制接种疫苗保护了群体免疫这一“类生命”，却可能侵犯个体的身体自主权；防疫封锁降低总体死亡率，却可能让某个无法获得救治的个体失去生命。这正是张力所在：法律往往以统计意义上的“最大多数人的最大利益”为逻辑，而道德情感却难以接受一个具体个体被作为手段牺牲。</a:t>
            </a:r>
          </a:p>
          <a:p>
            <a:r>
              <a:rPr lang="zh-CN" altLang="en-US" dirty="0"/>
              <a:t>法权（法治下的权利体系）在此发挥作用：它并非消除张力，而是设立程序边界与底线原则。例如，要求任何集体性措施必须经过法律授权、符合比例原则、保留司法救济渠道，并在极端情况下确立“个体生命不可作为纯粹手段”的底线。正因张力始终存在，法治才需要不断在个案中平衡——承认冲突，但不放弃对个体尊严的守护。</a:t>
            </a:r>
          </a:p>
        </p:txBody>
      </p:sp>
    </p:spTree>
    <p:extLst>
      <p:ext uri="{BB962C8B-B14F-4D97-AF65-F5344CB8AC3E}">
        <p14:creationId xmlns:p14="http://schemas.microsoft.com/office/powerpoint/2010/main" val="17549725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17" y="138862"/>
            <a:ext cx="2404810" cy="391739"/>
          </a:xfrm>
        </p:spPr>
        <p:txBody>
          <a:bodyPr>
            <a:normAutofit fontScale="90000"/>
          </a:bodyPr>
          <a:lstStyle/>
          <a:p>
            <a:r>
              <a:rPr lang="zh-CN" altLang="en-US" sz="2000" dirty="0"/>
              <a:t>黑格尔：</a:t>
            </a:r>
            <a:r>
              <a:rPr lang="en-US" altLang="zh-CN" sz="2000" dirty="0"/>
              <a:t>《</a:t>
            </a:r>
            <a:r>
              <a:rPr lang="zh-CN" altLang="en-US" sz="2000" dirty="0"/>
              <a:t>法权哲学</a:t>
            </a:r>
            <a:r>
              <a:rPr lang="en-US" altLang="zh-CN" sz="2000" dirty="0"/>
              <a:t>》</a:t>
            </a:r>
            <a:endParaRPr lang="zh-CN" altLang="en-US" sz="2000" dirty="0"/>
          </a:p>
        </p:txBody>
      </p:sp>
      <p:sp>
        <p:nvSpPr>
          <p:cNvPr id="3" name="内容占位符 2"/>
          <p:cNvSpPr>
            <a:spLocks noGrp="1"/>
          </p:cNvSpPr>
          <p:nvPr>
            <p:ph idx="1"/>
          </p:nvPr>
        </p:nvSpPr>
        <p:spPr>
          <a:xfrm>
            <a:off x="-160" y="618309"/>
            <a:ext cx="2035939" cy="1776548"/>
          </a:xfrm>
        </p:spPr>
        <p:txBody>
          <a:bodyPr>
            <a:normAutofit fontScale="92500" lnSpcReduction="20000"/>
          </a:bodyPr>
          <a:lstStyle/>
          <a:p>
            <a:r>
              <a:rPr lang="zh-CN" altLang="en-US" sz="1800" dirty="0"/>
              <a:t>             法权</a:t>
            </a:r>
            <a:endParaRPr lang="en-US" altLang="zh-CN" sz="1800" dirty="0"/>
          </a:p>
          <a:p>
            <a:endParaRPr lang="en-US" altLang="zh-CN" sz="1800" dirty="0"/>
          </a:p>
          <a:p>
            <a:r>
              <a:rPr lang="zh-CN" altLang="en-US" sz="1800" dirty="0"/>
              <a:t>             道德</a:t>
            </a:r>
            <a:endParaRPr lang="en-US" altLang="zh-CN" sz="1800" dirty="0"/>
          </a:p>
          <a:p>
            <a:endParaRPr lang="en-US" altLang="zh-CN" sz="1800" dirty="0"/>
          </a:p>
          <a:p>
            <a:r>
              <a:rPr lang="zh-CN" altLang="en-US" sz="1800" dirty="0"/>
              <a:t>             伦理</a:t>
            </a:r>
          </a:p>
        </p:txBody>
      </p:sp>
      <p:sp>
        <p:nvSpPr>
          <p:cNvPr id="5" name="左大括号 4"/>
          <p:cNvSpPr/>
          <p:nvPr/>
        </p:nvSpPr>
        <p:spPr>
          <a:xfrm>
            <a:off x="391339" y="799417"/>
            <a:ext cx="379616" cy="1415048"/>
          </a:xfrm>
          <a:prstGeom prst="leftBrace">
            <a:avLst>
              <a:gd name="adj1" fmla="val 0"/>
              <a:gd name="adj2" fmla="val 5094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矩形 5"/>
          <p:cNvSpPr/>
          <p:nvPr/>
        </p:nvSpPr>
        <p:spPr>
          <a:xfrm flipH="1">
            <a:off x="133117" y="675569"/>
            <a:ext cx="314753" cy="13520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客观精神</a:t>
            </a:r>
          </a:p>
        </p:txBody>
      </p:sp>
      <p:sp>
        <p:nvSpPr>
          <p:cNvPr id="7" name="右箭头 6"/>
          <p:cNvSpPr/>
          <p:nvPr/>
        </p:nvSpPr>
        <p:spPr>
          <a:xfrm>
            <a:off x="1247169" y="609633"/>
            <a:ext cx="662497" cy="2688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右箭头 7"/>
          <p:cNvSpPr/>
          <p:nvPr/>
        </p:nvSpPr>
        <p:spPr>
          <a:xfrm>
            <a:off x="1343900" y="1319530"/>
            <a:ext cx="469034" cy="1870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1335522" y="2069776"/>
            <a:ext cx="574144" cy="1446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115291" y="546981"/>
            <a:ext cx="680858" cy="3314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家庭</a:t>
            </a:r>
          </a:p>
        </p:txBody>
      </p:sp>
      <p:sp>
        <p:nvSpPr>
          <p:cNvPr id="11" name="矩形 10"/>
          <p:cNvSpPr/>
          <p:nvPr/>
        </p:nvSpPr>
        <p:spPr>
          <a:xfrm>
            <a:off x="2102775" y="1262488"/>
            <a:ext cx="1130832" cy="3011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市民社会</a:t>
            </a:r>
          </a:p>
        </p:txBody>
      </p:sp>
      <p:sp>
        <p:nvSpPr>
          <p:cNvPr id="12" name="矩形 11"/>
          <p:cNvSpPr/>
          <p:nvPr/>
        </p:nvSpPr>
        <p:spPr>
          <a:xfrm>
            <a:off x="2060915" y="2008692"/>
            <a:ext cx="732726" cy="2668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国家</a:t>
            </a:r>
          </a:p>
        </p:txBody>
      </p:sp>
      <p:sp>
        <p:nvSpPr>
          <p:cNvPr id="4" name="标题 1"/>
          <p:cNvSpPr txBox="1">
            <a:spLocks/>
          </p:cNvSpPr>
          <p:nvPr/>
        </p:nvSpPr>
        <p:spPr>
          <a:xfrm>
            <a:off x="140330" y="2364172"/>
            <a:ext cx="888966" cy="306849"/>
          </a:xfrm>
          <a:prstGeom prst="rect">
            <a:avLst/>
          </a:prstGeom>
        </p:spPr>
        <p:txBody>
          <a:bodyPr vert="horz" lIns="91440" tIns="45720" rIns="91440" bIns="45720" rtlCol="0" anchor="b">
            <a:normAutofit fontScale="90000" lnSpcReduction="200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差异</a:t>
            </a:r>
            <a:endParaRPr lang="zh-CN" altLang="en-US" sz="2000" dirty="0">
              <a:latin typeface="华文楷体" panose="02010600040101010101" pitchFamily="2" charset="-122"/>
              <a:ea typeface="华文楷体" panose="02010600040101010101" pitchFamily="2" charset="-122"/>
            </a:endParaRPr>
          </a:p>
        </p:txBody>
      </p:sp>
      <p:sp>
        <p:nvSpPr>
          <p:cNvPr id="13" name="内容占位符 2"/>
          <p:cNvSpPr txBox="1">
            <a:spLocks/>
          </p:cNvSpPr>
          <p:nvPr/>
        </p:nvSpPr>
        <p:spPr>
          <a:xfrm>
            <a:off x="183528" y="2791112"/>
            <a:ext cx="11867822" cy="154520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cs typeface="华文楷体" panose="02010600040101010101" pitchFamily="2" charset="-122"/>
              </a:rPr>
              <a:t>moral</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主要指如何正确行事，其主体可以是一个人，一个团体或一种文化。有描述性道德和规范性道德。</a:t>
            </a:r>
          </a:p>
          <a:p>
            <a:r>
              <a:rPr lang="zh-CN" altLang="en-US" sz="1800">
                <a:latin typeface="华文楷体" panose="02010600040101010101" pitchFamily="2" charset="-122"/>
                <a:ea typeface="华文楷体" panose="02010600040101010101" pitchFamily="2" charset="-122"/>
                <a:cs typeface="华文楷体" panose="02010600040101010101" pitchFamily="2" charset="-122"/>
              </a:rPr>
              <a:t>按照亚里士多德的说法，它（</a:t>
            </a:r>
            <a:r>
              <a:rPr lang="en-US" altLang="zh-CN" sz="1800">
                <a:latin typeface="华文楷体" panose="02010600040101010101" pitchFamily="2" charset="-122"/>
                <a:ea typeface="华文楷体" panose="02010600040101010101" pitchFamily="2" charset="-122"/>
                <a:cs typeface="华文楷体" panose="02010600040101010101" pitchFamily="2" charset="-122"/>
              </a:rPr>
              <a:t>Ethos</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）是三种信念之一，也就是通过权威与可信性让人信服，另外两种信念是</a:t>
            </a:r>
            <a:r>
              <a:rPr lang="en-US" altLang="zh-CN" sz="1800">
                <a:latin typeface="华文楷体" panose="02010600040101010101" pitchFamily="2" charset="-122"/>
                <a:ea typeface="华文楷体" panose="02010600040101010101" pitchFamily="2" charset="-122"/>
                <a:cs typeface="华文楷体" panose="02010600040101010101" pitchFamily="2" charset="-122"/>
              </a:rPr>
              <a:t>Pathos</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和</a:t>
            </a:r>
            <a:r>
              <a:rPr lang="en-US" altLang="zh-CN" sz="1800">
                <a:latin typeface="华文楷体" panose="02010600040101010101" pitchFamily="2" charset="-122"/>
                <a:ea typeface="华文楷体" panose="02010600040101010101" pitchFamily="2" charset="-122"/>
                <a:cs typeface="华文楷体" panose="02010600040101010101" pitchFamily="2" charset="-122"/>
              </a:rPr>
              <a:t>Logos</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a:t>
            </a:r>
            <a:endParaRPr lang="en-US" altLang="zh-CN" sz="1800">
              <a:latin typeface="华文楷体" panose="02010600040101010101" pitchFamily="2" charset="-122"/>
              <a:ea typeface="华文楷体" panose="02010600040101010101" pitchFamily="2" charset="-122"/>
              <a:cs typeface="华文楷体" panose="02010600040101010101" pitchFamily="2" charset="-122"/>
            </a:endParaRPr>
          </a:p>
          <a:p>
            <a:r>
              <a:rPr lang="en-US" altLang="zh-CN" sz="1800">
                <a:latin typeface="华文楷体" panose="02010600040101010101" pitchFamily="2" charset="-122"/>
                <a:ea typeface="华文楷体" panose="02010600040101010101" pitchFamily="2" charset="-122"/>
                <a:cs typeface="华文楷体" panose="02010600040101010101" pitchFamily="2" charset="-122"/>
              </a:rPr>
              <a:t>moral</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更多强调个体性的，</a:t>
            </a:r>
            <a:r>
              <a:rPr lang="en-US" altLang="zh-CN" sz="1800">
                <a:latin typeface="华文楷体" panose="02010600040101010101" pitchFamily="2" charset="-122"/>
                <a:ea typeface="华文楷体" panose="02010600040101010101" pitchFamily="2" charset="-122"/>
                <a:cs typeface="华文楷体" panose="02010600040101010101" pitchFamily="2" charset="-122"/>
              </a:rPr>
              <a:t>ethics</a:t>
            </a:r>
            <a:r>
              <a:rPr lang="zh-CN" altLang="en-US" sz="1800">
                <a:latin typeface="华文楷体" panose="02010600040101010101" pitchFamily="2" charset="-122"/>
                <a:ea typeface="华文楷体" panose="02010600040101010101" pitchFamily="2" charset="-122"/>
                <a:cs typeface="华文楷体" panose="02010600040101010101" pitchFamily="2" charset="-122"/>
              </a:rPr>
              <a:t>更多强调社会性的（行为规范，秩序）</a:t>
            </a:r>
          </a:p>
          <a:p>
            <a:endParaRPr lang="zh-CN" altLang="en-US" sz="1800"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14" name="标题 1"/>
          <p:cNvSpPr txBox="1">
            <a:spLocks/>
          </p:cNvSpPr>
          <p:nvPr/>
        </p:nvSpPr>
        <p:spPr>
          <a:xfrm>
            <a:off x="140330" y="4142553"/>
            <a:ext cx="1869855" cy="387531"/>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伦理学做什么</a:t>
            </a:r>
          </a:p>
        </p:txBody>
      </p:sp>
      <p:sp>
        <p:nvSpPr>
          <p:cNvPr id="15" name="内容占位符 2"/>
          <p:cNvSpPr txBox="1">
            <a:spLocks/>
          </p:cNvSpPr>
          <p:nvPr/>
        </p:nvSpPr>
        <p:spPr>
          <a:xfrm>
            <a:off x="-160" y="4691736"/>
            <a:ext cx="12115800" cy="169346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第一是明确应该采取的生活的价值，为一种有意义的生活进行奠基，这是一种价值上的奠基，我们要明确什么样的生活值得过；第二，从实践角度来说，要讨论这种价值落实为规范的可能性条件。</a:t>
            </a:r>
            <a:r>
              <a:rPr lang="en-US" altLang="zh-CN" sz="1800" dirty="0">
                <a:latin typeface="华文楷体" panose="02010600040101010101" pitchFamily="2" charset="-122"/>
                <a:ea typeface="华文楷体" panose="02010600040101010101" pitchFamily="2" charset="-122"/>
              </a:rPr>
              <a:t>”</a:t>
            </a: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伦理学作为实践哲学，它的实践是直接向着人的生命实践的，是指向人的自我生成与造就的。</a:t>
            </a:r>
            <a:r>
              <a:rPr lang="en-US" altLang="zh-CN" sz="1800" dirty="0">
                <a:latin typeface="华文楷体" panose="02010600040101010101" pitchFamily="2" charset="-122"/>
                <a:ea typeface="华文楷体" panose="02010600040101010101" pitchFamily="2" charset="-122"/>
              </a:rPr>
              <a:t>”</a:t>
            </a:r>
            <a:endParaRPr lang="zh-CN" altLang="en-US"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伦理学最核心工作一是为价值进行辩护，以构成一套关于世界和人生的价值秩序；一是思考如何将已经得到辩护的那些有效的价值落实为有效性的规范。</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447" y="49763"/>
            <a:ext cx="1946185" cy="463914"/>
          </a:xfrm>
        </p:spPr>
        <p:txBody>
          <a:bodyPr>
            <a:normAutofit/>
          </a:bodyPr>
          <a:lstStyle/>
          <a:p>
            <a:r>
              <a:rPr lang="zh-CN" altLang="en-US" sz="2000" dirty="0">
                <a:latin typeface="华文楷体" panose="02010600040101010101" pitchFamily="2" charset="-122"/>
                <a:ea typeface="华文楷体" panose="02010600040101010101" pitchFamily="2" charset="-122"/>
              </a:rPr>
              <a:t>一、道德是什么</a:t>
            </a:r>
          </a:p>
        </p:txBody>
      </p:sp>
      <p:sp>
        <p:nvSpPr>
          <p:cNvPr id="3" name="内容占位符 2"/>
          <p:cNvSpPr>
            <a:spLocks noGrp="1"/>
          </p:cNvSpPr>
          <p:nvPr>
            <p:ph idx="1"/>
          </p:nvPr>
        </p:nvSpPr>
        <p:spPr>
          <a:xfrm>
            <a:off x="280029" y="656406"/>
            <a:ext cx="1946185" cy="2142777"/>
          </a:xfrm>
        </p:spPr>
        <p:txBody>
          <a:bodyPr>
            <a:normAutofit/>
          </a:bodyPr>
          <a:lstStyle/>
          <a:p>
            <a:pPr marL="0" indent="0">
              <a:buNone/>
            </a:pPr>
            <a:r>
              <a:rPr lang="zh-CN" altLang="en-US" sz="1800" dirty="0">
                <a:solidFill>
                  <a:schemeClr val="tx1"/>
                </a:solidFill>
                <a:latin typeface="华文楷体" panose="02010600040101010101" pitchFamily="2" charset="-122"/>
                <a:ea typeface="华文楷体" panose="02010600040101010101" pitchFamily="2" charset="-122"/>
              </a:rPr>
              <a:t>道德的类型</a:t>
            </a: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r>
              <a:rPr lang="zh-CN" altLang="en-US" sz="1800" dirty="0">
                <a:solidFill>
                  <a:schemeClr val="tx1"/>
                </a:solidFill>
                <a:latin typeface="华文楷体" panose="02010600040101010101" pitchFamily="2" charset="-122"/>
                <a:ea typeface="华文楷体" panose="02010600040101010101" pitchFamily="2" charset="-122"/>
              </a:rPr>
              <a:t>道德研究的方法</a:t>
            </a: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r>
              <a:rPr lang="zh-CN" altLang="en-US" sz="1800" dirty="0">
                <a:solidFill>
                  <a:schemeClr val="tx1"/>
                </a:solidFill>
                <a:latin typeface="华文楷体" panose="02010600040101010101" pitchFamily="2" charset="-122"/>
                <a:ea typeface="华文楷体" panose="02010600040101010101" pitchFamily="2" charset="-122"/>
              </a:rPr>
              <a:t>道德作为形上学</a:t>
            </a: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r>
              <a:rPr lang="zh-CN" altLang="en-US" sz="1800" dirty="0">
                <a:solidFill>
                  <a:schemeClr val="tx1"/>
                </a:solidFill>
                <a:latin typeface="华文楷体" panose="02010600040101010101" pitchFamily="2" charset="-122"/>
                <a:ea typeface="华文楷体" panose="02010600040101010101" pitchFamily="2" charset="-122"/>
              </a:rPr>
              <a:t>道德作为美学</a:t>
            </a: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lnSpc>
                <a:spcPct val="80000"/>
              </a:lnSpc>
              <a:buNone/>
            </a:pPr>
            <a:r>
              <a:rPr lang="zh-CN" altLang="en-US" sz="1800" dirty="0">
                <a:solidFill>
                  <a:schemeClr val="tx1"/>
                </a:solidFill>
                <a:latin typeface="华文楷体" panose="02010600040101010101" pitchFamily="2" charset="-122"/>
                <a:ea typeface="华文楷体" panose="02010600040101010101" pitchFamily="2" charset="-122"/>
              </a:rPr>
              <a:t>道德作为关系</a:t>
            </a:r>
            <a:endParaRPr lang="en-US" altLang="zh-CN" sz="1800" dirty="0">
              <a:solidFill>
                <a:schemeClr val="tx1"/>
              </a:solidFill>
              <a:latin typeface="华文楷体" panose="02010600040101010101" pitchFamily="2" charset="-122"/>
              <a:ea typeface="华文楷体" panose="02010600040101010101" pitchFamily="2" charset="-122"/>
            </a:endParaRPr>
          </a:p>
        </p:txBody>
      </p:sp>
      <p:sp>
        <p:nvSpPr>
          <p:cNvPr id="4" name="标题 1"/>
          <p:cNvSpPr txBox="1">
            <a:spLocks/>
          </p:cNvSpPr>
          <p:nvPr/>
        </p:nvSpPr>
        <p:spPr>
          <a:xfrm>
            <a:off x="75447" y="2753464"/>
            <a:ext cx="1782769" cy="37689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道德观的类型</a:t>
            </a:r>
            <a:endParaRPr lang="zh-CN" altLang="en-US" sz="2000" dirty="0">
              <a:latin typeface="华文楷体" panose="02010600040101010101" pitchFamily="2" charset="-122"/>
              <a:ea typeface="华文楷体" panose="02010600040101010101" pitchFamily="2" charset="-122"/>
            </a:endParaRPr>
          </a:p>
        </p:txBody>
      </p:sp>
      <p:sp>
        <p:nvSpPr>
          <p:cNvPr id="6" name="内容占位符 2"/>
          <p:cNvSpPr txBox="1">
            <a:spLocks/>
          </p:cNvSpPr>
          <p:nvPr/>
        </p:nvSpPr>
        <p:spPr>
          <a:xfrm>
            <a:off x="191022" y="3227369"/>
            <a:ext cx="1851193" cy="214277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情感主义</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情境伦理学</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3.</a:t>
            </a:r>
            <a:r>
              <a:rPr lang="zh-CN" altLang="en-US" sz="1800" dirty="0">
                <a:solidFill>
                  <a:srgbClr val="FF0000"/>
                </a:solidFill>
                <a:latin typeface="华文楷体" panose="02010600040101010101" pitchFamily="2" charset="-122"/>
                <a:ea typeface="华文楷体" panose="02010600040101010101" pitchFamily="2" charset="-122"/>
              </a:rPr>
              <a:t>康德伦理学</a:t>
            </a:r>
            <a:endParaRPr lang="en-US" altLang="zh-CN" sz="1800" dirty="0">
              <a:solidFill>
                <a:srgbClr val="FF0000"/>
              </a:solidFill>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4.</a:t>
            </a:r>
            <a:r>
              <a:rPr lang="zh-CN" altLang="en-US" sz="1800" dirty="0">
                <a:solidFill>
                  <a:srgbClr val="FF0000"/>
                </a:solidFill>
                <a:latin typeface="华文楷体" panose="02010600040101010101" pitchFamily="2" charset="-122"/>
                <a:ea typeface="华文楷体" panose="02010600040101010101" pitchFamily="2" charset="-122"/>
              </a:rPr>
              <a:t>功利主义</a:t>
            </a:r>
            <a:endParaRPr lang="en-US" altLang="zh-CN" sz="1800" dirty="0">
              <a:solidFill>
                <a:srgbClr val="FF0000"/>
              </a:solidFill>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5.</a:t>
            </a:r>
            <a:r>
              <a:rPr lang="zh-CN" altLang="en-US" sz="1800" dirty="0">
                <a:solidFill>
                  <a:srgbClr val="FF0000"/>
                </a:solidFill>
                <a:latin typeface="华文楷体" panose="02010600040101010101" pitchFamily="2" charset="-122"/>
                <a:ea typeface="华文楷体" panose="02010600040101010101" pitchFamily="2" charset="-122"/>
              </a:rPr>
              <a:t>德性伦理学</a:t>
            </a:r>
          </a:p>
        </p:txBody>
      </p:sp>
      <p:sp>
        <p:nvSpPr>
          <p:cNvPr id="7" name="标题 1"/>
          <p:cNvSpPr txBox="1">
            <a:spLocks/>
          </p:cNvSpPr>
          <p:nvPr/>
        </p:nvSpPr>
        <p:spPr>
          <a:xfrm>
            <a:off x="2593020" y="-66612"/>
            <a:ext cx="2741989" cy="48384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楷体" panose="02010609060101010101" pitchFamily="49" charset="-122"/>
                <a:ea typeface="楷体" panose="02010609060101010101" pitchFamily="49" charset="-122"/>
              </a:rPr>
              <a:t>三大理论流派界定标准</a:t>
            </a:r>
            <a:endParaRPr lang="zh-CN" altLang="en-US" sz="2000" dirty="0">
              <a:latin typeface="楷体" panose="02010609060101010101" pitchFamily="49" charset="-122"/>
              <a:ea typeface="楷体" panose="02010609060101010101" pitchFamily="49" charset="-122"/>
            </a:endParaRPr>
          </a:p>
        </p:txBody>
      </p:sp>
      <p:sp>
        <p:nvSpPr>
          <p:cNvPr id="8" name="内容占位符 2"/>
          <p:cNvSpPr txBox="1">
            <a:spLocks/>
          </p:cNvSpPr>
          <p:nvPr/>
        </p:nvSpPr>
        <p:spPr>
          <a:xfrm>
            <a:off x="2593019" y="417233"/>
            <a:ext cx="9523534" cy="4348547"/>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楷体" panose="02010609060101010101" pitchFamily="49" charset="-122"/>
                <a:ea typeface="楷体" panose="02010609060101010101" pitchFamily="49" charset="-122"/>
              </a:rPr>
              <a:t>行动者</a:t>
            </a:r>
            <a:r>
              <a:rPr lang="en-US" altLang="zh-CN" sz="1800" dirty="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行动</a:t>
            </a:r>
            <a:endParaRPr lang="en-US" altLang="zh-CN" sz="1800" dirty="0">
              <a:latin typeface="楷体" panose="02010609060101010101" pitchFamily="49" charset="-122"/>
              <a:ea typeface="楷体" panose="02010609060101010101" pitchFamily="49" charset="-122"/>
            </a:endParaRPr>
          </a:p>
          <a:p>
            <a:pPr marL="0" indent="0">
              <a:buFont typeface="Calibri" panose="020F0502020204030204" pitchFamily="34" charset="0"/>
              <a:buNone/>
            </a:pPr>
            <a:r>
              <a:rPr lang="en-US" altLang="zh-CN" sz="1800" dirty="0">
                <a:latin typeface="楷体" panose="02010609060101010101" pitchFamily="49" charset="-122"/>
                <a:ea typeface="楷体" panose="02010609060101010101" pitchFamily="49" charset="-122"/>
              </a:rPr>
              <a:t>1.</a:t>
            </a:r>
            <a:r>
              <a:rPr lang="zh-CN" altLang="en-US" sz="1800" dirty="0">
                <a:latin typeface="楷体" panose="02010609060101010101" pitchFamily="49" charset="-122"/>
                <a:ea typeface="楷体" panose="02010609060101010101" pitchFamily="49" charset="-122"/>
              </a:rPr>
              <a:t>行动的起因（意图、动机）：义务论</a:t>
            </a:r>
            <a:endParaRPr lang="en-US" altLang="zh-CN" sz="1800" dirty="0">
              <a:latin typeface="楷体" panose="02010609060101010101" pitchFamily="49" charset="-122"/>
              <a:ea typeface="楷体" panose="02010609060101010101" pitchFamily="49" charset="-122"/>
            </a:endParaRPr>
          </a:p>
          <a:p>
            <a:pPr marL="0" indent="0">
              <a:buFont typeface="Calibri" panose="020F0502020204030204" pitchFamily="34" charset="0"/>
              <a:buNone/>
            </a:pPr>
            <a:r>
              <a:rPr lang="zh-CN" altLang="en-US" sz="1800" dirty="0">
                <a:latin typeface="楷体" panose="02010609060101010101" pitchFamily="49" charset="-122"/>
                <a:ea typeface="楷体" panose="02010609060101010101" pitchFamily="49" charset="-122"/>
              </a:rPr>
              <a:t>行为本身是善的。</a:t>
            </a:r>
            <a:endParaRPr lang="en-US" altLang="zh-CN" sz="1800" dirty="0">
              <a:latin typeface="楷体" panose="02010609060101010101" pitchFamily="49" charset="-122"/>
              <a:ea typeface="楷体" panose="02010609060101010101" pitchFamily="49" charset="-122"/>
            </a:endParaRPr>
          </a:p>
          <a:p>
            <a:pPr marL="0" indent="0">
              <a:buFont typeface="Calibri" panose="020F0502020204030204" pitchFamily="34" charset="0"/>
              <a:buNone/>
            </a:pPr>
            <a:r>
              <a:rPr lang="en-US" altLang="zh-CN" sz="1800" dirty="0">
                <a:latin typeface="楷体" panose="02010609060101010101" pitchFamily="49" charset="-122"/>
                <a:ea typeface="楷体" panose="02010609060101010101" pitchFamily="49" charset="-122"/>
              </a:rPr>
              <a:t>2.</a:t>
            </a:r>
            <a:r>
              <a:rPr lang="zh-CN" altLang="en-US" sz="1800" dirty="0">
                <a:latin typeface="楷体" panose="02010609060101010101" pitchFamily="49" charset="-122"/>
                <a:ea typeface="楷体" panose="02010609060101010101" pitchFamily="49" charset="-122"/>
              </a:rPr>
              <a:t>行动的结果（目的、效用）：功利论</a:t>
            </a:r>
            <a:endParaRPr lang="en-US" altLang="zh-CN" sz="1800" dirty="0">
              <a:latin typeface="楷体" panose="02010609060101010101" pitchFamily="49" charset="-122"/>
              <a:ea typeface="楷体" panose="02010609060101010101" pitchFamily="49" charset="-122"/>
            </a:endParaRPr>
          </a:p>
          <a:p>
            <a:r>
              <a:rPr lang="zh-CN" altLang="en-US" sz="1800" dirty="0">
                <a:latin typeface="华文楷体" panose="02010600040101010101" pitchFamily="2" charset="-122"/>
                <a:ea typeface="华文楷体" panose="02010600040101010101" pitchFamily="2" charset="-122"/>
              </a:rPr>
              <a:t>“只要维持一项权利在整体上对社会有利”，保留权利。</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“一种使得所有幸福的总量得到净增长的趋势”</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“最大多数人的最大幸福”</a:t>
            </a:r>
            <a:endParaRPr lang="en-US" altLang="zh-CN" sz="1800" dirty="0">
              <a:latin typeface="华文楷体" panose="02010600040101010101" pitchFamily="2" charset="-122"/>
              <a:ea typeface="华文楷体" panose="02010600040101010101" pitchFamily="2" charset="-122"/>
            </a:endParaRPr>
          </a:p>
          <a:p>
            <a:pPr marL="0" indent="0">
              <a:buFont typeface="Calibri" panose="020F0502020204030204" pitchFamily="34" charset="0"/>
              <a:buNone/>
            </a:pPr>
            <a:r>
              <a:rPr lang="en-US" altLang="zh-CN" sz="1800" dirty="0">
                <a:latin typeface="楷体" panose="02010609060101010101" pitchFamily="49" charset="-122"/>
                <a:ea typeface="楷体" panose="02010609060101010101" pitchFamily="49" charset="-122"/>
              </a:rPr>
              <a:t>3.</a:t>
            </a:r>
            <a:r>
              <a:rPr lang="zh-CN" altLang="en-US" sz="1800" dirty="0">
                <a:latin typeface="楷体" panose="02010609060101010101" pitchFamily="49" charset="-122"/>
                <a:ea typeface="楷体" panose="02010609060101010101" pitchFamily="49" charset="-122"/>
              </a:rPr>
              <a:t>行动者的品质：</a:t>
            </a:r>
            <a:r>
              <a:rPr lang="zh-CN" altLang="en-US" sz="1800" dirty="0">
                <a:latin typeface="华文楷体" panose="02010600040101010101" pitchFamily="2" charset="-122"/>
                <a:ea typeface="华文楷体" panose="02010600040101010101" pitchFamily="2" charset="-122"/>
              </a:rPr>
              <a:t>德性伦理</a:t>
            </a:r>
            <a:endParaRPr lang="en-US" altLang="zh-CN" sz="1800" dirty="0">
              <a:latin typeface="华文楷体" panose="02010600040101010101" pitchFamily="2" charset="-122"/>
              <a:ea typeface="华文楷体" panose="02010600040101010101" pitchFamily="2" charset="-122"/>
            </a:endParaRPr>
          </a:p>
          <a:p>
            <a:pPr marL="0" indent="0">
              <a:buFont typeface="Calibri" panose="020F0502020204030204" pitchFamily="34" charset="0"/>
              <a:buNone/>
            </a:pPr>
            <a:r>
              <a:rPr lang="zh-CN" altLang="en-US" sz="1800" dirty="0">
                <a:latin typeface="华文楷体" panose="02010600040101010101" pitchFamily="2" charset="-122"/>
                <a:ea typeface="华文楷体" panose="02010600040101010101" pitchFamily="2" charset="-122"/>
              </a:rPr>
              <a:t>道德判断的首要对象并不是</a:t>
            </a:r>
            <a:r>
              <a:rPr lang="zh-CN" altLang="en-US" sz="1800" dirty="0">
                <a:solidFill>
                  <a:srgbClr val="FF0000"/>
                </a:solidFill>
                <a:latin typeface="华文楷体" panose="02010600040101010101" pitchFamily="2" charset="-122"/>
                <a:ea typeface="华文楷体" panose="02010600040101010101" pitchFamily="2" charset="-122"/>
              </a:rPr>
              <a:t>行为</a:t>
            </a:r>
            <a:r>
              <a:rPr lang="zh-CN" altLang="en-US" sz="1800" dirty="0">
                <a:latin typeface="华文楷体" panose="02010600040101010101" pitchFamily="2" charset="-122"/>
                <a:ea typeface="华文楷体" panose="02010600040101010101" pitchFamily="2" charset="-122"/>
              </a:rPr>
              <a:t>或者后果，而是</a:t>
            </a:r>
            <a:r>
              <a:rPr lang="zh-CN" altLang="en-US" sz="1800" dirty="0">
                <a:solidFill>
                  <a:srgbClr val="FF0000"/>
                </a:solidFill>
                <a:latin typeface="华文楷体" panose="02010600040101010101" pitchFamily="2" charset="-122"/>
                <a:ea typeface="华文楷体" panose="02010600040101010101" pitchFamily="2" charset="-122"/>
              </a:rPr>
              <a:t>行为主体</a:t>
            </a:r>
            <a:r>
              <a:rPr lang="zh-CN" altLang="en-US" sz="1800" dirty="0">
                <a:latin typeface="华文楷体" panose="02010600040101010101" pitchFamily="2" charset="-122"/>
                <a:ea typeface="华文楷体" panose="02010600040101010101" pitchFamily="2" charset="-122"/>
              </a:rPr>
              <a:t>。关注焦点是行为主体的好坏，而非行为的对错。</a:t>
            </a:r>
            <a:endParaRPr lang="en-US" altLang="zh-CN" sz="1800" dirty="0">
              <a:latin typeface="华文楷体" panose="02010600040101010101" pitchFamily="2" charset="-122"/>
              <a:ea typeface="华文楷体" panose="02010600040101010101" pitchFamily="2" charset="-122"/>
            </a:endParaRPr>
          </a:p>
          <a:p>
            <a:pPr marL="0" indent="0">
              <a:buFont typeface="Calibri" panose="020F0502020204030204" pitchFamily="34" charset="0"/>
              <a:buNone/>
            </a:pPr>
            <a:r>
              <a:rPr lang="zh-CN" altLang="en-US" sz="1800" dirty="0">
                <a:solidFill>
                  <a:srgbClr val="FF0000"/>
                </a:solidFill>
                <a:latin typeface="华文楷体" panose="02010600040101010101" pitchFamily="2" charset="-122"/>
                <a:ea typeface="华文楷体" panose="02010600040101010101" pitchFamily="2" charset="-122"/>
              </a:rPr>
              <a:t>行动者</a:t>
            </a:r>
            <a:r>
              <a:rPr lang="en-US" altLang="zh-CN" sz="1800" dirty="0">
                <a:solidFill>
                  <a:srgbClr val="FF0000"/>
                </a:solidFill>
                <a:latin typeface="华文楷体" panose="02010600040101010101" pitchFamily="2" charset="-122"/>
                <a:ea typeface="华文楷体" panose="02010600040101010101" pitchFamily="2" charset="-122"/>
              </a:rPr>
              <a:t>&gt;</a:t>
            </a:r>
            <a:r>
              <a:rPr lang="zh-CN" altLang="en-US" sz="1800" dirty="0">
                <a:solidFill>
                  <a:srgbClr val="FF0000"/>
                </a:solidFill>
                <a:latin typeface="华文楷体" panose="02010600040101010101" pitchFamily="2" charset="-122"/>
                <a:ea typeface="华文楷体" panose="02010600040101010101" pitchFamily="2" charset="-122"/>
              </a:rPr>
              <a:t>目的</a:t>
            </a:r>
            <a:r>
              <a:rPr lang="en-US" altLang="zh-CN" sz="1800" dirty="0">
                <a:solidFill>
                  <a:srgbClr val="FF0000"/>
                </a:solidFill>
                <a:latin typeface="华文楷体" panose="02010600040101010101" pitchFamily="2" charset="-122"/>
                <a:ea typeface="华文楷体" panose="02010600040101010101" pitchFamily="2" charset="-122"/>
              </a:rPr>
              <a:t>&gt;</a:t>
            </a:r>
            <a:r>
              <a:rPr lang="zh-CN" altLang="en-US" sz="1800" dirty="0">
                <a:solidFill>
                  <a:srgbClr val="FF0000"/>
                </a:solidFill>
                <a:latin typeface="华文楷体" panose="02010600040101010101" pitchFamily="2" charset="-122"/>
                <a:ea typeface="华文楷体" panose="02010600040101010101" pitchFamily="2" charset="-122"/>
              </a:rPr>
              <a:t>动机？（后两者被置于行动之内）</a:t>
            </a:r>
            <a:endParaRPr lang="zh-CN" altLang="en-US" sz="1800" dirty="0">
              <a:solidFill>
                <a:srgbClr val="FF0000"/>
              </a:solidFill>
              <a:latin typeface="楷体" panose="02010609060101010101" pitchFamily="49" charset="-122"/>
              <a:ea typeface="楷体" panose="02010609060101010101" pitchFamily="49" charset="-122"/>
            </a:endParaRPr>
          </a:p>
        </p:txBody>
      </p:sp>
      <p:sp>
        <p:nvSpPr>
          <p:cNvPr id="9" name="标题 1"/>
          <p:cNvSpPr txBox="1">
            <a:spLocks/>
          </p:cNvSpPr>
          <p:nvPr/>
        </p:nvSpPr>
        <p:spPr>
          <a:xfrm>
            <a:off x="2532465" y="4572302"/>
            <a:ext cx="1318916" cy="38695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情感主义</a:t>
            </a:r>
            <a:endParaRPr lang="zh-CN" altLang="en-US" sz="2000" dirty="0">
              <a:latin typeface="华文楷体" panose="02010600040101010101" pitchFamily="2" charset="-122"/>
              <a:ea typeface="华文楷体" panose="02010600040101010101" pitchFamily="2" charset="-122"/>
            </a:endParaRPr>
          </a:p>
        </p:txBody>
      </p:sp>
      <p:sp>
        <p:nvSpPr>
          <p:cNvPr id="10" name="内容占位符 2"/>
          <p:cNvSpPr txBox="1">
            <a:spLocks/>
          </p:cNvSpPr>
          <p:nvPr/>
        </p:nvSpPr>
        <p:spPr>
          <a:xfrm>
            <a:off x="2532465" y="5017663"/>
            <a:ext cx="9179123" cy="98224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rPr>
              <a:t>道德话语只是对个人情感的一种表达。假如我说某件事是正确的或错误的，我仅仅实在发泄我的情感。假如我告诉你，强迫某人做违背他们意愿的事情是错误的，那么，我之所以只能这样做是因为我感觉它是恶的并且我想让你也有同样的感觉。</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6545" y="226502"/>
            <a:ext cx="1736755" cy="421450"/>
          </a:xfrm>
        </p:spPr>
        <p:txBody>
          <a:bodyPr>
            <a:normAutofit/>
          </a:bodyPr>
          <a:lstStyle/>
          <a:p>
            <a:r>
              <a:rPr lang="zh-CN" altLang="en-US" sz="2000" dirty="0">
                <a:latin typeface="华文楷体" panose="02010600040101010101" pitchFamily="2" charset="-122"/>
                <a:ea typeface="华文楷体" panose="02010600040101010101" pitchFamily="2" charset="-122"/>
              </a:rPr>
              <a:t>情境伦理学</a:t>
            </a:r>
          </a:p>
        </p:txBody>
      </p:sp>
      <p:sp>
        <p:nvSpPr>
          <p:cNvPr id="3" name="内容占位符 2"/>
          <p:cNvSpPr>
            <a:spLocks noGrp="1"/>
          </p:cNvSpPr>
          <p:nvPr>
            <p:ph idx="1"/>
          </p:nvPr>
        </p:nvSpPr>
        <p:spPr>
          <a:xfrm>
            <a:off x="255547" y="743610"/>
            <a:ext cx="10541639" cy="685519"/>
          </a:xfrm>
        </p:spPr>
        <p:txBody>
          <a:bodyPr>
            <a:normAutofit/>
          </a:bodyPr>
          <a:lstStyle/>
          <a:p>
            <a:r>
              <a:rPr lang="zh-CN" altLang="en-US" sz="1800" dirty="0">
                <a:latin typeface="华文楷体" panose="02010600040101010101" pitchFamily="2" charset="-122"/>
                <a:ea typeface="华文楷体" panose="02010600040101010101" pitchFamily="2" charset="-122"/>
              </a:rPr>
              <a:t>每一个情境都是不同的。你不得不重新适应么一个新的情境，根据你发现自己身处的一系列新的条件，努力去做似乎是正确的事情。生活永远不会自我重复，所以，为什么要对它施加一套不变的规则呢？</a:t>
            </a:r>
          </a:p>
        </p:txBody>
      </p:sp>
      <p:sp>
        <p:nvSpPr>
          <p:cNvPr id="4" name="标题 1"/>
          <p:cNvSpPr txBox="1">
            <a:spLocks/>
          </p:cNvSpPr>
          <p:nvPr/>
        </p:nvSpPr>
        <p:spPr>
          <a:xfrm>
            <a:off x="134434" y="1319198"/>
            <a:ext cx="1748866" cy="41117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t>义务伦理学</a:t>
            </a:r>
            <a:endParaRPr lang="zh-CN" altLang="en-US" sz="2000" dirty="0"/>
          </a:p>
        </p:txBody>
      </p:sp>
      <p:sp>
        <p:nvSpPr>
          <p:cNvPr id="5" name="内容占位符 2"/>
          <p:cNvSpPr txBox="1">
            <a:spLocks/>
          </p:cNvSpPr>
          <p:nvPr/>
        </p:nvSpPr>
        <p:spPr>
          <a:xfrm>
            <a:off x="58527" y="1668171"/>
            <a:ext cx="11536313" cy="193966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b="1" dirty="0">
                <a:latin typeface="华文楷体" panose="02010600040101010101" pitchFamily="2" charset="-122"/>
                <a:ea typeface="华文楷体" panose="02010600040101010101" pitchFamily="2" charset="-122"/>
              </a:rPr>
              <a:t>善良意志</a:t>
            </a:r>
            <a:r>
              <a:rPr lang="zh-CN" altLang="en-US" sz="1800" dirty="0">
                <a:latin typeface="华文楷体" panose="02010600040101010101" pitchFamily="2" charset="-122"/>
                <a:ea typeface="华文楷体" panose="02010600040101010101" pitchFamily="2" charset="-122"/>
              </a:rPr>
              <a:t>除了善良意志，任何东西本身都不是善的。</a:t>
            </a:r>
            <a:endParaRPr lang="en-US" altLang="zh-CN" sz="1800" dirty="0">
              <a:latin typeface="华文楷体" panose="02010600040101010101" pitchFamily="2" charset="-122"/>
              <a:ea typeface="华文楷体" panose="02010600040101010101" pitchFamily="2" charset="-122"/>
            </a:endParaRPr>
          </a:p>
          <a:p>
            <a:r>
              <a:rPr lang="zh-CN" altLang="en-US" sz="1800" b="1" dirty="0">
                <a:latin typeface="华文楷体" panose="02010600040101010101" pitchFamily="2" charset="-122"/>
                <a:ea typeface="华文楷体" panose="02010600040101010101" pitchFamily="2" charset="-122"/>
              </a:rPr>
              <a:t>唯有理性才能确定道德</a:t>
            </a:r>
            <a:r>
              <a:rPr lang="zh-CN" altLang="en-US" sz="1800" dirty="0">
                <a:latin typeface="华文楷体" panose="02010600040101010101" pitchFamily="2" charset="-122"/>
                <a:ea typeface="华文楷体" panose="02010600040101010101" pitchFamily="2" charset="-122"/>
              </a:rPr>
              <a:t>康德认为，有可能单靠推理确立正确、绝对的道德规则，这些规则同数学真理一样具有无可辩驳的力量。</a:t>
            </a:r>
            <a:endParaRPr lang="en-US" altLang="zh-CN" sz="1800" dirty="0">
              <a:latin typeface="华文楷体" panose="02010600040101010101" pitchFamily="2" charset="-122"/>
              <a:ea typeface="华文楷体" panose="02010600040101010101" pitchFamily="2" charset="-122"/>
            </a:endParaRPr>
          </a:p>
          <a:p>
            <a:r>
              <a:rPr lang="zh-CN" altLang="en-US" sz="1800" b="1" dirty="0">
                <a:latin typeface="华文楷体" panose="02010600040101010101" pitchFamily="2" charset="-122"/>
                <a:ea typeface="华文楷体" panose="02010600040101010101" pitchFamily="2" charset="-122"/>
              </a:rPr>
              <a:t>绝对命令</a:t>
            </a:r>
            <a:r>
              <a:rPr lang="zh-CN" altLang="en-US" sz="1800" dirty="0">
                <a:latin typeface="华文楷体" panose="02010600040101010101" pitchFamily="2" charset="-122"/>
                <a:ea typeface="华文楷体" panose="02010600040101010101" pitchFamily="2" charset="-122"/>
              </a:rPr>
              <a:t>如果核准某一行为的规则不能成为一切人所遵行的规则，该行为就是不道德的。</a:t>
            </a:r>
            <a:endParaRPr lang="en-US" altLang="zh-CN" sz="1800" dirty="0">
              <a:latin typeface="华文楷体" panose="02010600040101010101" pitchFamily="2" charset="-122"/>
              <a:ea typeface="华文楷体" panose="02010600040101010101" pitchFamily="2" charset="-122"/>
            </a:endParaRPr>
          </a:p>
          <a:p>
            <a:r>
              <a:rPr lang="zh-CN" altLang="en-US" sz="1800" b="1" dirty="0">
                <a:latin typeface="华文楷体" panose="02010600040101010101" pitchFamily="2" charset="-122"/>
                <a:ea typeface="华文楷体" panose="02010600040101010101" pitchFamily="2" charset="-122"/>
              </a:rPr>
              <a:t>实践命令</a:t>
            </a:r>
            <a:r>
              <a:rPr lang="zh-CN" altLang="en-US" sz="1800" dirty="0">
                <a:latin typeface="华文楷体" panose="02010600040101010101" pitchFamily="2" charset="-122"/>
                <a:ea typeface="华文楷体" panose="02010600040101010101" pitchFamily="2" charset="-122"/>
              </a:rPr>
              <a:t>任何人都不应被仅仅是为或用作达到别人目的的手段，每一个人本身就是独特的目的。</a:t>
            </a:r>
            <a:endParaRPr lang="en-US" altLang="zh-CN" sz="1800" dirty="0">
              <a:latin typeface="华文楷体" panose="02010600040101010101" pitchFamily="2" charset="-122"/>
              <a:ea typeface="华文楷体" panose="02010600040101010101" pitchFamily="2" charset="-122"/>
            </a:endParaRPr>
          </a:p>
        </p:txBody>
      </p:sp>
      <p:sp>
        <p:nvSpPr>
          <p:cNvPr id="6" name="标题 1"/>
          <p:cNvSpPr txBox="1">
            <a:spLocks/>
          </p:cNvSpPr>
          <p:nvPr/>
        </p:nvSpPr>
        <p:spPr>
          <a:xfrm>
            <a:off x="146545" y="3429000"/>
            <a:ext cx="1288638" cy="447511"/>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功利主义</a:t>
            </a:r>
          </a:p>
        </p:txBody>
      </p:sp>
      <p:sp>
        <p:nvSpPr>
          <p:cNvPr id="7" name="内容占位符 2"/>
          <p:cNvSpPr txBox="1">
            <a:spLocks/>
          </p:cNvSpPr>
          <p:nvPr/>
        </p:nvSpPr>
        <p:spPr>
          <a:xfrm>
            <a:off x="108183" y="3876511"/>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rPr>
              <a:t>如果一个行为有助于“带来合乎需要的或有益的结果”，那它就是正义（道德）的行为。</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“每一个人所实施的行为或所遵循的道德规则应该为每一个相关者带来最大的</a:t>
            </a:r>
            <a:r>
              <a:rPr lang="zh-CN" altLang="en-US" sz="1800" dirty="0">
                <a:solidFill>
                  <a:srgbClr val="FF0000"/>
                </a:solidFill>
                <a:latin typeface="华文楷体" panose="02010600040101010101" pitchFamily="2" charset="-122"/>
                <a:ea typeface="华文楷体" panose="02010600040101010101" pitchFamily="2" charset="-122"/>
              </a:rPr>
              <a:t>好处</a:t>
            </a:r>
            <a:r>
              <a:rPr lang="zh-CN" altLang="en-US" sz="1800" dirty="0">
                <a:latin typeface="华文楷体" panose="02010600040101010101" pitchFamily="2" charset="-122"/>
                <a:ea typeface="华文楷体" panose="02010600040101010101" pitchFamily="2" charset="-122"/>
              </a:rPr>
              <a:t>（幸福）。</a:t>
            </a:r>
            <a:endParaRPr lang="en-US" altLang="zh-CN" sz="1800" dirty="0"/>
          </a:p>
          <a:p>
            <a:r>
              <a:rPr lang="zh-CN" altLang="en-US" sz="1800" b="1" dirty="0">
                <a:latin typeface="华文楷体" panose="02010600040101010101" pitchFamily="2" charset="-122"/>
                <a:ea typeface="华文楷体" panose="02010600040101010101" pitchFamily="2" charset="-122"/>
              </a:rPr>
              <a:t>行为功利主义</a:t>
            </a:r>
            <a:endParaRPr lang="en-US" altLang="zh-CN" sz="1800" b="1"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人人都应该使自己的行为为其影响所及的每一个人都带来最大量的大于坏处的</a:t>
            </a:r>
            <a:r>
              <a:rPr lang="zh-CN" altLang="en-US" sz="1800" dirty="0">
                <a:solidFill>
                  <a:srgbClr val="FF0000"/>
                </a:solidFill>
                <a:latin typeface="华文楷体" panose="02010600040101010101" pitchFamily="2" charset="-122"/>
                <a:ea typeface="华文楷体" panose="02010600040101010101" pitchFamily="2" charset="-122"/>
              </a:rPr>
              <a:t>好处</a:t>
            </a:r>
            <a:r>
              <a:rPr lang="zh-CN" altLang="en-US" sz="1800" dirty="0">
                <a:latin typeface="华文楷体" panose="02010600040101010101" pitchFamily="2" charset="-122"/>
                <a:ea typeface="华文楷体" panose="02010600040101010101" pitchFamily="2" charset="-122"/>
              </a:rPr>
              <a:t>。</a:t>
            </a:r>
            <a:endParaRPr lang="en-US" altLang="zh-CN" sz="1800" dirty="0"/>
          </a:p>
          <a:p>
            <a:r>
              <a:rPr lang="zh-CN" altLang="en-US" sz="1800" b="1" dirty="0">
                <a:latin typeface="华文楷体" panose="02010600040101010101" pitchFamily="2" charset="-122"/>
                <a:ea typeface="华文楷体" panose="02010600040101010101" pitchFamily="2" charset="-122"/>
              </a:rPr>
              <a:t>规则功利主义</a:t>
            </a:r>
            <a:endParaRPr lang="en-US" altLang="zh-CN" sz="1800" b="1"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每个人都始终应当确定和遵循会给一切相关者带来最大</a:t>
            </a:r>
            <a:r>
              <a:rPr lang="zh-CN" altLang="en-US" sz="1800" dirty="0">
                <a:solidFill>
                  <a:srgbClr val="FF0000"/>
                </a:solidFill>
                <a:latin typeface="华文楷体" panose="02010600040101010101" pitchFamily="2" charset="-122"/>
                <a:ea typeface="华文楷体" panose="02010600040101010101" pitchFamily="2" charset="-122"/>
              </a:rPr>
              <a:t>好处</a:t>
            </a:r>
            <a:r>
              <a:rPr lang="zh-CN" altLang="en-US" sz="1800" dirty="0">
                <a:latin typeface="华文楷体" panose="02010600040101010101" pitchFamily="2" charset="-122"/>
                <a:ea typeface="华文楷体" panose="02010600040101010101" pitchFamily="2" charset="-122"/>
              </a:rPr>
              <a:t>的规则。</a:t>
            </a:r>
            <a:endParaRPr lang="en-US" altLang="zh-CN" sz="1800" dirty="0">
              <a:latin typeface="华文楷体" panose="02010600040101010101" pitchFamily="2" charset="-122"/>
              <a:ea typeface="华文楷体" panose="02010600040101010101" pitchFamily="2" charset="-122"/>
            </a:endParaRPr>
          </a:p>
          <a:p>
            <a:endParaRPr lang="en-US" altLang="zh-CN" sz="1800" dirty="0"/>
          </a:p>
          <a:p>
            <a:endParaRPr lang="en-US" altLang="zh-CN" sz="18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50158"/>
            <a:ext cx="12117315" cy="6707842"/>
          </a:xfrm>
        </p:spPr>
        <p:txBody>
          <a:bodyPr>
            <a:normAutofit fontScale="92500" lnSpcReduction="20000"/>
          </a:bodyPr>
          <a:lstStyle/>
          <a:p>
            <a:r>
              <a:rPr lang="en-US" altLang="zh-CN" sz="1800" dirty="0">
                <a:latin typeface="华文楷体" panose="02010600040101010101" pitchFamily="2" charset="-122"/>
                <a:ea typeface="华文楷体" panose="02010600040101010101" pitchFamily="2" charset="-122"/>
              </a:rPr>
              <a:t>1.</a:t>
            </a:r>
            <a:r>
              <a:rPr lang="zh-CN" altLang="zh-CN" sz="1800" dirty="0">
                <a:latin typeface="华文楷体" panose="02010600040101010101" pitchFamily="2" charset="-122"/>
                <a:ea typeface="华文楷体" panose="02010600040101010101" pitchFamily="2" charset="-122"/>
              </a:rPr>
              <a:t>秘书以为自己正往老板的咖啡里加糖，但其实加的是药剂师不小心留下的毒药。老板喝了咖啡，死了。请问，秘书的行为可以接受吗？（结果）</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秘书的行为在法律和道德上均不可接受，尽管其主观上并无杀人故意。</a:t>
            </a:r>
          </a:p>
          <a:p>
            <a:r>
              <a:rPr lang="zh-CN" altLang="en-US" sz="1800" dirty="0">
                <a:latin typeface="华文楷体" panose="02010600040101010101" pitchFamily="2" charset="-122"/>
                <a:ea typeface="华文楷体" panose="02010600040101010101" pitchFamily="2" charset="-122"/>
              </a:rPr>
              <a:t>从道德哲学看，这一行为涉及“双重效应”与“道德运气”问题。秘书意图是加糖（无害行为），但客观上实施了投毒（致命行为）。道德评价通常既看意图，也看谨慎义务的履行程度。秘书在加糖前，未能合理辨识容器中的物质</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尤其是药剂师留下毒药这一场景，暗示了环境存在异常风险，作为常人应具备基本的注意义务（如观察粉末颜色、气味，或确认标识）。疏忽导致他人死亡，即便无恶意，也构成过失。</a:t>
            </a:r>
          </a:p>
          <a:p>
            <a:r>
              <a:rPr lang="zh-CN" altLang="en-US" sz="1800" dirty="0">
                <a:latin typeface="华文楷体" panose="02010600040101010101" pitchFamily="2" charset="-122"/>
                <a:ea typeface="华文楷体" panose="02010600040101010101" pitchFamily="2" charset="-122"/>
              </a:rPr>
              <a:t>从法律角度看，这属于“过失致人死亡”而非故意杀人。但“不可接受”意味着：即便无主观恶意，因未尽到合理注意义务而造成他人死亡，社会和法律仍会追究责任。伦理学中，康德式义务论强调“你的行动准则应能成为普遍法则”</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若允许不加辨识地往他人食物中添加任何物质，将导致人人自危，因此必须禁止。后果论也指出，这类疏忽会降低社会信任与安全。</a:t>
            </a:r>
          </a:p>
          <a:p>
            <a:r>
              <a:rPr lang="zh-CN" altLang="en-US" sz="1800" dirty="0">
                <a:latin typeface="华文楷体" panose="02010600040101010101" pitchFamily="2" charset="-122"/>
                <a:ea typeface="华文楷体" panose="02010600040101010101" pitchFamily="2" charset="-122"/>
              </a:rPr>
              <a:t>综上，秘书行为不可接受，核心在于：任何对他人生命负有直接责任的行为（如准备饮食），都要求行为人履行基本的谨慎核查义务。无知不等于无辜，疏忽即有过失。</a:t>
            </a:r>
            <a:endParaRPr lang="zh-CN"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秘书打算送自己的老板上西天，意图往他的咖啡里下毒，但那毒药其实是糖，老板喝了，安然无恙。请问，秘书的行为可以接受吗？（</a:t>
            </a:r>
            <a:r>
              <a:rPr lang="zh-CN" altLang="en-US" sz="1800" dirty="0">
                <a:latin typeface="华文楷体" panose="02010600040101010101" pitchFamily="2" charset="-122"/>
                <a:ea typeface="华文楷体" panose="02010600040101010101" pitchFamily="2" charset="-122"/>
              </a:rPr>
              <a:t>意图</a:t>
            </a:r>
            <a:r>
              <a:rPr lang="zh-CN" altLang="zh-CN" sz="1800" dirty="0">
                <a:latin typeface="华文楷体" panose="02010600040101010101" pitchFamily="2" charset="-122"/>
                <a:ea typeface="华文楷体" panose="02010600040101010101" pitchFamily="2" charset="-122"/>
              </a:rPr>
              <a:t>）</a:t>
            </a:r>
          </a:p>
          <a:p>
            <a:r>
              <a:rPr lang="zh-CN" altLang="en-US" sz="1800" dirty="0">
                <a:latin typeface="华文楷体" panose="02010600040101010101" pitchFamily="2" charset="-122"/>
                <a:ea typeface="华文楷体" panose="02010600040101010101" pitchFamily="2" charset="-122"/>
              </a:rPr>
              <a:t>秘书的行为在道德和法律上均不可接受，尽管实际未造成伤害。</a:t>
            </a:r>
          </a:p>
          <a:p>
            <a:r>
              <a:rPr lang="zh-CN" altLang="en-US" sz="1800" dirty="0">
                <a:latin typeface="华文楷体" panose="02010600040101010101" pitchFamily="2" charset="-122"/>
                <a:ea typeface="华文楷体" panose="02010600040101010101" pitchFamily="2" charset="-122"/>
              </a:rPr>
              <a:t>从主观意图看，秘书具有明确的杀人故意。伦理学中，康德义务论强调“善良意志”的价值</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行为的道德性质取决于动机而非后果。秘书企图以投毒方式结束他人生命，其行动准则若普遍化（“出于私怨可任意杀害他人”），将摧毁社会共存的基础。因此，仅凭其恶意，行为即已丧失道德正当性。</a:t>
            </a:r>
          </a:p>
          <a:p>
            <a:r>
              <a:rPr lang="zh-CN" altLang="en-US" sz="1800" dirty="0">
                <a:latin typeface="华文楷体" panose="02010600040101010101" pitchFamily="2" charset="-122"/>
                <a:ea typeface="华文楷体" panose="02010600040101010101" pitchFamily="2" charset="-122"/>
              </a:rPr>
              <a:t>从法律角度看，这构成“故意杀人罪（未遂）”。刑法惩罚的是行为人主观恶性与法益侵害的危险性</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秘书已着手实施下毒（虽误用糖），完整表达了剥夺他人生命的意志。若此类行为可因“偶然无害结果”而被接受，则将鼓励极端危险行为，也违背“行为无价值”的基本法理。</a:t>
            </a:r>
          </a:p>
          <a:p>
            <a:r>
              <a:rPr lang="zh-CN" altLang="en-US" sz="1800" dirty="0">
                <a:latin typeface="华文楷体" panose="02010600040101010101" pitchFamily="2" charset="-122"/>
                <a:ea typeface="华文楷体" panose="02010600040101010101" pitchFamily="2" charset="-122"/>
              </a:rPr>
              <a:t>有人可能从后果论主张“无伤害即无罪”，但这一推理忽视了：①行为风险完全超出秘书控制（其相信是毒药）；②若社会接受此类未遂的恶意行为，信任和安全将崩塌。事实上，法律与道德均要求我们评价行为本身及其意图，而非仅看运气结果。</a:t>
            </a:r>
          </a:p>
          <a:p>
            <a:r>
              <a:rPr lang="zh-CN" altLang="en-US" sz="1800" dirty="0">
                <a:latin typeface="华文楷体" panose="02010600040101010101" pitchFamily="2" charset="-122"/>
                <a:ea typeface="华文楷体" panose="02010600040101010101" pitchFamily="2" charset="-122"/>
              </a:rPr>
              <a:t>结论：秘书的行为不可接受。妄图杀人而未遂，不等于无罪；恶意的行动本身，已逾越道德底线。</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990" y="181669"/>
            <a:ext cx="1700421" cy="356677"/>
          </a:xfrm>
        </p:spPr>
        <p:txBody>
          <a:bodyPr>
            <a:normAutofit/>
          </a:bodyPr>
          <a:lstStyle/>
          <a:p>
            <a:r>
              <a:rPr lang="zh-CN" altLang="zh-CN" sz="2000" dirty="0">
                <a:latin typeface="华文楷体" panose="02010600040101010101" pitchFamily="2" charset="-122"/>
                <a:ea typeface="华文楷体" panose="02010600040101010101" pitchFamily="2" charset="-122"/>
              </a:rPr>
              <a:t>道德共性模块</a:t>
            </a:r>
            <a:endParaRPr lang="zh-CN" altLang="en-US" sz="2000" dirty="0"/>
          </a:p>
        </p:txBody>
      </p:sp>
      <p:sp>
        <p:nvSpPr>
          <p:cNvPr id="3" name="内容占位符 2"/>
          <p:cNvSpPr>
            <a:spLocks noGrp="1"/>
          </p:cNvSpPr>
          <p:nvPr>
            <p:ph idx="1"/>
          </p:nvPr>
        </p:nvSpPr>
        <p:spPr>
          <a:xfrm>
            <a:off x="0" y="489273"/>
            <a:ext cx="4770625" cy="2132814"/>
          </a:xfrm>
        </p:spPr>
        <p:txBody>
          <a:bodyPr>
            <a:normAutofit/>
          </a:bodyPr>
          <a:lstStyle/>
          <a:p>
            <a:r>
              <a:rPr lang="en-US" altLang="zh-CN" sz="1800" dirty="0">
                <a:latin typeface="华文楷体" panose="02010600040101010101" pitchFamily="2" charset="-122"/>
                <a:ea typeface="华文楷体" panose="02010600040101010101" pitchFamily="2" charset="-122"/>
              </a:rPr>
              <a:t>1.</a:t>
            </a:r>
            <a:r>
              <a:rPr lang="zh-CN" altLang="zh-CN" sz="1800" dirty="0">
                <a:latin typeface="华文楷体" panose="02010600040101010101" pitchFamily="2" charset="-122"/>
                <a:ea typeface="华文楷体" panose="02010600040101010101" pitchFamily="2" charset="-122"/>
              </a:rPr>
              <a:t>受苦（帮助别人是好事，不能害人）</a:t>
            </a:r>
          </a:p>
          <a:p>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互惠（由此产生公平感）</a:t>
            </a:r>
          </a:p>
          <a:p>
            <a:r>
              <a:rPr lang="en-US" altLang="zh-CN" sz="1800" dirty="0">
                <a:latin typeface="华文楷体" panose="02010600040101010101" pitchFamily="2" charset="-122"/>
                <a:ea typeface="华文楷体" panose="02010600040101010101" pitchFamily="2" charset="-122"/>
              </a:rPr>
              <a:t>3.</a:t>
            </a:r>
            <a:r>
              <a:rPr lang="zh-CN" altLang="zh-CN" sz="1800" dirty="0">
                <a:latin typeface="华文楷体" panose="02010600040101010101" pitchFamily="2" charset="-122"/>
                <a:ea typeface="华文楷体" panose="02010600040101010101" pitchFamily="2" charset="-122"/>
              </a:rPr>
              <a:t>层级（尊重长者和合法权威人物）</a:t>
            </a:r>
          </a:p>
          <a:p>
            <a:r>
              <a:rPr lang="en-US" altLang="zh-CN" sz="1800" dirty="0">
                <a:latin typeface="华文楷体" panose="02010600040101010101" pitchFamily="2" charset="-122"/>
                <a:ea typeface="华文楷体" panose="02010600040101010101" pitchFamily="2" charset="-122"/>
              </a:rPr>
              <a:t>4.</a:t>
            </a:r>
            <a:r>
              <a:rPr lang="zh-CN" altLang="zh-CN" sz="1800" dirty="0">
                <a:latin typeface="华文楷体" panose="02010600040101010101" pitchFamily="2" charset="-122"/>
                <a:ea typeface="华文楷体" panose="02010600040101010101" pitchFamily="2" charset="-122"/>
              </a:rPr>
              <a:t>结盟纽带（忠于自己所属的群体）</a:t>
            </a:r>
          </a:p>
          <a:p>
            <a:r>
              <a:rPr lang="en-US" altLang="zh-CN" sz="1800" dirty="0">
                <a:latin typeface="华文楷体" panose="02010600040101010101" pitchFamily="2" charset="-122"/>
                <a:ea typeface="华文楷体" panose="02010600040101010101" pitchFamily="2" charset="-122"/>
              </a:rPr>
              <a:t>5.</a:t>
            </a:r>
            <a:r>
              <a:rPr lang="zh-CN" altLang="zh-CN" sz="1800" dirty="0">
                <a:latin typeface="华文楷体" panose="02010600040101010101" pitchFamily="2" charset="-122"/>
                <a:ea typeface="华文楷体" panose="02010600040101010101" pitchFamily="2" charset="-122"/>
              </a:rPr>
              <a:t>纯洁性（赞美清白，回避污秽和不洁行为）</a:t>
            </a:r>
            <a:endParaRPr lang="en-US" altLang="zh-CN" sz="1800" dirty="0">
              <a:latin typeface="华文楷体" panose="02010600040101010101" pitchFamily="2" charset="-122"/>
              <a:ea typeface="华文楷体" panose="02010600040101010101" pitchFamily="2" charset="-122"/>
            </a:endParaRPr>
          </a:p>
        </p:txBody>
      </p:sp>
      <p:sp>
        <p:nvSpPr>
          <p:cNvPr id="4" name="标题 1"/>
          <p:cNvSpPr txBox="1">
            <a:spLocks/>
          </p:cNvSpPr>
          <p:nvPr/>
        </p:nvSpPr>
        <p:spPr>
          <a:xfrm>
            <a:off x="125957" y="2416498"/>
            <a:ext cx="810243" cy="41117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好处</a:t>
            </a:r>
            <a:endParaRPr lang="zh-CN" altLang="en-US" sz="2000" dirty="0">
              <a:latin typeface="华文楷体" panose="02010600040101010101" pitchFamily="2" charset="-122"/>
              <a:ea typeface="华文楷体" panose="02010600040101010101" pitchFamily="2" charset="-122"/>
            </a:endParaRPr>
          </a:p>
        </p:txBody>
      </p:sp>
      <p:sp>
        <p:nvSpPr>
          <p:cNvPr id="5" name="内容占位符 2"/>
          <p:cNvSpPr txBox="1">
            <a:spLocks/>
          </p:cNvSpPr>
          <p:nvPr/>
        </p:nvSpPr>
        <p:spPr>
          <a:xfrm>
            <a:off x="0" y="2766190"/>
            <a:ext cx="3548599" cy="334999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利益，单纯的经济利益或物质利益</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利益和欲望</a:t>
            </a:r>
            <a:endParaRPr lang="en-US" altLang="zh-CN" sz="1800">
              <a:latin typeface="华文楷体" panose="02010600040101010101" pitchFamily="2" charset="-122"/>
              <a:ea typeface="华文楷体" panose="02010600040101010101" pitchFamily="2" charset="-122"/>
            </a:endParaRPr>
          </a:p>
          <a:p>
            <a:r>
              <a:rPr lang="zh-CN" altLang="zh-CN" sz="1800">
                <a:latin typeface="华文楷体" panose="02010600040101010101" pitchFamily="2" charset="-122"/>
                <a:ea typeface="华文楷体" panose="02010600040101010101" pitchFamily="2" charset="-122"/>
              </a:rPr>
              <a:t>在</a:t>
            </a:r>
            <a:r>
              <a:rPr lang="en-US" altLang="zh-CN" sz="1800">
                <a:latin typeface="华文楷体" panose="02010600040101010101" pitchFamily="2" charset="-122"/>
                <a:ea typeface="华文楷体" panose="02010600040101010101" pitchFamily="2" charset="-122"/>
              </a:rPr>
              <a:t>16</a:t>
            </a:r>
            <a:r>
              <a:rPr lang="zh-CN" altLang="zh-CN" sz="1800">
                <a:latin typeface="华文楷体" panose="02010600040101010101" pitchFamily="2" charset="-122"/>
                <a:ea typeface="华文楷体" panose="02010600040101010101" pitchFamily="2" charset="-122"/>
              </a:rPr>
              <a:t>世纪的西欧，“</a:t>
            </a:r>
            <a:r>
              <a:rPr lang="en-US" altLang="zh-CN" sz="1800">
                <a:latin typeface="华文楷体" panose="02010600040101010101" pitchFamily="2" charset="-122"/>
                <a:ea typeface="华文楷体" panose="02010600040101010101" pitchFamily="2" charset="-122"/>
              </a:rPr>
              <a:t>interest</a:t>
            </a:r>
            <a:r>
              <a:rPr lang="zh-CN" altLang="zh-CN" sz="1800">
                <a:latin typeface="华文楷体" panose="02010600040101010101" pitchFamily="2" charset="-122"/>
                <a:ea typeface="华文楷体" panose="02010600040101010101" pitchFamily="2" charset="-122"/>
              </a:rPr>
              <a:t>”一词指的是关心、渴望和好处之类的含义，但这一含义并不仅仅限于物质方面的利益，而是涵括了人类的全部欲求</a:t>
            </a:r>
            <a:r>
              <a:rPr lang="zh-CN" altLang="en-US"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a:t>
            </a:r>
            <a:r>
              <a:rPr lang="en-US" altLang="zh-CN" sz="1800">
                <a:latin typeface="华文楷体" panose="02010600040101010101" pitchFamily="2" charset="-122"/>
                <a:ea typeface="华文楷体" panose="02010600040101010101" pitchFamily="2" charset="-122"/>
              </a:rPr>
              <a:t>interest</a:t>
            </a:r>
            <a:r>
              <a:rPr lang="zh-CN" altLang="zh-CN" sz="1800">
                <a:latin typeface="华文楷体" panose="02010600040101010101" pitchFamily="2" charset="-122"/>
                <a:ea typeface="华文楷体" panose="02010600040101010101" pitchFamily="2" charset="-122"/>
              </a:rPr>
              <a:t>”最早指“对政府管理质量的关注如何引发了在人类行为的分析方面更为现实主义的需求。”</a:t>
            </a:r>
            <a:endParaRPr lang="en-US" altLang="zh-CN" sz="1800">
              <a:latin typeface="华文楷体" panose="02010600040101010101" pitchFamily="2" charset="-122"/>
              <a:ea typeface="华文楷体" panose="02010600040101010101" pitchFamily="2" charset="-122"/>
            </a:endParaRPr>
          </a:p>
          <a:p>
            <a:endParaRPr lang="zh-CN" altLang="en-US" sz="1800" dirty="0"/>
          </a:p>
        </p:txBody>
      </p:sp>
      <p:sp>
        <p:nvSpPr>
          <p:cNvPr id="6" name="内容占位符 2"/>
          <p:cNvSpPr txBox="1">
            <a:spLocks/>
          </p:cNvSpPr>
          <p:nvPr/>
        </p:nvSpPr>
        <p:spPr>
          <a:xfrm>
            <a:off x="4770624" y="1"/>
            <a:ext cx="7335385" cy="17197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zh-CN" altLang="zh-CN" sz="1800">
                <a:latin typeface="华文楷体" panose="02010600040101010101" pitchFamily="2" charset="-122"/>
                <a:ea typeface="华文楷体" panose="02010600040101010101" pitchFamily="2" charset="-122"/>
              </a:rPr>
              <a:t>“利益”与国家治理密切相关。</a:t>
            </a:r>
            <a:r>
              <a:rPr lang="zh-CN" altLang="en-US"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马基雅维利</a:t>
            </a:r>
            <a:r>
              <a:rPr lang="zh-CN" altLang="en-US" sz="1800">
                <a:latin typeface="华文楷体" panose="02010600040101010101" pitchFamily="2" charset="-122"/>
                <a:ea typeface="华文楷体" panose="02010600040101010101" pitchFamily="2" charset="-122"/>
              </a:rPr>
              <a:t>）</a:t>
            </a:r>
            <a:endParaRPr lang="en-US" altLang="zh-CN" sz="1800">
              <a:latin typeface="华文楷体" panose="02010600040101010101" pitchFamily="2" charset="-122"/>
              <a:ea typeface="华文楷体" panose="02010600040101010101" pitchFamily="2" charset="-122"/>
            </a:endParaRPr>
          </a:p>
          <a:p>
            <a:r>
              <a:rPr lang="zh-CN" altLang="zh-CN" sz="1800">
                <a:latin typeface="华文楷体" panose="02010600040101010101" pitchFamily="2" charset="-122"/>
                <a:ea typeface="华文楷体" panose="02010600040101010101" pitchFamily="2" charset="-122"/>
              </a:rPr>
              <a:t>一是试图反对道德化的规则和惯例，而独立于前两者</a:t>
            </a:r>
            <a:r>
              <a:rPr lang="zh-CN" altLang="en-US" sz="1800">
                <a:latin typeface="华文楷体" panose="02010600040101010101" pitchFamily="2" charset="-122"/>
                <a:ea typeface="华文楷体" panose="02010600040101010101" pitchFamily="2" charset="-122"/>
              </a:rPr>
              <a:t>（欲望和理性）</a:t>
            </a:r>
            <a:r>
              <a:rPr lang="zh-CN" altLang="zh-CN" sz="1800">
                <a:latin typeface="华文楷体" panose="02010600040101010101" pitchFamily="2" charset="-122"/>
                <a:ea typeface="华文楷体" panose="02010600040101010101" pitchFamily="2" charset="-122"/>
              </a:rPr>
              <a:t>为行为寻求根据，二是旨在界定一种“老练的理性意志，即未受欲望和一时冲动之烦的意志</a:t>
            </a:r>
            <a:r>
              <a:rPr lang="zh-CN" altLang="en-US" sz="1800">
                <a:latin typeface="华文楷体" panose="02010600040101010101" pitchFamily="2" charset="-122"/>
                <a:ea typeface="华文楷体" panose="02010600040101010101" pitchFamily="2" charset="-122"/>
              </a:rPr>
              <a:t>”。</a:t>
            </a:r>
            <a:endParaRPr lang="en-US" altLang="zh-CN" sz="1800">
              <a:latin typeface="华文楷体" panose="02010600040101010101" pitchFamily="2" charset="-122"/>
              <a:ea typeface="华文楷体" panose="02010600040101010101" pitchFamily="2" charset="-122"/>
            </a:endParaRPr>
          </a:p>
          <a:p>
            <a:r>
              <a:rPr lang="en-US" altLang="zh-CN" sz="1800">
                <a:latin typeface="华文楷体" panose="02010600040101010101" pitchFamily="2" charset="-122"/>
                <a:ea typeface="华文楷体" panose="02010600040101010101" pitchFamily="2" charset="-122"/>
              </a:rPr>
              <a:t>18</a:t>
            </a:r>
            <a:r>
              <a:rPr lang="zh-CN" altLang="en-US" sz="1800">
                <a:latin typeface="华文楷体" panose="02010600040101010101" pitchFamily="2" charset="-122"/>
                <a:ea typeface="华文楷体" panose="02010600040101010101" pitchFamily="2" charset="-122"/>
              </a:rPr>
              <a:t>世纪：</a:t>
            </a:r>
            <a:r>
              <a:rPr lang="zh-CN" altLang="zh-CN" sz="1800">
                <a:latin typeface="华文楷体" panose="02010600040101010101" pitchFamily="2" charset="-122"/>
                <a:ea typeface="华文楷体" panose="02010600040101010101" pitchFamily="2" charset="-122"/>
              </a:rPr>
              <a:t>利益，明显指特定的欲望，</a:t>
            </a:r>
            <a:r>
              <a:rPr lang="zh-CN" altLang="en-US" sz="1800">
                <a:latin typeface="华文楷体" panose="02010600040101010101" pitchFamily="2" charset="-122"/>
                <a:ea typeface="华文楷体" panose="02010600040101010101" pitchFamily="2" charset="-122"/>
              </a:rPr>
              <a:t>能</a:t>
            </a:r>
            <a:r>
              <a:rPr lang="zh-CN" altLang="zh-CN" sz="1800">
                <a:latin typeface="华文楷体" panose="02010600040101010101" pitchFamily="2" charset="-122"/>
                <a:ea typeface="华文楷体" panose="02010600040101010101" pitchFamily="2" charset="-122"/>
              </a:rPr>
              <a:t>抑制人类其它破坏性欲望</a:t>
            </a:r>
            <a:r>
              <a:rPr lang="zh-CN" altLang="en-US" sz="180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
        <p:nvSpPr>
          <p:cNvPr id="7" name="标题 1"/>
          <p:cNvSpPr txBox="1">
            <a:spLocks/>
          </p:cNvSpPr>
          <p:nvPr/>
        </p:nvSpPr>
        <p:spPr>
          <a:xfrm>
            <a:off x="4770623" y="1719799"/>
            <a:ext cx="1527732" cy="418633"/>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德性伦理学</a:t>
            </a:r>
          </a:p>
        </p:txBody>
      </p:sp>
      <p:sp>
        <p:nvSpPr>
          <p:cNvPr id="8" name="内容占位符 2"/>
          <p:cNvSpPr txBox="1">
            <a:spLocks/>
          </p:cNvSpPr>
          <p:nvPr/>
        </p:nvSpPr>
        <p:spPr>
          <a:xfrm>
            <a:off x="4770622" y="2061326"/>
            <a:ext cx="2218198" cy="12656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sz="1800" dirty="0">
                <a:latin typeface="华文楷体" panose="02010600040101010101" pitchFamily="2" charset="-122"/>
                <a:ea typeface="华文楷体" panose="02010600040101010101" pitchFamily="2" charset="-122"/>
              </a:rPr>
              <a:t>亚里士多德的伦理学</a:t>
            </a:r>
            <a:endParaRPr lang="en-US" altLang="zh-CN" sz="1800" dirty="0">
              <a:latin typeface="华文楷体" panose="02010600040101010101" pitchFamily="2" charset="-122"/>
              <a:ea typeface="华文楷体" panose="02010600040101010101" pitchFamily="2" charset="-122"/>
            </a:endParaRPr>
          </a:p>
          <a:p>
            <a:pPr marL="0" indent="0">
              <a:buNone/>
            </a:pPr>
            <a:r>
              <a:rPr lang="zh-CN" altLang="en-US" sz="1800" dirty="0">
                <a:latin typeface="华文楷体" panose="02010600040101010101" pitchFamily="2" charset="-122"/>
                <a:ea typeface="华文楷体" panose="02010600040101010101" pitchFamily="2" charset="-122"/>
              </a:rPr>
              <a:t>“德性是一种品质。”</a:t>
            </a:r>
            <a:endParaRPr lang="en-US" altLang="zh-CN" sz="1800" dirty="0">
              <a:latin typeface="华文楷体" panose="02010600040101010101" pitchFamily="2" charset="-122"/>
              <a:ea typeface="华文楷体" panose="02010600040101010101" pitchFamily="2" charset="-122"/>
            </a:endParaRPr>
          </a:p>
          <a:p>
            <a:pPr marL="0" indent="0">
              <a:buFont typeface="Calibri" panose="020F0502020204030204" pitchFamily="34" charset="0"/>
              <a:buNone/>
            </a:pPr>
            <a:r>
              <a:rPr lang="zh-CN" altLang="en-US" sz="1800" dirty="0">
                <a:latin typeface="华文楷体" panose="02010600040101010101" pitchFamily="2" charset="-122"/>
                <a:ea typeface="华文楷体" panose="02010600040101010101" pitchFamily="2" charset="-122"/>
              </a:rPr>
              <a:t>儒家德性伦理学</a:t>
            </a:r>
          </a:p>
        </p:txBody>
      </p:sp>
      <p:sp>
        <p:nvSpPr>
          <p:cNvPr id="10" name="内容占位符 2">
            <a:extLst>
              <a:ext uri="{FF2B5EF4-FFF2-40B4-BE49-F238E27FC236}">
                <a16:creationId xmlns:a16="http://schemas.microsoft.com/office/drawing/2014/main" id="{D8AD5E02-EFA5-5E7B-1287-016C7C63E081}"/>
              </a:ext>
            </a:extLst>
          </p:cNvPr>
          <p:cNvSpPr>
            <a:spLocks noGrp="1"/>
          </p:cNvSpPr>
          <p:nvPr/>
        </p:nvSpPr>
        <p:spPr>
          <a:xfrm>
            <a:off x="4634259" y="3650045"/>
            <a:ext cx="2923482" cy="1582284"/>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anose="020B0604020202020204" pitchFamily="34" charset="0"/>
              <a:buChar char=" "/>
              <a:defRPr sz="2400" kern="1200">
                <a:solidFill>
                  <a:schemeClr val="tx1">
                    <a:lumMod val="85000"/>
                    <a:lumOff val="15000"/>
                  </a:schemeClr>
                </a:solidFill>
                <a:latin typeface="+mn-lt"/>
                <a:ea typeface="+mn-ea"/>
                <a:cs typeface="+mn-cs"/>
              </a:defRPr>
            </a:lvl1pPr>
            <a:lvl2pPr marL="347345" indent="-342900" algn="l" defTabSz="914400" rtl="0" eaLnBrk="1" latinLnBrk="0" hangingPunct="1">
              <a:lnSpc>
                <a:spcPct val="85000"/>
              </a:lnSpc>
              <a:spcBef>
                <a:spcPts val="600"/>
              </a:spcBef>
              <a:buFont typeface="Arial" panose="020B0604020202020204"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anose="020B0604020202020204"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5pPr>
            <a:lvl6pPr marL="1200150"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6pPr>
            <a:lvl7pPr marL="1400175"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7pPr>
            <a:lvl8pPr marL="1600200"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8pPr>
            <a:lvl9pPr marL="1800225"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9pPr>
          </a:lstStyle>
          <a:p>
            <a:pPr marL="0" indent="0">
              <a:buNone/>
            </a:pPr>
            <a:r>
              <a:rPr lang="en-US" sz="1800" dirty="0">
                <a:solidFill>
                  <a:schemeClr val="tx1"/>
                </a:solidFill>
                <a:latin typeface="华文楷体" panose="02010600040101010101" pitchFamily="2" charset="-122"/>
                <a:ea typeface="华文楷体" panose="02010600040101010101" pitchFamily="2" charset="-122"/>
              </a:rPr>
              <a:t>1.</a:t>
            </a:r>
            <a:r>
              <a:rPr lang="zh-CN" altLang="en-US" sz="1800" dirty="0">
                <a:solidFill>
                  <a:schemeClr val="tx1"/>
                </a:solidFill>
                <a:latin typeface="华文楷体" panose="02010600040101010101" pitchFamily="2" charset="-122"/>
                <a:ea typeface="华文楷体" panose="02010600040101010101" pitchFamily="2" charset="-122"/>
              </a:rPr>
              <a:t>契约主义（理性行为者）</a:t>
            </a:r>
          </a:p>
          <a:p>
            <a:pPr marL="0" indent="0">
              <a:buNone/>
            </a:pPr>
            <a:endParaRPr lang="zh-CN" altLang="en-US" sz="1800" dirty="0">
              <a:solidFill>
                <a:schemeClr val="tx1"/>
              </a:solidFill>
              <a:latin typeface="华文楷体" panose="02010600040101010101" pitchFamily="2" charset="-122"/>
              <a:ea typeface="华文楷体" panose="02010600040101010101" pitchFamily="2" charset="-122"/>
            </a:endParaRPr>
          </a:p>
          <a:p>
            <a:pPr marL="0" indent="0">
              <a:buNone/>
            </a:pP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r>
              <a:rPr lang="en-US" altLang="zh-CN" sz="1800" dirty="0">
                <a:solidFill>
                  <a:schemeClr val="tx1"/>
                </a:solidFill>
                <a:latin typeface="华文楷体" panose="02010600040101010101" pitchFamily="2" charset="-122"/>
                <a:ea typeface="华文楷体" panose="02010600040101010101" pitchFamily="2" charset="-122"/>
              </a:rPr>
              <a:t>2.</a:t>
            </a:r>
            <a:r>
              <a:rPr lang="zh-CN" altLang="en-US" sz="1800" dirty="0">
                <a:solidFill>
                  <a:schemeClr val="tx1"/>
                </a:solidFill>
                <a:latin typeface="华文楷体" panose="02010600040101010101" pitchFamily="2" charset="-122"/>
                <a:ea typeface="华文楷体" panose="02010600040101010101" pitchFamily="2" charset="-122"/>
              </a:rPr>
              <a:t>后果主义</a:t>
            </a:r>
            <a:r>
              <a:rPr lang="en-US" altLang="zh-CN" sz="1800" dirty="0">
                <a:solidFill>
                  <a:schemeClr val="tx1"/>
                </a:solidFill>
                <a:latin typeface="华文楷体" panose="02010600040101010101" pitchFamily="2" charset="-122"/>
                <a:ea typeface="华文楷体" panose="02010600040101010101" pitchFamily="2" charset="-122"/>
              </a:rPr>
              <a:t>  </a:t>
            </a:r>
            <a:r>
              <a:rPr lang="zh-CN" altLang="en-US" sz="1800" dirty="0">
                <a:solidFill>
                  <a:schemeClr val="tx1"/>
                </a:solidFill>
                <a:latin typeface="华文楷体" panose="02010600040101010101" pitchFamily="2" charset="-122"/>
                <a:ea typeface="华文楷体" panose="02010600040101010101" pitchFamily="2" charset="-122"/>
              </a:rPr>
              <a:t>（功利主义）</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5557" y="186612"/>
            <a:ext cx="3306769" cy="449736"/>
          </a:xfrm>
        </p:spPr>
        <p:txBody>
          <a:bodyPr>
            <a:normAutofit/>
          </a:bodyPr>
          <a:lstStyle/>
          <a:p>
            <a:r>
              <a:rPr lang="zh-CN" altLang="en-US" sz="2000" dirty="0">
                <a:latin typeface="华文楷体" panose="02010600040101010101" pitchFamily="2" charset="-122"/>
                <a:ea typeface="华文楷体" panose="02010600040101010101" pitchFamily="2" charset="-122"/>
              </a:rPr>
              <a:t>理性行动者行动的三种动力</a:t>
            </a:r>
          </a:p>
        </p:txBody>
      </p:sp>
      <p:sp>
        <p:nvSpPr>
          <p:cNvPr id="3" name="内容占位符 2"/>
          <p:cNvSpPr>
            <a:spLocks noGrp="1"/>
          </p:cNvSpPr>
          <p:nvPr>
            <p:ph idx="1"/>
          </p:nvPr>
        </p:nvSpPr>
        <p:spPr>
          <a:xfrm>
            <a:off x="232643" y="636348"/>
            <a:ext cx="2603863" cy="1208486"/>
          </a:xfrm>
        </p:spPr>
        <p:txBody>
          <a:bodyPr>
            <a:normAutofit/>
          </a:bodyPr>
          <a:lstStyle/>
          <a:p>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生存必需</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他者</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类的要求</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3.</a:t>
            </a:r>
            <a:r>
              <a:rPr lang="zh-CN" altLang="en-US" sz="1800" dirty="0">
                <a:latin typeface="华文楷体" panose="02010600040101010101" pitchFamily="2" charset="-122"/>
                <a:ea typeface="华文楷体" panose="02010600040101010101" pitchFamily="2" charset="-122"/>
              </a:rPr>
              <a:t>行动者的自我实现</a:t>
            </a:r>
          </a:p>
        </p:txBody>
      </p:sp>
      <p:sp>
        <p:nvSpPr>
          <p:cNvPr id="4" name="内容占位符 2"/>
          <p:cNvSpPr txBox="1">
            <a:spLocks/>
          </p:cNvSpPr>
          <p:nvPr/>
        </p:nvSpPr>
        <p:spPr>
          <a:xfrm>
            <a:off x="145557" y="2013685"/>
            <a:ext cx="3530704" cy="39361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dirty="0">
                <a:latin typeface="华文楷体" panose="02010600040101010101" pitchFamily="2" charset="-122"/>
                <a:ea typeface="华文楷体" panose="02010600040101010101" pitchFamily="2" charset="-122"/>
              </a:rPr>
              <a:t>功利主义最大的问题何在？</a:t>
            </a:r>
          </a:p>
        </p:txBody>
      </p:sp>
      <p:sp>
        <p:nvSpPr>
          <p:cNvPr id="6" name="文本框 5">
            <a:extLst>
              <a:ext uri="{FF2B5EF4-FFF2-40B4-BE49-F238E27FC236}">
                <a16:creationId xmlns:a16="http://schemas.microsoft.com/office/drawing/2014/main" id="{A4DCCB2A-3B0F-EDBB-B7AA-0A335307B688}"/>
              </a:ext>
            </a:extLst>
          </p:cNvPr>
          <p:cNvSpPr txBox="1"/>
          <p:nvPr/>
        </p:nvSpPr>
        <p:spPr>
          <a:xfrm>
            <a:off x="145557" y="2480216"/>
            <a:ext cx="11601059" cy="3693319"/>
          </a:xfrm>
          <a:prstGeom prst="rect">
            <a:avLst/>
          </a:prstGeom>
          <a:noFill/>
        </p:spPr>
        <p:txBody>
          <a:bodyPr wrap="square">
            <a:spAutoFit/>
          </a:bodyPr>
          <a:lstStyle/>
          <a:p>
            <a:r>
              <a:rPr lang="zh-CN" altLang="en-US" dirty="0"/>
              <a:t>功利主义主张“最大多数人的最大幸福”，看似公平，但其最大问题在于**可能为集体利益而正当化对个体权利的严重侵犯**。</a:t>
            </a:r>
          </a:p>
          <a:p>
            <a:r>
              <a:rPr lang="zh-CN" altLang="en-US" dirty="0"/>
              <a:t>首先，功利主义将复杂的人类福祉简化为可计算的快乐与痛苦总和，这使得**个体沦为集体福祉的工具**。在一个经典的“器官移植”思想实验中：假设一位健康病人走进诊所，医生发现他的五个器官恰好能拯救五位濒死患者——如果牺牲这一个健康人，就能挽救五条生命。功利主义计算会得出“一死五活优于六人全死”的结论，从而支持杀死无辜者。但这明显违背了“不可杀害无辜”的基本道德直觉，也让每个人的基本权利变得毫无保障。</a:t>
            </a:r>
          </a:p>
          <a:p>
            <a:r>
              <a:rPr lang="zh-CN" altLang="en-US" dirty="0"/>
              <a:t>其次，功利主义忽视了**分配的正义**。一个极度不平等的社会（如1%的人拥有99%的幸福）可能总幸福很高，但少数人的痛苦被“平均数”淹没。正如罗尔斯所批评：它不关心幸福如何分配，只关心总量，这可能导致对弱势群体的系统性压迫。</a:t>
            </a:r>
          </a:p>
          <a:p>
            <a:r>
              <a:rPr lang="zh-CN" altLang="en-US" dirty="0"/>
              <a:t>再者，功利主义在实践中面临**可操作性问题**：我们无法精确预测行动的长期后果，也无法对所有受影响的个体进行痛苦快乐的计算。这容易导致“为达目的不择手段”的功利化决策。</a:t>
            </a:r>
          </a:p>
          <a:p>
            <a:r>
              <a:rPr lang="zh-CN" altLang="en-US" dirty="0"/>
              <a:t>**结论**：功利主义作为一种后果论伦理，其理论魅力在于简洁，但最大的问题在于：当集体利益与个体权利冲突时，它倾向于牺牲个体。一个健康的社会，必须在追求整体福祉的同时，设置不可逾越的个体权利底线。</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0439" y="149755"/>
            <a:ext cx="824826" cy="372760"/>
          </a:xfrm>
        </p:spPr>
        <p:txBody>
          <a:bodyPr>
            <a:normAutofit/>
          </a:bodyPr>
          <a:lstStyle/>
          <a:p>
            <a:r>
              <a:rPr lang="zh-CN" altLang="en-US" sz="2000" dirty="0">
                <a:latin typeface="华文楷体" panose="02010600040101010101" pitchFamily="2" charset="-122"/>
                <a:ea typeface="华文楷体" panose="02010600040101010101" pitchFamily="2" charset="-122"/>
              </a:rPr>
              <a:t>发问</a:t>
            </a:r>
          </a:p>
        </p:txBody>
      </p:sp>
      <p:sp>
        <p:nvSpPr>
          <p:cNvPr id="3" name="内容占位符 2"/>
          <p:cNvSpPr>
            <a:spLocks noGrp="1"/>
          </p:cNvSpPr>
          <p:nvPr>
            <p:ph idx="1"/>
          </p:nvPr>
        </p:nvSpPr>
        <p:spPr>
          <a:xfrm>
            <a:off x="27370" y="478972"/>
            <a:ext cx="12164630" cy="1474236"/>
          </a:xfrm>
        </p:spPr>
        <p:txBody>
          <a:bodyPr>
            <a:normAutofit/>
          </a:bodyPr>
          <a:lstStyle/>
          <a:p>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问之所问，就什么发问，</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人们所询问的东西</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；我们通过追问努力想知道的东西；（问什么）</a:t>
            </a:r>
          </a:p>
          <a:p>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B.</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被问及的东西，</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对什么或谁询问</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，我们通过发问所问的东西；（向谁发问）</a:t>
            </a:r>
            <a:endParaRPr lang="en-US" altLang="zh-CN" sz="1800" dirty="0">
              <a:latin typeface="华文楷体" panose="02010600040101010101" pitchFamily="2" charset="-122"/>
              <a:ea typeface="华文楷体" panose="02010600040101010101" pitchFamily="2" charset="-122"/>
              <a:cs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C. </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问之何所以问（真实意图），</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人们通过询问最终要达到的东西。</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我们通过发问所追问的人或东西。（为什么发问）</a:t>
            </a:r>
          </a:p>
        </p:txBody>
      </p:sp>
      <p:sp>
        <p:nvSpPr>
          <p:cNvPr id="4" name="标题 1"/>
          <p:cNvSpPr txBox="1">
            <a:spLocks/>
          </p:cNvSpPr>
          <p:nvPr/>
        </p:nvSpPr>
        <p:spPr>
          <a:xfrm>
            <a:off x="27370" y="1543125"/>
            <a:ext cx="1950720" cy="410083"/>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t>道德研究的方法</a:t>
            </a:r>
            <a:endParaRPr lang="zh-CN" altLang="en-US" sz="2000" dirty="0"/>
          </a:p>
        </p:txBody>
      </p:sp>
      <p:sp>
        <p:nvSpPr>
          <p:cNvPr id="5" name="内容占位符 2"/>
          <p:cNvSpPr txBox="1">
            <a:spLocks/>
          </p:cNvSpPr>
          <p:nvPr/>
        </p:nvSpPr>
        <p:spPr>
          <a:xfrm>
            <a:off x="27370" y="1917592"/>
            <a:ext cx="8156324" cy="211245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规范伦理学（规范</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或标准</a:t>
            </a:r>
            <a:r>
              <a:rPr lang="en-US" altLang="zh-CN" sz="1800">
                <a:latin typeface="华文楷体" panose="02010600040101010101" pitchFamily="2" charset="-122"/>
                <a:ea typeface="华文楷体" panose="02010600040101010101" pitchFamily="2" charset="-122"/>
              </a:rPr>
              <a:t>]</a:t>
            </a:r>
            <a:r>
              <a:rPr lang="zh-CN" altLang="en-US" sz="1800">
                <a:latin typeface="华文楷体" panose="02010600040101010101" pitchFamily="2" charset="-122"/>
                <a:ea typeface="华文楷体" panose="02010600040101010101" pitchFamily="2" charset="-122"/>
              </a:rPr>
              <a:t>和规定问题）</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“人常常为其自身利益而行动”：人是否应该或应当为自身利益而行动</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“根据这些论据和证据，人们应当永远为自身利益而行动”（利己主义）</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“人们应当永远为他人的利益而行动”（利他主义）</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“人们应当永远为包括自己在内的一切相关者的利益而行动”（功利主义）</a:t>
            </a:r>
            <a:endParaRPr lang="zh-CN" altLang="en-US" sz="1800" dirty="0">
              <a:latin typeface="华文楷体" panose="02010600040101010101" pitchFamily="2" charset="-122"/>
              <a:ea typeface="华文楷体" panose="02010600040101010101" pitchFamily="2" charset="-122"/>
            </a:endParaRPr>
          </a:p>
        </p:txBody>
      </p:sp>
      <p:sp>
        <p:nvSpPr>
          <p:cNvPr id="6" name="内容占位符 2"/>
          <p:cNvSpPr txBox="1">
            <a:spLocks/>
          </p:cNvSpPr>
          <p:nvPr/>
        </p:nvSpPr>
        <p:spPr>
          <a:xfrm>
            <a:off x="836022" y="4030043"/>
            <a:ext cx="5956663" cy="35629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规范伦理学包含了道德价值判断，而不只是描述事实。</a:t>
            </a:r>
            <a:endParaRPr lang="en-US" altLang="zh-CN" sz="1800" dirty="0">
              <a:latin typeface="华文楷体" panose="02010600040101010101" pitchFamily="2" charset="-122"/>
              <a:ea typeface="华文楷体" panose="02010600040101010101" pitchFamily="2" charset="-122"/>
            </a:endParaRPr>
          </a:p>
        </p:txBody>
      </p:sp>
      <p:sp>
        <p:nvSpPr>
          <p:cNvPr id="7" name="内容占位符 2"/>
          <p:cNvSpPr txBox="1">
            <a:spLocks/>
          </p:cNvSpPr>
          <p:nvPr/>
        </p:nvSpPr>
        <p:spPr>
          <a:xfrm>
            <a:off x="170439" y="4532950"/>
            <a:ext cx="9975047" cy="118360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元伦理学分析道德语言；</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分析道德体系的理性根据，或各派伦理学的逻辑和论证，着力研究论证、逻辑结构和语言而非内容，间接关心规范伦理学。</a:t>
            </a: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472" y="105747"/>
            <a:ext cx="2921104" cy="478971"/>
          </a:xfrm>
        </p:spPr>
        <p:txBody>
          <a:bodyPr>
            <a:normAutofit/>
          </a:bodyPr>
          <a:lstStyle/>
          <a:p>
            <a:r>
              <a:rPr lang="zh-CN" altLang="en-US" sz="2000" dirty="0">
                <a:latin typeface="华文楷体" panose="02010600040101010101" pitchFamily="2" charset="-122"/>
                <a:ea typeface="华文楷体" panose="02010600040101010101" pitchFamily="2" charset="-122"/>
              </a:rPr>
              <a:t>个体意志和权威的关系</a:t>
            </a:r>
          </a:p>
        </p:txBody>
      </p:sp>
      <p:sp>
        <p:nvSpPr>
          <p:cNvPr id="3" name="内容占位符 2"/>
          <p:cNvSpPr>
            <a:spLocks noGrp="1"/>
          </p:cNvSpPr>
          <p:nvPr>
            <p:ph idx="1"/>
          </p:nvPr>
        </p:nvSpPr>
        <p:spPr>
          <a:xfrm>
            <a:off x="95795" y="632755"/>
            <a:ext cx="2236859" cy="1233368"/>
          </a:xfrm>
        </p:spPr>
        <p:txBody>
          <a:bodyPr>
            <a:normAutofit/>
          </a:bodyPr>
          <a:lstStyle/>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必然性（</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Necessity</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a:t>
            </a:r>
          </a:p>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功效性（</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Utility</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a:t>
            </a:r>
          </a:p>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道德性（</a:t>
            </a:r>
            <a:r>
              <a:rPr lang="en-US" altLang="zh-CN" sz="1800" dirty="0">
                <a:latin typeface="华文楷体" panose="02010600040101010101" pitchFamily="2" charset="-122"/>
                <a:ea typeface="华文楷体" panose="02010600040101010101" pitchFamily="2" charset="-122"/>
                <a:cs typeface="华文楷体" panose="02010600040101010101" pitchFamily="2" charset="-122"/>
              </a:rPr>
              <a:t>Morality</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a:t>
            </a:r>
          </a:p>
        </p:txBody>
      </p:sp>
      <p:sp>
        <p:nvSpPr>
          <p:cNvPr id="4" name="标题 1"/>
          <p:cNvSpPr txBox="1">
            <a:spLocks/>
          </p:cNvSpPr>
          <p:nvPr/>
        </p:nvSpPr>
        <p:spPr>
          <a:xfrm>
            <a:off x="58472" y="1640462"/>
            <a:ext cx="3151259" cy="54739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道德作为美学（</a:t>
            </a:r>
            <a:r>
              <a:rPr lang="en-US" altLang="zh-CN" sz="2000">
                <a:latin typeface="华文楷体" panose="02010600040101010101" pitchFamily="2" charset="-122"/>
                <a:ea typeface="华文楷体" panose="02010600040101010101" pitchFamily="2" charset="-122"/>
              </a:rPr>
              <a:t>Aesthetics</a:t>
            </a:r>
            <a:r>
              <a:rPr lang="zh-CN" altLang="en-US" sz="2000">
                <a:latin typeface="华文楷体" panose="02010600040101010101" pitchFamily="2" charset="-122"/>
                <a:ea typeface="华文楷体" panose="02010600040101010101" pitchFamily="2" charset="-122"/>
              </a:rPr>
              <a:t>）</a:t>
            </a:r>
            <a:endParaRPr lang="zh-CN" altLang="en-US" sz="2000" dirty="0">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7837AF41-D72F-FE5D-8C48-07D7CD40F5B8}"/>
              </a:ext>
            </a:extLst>
          </p:cNvPr>
          <p:cNvSpPr txBox="1"/>
          <p:nvPr/>
        </p:nvSpPr>
        <p:spPr>
          <a:xfrm>
            <a:off x="58473" y="2267693"/>
            <a:ext cx="4725022" cy="2031325"/>
          </a:xfrm>
          <a:prstGeom prst="rect">
            <a:avLst/>
          </a:prstGeom>
          <a:noFill/>
        </p:spPr>
        <p:txBody>
          <a:bodyPr wrap="square" rtlCol="0">
            <a:spAutoFit/>
          </a:bodyPr>
          <a:lstStyle/>
          <a:p>
            <a:r>
              <a:rPr lang="zh-CN" altLang="en-US" dirty="0">
                <a:latin typeface="华文楷体" panose="02010600040101010101" pitchFamily="2" charset="-122"/>
                <a:ea typeface="华文楷体" panose="02010600040101010101" pitchFamily="2" charset="-122"/>
              </a:rPr>
              <a:t>感觉的倾向性指示目的（无目的的合目的性）</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“判断之所以被叫做审美的，正是因为它的规定根据不是概念，而是对内心诸能力的游戏中那种一致性的（内感官的）情感，只要这种一致性能被感觉到。”（康德）</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孟子：理义之悦我心犹刍豢之悦我口</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王阳明：良知良能，元不丧失</a:t>
            </a:r>
          </a:p>
        </p:txBody>
      </p:sp>
      <p:sp>
        <p:nvSpPr>
          <p:cNvPr id="7" name="标题 1"/>
          <p:cNvSpPr txBox="1">
            <a:spLocks/>
          </p:cNvSpPr>
          <p:nvPr/>
        </p:nvSpPr>
        <p:spPr>
          <a:xfrm>
            <a:off x="0" y="4299018"/>
            <a:ext cx="4687700" cy="406193"/>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道德与美学（人类事务的价值和价值判断）</a:t>
            </a:r>
            <a:endParaRPr lang="zh-CN" altLang="en-US" sz="2000" dirty="0">
              <a:latin typeface="华文楷体" panose="02010600040101010101" pitchFamily="2" charset="-122"/>
              <a:ea typeface="华文楷体" panose="02010600040101010101" pitchFamily="2" charset="-122"/>
            </a:endParaRPr>
          </a:p>
        </p:txBody>
      </p:sp>
      <p:sp>
        <p:nvSpPr>
          <p:cNvPr id="8" name="内容占位符 2"/>
          <p:cNvSpPr txBox="1">
            <a:spLocks/>
          </p:cNvSpPr>
          <p:nvPr/>
        </p:nvSpPr>
        <p:spPr>
          <a:xfrm>
            <a:off x="-1418253" y="4768177"/>
            <a:ext cx="6606074" cy="226796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1571625" lvl="8" indent="0">
              <a:buFont typeface="Calibri" panose="020F0502020204030204" pitchFamily="34" charset="0"/>
              <a:buNone/>
            </a:pPr>
            <a:r>
              <a:rPr lang="zh-CN" altLang="en-US" sz="1800" dirty="0">
                <a:latin typeface="华文楷体" panose="02010600040101010101" pitchFamily="2" charset="-122"/>
                <a:ea typeface="华文楷体" panose="02010600040101010101" pitchFamily="2" charset="-122"/>
              </a:rPr>
              <a:t>伦理学是对道德的研究</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在道德意义上什么是好（善）、坏（恶）、对（正当）、错（不正当）。</a:t>
            </a:r>
            <a:endParaRPr lang="en-US" altLang="zh-CN" sz="1800" dirty="0">
              <a:latin typeface="华文楷体" panose="02010600040101010101" pitchFamily="2" charset="-122"/>
              <a:ea typeface="华文楷体" panose="02010600040101010101" pitchFamily="2" charset="-122"/>
            </a:endParaRPr>
          </a:p>
          <a:p>
            <a:pPr marL="1571625" lvl="8" indent="0">
              <a:buFont typeface="Calibri" panose="020F0502020204030204" pitchFamily="34" charset="0"/>
              <a:buNone/>
            </a:pPr>
            <a:r>
              <a:rPr lang="zh-CN" altLang="en-US" sz="1800" dirty="0">
                <a:latin typeface="华文楷体" panose="02010600040101010101" pitchFamily="2" charset="-122"/>
                <a:ea typeface="华文楷体" panose="02010600040101010101" pitchFamily="2" charset="-122"/>
              </a:rPr>
              <a:t>美学是对艺术和艺术品的研究，对美和不美的研究</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艺术上什么是好、坏、对、错，在我们的生活中什么东西构成美、什么东西构成不美。</a:t>
            </a:r>
          </a:p>
          <a:p>
            <a:pPr marL="1571625" lvl="8" indent="0">
              <a:buFont typeface="Calibri" panose="020F0502020204030204" pitchFamily="34" charset="0"/>
              <a:buNone/>
            </a:pPr>
            <a:endParaRPr lang="zh-CN" altLang="en-US" sz="1800" dirty="0"/>
          </a:p>
        </p:txBody>
      </p:sp>
      <p:sp>
        <p:nvSpPr>
          <p:cNvPr id="9" name="内容占位符 2"/>
          <p:cNvSpPr txBox="1">
            <a:spLocks/>
          </p:cNvSpPr>
          <p:nvPr/>
        </p:nvSpPr>
        <p:spPr>
          <a:xfrm>
            <a:off x="4783495" y="180975"/>
            <a:ext cx="7142440" cy="116263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正是由于这种保存的归属关系，器具本身才得以出现而自持，保持着原样。虽然器具的器具存在就在其有用性中，但这种有用性本身又植根于器具的一种本质性存在的丰富性中。我们称之为可靠性（Verläβlichkeit）。</a:t>
            </a:r>
          </a:p>
        </p:txBody>
      </p:sp>
      <p:sp>
        <p:nvSpPr>
          <p:cNvPr id="10" name="标题 1"/>
          <p:cNvSpPr txBox="1">
            <a:spLocks/>
          </p:cNvSpPr>
          <p:nvPr/>
        </p:nvSpPr>
        <p:spPr>
          <a:xfrm>
            <a:off x="4854407" y="1343608"/>
            <a:ext cx="3145038" cy="399972"/>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超道德意义上的好坏对错</a:t>
            </a:r>
            <a:endParaRPr lang="zh-CN" altLang="en-US" sz="2000" dirty="0">
              <a:latin typeface="华文楷体" panose="02010600040101010101" pitchFamily="2" charset="-122"/>
              <a:ea typeface="华文楷体" panose="02010600040101010101" pitchFamily="2" charset="-122"/>
            </a:endParaRPr>
          </a:p>
        </p:txBody>
      </p:sp>
      <p:sp>
        <p:nvSpPr>
          <p:cNvPr id="12" name="内容占位符 2"/>
          <p:cNvSpPr txBox="1">
            <a:spLocks/>
          </p:cNvSpPr>
          <p:nvPr/>
        </p:nvSpPr>
        <p:spPr>
          <a:xfrm>
            <a:off x="4939003" y="1845734"/>
            <a:ext cx="6606073" cy="87258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涉及某人或某物如何发挥功能</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所说的东西之所以好，是因为它可被用来发挥某种功用。</a:t>
            </a:r>
            <a:endParaRPr lang="zh-CN" altLang="en-US" sz="1800" dirty="0">
              <a:latin typeface="华文楷体" panose="02010600040101010101" pitchFamily="2" charset="-122"/>
              <a:ea typeface="华文楷体" panose="02010600040101010101" pitchFamily="2" charset="-122"/>
            </a:endParaRPr>
          </a:p>
        </p:txBody>
      </p:sp>
      <p:sp>
        <p:nvSpPr>
          <p:cNvPr id="13" name="标题 1"/>
          <p:cNvSpPr txBox="1">
            <a:spLocks/>
          </p:cNvSpPr>
          <p:nvPr/>
        </p:nvSpPr>
        <p:spPr>
          <a:xfrm>
            <a:off x="4829528" y="2568857"/>
            <a:ext cx="2180875" cy="424854"/>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道德的适用对象</a:t>
            </a:r>
          </a:p>
        </p:txBody>
      </p:sp>
      <p:sp>
        <p:nvSpPr>
          <p:cNvPr id="14" name="内容占位符 2"/>
          <p:cNvSpPr txBox="1">
            <a:spLocks/>
          </p:cNvSpPr>
          <p:nvPr/>
        </p:nvSpPr>
        <p:spPr>
          <a:xfrm>
            <a:off x="5361992" y="2920348"/>
            <a:ext cx="6686939"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rPr>
              <a:t>1.</a:t>
            </a:r>
            <a:r>
              <a:rPr lang="zh-CN" altLang="en-US" sz="1800">
                <a:latin typeface="华文楷体" panose="02010600040101010101" pitchFamily="2" charset="-122"/>
                <a:ea typeface="华文楷体" panose="02010600040101010101" pitchFamily="2" charset="-122"/>
              </a:rPr>
              <a:t>自主伦理。人是拥有需求和偏好的自主个体，相关的概念包括自由、权力和正义。</a:t>
            </a:r>
            <a:r>
              <a:rPr lang="en-US" altLang="zh-CN" sz="1800">
                <a:latin typeface="华文楷体" panose="02010600040101010101" pitchFamily="2" charset="-122"/>
                <a:ea typeface="华文楷体" panose="02010600040101010101" pitchFamily="2" charset="-122"/>
              </a:rPr>
              <a:t>WEIRD</a:t>
            </a:r>
            <a:r>
              <a:rPr lang="zh-CN" altLang="en-US" sz="1800">
                <a:latin typeface="华文楷体" panose="02010600040101010101" pitchFamily="2" charset="-122"/>
                <a:ea typeface="华文楷体" panose="02010600040101010101" pitchFamily="2" charset="-122"/>
              </a:rPr>
              <a:t>（ 西方、有教养、工业化、富裕、民主）的伦理主要集中在此。</a:t>
            </a:r>
          </a:p>
          <a:p>
            <a:r>
              <a:rPr lang="en-US" altLang="zh-CN" sz="1800">
                <a:latin typeface="华文楷体" panose="02010600040101010101" pitchFamily="2" charset="-122"/>
                <a:ea typeface="华文楷体" panose="02010600040101010101" pitchFamily="2" charset="-122"/>
              </a:rPr>
              <a:t>2.</a:t>
            </a:r>
            <a:r>
              <a:rPr lang="zh-CN" altLang="en-US" sz="1800">
                <a:latin typeface="华文楷体" panose="02010600040101010101" pitchFamily="2" charset="-122"/>
                <a:ea typeface="华文楷体" panose="02010600040101010101" pitchFamily="2" charset="-122"/>
              </a:rPr>
              <a:t>集体伦理。人是更大集体中一员，其中的集体包括家庭、公司、军队、国家和部落，相关的概念包括责任、等级、尊重、爱国主义。</a:t>
            </a:r>
          </a:p>
          <a:p>
            <a:r>
              <a:rPr lang="en-US" altLang="zh-CN" sz="1800">
                <a:latin typeface="华文楷体" panose="02010600040101010101" pitchFamily="2" charset="-122"/>
                <a:ea typeface="华文楷体" panose="02010600040101010101" pitchFamily="2" charset="-122"/>
              </a:rPr>
              <a:t>3.</a:t>
            </a:r>
            <a:r>
              <a:rPr lang="zh-CN" altLang="en-US" sz="1800">
                <a:latin typeface="华文楷体" panose="02010600040101010101" pitchFamily="2" charset="-122"/>
                <a:ea typeface="华文楷体" panose="02010600040101010101" pitchFamily="2" charset="-122"/>
              </a:rPr>
              <a:t>神性伦理，身体是一座神庙，宇宙有其神圣秩序。相关概念包括神圣、纯洁和升华。但是倘若对于神圣的追求过于执着，任由内心的恶心感不加节制的扩张，那些不符合你内心过于崇高标准的人将受到残酷的对待（例如同性恋），极端的神圣伦理是反人权的。</a:t>
            </a: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399" y="62205"/>
            <a:ext cx="1660434" cy="405728"/>
          </a:xfrm>
        </p:spPr>
        <p:txBody>
          <a:bodyPr>
            <a:normAutofit/>
          </a:bodyPr>
          <a:lstStyle/>
          <a:p>
            <a:r>
              <a:rPr lang="zh-CN" altLang="en-US" sz="2000" dirty="0">
                <a:latin typeface="华文楷体" panose="02010600040101010101" pitchFamily="2" charset="-122"/>
                <a:ea typeface="华文楷体" panose="02010600040101010101" pitchFamily="2" charset="-122"/>
              </a:rPr>
              <a:t>道德与自然</a:t>
            </a:r>
          </a:p>
        </p:txBody>
      </p:sp>
      <p:sp>
        <p:nvSpPr>
          <p:cNvPr id="3" name="内容占位符 2"/>
          <p:cNvSpPr>
            <a:spLocks noGrp="1"/>
          </p:cNvSpPr>
          <p:nvPr>
            <p:ph idx="1"/>
          </p:nvPr>
        </p:nvSpPr>
        <p:spPr>
          <a:xfrm>
            <a:off x="-1" y="424390"/>
            <a:ext cx="3856653" cy="1982908"/>
          </a:xfrm>
        </p:spPr>
        <p:txBody>
          <a:bodyPr>
            <a:normAutofit/>
          </a:bodyPr>
          <a:lstStyle/>
          <a:p>
            <a:r>
              <a:rPr lang="zh-CN" altLang="en-US" sz="1800" dirty="0">
                <a:latin typeface="华文楷体" panose="02010600040101010101" pitchFamily="2" charset="-122"/>
                <a:ea typeface="华文楷体" panose="02010600040101010101" pitchFamily="2" charset="-122"/>
              </a:rPr>
              <a:t>自然道德：土著美洲人文化</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人与土地的关系</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依据人们对待周围自然物的行为，判断他</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她是道德的还是不道德的</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生态文明</a:t>
            </a:r>
            <a:endParaRPr lang="en-US" altLang="zh-CN" sz="1800" dirty="0">
              <a:latin typeface="华文楷体" panose="02010600040101010101" pitchFamily="2" charset="-122"/>
              <a:ea typeface="华文楷体" panose="02010600040101010101" pitchFamily="2" charset="-122"/>
            </a:endParaRPr>
          </a:p>
          <a:p>
            <a:endParaRPr lang="zh-CN" altLang="en-US" sz="1800" dirty="0"/>
          </a:p>
        </p:txBody>
      </p:sp>
      <p:sp>
        <p:nvSpPr>
          <p:cNvPr id="4" name="内容占位符 3"/>
          <p:cNvSpPr txBox="1">
            <a:spLocks noChangeArrowheads="1"/>
          </p:cNvSpPr>
          <p:nvPr/>
        </p:nvSpPr>
        <p:spPr bwMode="auto">
          <a:xfrm>
            <a:off x="-1" y="2289111"/>
            <a:ext cx="3793952" cy="159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rtlCol="0">
            <a:spAutoFit/>
          </a:bodyPr>
          <a:lstStyle>
            <a:defPPr>
              <a:defRPr lang="zh-CN"/>
            </a:defPPr>
            <a:lvl1pPr marL="91440" indent="-91440" algn="l" defTabSz="914400" rtl="0" eaLnBrk="0" fontAlgn="base" latinLnBrk="0" hangingPunct="0">
              <a:lnSpc>
                <a:spcPct val="90000"/>
              </a:lnSpc>
              <a:spcBef>
                <a:spcPct val="0"/>
              </a:spcBef>
              <a:spcAft>
                <a:spcPct val="0"/>
              </a:spcAft>
              <a:buClr>
                <a:schemeClr val="accent1"/>
              </a:buClr>
              <a:buSzPct val="100000"/>
              <a:buFont typeface="Calibri" panose="020F0502020204030204" pitchFamily="34" charset="0"/>
              <a:buChar char=" "/>
              <a:defRPr sz="2000" kern="1200">
                <a:solidFill>
                  <a:schemeClr val="tx1"/>
                </a:solidFill>
                <a:latin typeface="Calibri" panose="020F0502020204030204" pitchFamily="34" charset="0"/>
                <a:ea typeface="宋体" panose="02010600030101010101" pitchFamily="2" charset="-122"/>
                <a:cs typeface="+mn-cs"/>
              </a:defRPr>
            </a:lvl1pPr>
            <a:lvl2pPr marL="457200" indent="-182880" algn="l" defTabSz="914400" rtl="0" eaLnBrk="0" fontAlgn="base" latinLnBrk="0" hangingPunct="0">
              <a:lnSpc>
                <a:spcPct val="90000"/>
              </a:lnSpc>
              <a:spcBef>
                <a:spcPct val="0"/>
              </a:spcBef>
              <a:spcAft>
                <a:spcPct val="0"/>
              </a:spcAft>
              <a:buClr>
                <a:schemeClr val="accent1"/>
              </a:buClr>
              <a:buFont typeface="Calibri" panose="020F0502020204030204" pitchFamily="34" charset="0"/>
              <a:buChar char="◦"/>
              <a:defRPr sz="1800" kern="1200">
                <a:solidFill>
                  <a:schemeClr val="tx1"/>
                </a:solidFill>
                <a:latin typeface="Calibri" panose="020F0502020204030204" pitchFamily="34" charset="0"/>
                <a:ea typeface="宋体" panose="02010600030101010101" pitchFamily="2" charset="-122"/>
                <a:cs typeface="+mn-cs"/>
              </a:defRPr>
            </a:lvl2pPr>
            <a:lvl3pPr marL="914400" indent="-182880" algn="l" defTabSz="914400" rtl="0" eaLnBrk="0" fontAlgn="base" latinLnBrk="0" hangingPunct="0">
              <a:lnSpc>
                <a:spcPct val="90000"/>
              </a:lnSpc>
              <a:spcBef>
                <a:spcPct val="0"/>
              </a:spcBef>
              <a:spcAft>
                <a:spcPct val="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3pPr>
            <a:lvl4pPr marL="1371600" indent="-182880" algn="l" defTabSz="914400" rtl="0" eaLnBrk="0" fontAlgn="base" latinLnBrk="0" hangingPunct="0">
              <a:lnSpc>
                <a:spcPct val="90000"/>
              </a:lnSpc>
              <a:spcBef>
                <a:spcPct val="0"/>
              </a:spcBef>
              <a:spcAft>
                <a:spcPct val="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4pPr>
            <a:lvl5pPr marL="1828800" indent="-182880" algn="l" defTabSz="914400" rtl="0" eaLnBrk="0" fontAlgn="base" latinLnBrk="0" hangingPunct="0">
              <a:lnSpc>
                <a:spcPct val="90000"/>
              </a:lnSpc>
              <a:spcBef>
                <a:spcPct val="0"/>
              </a:spcBef>
              <a:spcAft>
                <a:spcPct val="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5pPr>
            <a:lvl6pPr marL="228600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6pPr>
            <a:lvl7pPr marL="274320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7pPr>
            <a:lvl8pPr marL="320040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8pPr>
            <a:lvl9pPr marL="365760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solidFill>
                <a:latin typeface="Calibri" panose="020F0502020204030204" pitchFamily="34" charset="0"/>
                <a:ea typeface="宋体" panose="02010600030101010101" pitchFamily="2" charset="-122"/>
                <a:cs typeface="+mn-cs"/>
              </a:defRPr>
            </a:lvl9pPr>
          </a:lstStyle>
          <a:p>
            <a:pPr>
              <a:buFont typeface="Arial" panose="020B0604020202020204" pitchFamily="34" charset="0"/>
              <a:buNone/>
            </a:pPr>
            <a:r>
              <a:rPr lang="zh-CN" altLang="en-US" sz="1800" dirty="0">
                <a:solidFill>
                  <a:srgbClr val="000000"/>
                </a:solidFill>
                <a:latin typeface="华文行楷" panose="02010800040101010101" pitchFamily="2" charset="-122"/>
                <a:ea typeface="华文行楷" panose="02010800040101010101" pitchFamily="2" charset="-122"/>
              </a:rPr>
              <a:t>       </a:t>
            </a:r>
            <a:r>
              <a:rPr lang="zh-CN" altLang="en-US" sz="1800" dirty="0">
                <a:solidFill>
                  <a:srgbClr val="000000"/>
                </a:solidFill>
                <a:latin typeface="华文楷体" panose="02010600040101010101" pitchFamily="2" charset="-122"/>
                <a:ea typeface="华文楷体" panose="02010600040101010101" pitchFamily="2" charset="-122"/>
              </a:rPr>
              <a:t>人与自然是生命共同体，人类必须尊重自然、顺应自然、保护自然。人类只有遵循自然规律才能有效防止在开发利用自然上走弯路，人类对大自然的伤害最终会伤及人类自身，这是无法抗拒的规律。</a:t>
            </a:r>
            <a:endParaRPr lang="en-US" altLang="zh-CN" sz="1800" dirty="0">
              <a:solidFill>
                <a:srgbClr val="000000"/>
              </a:solidFill>
              <a:latin typeface="华文楷体" panose="02010600040101010101" pitchFamily="2" charset="-122"/>
              <a:ea typeface="华文楷体" panose="02010600040101010101" pitchFamily="2" charset="-122"/>
            </a:endParaRPr>
          </a:p>
        </p:txBody>
      </p:sp>
      <p:sp>
        <p:nvSpPr>
          <p:cNvPr id="5" name="标题 1"/>
          <p:cNvSpPr txBox="1">
            <a:spLocks/>
          </p:cNvSpPr>
          <p:nvPr/>
        </p:nvSpPr>
        <p:spPr>
          <a:xfrm>
            <a:off x="-1" y="3847165"/>
            <a:ext cx="1434426" cy="381311"/>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个体道德</a:t>
            </a:r>
          </a:p>
        </p:txBody>
      </p:sp>
      <p:sp>
        <p:nvSpPr>
          <p:cNvPr id="6" name="内容占位符 2"/>
          <p:cNvSpPr txBox="1">
            <a:spLocks/>
          </p:cNvSpPr>
          <p:nvPr/>
        </p:nvSpPr>
        <p:spPr>
          <a:xfrm>
            <a:off x="131871" y="4207506"/>
            <a:ext cx="3998480" cy="209998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rPr>
              <a:t>个体道德涉及个人与自身的关系，指的是个体道德准则，它可能得到也可能未能得到任何社会或宗教的认可。</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一个人可不可以做出某种行为，并非因为社会、法律或宗教教导他可不可以，而是因为他本人发自良心地认为这样做是正当的或者邪恶的。</a:t>
            </a:r>
          </a:p>
        </p:txBody>
      </p:sp>
      <p:sp>
        <p:nvSpPr>
          <p:cNvPr id="7" name="内容占位符 2"/>
          <p:cNvSpPr txBox="1">
            <a:spLocks/>
          </p:cNvSpPr>
          <p:nvPr/>
        </p:nvSpPr>
        <p:spPr>
          <a:xfrm>
            <a:off x="3913052" y="146553"/>
            <a:ext cx="7899918" cy="142099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zh-CN" altLang="en-US" sz="1800" dirty="0">
                <a:latin typeface="华文楷体" panose="02010600040101010101" pitchFamily="2" charset="-122"/>
                <a:ea typeface="华文楷体" panose="02010600040101010101" pitchFamily="2" charset="-122"/>
              </a:rPr>
              <a:t>安提戈涅之所以反对克瑞翁，并非由于上帝的律法，而是由于自己的个人信念</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它关于在处理与别人甚至与死人的关系时，怎样做才是正当的。</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它还可以指关注</a:t>
            </a:r>
            <a:r>
              <a:rPr lang="zh-CN" altLang="en-US" sz="1800" dirty="0">
                <a:solidFill>
                  <a:srgbClr val="FF0000"/>
                </a:solidFill>
                <a:latin typeface="华文楷体" panose="02010600040101010101" pitchFamily="2" charset="-122"/>
                <a:ea typeface="华文楷体" panose="02010600040101010101" pitchFamily="2" charset="-122"/>
              </a:rPr>
              <a:t>个人对自身之义务的道德领域</a:t>
            </a:r>
            <a:r>
              <a:rPr lang="zh-CN" altLang="en-US" sz="1800" dirty="0">
                <a:latin typeface="华文楷体" panose="02010600040101010101" pitchFamily="2" charset="-122"/>
                <a:ea typeface="华文楷体" panose="02010600040101010101" pitchFamily="2" charset="-122"/>
              </a:rPr>
              <a:t>（为促进自身的幸福，发展自己的才能，忠于自己的信仰等等）</a:t>
            </a:r>
          </a:p>
        </p:txBody>
      </p:sp>
      <p:sp>
        <p:nvSpPr>
          <p:cNvPr id="8" name="标题 1"/>
          <p:cNvSpPr txBox="1">
            <a:spLocks/>
          </p:cNvSpPr>
          <p:nvPr/>
        </p:nvSpPr>
        <p:spPr>
          <a:xfrm>
            <a:off x="3913052" y="1348895"/>
            <a:ext cx="1204271" cy="43729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社会道德</a:t>
            </a:r>
          </a:p>
        </p:txBody>
      </p:sp>
      <p:sp>
        <p:nvSpPr>
          <p:cNvPr id="9" name="内容占位符 2"/>
          <p:cNvSpPr txBox="1">
            <a:spLocks/>
          </p:cNvSpPr>
          <p:nvPr/>
        </p:nvSpPr>
        <p:spPr>
          <a:xfrm>
            <a:off x="3881949" y="1858567"/>
            <a:ext cx="7962123" cy="685972"/>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a:latin typeface="华文楷体" panose="02010600040101010101" pitchFamily="2" charset="-122"/>
                <a:ea typeface="华文楷体" panose="02010600040101010101" pitchFamily="2" charset="-122"/>
              </a:rPr>
              <a:t>社会道德涉及个人与他人的关系，是道德最重要的方面，因为它贯穿于所有其他方面，同时比起其他方面的道德来，有更多的道德体系蕴含社会道德。</a:t>
            </a:r>
            <a:endParaRPr lang="en-US" altLang="zh-CN" sz="1800" dirty="0">
              <a:latin typeface="华文楷体" panose="02010600040101010101" pitchFamily="2" charset="-122"/>
              <a:ea typeface="华文楷体" panose="02010600040101010101" pitchFamily="2" charset="-122"/>
            </a:endParaRPr>
          </a:p>
        </p:txBody>
      </p:sp>
      <p:sp>
        <p:nvSpPr>
          <p:cNvPr id="10" name="标题 1"/>
          <p:cNvSpPr txBox="1">
            <a:spLocks/>
          </p:cNvSpPr>
          <p:nvPr/>
        </p:nvSpPr>
        <p:spPr>
          <a:xfrm>
            <a:off x="3944650" y="2313929"/>
            <a:ext cx="1266475" cy="455956"/>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a:latin typeface="华文楷体" panose="02010600040101010101" pitchFamily="2" charset="-122"/>
                <a:ea typeface="华文楷体" panose="02010600040101010101" pitchFamily="2" charset="-122"/>
              </a:rPr>
              <a:t>六种美德</a:t>
            </a:r>
            <a:endParaRPr lang="zh-CN" altLang="en-US" sz="2000" dirty="0"/>
          </a:p>
        </p:txBody>
      </p:sp>
      <p:sp>
        <p:nvSpPr>
          <p:cNvPr id="11" name="内容占位符 2"/>
          <p:cNvSpPr txBox="1">
            <a:spLocks/>
          </p:cNvSpPr>
          <p:nvPr/>
        </p:nvSpPr>
        <p:spPr>
          <a:xfrm>
            <a:off x="4262223" y="2769885"/>
            <a:ext cx="7502054" cy="335299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智慧</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好奇心、对世界的兴趣                   </a:t>
            </a:r>
            <a:r>
              <a:rPr lang="en-US" altLang="zh-CN" sz="1800" dirty="0">
                <a:latin typeface="华文楷体" panose="02010600040101010101" pitchFamily="2" charset="-122"/>
                <a:ea typeface="华文楷体" panose="02010600040101010101" pitchFamily="2" charset="-122"/>
              </a:rPr>
              <a:t>· </a:t>
            </a:r>
            <a:r>
              <a:rPr lang="zh-CN" altLang="en-US" sz="1800" dirty="0">
                <a:latin typeface="华文楷体" panose="02010600040101010101" pitchFamily="2" charset="-122"/>
                <a:ea typeface="华文楷体" panose="02010600040101010101" pitchFamily="2" charset="-122"/>
              </a:rPr>
              <a:t>热爱学习</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判断力、判断性思维、思想开放 </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创造性、实用智慧、街头智慧</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社会智慧</a:t>
            </a:r>
            <a:r>
              <a:rPr lang="zh-CN" altLang="en-US" sz="1800" dirty="0">
                <a:latin typeface="华文楷体" panose="02010600040101010101" pitchFamily="2" charset="-122"/>
                <a:ea typeface="华文楷体" panose="02010600040101010101" pitchFamily="2" charset="-122"/>
              </a:rPr>
              <a:t>、个人智慧、情商                 </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洞察力</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2.</a:t>
            </a:r>
            <a:r>
              <a:rPr lang="zh-CN" altLang="en-US" sz="1800" dirty="0">
                <a:latin typeface="华文楷体" panose="02010600040101010101" pitchFamily="2" charset="-122"/>
                <a:ea typeface="华文楷体" panose="02010600040101010101" pitchFamily="2" charset="-122"/>
              </a:rPr>
              <a:t>勇气</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勇敢与勇气</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正直、真诚、诚实          </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 毅力、勤劳、勤勉</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3.</a:t>
            </a:r>
            <a:r>
              <a:rPr lang="zh-CN" altLang="en-US" sz="1800" dirty="0">
                <a:latin typeface="华文楷体" panose="02010600040101010101" pitchFamily="2" charset="-122"/>
                <a:ea typeface="华文楷体" panose="02010600040101010101" pitchFamily="2" charset="-122"/>
              </a:rPr>
              <a:t>仁爱</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仁慈和慷概       </a:t>
            </a:r>
            <a:r>
              <a:rPr lang="en-US" altLang="zh-CN" sz="1800" dirty="0">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爱与被爱</a:t>
            </a:r>
            <a:endParaRPr lang="en-US" altLang="zh-CN" sz="1800" dirty="0">
              <a:solidFill>
                <a:srgbClr val="FF0000"/>
              </a:solidFill>
              <a:latin typeface="华文楷体" panose="02010600040101010101" pitchFamily="2" charset="-122"/>
              <a:ea typeface="华文楷体" panose="02010600040101010101" pitchFamily="2" charset="-122"/>
            </a:endParaRPr>
          </a:p>
          <a:p>
            <a:endParaRPr lang="en-US" altLang="zh-CN" sz="1800" b="1" dirty="0"/>
          </a:p>
          <a:p>
            <a:endParaRPr lang="en-US" altLang="zh-CN" sz="1800" b="1" dirty="0"/>
          </a:p>
          <a:p>
            <a:endParaRPr lang="zh-CN" altLang="en-US" sz="18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596" y="61057"/>
            <a:ext cx="11212498" cy="2980723"/>
          </a:xfrm>
        </p:spPr>
        <p:txBody>
          <a:bodyPr>
            <a:normAutofit/>
          </a:bodyPr>
          <a:lstStyle/>
          <a:p>
            <a:r>
              <a:rPr lang="en-US" altLang="zh-CN" sz="1800" dirty="0">
                <a:latin typeface="华文楷体" panose="02010600040101010101" pitchFamily="2" charset="-122"/>
                <a:ea typeface="华文楷体" panose="02010600040101010101" pitchFamily="2" charset="-122"/>
              </a:rPr>
              <a:t>4.</a:t>
            </a:r>
            <a:r>
              <a:rPr lang="zh-CN" altLang="en-US" sz="1800" dirty="0">
                <a:latin typeface="华文楷体" panose="02010600040101010101" pitchFamily="2" charset="-122"/>
                <a:ea typeface="华文楷体" panose="02010600040101010101" pitchFamily="2" charset="-122"/>
              </a:rPr>
              <a:t>正义</a:t>
            </a:r>
            <a:endParaRPr lang="en-US" altLang="zh-CN" sz="1800" dirty="0">
              <a:latin typeface="华文楷体" panose="02010600040101010101" pitchFamily="2" charset="-122"/>
              <a:ea typeface="华文楷体" panose="02010600040101010101" pitchFamily="2" charset="-122"/>
            </a:endParaRPr>
          </a:p>
          <a:p>
            <a:r>
              <a:rPr lang="en-US" altLang="zh-CN" sz="1800" b="1" dirty="0">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公民精神、责任、团队精神、忠诚       </a:t>
            </a:r>
            <a:r>
              <a:rPr lang="en-US" altLang="zh-CN" sz="1800" b="1" dirty="0">
                <a:solidFill>
                  <a:srgbClr val="FF0000"/>
                </a:solidFill>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 公平与公正</a:t>
            </a:r>
            <a:r>
              <a:rPr lang="en-US" altLang="zh-CN" sz="1800" b="1" dirty="0">
                <a:solidFill>
                  <a:srgbClr val="FF0000"/>
                </a:solidFill>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领导力</a:t>
            </a:r>
            <a:endParaRPr lang="en-US" altLang="zh-CN" sz="1800" dirty="0">
              <a:solidFill>
                <a:srgbClr val="FF0000"/>
              </a:solidFill>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5.</a:t>
            </a:r>
            <a:r>
              <a:rPr lang="zh-CN" altLang="en-US" sz="1800" dirty="0">
                <a:latin typeface="华文楷体" panose="02010600040101010101" pitchFamily="2" charset="-122"/>
                <a:ea typeface="华文楷体" panose="02010600040101010101" pitchFamily="2" charset="-122"/>
              </a:rPr>
              <a:t>节制</a:t>
            </a:r>
            <a:endParaRPr lang="en-US" altLang="zh-CN" sz="1800" dirty="0">
              <a:latin typeface="华文楷体" panose="02010600040101010101" pitchFamily="2" charset="-122"/>
              <a:ea typeface="华文楷体" panose="02010600040101010101" pitchFamily="2" charset="-122"/>
            </a:endParaRPr>
          </a:p>
          <a:p>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自我控制                 </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谨慎、小心</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谦虚</a:t>
            </a:r>
            <a:endParaRPr lang="en-US" altLang="zh-CN" sz="1800" dirty="0">
              <a:latin typeface="华文楷体" panose="02010600040101010101" pitchFamily="2" charset="-122"/>
              <a:ea typeface="华文楷体" panose="02010600040101010101" pitchFamily="2" charset="-122"/>
            </a:endParaRPr>
          </a:p>
          <a:p>
            <a:pPr marL="0" indent="0">
              <a:buNone/>
            </a:pPr>
            <a:r>
              <a:rPr lang="en-US" altLang="zh-CN" sz="1800" dirty="0">
                <a:latin typeface="华文楷体" panose="02010600040101010101" pitchFamily="2" charset="-122"/>
                <a:ea typeface="华文楷体" panose="02010600040101010101" pitchFamily="2" charset="-122"/>
              </a:rPr>
              <a:t>6.</a:t>
            </a:r>
            <a:r>
              <a:rPr lang="zh-CN" altLang="en-US" sz="1800" dirty="0">
                <a:latin typeface="华文楷体" panose="02010600040101010101" pitchFamily="2" charset="-122"/>
                <a:ea typeface="华文楷体" panose="02010600040101010101" pitchFamily="2" charset="-122"/>
              </a:rPr>
              <a:t>精神卓越</a:t>
            </a:r>
            <a:endParaRPr lang="en-US" altLang="zh-CN" sz="1800" dirty="0">
              <a:latin typeface="华文楷体" panose="02010600040101010101" pitchFamily="2" charset="-122"/>
              <a:ea typeface="华文楷体" panose="02010600040101010101" pitchFamily="2" charset="-122"/>
            </a:endParaRPr>
          </a:p>
          <a:p>
            <a:pPr marL="0" indent="0">
              <a:buNone/>
            </a:pP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对美和卓越的欣赏                  </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感恩                      </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希望、乐观、展望未来</a:t>
            </a:r>
            <a:endParaRPr lang="en-US" altLang="zh-CN" sz="1800" dirty="0">
              <a:latin typeface="华文楷体" panose="02010600040101010101" pitchFamily="2" charset="-122"/>
              <a:ea typeface="华文楷体" panose="02010600040101010101" pitchFamily="2" charset="-122"/>
            </a:endParaRPr>
          </a:p>
          <a:p>
            <a:pPr marL="0" indent="0">
              <a:buNone/>
            </a:pP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灵性、目标感、信仰、宗教   </a:t>
            </a:r>
            <a:r>
              <a:rPr lang="en-US" altLang="zh-CN" sz="1800" b="1" dirty="0">
                <a:latin typeface="华文楷体" panose="02010600040101010101" pitchFamily="2" charset="-122"/>
                <a:ea typeface="华文楷体" panose="02010600040101010101" pitchFamily="2" charset="-122"/>
              </a:rPr>
              <a:t>·</a:t>
            </a:r>
            <a:r>
              <a:rPr lang="zh-CN" altLang="en-US" sz="1800" dirty="0">
                <a:solidFill>
                  <a:srgbClr val="FF0000"/>
                </a:solidFill>
                <a:latin typeface="华文楷体" panose="02010600040101010101" pitchFamily="2" charset="-122"/>
                <a:ea typeface="华文楷体" panose="02010600040101010101" pitchFamily="2" charset="-122"/>
              </a:rPr>
              <a:t>宽恕与仁慈          </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幽默          </a:t>
            </a:r>
            <a:r>
              <a:rPr lang="en-US" altLang="zh-CN" sz="1800" b="1"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热忱、热情、热衷</a:t>
            </a:r>
          </a:p>
        </p:txBody>
      </p:sp>
      <p:sp>
        <p:nvSpPr>
          <p:cNvPr id="2" name="内容占位符 2"/>
          <p:cNvSpPr txBox="1">
            <a:spLocks/>
          </p:cNvSpPr>
          <p:nvPr/>
        </p:nvSpPr>
        <p:spPr>
          <a:xfrm>
            <a:off x="220202" y="3041780"/>
            <a:ext cx="10058400" cy="67975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altLang="zh-CN" sz="1800" dirty="0">
                <a:latin typeface="华文楷体" panose="02010600040101010101" pitchFamily="2" charset="-122"/>
                <a:ea typeface="华文楷体" panose="02010600040101010101" pitchFamily="2" charset="-122"/>
              </a:rPr>
              <a:t>Jonathan</a:t>
            </a:r>
            <a:r>
              <a:rPr lang="zh-CN" altLang="en-US" sz="1800" dirty="0">
                <a:latin typeface="华文楷体" panose="02010600040101010101" pitchFamily="2" charset="-122"/>
                <a:ea typeface="华文楷体" panose="02010600040101010101" pitchFamily="2" charset="-122"/>
              </a:rPr>
              <a:t>借助模块的概念（模块的功能是处理特定场景中的刺激），通过结合进化心理学家经常提到的社会适应性挑战，发展出道德</a:t>
            </a:r>
            <a:r>
              <a:rPr lang="en-US" altLang="zh-CN" sz="1800" dirty="0">
                <a:latin typeface="华文楷体" panose="02010600040101010101" pitchFamily="2" charset="-122"/>
                <a:ea typeface="华文楷体" panose="02010600040101010101" pitchFamily="2" charset="-122"/>
              </a:rPr>
              <a:t>6</a:t>
            </a:r>
            <a:r>
              <a:rPr lang="zh-CN" altLang="en-US" sz="1800" dirty="0">
                <a:latin typeface="华文楷体" panose="02010600040101010101" pitchFamily="2" charset="-122"/>
                <a:ea typeface="华文楷体" panose="02010600040101010101" pitchFamily="2" charset="-122"/>
              </a:rPr>
              <a:t>大基础理论，分别是</a:t>
            </a:r>
            <a:r>
              <a:rPr lang="zh-CN" altLang="en-US" sz="1800" dirty="0">
                <a:solidFill>
                  <a:srgbClr val="FF0000"/>
                </a:solidFill>
                <a:latin typeface="华文楷体" panose="02010600040101010101" pitchFamily="2" charset="-122"/>
                <a:ea typeface="华文楷体" panose="02010600040101010101" pitchFamily="2" charset="-122"/>
              </a:rPr>
              <a:t>关爱、公平、忠诚、权威、圣洁和自由</a:t>
            </a:r>
            <a:r>
              <a:rPr lang="zh-CN" altLang="en-US" sz="1800" dirty="0">
                <a:latin typeface="华文楷体" panose="02010600040101010101" pitchFamily="2" charset="-122"/>
                <a:ea typeface="华文楷体" panose="02010600040101010101" pitchFamily="2" charset="-122"/>
              </a:rPr>
              <a:t>。</a:t>
            </a:r>
          </a:p>
          <a:p>
            <a:endParaRPr lang="zh-CN" altLang="en-US" sz="1800" dirty="0"/>
          </a:p>
        </p:txBody>
      </p:sp>
      <p:graphicFrame>
        <p:nvGraphicFramePr>
          <p:cNvPr id="4" name="内容占位符 3"/>
          <p:cNvGraphicFramePr>
            <a:graphicFrameLocks/>
          </p:cNvGraphicFramePr>
          <p:nvPr>
            <p:extLst>
              <p:ext uri="{D42A27DB-BD31-4B8C-83A1-F6EECF244321}">
                <p14:modId xmlns:p14="http://schemas.microsoft.com/office/powerpoint/2010/main" val="2429069124"/>
              </p:ext>
            </p:extLst>
          </p:nvPr>
        </p:nvGraphicFramePr>
        <p:xfrm>
          <a:off x="0" y="3570878"/>
          <a:ext cx="12017828" cy="3046392"/>
        </p:xfrm>
        <a:graphic>
          <a:graphicData uri="http://schemas.openxmlformats.org/drawingml/2006/table">
            <a:tbl>
              <a:tblPr firstRow="1" firstCol="1" bandRow="1">
                <a:tableStyleId>{5C22544A-7EE6-4342-B048-85BDC9FD1C3A}</a:tableStyleId>
              </a:tblPr>
              <a:tblGrid>
                <a:gridCol w="1094791">
                  <a:extLst>
                    <a:ext uri="{9D8B030D-6E8A-4147-A177-3AD203B41FA5}">
                      <a16:colId xmlns:a16="http://schemas.microsoft.com/office/drawing/2014/main" val="20000"/>
                    </a:ext>
                  </a:extLst>
                </a:gridCol>
                <a:gridCol w="2158482">
                  <a:extLst>
                    <a:ext uri="{9D8B030D-6E8A-4147-A177-3AD203B41FA5}">
                      <a16:colId xmlns:a16="http://schemas.microsoft.com/office/drawing/2014/main" val="20001"/>
                    </a:ext>
                  </a:extLst>
                </a:gridCol>
                <a:gridCol w="1990531">
                  <a:extLst>
                    <a:ext uri="{9D8B030D-6E8A-4147-A177-3AD203B41FA5}">
                      <a16:colId xmlns:a16="http://schemas.microsoft.com/office/drawing/2014/main" val="20002"/>
                    </a:ext>
                  </a:extLst>
                </a:gridCol>
                <a:gridCol w="1729273">
                  <a:extLst>
                    <a:ext uri="{9D8B030D-6E8A-4147-A177-3AD203B41FA5}">
                      <a16:colId xmlns:a16="http://schemas.microsoft.com/office/drawing/2014/main" val="20003"/>
                    </a:ext>
                  </a:extLst>
                </a:gridCol>
                <a:gridCol w="1468633">
                  <a:extLst>
                    <a:ext uri="{9D8B030D-6E8A-4147-A177-3AD203B41FA5}">
                      <a16:colId xmlns:a16="http://schemas.microsoft.com/office/drawing/2014/main" val="20004"/>
                    </a:ext>
                  </a:extLst>
                </a:gridCol>
                <a:gridCol w="1262126">
                  <a:extLst>
                    <a:ext uri="{9D8B030D-6E8A-4147-A177-3AD203B41FA5}">
                      <a16:colId xmlns:a16="http://schemas.microsoft.com/office/drawing/2014/main" val="20005"/>
                    </a:ext>
                  </a:extLst>
                </a:gridCol>
                <a:gridCol w="2313992">
                  <a:extLst>
                    <a:ext uri="{9D8B030D-6E8A-4147-A177-3AD203B41FA5}">
                      <a16:colId xmlns:a16="http://schemas.microsoft.com/office/drawing/2014/main" val="20006"/>
                    </a:ext>
                  </a:extLst>
                </a:gridCol>
              </a:tblGrid>
              <a:tr h="323450">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 </a:t>
                      </a:r>
                      <a:r>
                        <a:rPr lang="en-US" sz="1600" kern="100" dirty="0">
                          <a:effectLst/>
                          <a:latin typeface="华文楷体" panose="02010600040101010101" pitchFamily="2" charset="-122"/>
                          <a:ea typeface="华文楷体" panose="02010600040101010101" pitchFamily="2" charset="-122"/>
                        </a:rPr>
                        <a:t>  </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关爱</a:t>
                      </a:r>
                      <a:r>
                        <a:rPr lang="en-US" sz="1600" kern="100" dirty="0">
                          <a:effectLst/>
                          <a:latin typeface="华文楷体" panose="02010600040101010101" pitchFamily="2" charset="-122"/>
                          <a:ea typeface="华文楷体" panose="02010600040101010101" pitchFamily="2" charset="-122"/>
                        </a:rPr>
                        <a:t>/</a:t>
                      </a:r>
                      <a:r>
                        <a:rPr lang="zh-CN" sz="1600" kern="100" dirty="0">
                          <a:effectLst/>
                          <a:latin typeface="华文楷体" panose="02010600040101010101" pitchFamily="2" charset="-122"/>
                          <a:ea typeface="华文楷体" panose="02010600040101010101" pitchFamily="2" charset="-122"/>
                        </a:rPr>
                        <a:t>伤害</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公平</a:t>
                      </a:r>
                      <a:r>
                        <a:rPr lang="en-US" sz="1600" kern="100" dirty="0">
                          <a:effectLst/>
                          <a:latin typeface="华文楷体" panose="02010600040101010101" pitchFamily="2" charset="-122"/>
                          <a:ea typeface="华文楷体" panose="02010600040101010101" pitchFamily="2" charset="-122"/>
                        </a:rPr>
                        <a:t>/</a:t>
                      </a:r>
                      <a:r>
                        <a:rPr lang="zh-CN" sz="1600" kern="100" dirty="0">
                          <a:effectLst/>
                          <a:latin typeface="华文楷体" panose="02010600040101010101" pitchFamily="2" charset="-122"/>
                          <a:ea typeface="华文楷体" panose="02010600040101010101" pitchFamily="2" charset="-122"/>
                        </a:rPr>
                        <a:t>欺骗</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忠诚</a:t>
                      </a:r>
                      <a:r>
                        <a:rPr lang="en-US" sz="1600" kern="100" dirty="0">
                          <a:effectLst/>
                          <a:latin typeface="华文楷体" panose="02010600040101010101" pitchFamily="2" charset="-122"/>
                          <a:ea typeface="华文楷体" panose="02010600040101010101" pitchFamily="2" charset="-122"/>
                        </a:rPr>
                        <a:t>/</a:t>
                      </a:r>
                      <a:r>
                        <a:rPr lang="zh-CN" sz="1600" kern="100" dirty="0">
                          <a:effectLst/>
                          <a:latin typeface="华文楷体" panose="02010600040101010101" pitchFamily="2" charset="-122"/>
                          <a:ea typeface="华文楷体" panose="02010600040101010101" pitchFamily="2" charset="-122"/>
                        </a:rPr>
                        <a:t>背叛</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权威</a:t>
                      </a:r>
                      <a:r>
                        <a:rPr lang="en-US" sz="1600" kern="100" dirty="0">
                          <a:effectLst/>
                          <a:latin typeface="华文楷体" panose="02010600040101010101" pitchFamily="2" charset="-122"/>
                          <a:ea typeface="华文楷体" panose="02010600040101010101" pitchFamily="2" charset="-122"/>
                        </a:rPr>
                        <a:t>/</a:t>
                      </a:r>
                      <a:r>
                        <a:rPr lang="zh-CN" sz="1600" kern="100" dirty="0">
                          <a:effectLst/>
                          <a:latin typeface="华文楷体" panose="02010600040101010101" pitchFamily="2" charset="-122"/>
                          <a:ea typeface="华文楷体" panose="02010600040101010101" pitchFamily="2" charset="-122"/>
                        </a:rPr>
                        <a:t>颠覆</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圣洁</a:t>
                      </a:r>
                      <a:r>
                        <a:rPr lang="en-US" sz="1600" kern="100" dirty="0">
                          <a:effectLst/>
                          <a:latin typeface="华文楷体" panose="02010600040101010101" pitchFamily="2" charset="-122"/>
                          <a:ea typeface="华文楷体" panose="02010600040101010101" pitchFamily="2" charset="-122"/>
                        </a:rPr>
                        <a:t>/</a:t>
                      </a:r>
                      <a:r>
                        <a:rPr lang="zh-CN" sz="1600" kern="100" dirty="0">
                          <a:effectLst/>
                          <a:latin typeface="华文楷体" panose="02010600040101010101" pitchFamily="2" charset="-122"/>
                          <a:ea typeface="华文楷体" panose="02010600040101010101" pitchFamily="2" charset="-122"/>
                        </a:rPr>
                        <a:t>堕落</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sz="1600" dirty="0">
                          <a:latin typeface="华文楷体" panose="02010600040101010101" pitchFamily="2" charset="-122"/>
                          <a:ea typeface="华文楷体" panose="02010600040101010101" pitchFamily="2" charset="-122"/>
                          <a:cs typeface="华文楷体" panose="02010600040101010101" pitchFamily="2" charset="-122"/>
                          <a:sym typeface="+mn-ea"/>
                        </a:rPr>
                        <a:t>自由</a:t>
                      </a:r>
                      <a:r>
                        <a:rPr lang="en-US" altLang="zh-CN" sz="1600" dirty="0">
                          <a:latin typeface="华文楷体" panose="02010600040101010101" pitchFamily="2" charset="-122"/>
                          <a:ea typeface="华文楷体" panose="02010600040101010101" pitchFamily="2" charset="-122"/>
                          <a:cs typeface="华文楷体" panose="02010600040101010101" pitchFamily="2" charset="-122"/>
                          <a:sym typeface="+mn-ea"/>
                        </a:rPr>
                        <a:t>/</a:t>
                      </a:r>
                      <a:r>
                        <a:rPr lang="zh-CN" altLang="en-US" sz="1600" dirty="0">
                          <a:latin typeface="华文楷体" panose="02010600040101010101" pitchFamily="2" charset="-122"/>
                          <a:ea typeface="华文楷体" panose="02010600040101010101" pitchFamily="2" charset="-122"/>
                          <a:cs typeface="华文楷体" panose="02010600040101010101" pitchFamily="2" charset="-122"/>
                          <a:sym typeface="+mn-ea"/>
                        </a:rPr>
                        <a:t>压迫</a:t>
                      </a:r>
                    </a:p>
                  </a:txBody>
                  <a:tcPr marL="68580" marR="68580" marT="0" marB="0"/>
                </a:tc>
                <a:extLst>
                  <a:ext uri="{0D108BD9-81ED-4DB2-BD59-A6C34878D82A}">
                    <a16:rowId xmlns:a16="http://schemas.microsoft.com/office/drawing/2014/main" val="10000"/>
                  </a:ext>
                </a:extLst>
              </a:tr>
              <a:tr h="764758">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适应性挑战</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对儿童的保护和关爱</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以双向的合作获得利益</a:t>
                      </a:r>
                      <a:endParaRPr lang="en-US" altLang="zh-CN" sz="1600" kern="100" dirty="0">
                        <a:effectLst/>
                        <a:latin typeface="华文楷体" panose="02010600040101010101" pitchFamily="2" charset="-122"/>
                        <a:ea typeface="华文楷体" panose="02010600040101010101" pitchFamily="2" charset="-122"/>
                      </a:endParaRPr>
                    </a:p>
                    <a:p>
                      <a:pPr algn="just">
                        <a:spcAft>
                          <a:spcPts val="0"/>
                        </a:spcAft>
                      </a:pPr>
                      <a:r>
                        <a:rPr lang="zh-CN" altLang="en-US" sz="1600" kern="100" dirty="0">
                          <a:effectLst/>
                          <a:latin typeface="华文楷体" panose="02010600040101010101" pitchFamily="2" charset="-122"/>
                          <a:ea typeface="华文楷体" panose="02010600040101010101" pitchFamily="2" charset="-122"/>
                          <a:cs typeface="Times New Roman" panose="02020603050405020304" pitchFamily="18" charset="0"/>
                        </a:rPr>
                        <a:t>（对称性：互惠利他）</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形成团结的集体</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在等级制内形成受益关系</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避免受到污染</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1600" dirty="0">
                          <a:latin typeface="华文楷体" panose="02010600040101010101" pitchFamily="2" charset="-122"/>
                          <a:ea typeface="华文楷体" panose="02010600040101010101" pitchFamily="2" charset="-122"/>
                        </a:rPr>
                        <a:t>成员抵抗能力较强的个人支配他人的冲动，保证食物与配偶的获得</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85192">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原初诱因</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自己孩子表现出来的痛苦、不快及需求</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1600" kern="100" dirty="0">
                          <a:effectLst/>
                          <a:latin typeface="华文楷体" panose="02010600040101010101" pitchFamily="2" charset="-122"/>
                          <a:ea typeface="华文楷体" panose="02010600040101010101" pitchFamily="2" charset="-122"/>
                        </a:rPr>
                        <a:t>欺瞒</a:t>
                      </a:r>
                      <a:r>
                        <a:rPr lang="zh-CN" sz="1600" kern="100" dirty="0">
                          <a:effectLst/>
                          <a:latin typeface="华文楷体" panose="02010600040101010101" pitchFamily="2" charset="-122"/>
                          <a:ea typeface="华文楷体" panose="02010600040101010101" pitchFamily="2" charset="-122"/>
                        </a:rPr>
                        <a:t>、合作、</a:t>
                      </a:r>
                    </a:p>
                    <a:p>
                      <a:pPr algn="just">
                        <a:spcAft>
                          <a:spcPts val="0"/>
                        </a:spcAft>
                      </a:pPr>
                      <a:r>
                        <a:rPr lang="zh-CN" sz="1600" kern="100" dirty="0">
                          <a:effectLst/>
                          <a:latin typeface="华文楷体" panose="02010600040101010101" pitchFamily="2" charset="-122"/>
                          <a:ea typeface="华文楷体" panose="02010600040101010101" pitchFamily="2" charset="-122"/>
                        </a:rPr>
                        <a:t>诈骗</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对群体的威胁或挑战</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支配和服从的标志</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废弃物、病人</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1600" dirty="0">
                          <a:latin typeface="华文楷体" panose="02010600040101010101" pitchFamily="2" charset="-122"/>
                          <a:ea typeface="华文楷体" panose="02010600040101010101" pitchFamily="2" charset="-122"/>
                          <a:cs typeface="华文楷体" panose="02010600040101010101" pitchFamily="2" charset="-122"/>
                          <a:sym typeface="+mn-ea"/>
                        </a:rPr>
                        <a:t>强盗、暴君（巧取豪夺）</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95144">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即时诱因</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海豹宝宝、可爱的卡通人物</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对婚姻的忠诚、遭破坏的自动贩卖机</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运动队、民族</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老板、受敬重的专业人士</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禁忌观念（种族主义）</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1600" dirty="0">
                          <a:latin typeface="华文楷体" panose="02010600040101010101" pitchFamily="2" charset="-122"/>
                          <a:ea typeface="华文楷体" panose="02010600040101010101" pitchFamily="2" charset="-122"/>
                          <a:cs typeface="华文楷体" panose="02010600040101010101" pitchFamily="2" charset="-122"/>
                          <a:sym typeface="+mn-ea"/>
                        </a:rPr>
                        <a:t>限制人的自由的嫌疑的所有事物</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34118">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特有情感</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同情</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愤怒、感激、罪恶感</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集体荣誉感、对叛徒的愤怒</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尊重、畏惧</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latin typeface="华文楷体" panose="02010600040101010101" pitchFamily="2" charset="-122"/>
                          <a:ea typeface="华文楷体" panose="02010600040101010101" pitchFamily="2" charset="-122"/>
                        </a:rPr>
                        <a:t>恶心</a:t>
                      </a:r>
                      <a:endParaRPr lang="zh-CN" sz="16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34118">
                <a:tc>
                  <a:txBody>
                    <a:bodyPr/>
                    <a:lstStyle/>
                    <a:p>
                      <a:pPr algn="just">
                        <a:spcAft>
                          <a:spcPts val="0"/>
                        </a:spcAft>
                      </a:pPr>
                      <a:r>
                        <a:rPr lang="zh-CN" sz="1600" kern="100">
                          <a:effectLst/>
                          <a:latin typeface="华文楷体" panose="02010600040101010101" pitchFamily="2" charset="-122"/>
                          <a:ea typeface="华文楷体" panose="02010600040101010101" pitchFamily="2" charset="-122"/>
                        </a:rPr>
                        <a:t>相关美德</a:t>
                      </a:r>
                      <a:endParaRPr lang="zh-CN" sz="1600" kern="10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关爱、仁慈</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公平、正义、守信</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忠诚、爱国主义</a:t>
                      </a:r>
                      <a:endParaRPr lang="en-US" altLang="zh-CN" sz="1600" kern="100" dirty="0">
                        <a:solidFill>
                          <a:srgbClr val="FF0000"/>
                        </a:solidFill>
                        <a:effectLst/>
                        <a:latin typeface="华文楷体" panose="02010600040101010101" pitchFamily="2" charset="-122"/>
                        <a:ea typeface="华文楷体" panose="02010600040101010101" pitchFamily="2" charset="-122"/>
                      </a:endParaRPr>
                    </a:p>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自我牺牲</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服从、尊重</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solidFill>
                            <a:srgbClr val="FF0000"/>
                          </a:solidFill>
                          <a:effectLst/>
                          <a:latin typeface="华文楷体" panose="02010600040101010101" pitchFamily="2" charset="-122"/>
                          <a:ea typeface="华文楷体" panose="02010600040101010101" pitchFamily="2" charset="-122"/>
                        </a:rPr>
                        <a:t>节制、贞洁、虔诚、洁净</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1600" dirty="0">
                          <a:latin typeface="华文楷体" panose="02010600040101010101" pitchFamily="2" charset="-122"/>
                          <a:ea typeface="华文楷体" panose="02010600040101010101" pitchFamily="2" charset="-122"/>
                          <a:cs typeface="华文楷体" panose="02010600040101010101" pitchFamily="2" charset="-122"/>
                          <a:sym typeface="+mn-ea"/>
                        </a:rPr>
                        <a:t>正义、团结</a:t>
                      </a:r>
                      <a:endParaRPr lang="zh-CN" sz="1600" kern="100" dirty="0">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
            <a:ext cx="12142237" cy="3321698"/>
          </a:xfrm>
        </p:spPr>
        <p:txBody>
          <a:bodyPr>
            <a:normAutofit/>
          </a:bodyPr>
          <a:lstStyle/>
          <a:p>
            <a:r>
              <a:rPr lang="en-US" altLang="zh-CN" sz="1800" dirty="0">
                <a:latin typeface="华文楷体" panose="02010600040101010101" pitchFamily="2" charset="-122"/>
                <a:ea typeface="华文楷体" panose="02010600040101010101" pitchFamily="2" charset="-122"/>
              </a:rPr>
              <a:t>1.</a:t>
            </a:r>
            <a:r>
              <a:rPr lang="zh-CN" altLang="en-US" sz="1800" dirty="0">
                <a:solidFill>
                  <a:srgbClr val="FF0000"/>
                </a:solidFill>
                <a:latin typeface="华文楷体" panose="02010600040101010101" pitchFamily="2" charset="-122"/>
                <a:ea typeface="华文楷体" panose="02010600040101010101" pitchFamily="2" charset="-122"/>
              </a:rPr>
              <a:t>关爱</a:t>
            </a:r>
            <a:r>
              <a:rPr lang="zh-CN" altLang="en-US" sz="1800" dirty="0">
                <a:latin typeface="华文楷体" panose="02010600040101010101" pitchFamily="2" charset="-122"/>
                <a:ea typeface="华文楷体" panose="02010600040101010101" pitchFamily="2" charset="-122"/>
              </a:rPr>
              <a:t>是对</a:t>
            </a:r>
            <a:r>
              <a:rPr lang="zh-CN" altLang="en-US" sz="1800" dirty="0">
                <a:solidFill>
                  <a:srgbClr val="FF0000"/>
                </a:solidFill>
                <a:latin typeface="华文楷体" panose="02010600040101010101" pitchFamily="2" charset="-122"/>
                <a:ea typeface="华文楷体" panose="02010600040101010101" pitchFamily="2" charset="-122"/>
              </a:rPr>
              <a:t>养育子女</a:t>
            </a:r>
            <a:r>
              <a:rPr lang="zh-CN" altLang="en-US" sz="1800" dirty="0">
                <a:latin typeface="华文楷体" panose="02010600040101010101" pitchFamily="2" charset="-122"/>
                <a:ea typeface="华文楷体" panose="02010600040101010101" pitchFamily="2" charset="-122"/>
              </a:rPr>
              <a:t>挑战的适应，扩展到对弱者和失败者的保护，这是自由派最关注的道德基础。</a:t>
            </a:r>
          </a:p>
          <a:p>
            <a:r>
              <a:rPr lang="en-US" altLang="zh-CN" sz="1800" dirty="0">
                <a:latin typeface="华文楷体" panose="02010600040101010101" pitchFamily="2" charset="-122"/>
                <a:ea typeface="华文楷体" panose="02010600040101010101" pitchFamily="2" charset="-122"/>
              </a:rPr>
              <a:t>2.</a:t>
            </a:r>
            <a:r>
              <a:rPr lang="zh-CN" altLang="en-US" sz="1800" dirty="0">
                <a:solidFill>
                  <a:srgbClr val="FF0000"/>
                </a:solidFill>
                <a:latin typeface="华文楷体" panose="02010600040101010101" pitchFamily="2" charset="-122"/>
                <a:ea typeface="华文楷体" panose="02010600040101010101" pitchFamily="2" charset="-122"/>
              </a:rPr>
              <a:t>公平</a:t>
            </a:r>
            <a:r>
              <a:rPr lang="zh-CN" altLang="en-US" sz="1800" dirty="0">
                <a:latin typeface="华文楷体" panose="02010600040101010101" pitchFamily="2" charset="-122"/>
                <a:ea typeface="华文楷体" panose="02010600040101010101" pitchFamily="2" charset="-122"/>
              </a:rPr>
              <a:t>是对群体内合作与竞争的适应，道德共同体通过非议与惩罚来实现合理的对称性意义上的公平，</a:t>
            </a:r>
            <a:r>
              <a:rPr lang="zh-CN" altLang="en-US" sz="1800" dirty="0">
                <a:solidFill>
                  <a:srgbClr val="FF0000"/>
                </a:solidFill>
                <a:latin typeface="华文楷体" panose="02010600040101010101" pitchFamily="2" charset="-122"/>
                <a:ea typeface="华文楷体" panose="02010600040101010101" pitchFamily="2" charset="-122"/>
              </a:rPr>
              <a:t>防止搭便车者</a:t>
            </a:r>
            <a:r>
              <a:rPr lang="zh-CN" altLang="en-US" sz="1800" dirty="0">
                <a:latin typeface="华文楷体" panose="02010600040101010101" pitchFamily="2" charset="-122"/>
                <a:ea typeface="华文楷体" panose="02010600040101010101" pitchFamily="2" charset="-122"/>
              </a:rPr>
              <a:t>。实验显示，在</a:t>
            </a:r>
            <a:r>
              <a:rPr lang="zh-CN" altLang="en-US" sz="1800" dirty="0">
                <a:solidFill>
                  <a:srgbClr val="FF0000"/>
                </a:solidFill>
                <a:latin typeface="华文楷体" panose="02010600040101010101" pitchFamily="2" charset="-122"/>
                <a:ea typeface="华文楷体" panose="02010600040101010101" pitchFamily="2" charset="-122"/>
              </a:rPr>
              <a:t>共同合作获利的游戏</a:t>
            </a:r>
            <a:r>
              <a:rPr lang="zh-CN" altLang="en-US" sz="1800" dirty="0">
                <a:latin typeface="华文楷体" panose="02010600040101010101" pitchFamily="2" charset="-122"/>
                <a:ea typeface="华文楷体" panose="02010600040101010101" pitchFamily="2" charset="-122"/>
              </a:rPr>
              <a:t>中，在没有惩罚搭便车机制的情况下，付出的水平从</a:t>
            </a:r>
            <a:r>
              <a:rPr lang="en-US" altLang="zh-CN" sz="1800" dirty="0">
                <a:latin typeface="华文楷体" panose="02010600040101010101" pitchFamily="2" charset="-122"/>
                <a:ea typeface="华文楷体" panose="02010600040101010101" pitchFamily="2" charset="-122"/>
              </a:rPr>
              <a:t>10</a:t>
            </a:r>
            <a:r>
              <a:rPr lang="zh-CN" altLang="en-US" sz="1800" dirty="0">
                <a:latin typeface="华文楷体" panose="02010600040101010101" pitchFamily="2" charset="-122"/>
                <a:ea typeface="华文楷体" panose="02010600040101010101" pitchFamily="2" charset="-122"/>
              </a:rPr>
              <a:t>降至</a:t>
            </a:r>
            <a:r>
              <a:rPr lang="en-US" altLang="zh-CN" sz="1800" dirty="0">
                <a:latin typeface="华文楷体" panose="02010600040101010101" pitchFamily="2" charset="-122"/>
                <a:ea typeface="华文楷体" panose="02010600040101010101" pitchFamily="2" charset="-122"/>
              </a:rPr>
              <a:t>6</a:t>
            </a:r>
            <a:r>
              <a:rPr lang="zh-CN" altLang="en-US" sz="1800" dirty="0">
                <a:latin typeface="华文楷体" panose="02010600040101010101" pitchFamily="2" charset="-122"/>
                <a:ea typeface="华文楷体" panose="02010600040101010101" pitchFamily="2" charset="-122"/>
              </a:rPr>
              <a:t>，在加入个人可选择惩罚搭便车者时，合作大幅度提高，从</a:t>
            </a:r>
            <a:r>
              <a:rPr lang="en-US" altLang="zh-CN" sz="1800" dirty="0">
                <a:latin typeface="华文楷体" panose="02010600040101010101" pitchFamily="2" charset="-122"/>
                <a:ea typeface="华文楷体" panose="02010600040101010101" pitchFamily="2" charset="-122"/>
              </a:rPr>
              <a:t>6</a:t>
            </a:r>
            <a:r>
              <a:rPr lang="zh-CN" altLang="en-US" sz="1800" dirty="0">
                <a:latin typeface="华文楷体" panose="02010600040101010101" pitchFamily="2" charset="-122"/>
                <a:ea typeface="华文楷体" panose="02010600040101010101" pitchFamily="2" charset="-122"/>
              </a:rPr>
              <a:t>最终升至</a:t>
            </a:r>
            <a:r>
              <a:rPr lang="en-US" altLang="zh-CN" sz="1800" dirty="0">
                <a:latin typeface="华文楷体" panose="02010600040101010101" pitchFamily="2" charset="-122"/>
                <a:ea typeface="华文楷体" panose="02010600040101010101" pitchFamily="2" charset="-122"/>
              </a:rPr>
              <a:t>15</a:t>
            </a:r>
            <a:r>
              <a:rPr lang="zh-CN" altLang="en-US" sz="1800" dirty="0">
                <a:latin typeface="华文楷体" panose="02010600040101010101" pitchFamily="2" charset="-122"/>
                <a:ea typeface="华文楷体" panose="02010600040101010101" pitchFamily="2" charset="-122"/>
              </a:rPr>
              <a:t>（个人开始拥有</a:t>
            </a:r>
            <a:r>
              <a:rPr lang="en-US" altLang="zh-CN" sz="1800" dirty="0">
                <a:latin typeface="华文楷体" panose="02010600040101010101" pitchFamily="2" charset="-122"/>
                <a:ea typeface="华文楷体" panose="02010600040101010101" pitchFamily="2" charset="-122"/>
              </a:rPr>
              <a:t>20</a:t>
            </a:r>
            <a:r>
              <a:rPr lang="zh-CN" altLang="en-US" sz="1800" dirty="0">
                <a:latin typeface="华文楷体" panose="02010600040101010101" pitchFamily="2" charset="-122"/>
                <a:ea typeface="华文楷体" panose="02010600040101010101" pitchFamily="2" charset="-122"/>
              </a:rPr>
              <a:t>个砝码）。</a:t>
            </a:r>
          </a:p>
          <a:p>
            <a:r>
              <a:rPr lang="en-US" altLang="zh-CN" sz="1800" dirty="0">
                <a:latin typeface="华文楷体" panose="02010600040101010101" pitchFamily="2" charset="-122"/>
                <a:ea typeface="华文楷体" panose="02010600040101010101" pitchFamily="2" charset="-122"/>
              </a:rPr>
              <a:t>3.</a:t>
            </a:r>
            <a:r>
              <a:rPr lang="zh-CN" altLang="en-US" sz="1800" dirty="0">
                <a:solidFill>
                  <a:srgbClr val="FF0000"/>
                </a:solidFill>
                <a:latin typeface="华文楷体" panose="02010600040101010101" pitchFamily="2" charset="-122"/>
                <a:ea typeface="华文楷体" panose="02010600040101010101" pitchFamily="2" charset="-122"/>
              </a:rPr>
              <a:t>忠诚</a:t>
            </a:r>
            <a:r>
              <a:rPr lang="zh-CN" altLang="en-US" sz="1800" dirty="0">
                <a:latin typeface="华文楷体" panose="02010600040101010101" pitchFamily="2" charset="-122"/>
                <a:ea typeface="华文楷体" panose="02010600040101010101" pitchFamily="2" charset="-122"/>
              </a:rPr>
              <a:t>是对部落间竞争的适应，自由派拥抱普世价值，反对民族主义，在保守派眼里无异于对祖国的背叛。</a:t>
            </a:r>
          </a:p>
          <a:p>
            <a:r>
              <a:rPr lang="en-US" altLang="zh-CN" sz="1800" dirty="0">
                <a:latin typeface="华文楷体" panose="02010600040101010101" pitchFamily="2" charset="-122"/>
                <a:ea typeface="华文楷体" panose="02010600040101010101" pitchFamily="2" charset="-122"/>
              </a:rPr>
              <a:t>4.</a:t>
            </a:r>
            <a:r>
              <a:rPr lang="zh-CN" altLang="en-US" sz="1800" dirty="0">
                <a:solidFill>
                  <a:srgbClr val="FF0000"/>
                </a:solidFill>
                <a:latin typeface="华文楷体" panose="02010600040101010101" pitchFamily="2" charset="-122"/>
                <a:ea typeface="华文楷体" panose="02010600040101010101" pitchFamily="2" charset="-122"/>
              </a:rPr>
              <a:t>圣洁</a:t>
            </a:r>
            <a:r>
              <a:rPr lang="zh-CN" altLang="en-US" sz="1800" dirty="0">
                <a:latin typeface="华文楷体" panose="02010600040101010101" pitchFamily="2" charset="-122"/>
                <a:ea typeface="华文楷体" panose="02010600040101010101" pitchFamily="2" charset="-122"/>
              </a:rPr>
              <a:t>起初的适应性挑战是预防病菌、寄生虫和其他有可能通过物理接触或临近传播的威胁。其扩展在保守派表现为对宗教神圣的追求，在自由派体现为环保和对工业资本主义的厌恶。</a:t>
            </a:r>
          </a:p>
          <a:p>
            <a:r>
              <a:rPr lang="en-US" altLang="zh-CN" sz="1800" dirty="0">
                <a:latin typeface="华文楷体" panose="02010600040101010101" pitchFamily="2" charset="-122"/>
                <a:ea typeface="华文楷体" panose="02010600040101010101" pitchFamily="2" charset="-122"/>
              </a:rPr>
              <a:t>5.</a:t>
            </a:r>
            <a:r>
              <a:rPr lang="zh-CN" altLang="en-US" sz="1800" dirty="0">
                <a:solidFill>
                  <a:srgbClr val="FF0000"/>
                </a:solidFill>
                <a:latin typeface="华文楷体" panose="02010600040101010101" pitchFamily="2" charset="-122"/>
                <a:ea typeface="华文楷体" panose="02010600040101010101" pitchFamily="2" charset="-122"/>
              </a:rPr>
              <a:t>权威</a:t>
            </a:r>
            <a:r>
              <a:rPr lang="zh-CN" altLang="en-US" sz="1800" dirty="0">
                <a:latin typeface="华文楷体" panose="02010600040101010101" pitchFamily="2" charset="-122"/>
                <a:ea typeface="华文楷体" panose="02010600040101010101" pitchFamily="2" charset="-122"/>
              </a:rPr>
              <a:t>是对个体在等级制内获益的适应。</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6.</a:t>
            </a:r>
            <a:r>
              <a:rPr lang="zh-CN" altLang="en-US" sz="1800" dirty="0">
                <a:solidFill>
                  <a:srgbClr val="FF0000"/>
                </a:solidFill>
                <a:latin typeface="华文楷体" panose="02010600040101010101" pitchFamily="2" charset="-122"/>
                <a:ea typeface="华文楷体" panose="02010600040101010101" pitchFamily="2" charset="-122"/>
              </a:rPr>
              <a:t>自由</a:t>
            </a:r>
            <a:r>
              <a:rPr lang="zh-CN" altLang="en-US" sz="1800" dirty="0">
                <a:latin typeface="华文楷体" panose="02010600040101010101" pitchFamily="2" charset="-122"/>
                <a:ea typeface="华文楷体" panose="02010600040101010101" pitchFamily="2" charset="-122"/>
              </a:rPr>
              <a:t>的原初适应性挑战是，在部落中，成员抵抗能力较强的个人支配他人的冲动，从而保证食物与配偶的获得。</a:t>
            </a:r>
          </a:p>
          <a:p>
            <a:endParaRPr lang="zh-CN" altLang="en-US" sz="1800" dirty="0"/>
          </a:p>
        </p:txBody>
      </p:sp>
      <p:sp>
        <p:nvSpPr>
          <p:cNvPr id="2" name="标题 1"/>
          <p:cNvSpPr>
            <a:spLocks noGrp="1"/>
          </p:cNvSpPr>
          <p:nvPr>
            <p:ph type="title"/>
          </p:nvPr>
        </p:nvSpPr>
        <p:spPr>
          <a:xfrm>
            <a:off x="49763" y="3030583"/>
            <a:ext cx="4053218" cy="505719"/>
          </a:xfrm>
        </p:spPr>
        <p:txBody>
          <a:bodyPr>
            <a:normAutofit/>
          </a:bodyPr>
          <a:lstStyle/>
          <a:p>
            <a:r>
              <a:rPr lang="zh-CN" altLang="en-US" sz="2000" dirty="0">
                <a:latin typeface="华文楷体" panose="02010600040101010101" pitchFamily="2" charset="-122"/>
                <a:ea typeface="华文楷体" panose="02010600040101010101" pitchFamily="2" charset="-122"/>
              </a:rPr>
              <a:t>道德心理学三原则（</a:t>
            </a:r>
            <a:r>
              <a:rPr lang="en-US" altLang="zh-CN" sz="2000" dirty="0">
                <a:latin typeface="华文楷体" panose="02010600040101010101" pitchFamily="2" charset="-122"/>
                <a:ea typeface="华文楷体" panose="02010600040101010101" pitchFamily="2" charset="-122"/>
              </a:rPr>
              <a:t>Jonathan Haidt</a:t>
            </a:r>
            <a:r>
              <a:rPr lang="zh-CN" altLang="en-US" sz="2000" dirty="0">
                <a:latin typeface="华文楷体" panose="02010600040101010101" pitchFamily="2" charset="-122"/>
                <a:ea typeface="华文楷体" panose="02010600040101010101" pitchFamily="2" charset="-122"/>
              </a:rPr>
              <a:t>）</a:t>
            </a:r>
          </a:p>
        </p:txBody>
      </p:sp>
      <p:sp>
        <p:nvSpPr>
          <p:cNvPr id="4" name="内容占位符 2"/>
          <p:cNvSpPr txBox="1">
            <a:spLocks/>
          </p:cNvSpPr>
          <p:nvPr/>
        </p:nvSpPr>
        <p:spPr>
          <a:xfrm>
            <a:off x="108235" y="3588693"/>
            <a:ext cx="12768010" cy="276358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rPr>
              <a:t>1.</a:t>
            </a:r>
            <a:r>
              <a:rPr lang="zh-CN" altLang="en-US" sz="1800">
                <a:solidFill>
                  <a:srgbClr val="FF0000"/>
                </a:solidFill>
                <a:latin typeface="华文楷体" panose="02010600040101010101" pitchFamily="2" charset="-122"/>
                <a:ea typeface="华文楷体" panose="02010600040101010101" pitchFamily="2" charset="-122"/>
              </a:rPr>
              <a:t>直觉</a:t>
            </a:r>
            <a:r>
              <a:rPr lang="zh-CN" altLang="en-US" sz="1800">
                <a:latin typeface="华文楷体" panose="02010600040101010101" pitchFamily="2" charset="-122"/>
                <a:ea typeface="华文楷体" panose="02010600040101010101" pitchFamily="2" charset="-122"/>
              </a:rPr>
              <a:t>在先，策略性</a:t>
            </a:r>
            <a:r>
              <a:rPr lang="zh-CN" altLang="en-US" sz="1800">
                <a:solidFill>
                  <a:srgbClr val="FF0000"/>
                </a:solidFill>
                <a:latin typeface="华文楷体" panose="02010600040101010101" pitchFamily="2" charset="-122"/>
                <a:ea typeface="华文楷体" panose="02010600040101010101" pitchFamily="2" charset="-122"/>
              </a:rPr>
              <a:t>推理</a:t>
            </a:r>
            <a:r>
              <a:rPr lang="zh-CN" altLang="en-US" sz="1800">
                <a:latin typeface="华文楷体" panose="02010600040101010101" pitchFamily="2" charset="-122"/>
                <a:ea typeface="华文楷体" panose="02010600040101010101" pitchFamily="2" charset="-122"/>
              </a:rPr>
              <a:t>在后；</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相关类比是象与骑象人，骑象人服务于大象，或者说我们的理性是为直觉辩护的律师。</a:t>
            </a:r>
            <a:endParaRPr lang="en-US" altLang="zh-CN" sz="1800">
              <a:latin typeface="华文楷体" panose="02010600040101010101" pitchFamily="2" charset="-122"/>
              <a:ea typeface="华文楷体" panose="02010600040101010101" pitchFamily="2" charset="-122"/>
            </a:endParaRPr>
          </a:p>
          <a:p>
            <a:r>
              <a:rPr lang="en-US" altLang="zh-CN" sz="1800">
                <a:latin typeface="华文楷体" panose="02010600040101010101" pitchFamily="2" charset="-122"/>
                <a:ea typeface="华文楷体" panose="02010600040101010101" pitchFamily="2" charset="-122"/>
              </a:rPr>
              <a:t>2.</a:t>
            </a:r>
            <a:r>
              <a:rPr lang="zh-CN" altLang="en-US" sz="1800">
                <a:latin typeface="华文楷体" panose="02010600040101010101" pitchFamily="2" charset="-122"/>
                <a:ea typeface="华文楷体" panose="02010600040101010101" pitchFamily="2" charset="-122"/>
              </a:rPr>
              <a:t>道德的内涵不止于</a:t>
            </a:r>
            <a:r>
              <a:rPr lang="zh-CN" altLang="en-US" sz="1800">
                <a:solidFill>
                  <a:srgbClr val="FF0000"/>
                </a:solidFill>
                <a:latin typeface="华文楷体" panose="02010600040101010101" pitchFamily="2" charset="-122"/>
                <a:ea typeface="华文楷体" panose="02010600040101010101" pitchFamily="2" charset="-122"/>
              </a:rPr>
              <a:t>伤害和公平</a:t>
            </a:r>
            <a:r>
              <a:rPr lang="zh-CN" altLang="en-US" sz="1800">
                <a:latin typeface="华文楷体" panose="02010600040101010101" pitchFamily="2" charset="-122"/>
                <a:ea typeface="华文楷体" panose="02010600040101010101" pitchFamily="2" charset="-122"/>
              </a:rPr>
              <a:t>；</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相关类比是我们的正义之心就像有</a:t>
            </a:r>
            <a:r>
              <a:rPr lang="en-US" altLang="zh-CN" sz="1800">
                <a:latin typeface="华文楷体" panose="02010600040101010101" pitchFamily="2" charset="-122"/>
                <a:ea typeface="华文楷体" panose="02010600040101010101" pitchFamily="2" charset="-122"/>
              </a:rPr>
              <a:t>6</a:t>
            </a:r>
            <a:r>
              <a:rPr lang="zh-CN" altLang="en-US" sz="1800">
                <a:latin typeface="华文楷体" panose="02010600040101010101" pitchFamily="2" charset="-122"/>
                <a:ea typeface="华文楷体" panose="02010600040101010101" pitchFamily="2" charset="-122"/>
              </a:rPr>
              <a:t>种味道的舌头。自由主义者拥有三基道德，而保守主义者有着更广泛的五基道德。</a:t>
            </a:r>
            <a:endParaRPr lang="en-US" altLang="zh-CN" sz="1800">
              <a:latin typeface="华文楷体" panose="02010600040101010101" pitchFamily="2" charset="-122"/>
              <a:ea typeface="华文楷体" panose="02010600040101010101" pitchFamily="2" charset="-122"/>
            </a:endParaRPr>
          </a:p>
          <a:p>
            <a:r>
              <a:rPr lang="en-US" altLang="zh-CN" sz="1800">
                <a:latin typeface="华文楷体" panose="02010600040101010101" pitchFamily="2" charset="-122"/>
                <a:ea typeface="华文楷体" panose="02010600040101010101" pitchFamily="2" charset="-122"/>
              </a:rPr>
              <a:t>3.</a:t>
            </a:r>
            <a:r>
              <a:rPr lang="zh-CN" altLang="en-US" sz="1800">
                <a:latin typeface="华文楷体" panose="02010600040101010101" pitchFamily="2" charset="-122"/>
                <a:ea typeface="华文楷体" panose="02010600040101010101" pitchFamily="2" charset="-122"/>
              </a:rPr>
              <a:t>道德</a:t>
            </a:r>
            <a:r>
              <a:rPr lang="zh-CN" altLang="en-US" sz="1800">
                <a:solidFill>
                  <a:srgbClr val="FF0000"/>
                </a:solidFill>
                <a:latin typeface="华文楷体" panose="02010600040101010101" pitchFamily="2" charset="-122"/>
                <a:ea typeface="华文楷体" panose="02010600040101010101" pitchFamily="2" charset="-122"/>
              </a:rPr>
              <a:t>凝聚人心</a:t>
            </a:r>
            <a:r>
              <a:rPr lang="zh-CN" altLang="en-US" sz="1800">
                <a:latin typeface="华文楷体" panose="02010600040101010101" pitchFamily="2" charset="-122"/>
                <a:ea typeface="华文楷体" panose="02010600040101010101" pitchFamily="2" charset="-122"/>
              </a:rPr>
              <a:t>，但具有</a:t>
            </a:r>
            <a:r>
              <a:rPr lang="zh-CN" altLang="en-US" sz="1800">
                <a:solidFill>
                  <a:srgbClr val="FF0000"/>
                </a:solidFill>
                <a:latin typeface="华文楷体" panose="02010600040101010101" pitchFamily="2" charset="-122"/>
                <a:ea typeface="华文楷体" panose="02010600040101010101" pitchFamily="2" charset="-122"/>
              </a:rPr>
              <a:t>盲目性</a:t>
            </a:r>
            <a:r>
              <a:rPr lang="zh-CN" altLang="en-US" sz="1800">
                <a:latin typeface="华文楷体" panose="02010600040101010101" pitchFamily="2" charset="-122"/>
                <a:ea typeface="华文楷体" panose="02010600040101010101" pitchFamily="2" charset="-122"/>
              </a:rPr>
              <a:t>。</a:t>
            </a:r>
            <a:endParaRPr lang="en-US" altLang="zh-CN" sz="1800">
              <a:latin typeface="华文楷体" panose="02010600040101010101" pitchFamily="2" charset="-122"/>
              <a:ea typeface="华文楷体" panose="02010600040101010101" pitchFamily="2" charset="-122"/>
            </a:endParaRPr>
          </a:p>
          <a:p>
            <a:r>
              <a:rPr lang="zh-CN" altLang="en-US" sz="1800">
                <a:latin typeface="华文楷体" panose="02010600040101010101" pitchFamily="2" charset="-122"/>
                <a:ea typeface="华文楷体" panose="02010600040101010101" pitchFamily="2" charset="-122"/>
              </a:rPr>
              <a:t>人类是</a:t>
            </a:r>
            <a:r>
              <a:rPr lang="en-US" altLang="zh-CN" sz="1800">
                <a:latin typeface="华文楷体" panose="02010600040101010101" pitchFamily="2" charset="-122"/>
                <a:ea typeface="华文楷体" panose="02010600040101010101" pitchFamily="2" charset="-122"/>
              </a:rPr>
              <a:t>90%</a:t>
            </a:r>
            <a:r>
              <a:rPr lang="zh-CN" altLang="en-US" sz="1800">
                <a:latin typeface="华文楷体" panose="02010600040101010101" pitchFamily="2" charset="-122"/>
                <a:ea typeface="华文楷体" panose="02010600040101010101" pitchFamily="2" charset="-122"/>
              </a:rPr>
              <a:t>的黑猩猩和</a:t>
            </a:r>
            <a:r>
              <a:rPr lang="en-US" altLang="zh-CN" sz="1800">
                <a:latin typeface="华文楷体" panose="02010600040101010101" pitchFamily="2" charset="-122"/>
                <a:ea typeface="华文楷体" panose="02010600040101010101" pitchFamily="2" charset="-122"/>
              </a:rPr>
              <a:t>10%</a:t>
            </a:r>
            <a:r>
              <a:rPr lang="zh-CN" altLang="en-US" sz="1800">
                <a:latin typeface="华文楷体" panose="02010600040101010101" pitchFamily="2" charset="-122"/>
                <a:ea typeface="华文楷体" panose="02010600040101010101" pitchFamily="2" charset="-122"/>
              </a:rPr>
              <a:t>的蜜蜂。我们狭隘的群体适应性。</a:t>
            </a:r>
            <a:endParaRPr lang="zh-CN" altLang="en-US" sz="1800"/>
          </a:p>
          <a:p>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sz="2400" dirty="0">
                <a:latin typeface="华文楷体" panose="02010600040101010101" pitchFamily="2" charset="-122"/>
                <a:ea typeface="华文楷体" panose="02010600040101010101" pitchFamily="2" charset="-122"/>
              </a:rPr>
              <a:t>即便最具理性之人，也常会选择性运用理性思维。</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面对健康问题时，我们懂得应当遵从医嘱；选购汽车或家电时，会审慎评估网络评测，冷静权衡后作出明智选择。</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然而当涉及更敏感的事务</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投票选举、处理家庭矛盾、应对职场困境</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我们却可能将理性抛诸脑后，罔顾已成体系的客观证据，转而依赖直觉判断（当然直觉有其价值，但并非所有重大决策都该交由感性主宰）。</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同样，在思考道德命题，我们往往陷入思维僵局，不是草率定论就是逃避深入分析，更遑论借鉴他人构建的论证路径来穿越思想迷宫。</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74645"/>
            <a:ext cx="5446589" cy="418633"/>
          </a:xfrm>
        </p:spPr>
        <p:txBody>
          <a:bodyPr>
            <a:normAutofit/>
          </a:bodyPr>
          <a:lstStyle/>
          <a:p>
            <a:r>
              <a:rPr lang="zh-CN" altLang="en-US" sz="2000" dirty="0"/>
              <a:t>二</a:t>
            </a:r>
            <a:r>
              <a:rPr lang="zh-CN" altLang="en-US" sz="2000" dirty="0">
                <a:latin typeface="华文楷体" panose="02010600040101010101" pitchFamily="2" charset="-122"/>
                <a:ea typeface="华文楷体" panose="02010600040101010101" pitchFamily="2" charset="-122"/>
              </a:rPr>
              <a:t>、道德文化是中华优秀传统文化重要内容</a:t>
            </a:r>
          </a:p>
        </p:txBody>
      </p:sp>
      <p:sp>
        <p:nvSpPr>
          <p:cNvPr id="3" name="内容占位符 2"/>
          <p:cNvSpPr>
            <a:spLocks noGrp="1"/>
          </p:cNvSpPr>
          <p:nvPr>
            <p:ph idx="1"/>
          </p:nvPr>
        </p:nvSpPr>
        <p:spPr>
          <a:xfrm>
            <a:off x="0" y="493279"/>
            <a:ext cx="10693489" cy="2156306"/>
          </a:xfrm>
        </p:spPr>
        <p:txBody>
          <a:bodyPr>
            <a:normAutofit/>
          </a:bodyPr>
          <a:lstStyle/>
          <a:p>
            <a:pPr marL="0" indent="0">
              <a:buNone/>
            </a:pPr>
            <a:r>
              <a:rPr lang="zh-CN" altLang="en-US" sz="1800" dirty="0">
                <a:solidFill>
                  <a:schemeClr val="tx1"/>
                </a:solidFill>
                <a:latin typeface="华文中宋" panose="02010600040101010101" pitchFamily="2" charset="-122"/>
                <a:ea typeface="华文中宋" panose="02010600040101010101" pitchFamily="2" charset="-122"/>
              </a:rPr>
              <a:t>      </a:t>
            </a:r>
            <a:r>
              <a:rPr lang="zh-CN" altLang="en-US" sz="1800" dirty="0">
                <a:solidFill>
                  <a:schemeClr val="tx1"/>
                </a:solidFill>
                <a:latin typeface="华文楷体" panose="02010600040101010101" pitchFamily="2" charset="-122"/>
                <a:ea typeface="华文楷体" panose="02010600040101010101" pitchFamily="2" charset="-122"/>
              </a:rPr>
              <a:t>以原生儒家学派为主流，融汇百家，借鉴佛教文化，所形成的宋明新儒学是中国传统文化的典型思想形态。</a:t>
            </a: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endParaRPr lang="en-US" altLang="zh-CN" sz="1800" dirty="0">
              <a:solidFill>
                <a:schemeClr val="tx1"/>
              </a:solidFill>
              <a:latin typeface="华文楷体" panose="02010600040101010101" pitchFamily="2" charset="-122"/>
              <a:ea typeface="华文楷体" panose="02010600040101010101" pitchFamily="2" charset="-122"/>
            </a:endParaRPr>
          </a:p>
          <a:p>
            <a:pPr marL="0" indent="0">
              <a:buNone/>
            </a:pPr>
            <a:r>
              <a:rPr lang="en-US" altLang="zh-CN" sz="1800" dirty="0">
                <a:solidFill>
                  <a:schemeClr val="tx1"/>
                </a:solidFill>
                <a:latin typeface="华文楷体" panose="02010600040101010101" pitchFamily="2" charset="-122"/>
                <a:ea typeface="华文楷体" panose="02010600040101010101" pitchFamily="2" charset="-122"/>
              </a:rPr>
              <a:t>[</a:t>
            </a:r>
            <a:r>
              <a:rPr lang="zh-CN" altLang="en-US" sz="1800" dirty="0">
                <a:solidFill>
                  <a:schemeClr val="tx1"/>
                </a:solidFill>
                <a:latin typeface="华文楷体" panose="02010600040101010101" pitchFamily="2" charset="-122"/>
                <a:ea typeface="华文楷体" panose="02010600040101010101" pitchFamily="2" charset="-122"/>
              </a:rPr>
              <a:t>内</a:t>
            </a:r>
            <a:r>
              <a:rPr lang="en-US" altLang="zh-CN" sz="1800" dirty="0">
                <a:solidFill>
                  <a:schemeClr val="tx1"/>
                </a:solidFill>
                <a:latin typeface="华文楷体" panose="02010600040101010101" pitchFamily="2" charset="-122"/>
                <a:ea typeface="华文楷体" panose="02010600040101010101" pitchFamily="2" charset="-122"/>
              </a:rPr>
              <a:t>]</a:t>
            </a:r>
            <a:r>
              <a:rPr lang="zh-CN" altLang="en-US" sz="1800" dirty="0">
                <a:solidFill>
                  <a:schemeClr val="tx1"/>
                </a:solidFill>
                <a:latin typeface="华文楷体" panose="02010600040101010101" pitchFamily="2" charset="-122"/>
                <a:ea typeface="华文楷体" panose="02010600040101010101" pitchFamily="2" charset="-122"/>
              </a:rPr>
              <a:t>文化</a:t>
            </a:r>
            <a:endParaRPr lang="en-US" altLang="zh-CN" sz="1800" dirty="0">
              <a:solidFill>
                <a:schemeClr val="tx1"/>
              </a:solidFill>
              <a:latin typeface="华文楷体" panose="02010600040101010101" pitchFamily="2" charset="-122"/>
              <a:ea typeface="华文楷体" panose="02010600040101010101" pitchFamily="2" charset="-122"/>
            </a:endParaRPr>
          </a:p>
        </p:txBody>
      </p:sp>
      <p:sp>
        <p:nvSpPr>
          <p:cNvPr id="4" name="左大括号 3"/>
          <p:cNvSpPr/>
          <p:nvPr/>
        </p:nvSpPr>
        <p:spPr>
          <a:xfrm>
            <a:off x="922537" y="1064229"/>
            <a:ext cx="477055" cy="11253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 name="文本框 4"/>
          <p:cNvSpPr txBox="1"/>
          <p:nvPr/>
        </p:nvSpPr>
        <p:spPr>
          <a:xfrm>
            <a:off x="1509707" y="900996"/>
            <a:ext cx="3911962" cy="369332"/>
          </a:xfrm>
          <a:prstGeom prst="rect">
            <a:avLst/>
          </a:prstGeom>
          <a:noFill/>
        </p:spPr>
        <p:txBody>
          <a:bodyPr wrap="square" rtlCol="0">
            <a:spAutoFit/>
          </a:bodyPr>
          <a:lstStyle/>
          <a:p>
            <a:r>
              <a:rPr lang="zh-CN" altLang="en-US" dirty="0"/>
              <a:t>中华</a:t>
            </a:r>
            <a:r>
              <a:rPr lang="zh-CN" altLang="en-US" dirty="0">
                <a:solidFill>
                  <a:srgbClr val="FF0000"/>
                </a:solidFill>
              </a:rPr>
              <a:t>优秀</a:t>
            </a:r>
            <a:r>
              <a:rPr lang="zh-CN" altLang="en-US" dirty="0"/>
              <a:t>传统文化</a:t>
            </a:r>
          </a:p>
        </p:txBody>
      </p:sp>
      <p:sp>
        <p:nvSpPr>
          <p:cNvPr id="8" name="文本框 7"/>
          <p:cNvSpPr txBox="1"/>
          <p:nvPr/>
        </p:nvSpPr>
        <p:spPr>
          <a:xfrm>
            <a:off x="1498511" y="1360748"/>
            <a:ext cx="3115128" cy="369332"/>
          </a:xfrm>
          <a:prstGeom prst="rect">
            <a:avLst/>
          </a:prstGeom>
          <a:noFill/>
        </p:spPr>
        <p:txBody>
          <a:bodyPr wrap="square" rtlCol="0">
            <a:spAutoFit/>
          </a:bodyPr>
          <a:lstStyle/>
          <a:p>
            <a:r>
              <a:rPr lang="zh-CN" altLang="en-US" dirty="0"/>
              <a:t>革命文化</a:t>
            </a:r>
          </a:p>
        </p:txBody>
      </p:sp>
      <p:sp>
        <p:nvSpPr>
          <p:cNvPr id="9" name="文本框 8"/>
          <p:cNvSpPr txBox="1"/>
          <p:nvPr/>
        </p:nvSpPr>
        <p:spPr>
          <a:xfrm>
            <a:off x="1498511" y="1929687"/>
            <a:ext cx="3885836" cy="369332"/>
          </a:xfrm>
          <a:prstGeom prst="rect">
            <a:avLst/>
          </a:prstGeom>
          <a:noFill/>
        </p:spPr>
        <p:txBody>
          <a:bodyPr wrap="square" rtlCol="0">
            <a:spAutoFit/>
          </a:bodyPr>
          <a:lstStyle/>
          <a:p>
            <a:r>
              <a:rPr lang="zh-CN" altLang="en-US" dirty="0"/>
              <a:t>社会主义</a:t>
            </a:r>
            <a:r>
              <a:rPr lang="zh-CN" altLang="en-US" dirty="0">
                <a:solidFill>
                  <a:srgbClr val="FF0000"/>
                </a:solidFill>
              </a:rPr>
              <a:t>先进</a:t>
            </a:r>
            <a:r>
              <a:rPr lang="zh-CN" altLang="en-US" dirty="0"/>
              <a:t>文化</a:t>
            </a:r>
          </a:p>
        </p:txBody>
      </p:sp>
      <p:sp>
        <p:nvSpPr>
          <p:cNvPr id="7" name="矩形 6">
            <a:extLst>
              <a:ext uri="{FF2B5EF4-FFF2-40B4-BE49-F238E27FC236}">
                <a16:creationId xmlns:a16="http://schemas.microsoft.com/office/drawing/2014/main" id="{4D88433C-716B-0652-D8AE-18C000DE4A08}"/>
              </a:ext>
            </a:extLst>
          </p:cNvPr>
          <p:cNvSpPr/>
          <p:nvPr/>
        </p:nvSpPr>
        <p:spPr>
          <a:xfrm>
            <a:off x="4293947" y="1064229"/>
            <a:ext cx="4972595" cy="1200329"/>
          </a:xfrm>
          <a:prstGeom prst="rect">
            <a:avLst/>
          </a:prstGeom>
        </p:spPr>
        <p:txBody>
          <a:bodyPr wrap="square">
            <a:spAutoFit/>
          </a:bodyPr>
          <a:lstStyle/>
          <a:p>
            <a:r>
              <a:rPr lang="zh-CN" altLang="en-US" dirty="0">
                <a:solidFill>
                  <a:srgbClr val="333333"/>
                </a:solidFill>
                <a:latin typeface="华文楷体" panose="02010600040101010101" pitchFamily="2" charset="-122"/>
                <a:ea typeface="华文楷体" panose="02010600040101010101" pitchFamily="2" charset="-122"/>
              </a:rPr>
              <a:t>“要加大文物保护力度，弘扬</a:t>
            </a:r>
            <a:r>
              <a:rPr lang="zh-CN" altLang="en-US" dirty="0">
                <a:solidFill>
                  <a:srgbClr val="FF0000"/>
                </a:solidFill>
                <a:latin typeface="华文楷体" panose="02010600040101010101" pitchFamily="2" charset="-122"/>
                <a:ea typeface="华文楷体" panose="02010600040101010101" pitchFamily="2" charset="-122"/>
              </a:rPr>
              <a:t>中华优秀传统文化</a:t>
            </a:r>
            <a:r>
              <a:rPr lang="zh-CN" altLang="en-US" dirty="0">
                <a:solidFill>
                  <a:srgbClr val="333333"/>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革命文化</a:t>
            </a:r>
            <a:r>
              <a:rPr lang="zh-CN" altLang="en-US" dirty="0">
                <a:solidFill>
                  <a:srgbClr val="333333"/>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社会主义先进文化</a:t>
            </a:r>
            <a:r>
              <a:rPr lang="zh-CN" altLang="en-US" dirty="0">
                <a:solidFill>
                  <a:srgbClr val="333333"/>
                </a:solidFill>
                <a:latin typeface="华文楷体" panose="02010600040101010101" pitchFamily="2" charset="-122"/>
                <a:ea typeface="华文楷体" panose="02010600040101010101" pitchFamily="2" charset="-122"/>
              </a:rPr>
              <a:t>，培育社会主义核心价值观，加强公共文化产品和服务供给，更好满足人民群众精神文化生活需要。”</a:t>
            </a:r>
            <a:endParaRPr lang="en-US" altLang="zh-CN" dirty="0">
              <a:solidFill>
                <a:srgbClr val="333333"/>
              </a:solidFill>
              <a:latin typeface="华文楷体" panose="02010600040101010101" pitchFamily="2" charset="-122"/>
              <a:ea typeface="华文楷体" panose="02010600040101010101" pitchFamily="2" charset="-122"/>
            </a:endParaRPr>
          </a:p>
        </p:txBody>
      </p:sp>
      <p:sp>
        <p:nvSpPr>
          <p:cNvPr id="10" name="标题 1"/>
          <p:cNvSpPr txBox="1">
            <a:spLocks/>
          </p:cNvSpPr>
          <p:nvPr/>
        </p:nvSpPr>
        <p:spPr>
          <a:xfrm>
            <a:off x="145556" y="2149431"/>
            <a:ext cx="2037806" cy="399972"/>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华文楷体" panose="02010600040101010101" pitchFamily="2" charset="-122"/>
                <a:ea typeface="华文楷体" panose="02010600040101010101" pitchFamily="2" charset="-122"/>
              </a:rPr>
              <a:t>德的词源学解释</a:t>
            </a:r>
          </a:p>
        </p:txBody>
      </p:sp>
      <p:sp>
        <p:nvSpPr>
          <p:cNvPr id="11" name="内容占位符 2"/>
          <p:cNvSpPr txBox="1">
            <a:spLocks/>
          </p:cNvSpPr>
          <p:nvPr/>
        </p:nvSpPr>
        <p:spPr>
          <a:xfrm>
            <a:off x="58470" y="2464165"/>
            <a:ext cx="11648337" cy="158326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dirty="0">
                <a:latin typeface="华文楷体" panose="02010600040101010101" pitchFamily="2" charset="-122"/>
                <a:ea typeface="华文楷体" panose="02010600040101010101" pitchFamily="2" charset="-122"/>
              </a:rPr>
              <a:t>从商代卜辞到先秦文献，“德”的意思即</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得</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，“得”是在行动之中有所宰获的意思，</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行有所得也</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。到汉代，德被诠释为</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升也</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，即从低处上升至高处，而升就是</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登</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升当作登。德训登者。《公羊传》：</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公曷为远而观鱼？</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登来之也。何曰？登读言得。得来之者，齐人语。齐人名求得为得来。作登来者其言大而急。由口授也。唐人诗：千水千山得得来，得即德也。……今俗谓用力从前曰德，古语也。</a:t>
            </a:r>
            <a:r>
              <a:rPr lang="en-US" altLang="zh-CN" sz="1800" dirty="0">
                <a:latin typeface="华文楷体" panose="02010600040101010101" pitchFamily="2" charset="-122"/>
                <a:ea typeface="华文楷体" panose="02010600040101010101" pitchFamily="2" charset="-122"/>
              </a:rPr>
              <a:t>”</a:t>
            </a:r>
          </a:p>
        </p:txBody>
      </p:sp>
      <p:sp>
        <p:nvSpPr>
          <p:cNvPr id="12" name="内容占位符 2"/>
          <p:cNvSpPr txBox="1">
            <a:spLocks/>
          </p:cNvSpPr>
          <p:nvPr/>
        </p:nvSpPr>
        <p:spPr>
          <a:xfrm>
            <a:off x="58470" y="3924876"/>
            <a:ext cx="12512352" cy="306050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说文</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：“道，所行道也。”</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礼记</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：“亲亲、尊尊、长长、男女有别，人道之大也。”</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管子</a:t>
            </a:r>
            <a:r>
              <a:rPr lang="zh-CN"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心术上</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曰：“德者，得也”。“德”是“外得于人，内得于己。”（</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说文</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荀子</a:t>
            </a:r>
            <a:r>
              <a:rPr lang="zh-CN"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劝学篇</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中：“故书者，政事之纪也；诗者，中声之所止也；礼者，法之大分，类之纲纪也。</a:t>
            </a:r>
          </a:p>
          <a:p>
            <a:r>
              <a:rPr lang="zh-CN" altLang="en-US" sz="1800" dirty="0">
                <a:latin typeface="华文楷体" panose="02010600040101010101" pitchFamily="2" charset="-122"/>
                <a:ea typeface="华文楷体" panose="02010600040101010101" pitchFamily="2" charset="-122"/>
                <a:sym typeface="+mn-ea"/>
              </a:rPr>
              <a:t>故学至乎礼而止矣。夫是之谓道德之极。礼之敬文也，乐之中和也，诗书之博也，春秋之微 也，在天地之间者毕矣。”</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sym typeface="+mn-ea"/>
              </a:rPr>
              <a:t>“道者，人之所共由；德者，人之所得也。”（</a:t>
            </a:r>
            <a:r>
              <a:rPr lang="en-US"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四书集注</a:t>
            </a:r>
            <a:r>
              <a:rPr lang="zh-CN" altLang="zh-CN" sz="1800" dirty="0">
                <a:latin typeface="华文楷体" panose="02010600040101010101" pitchFamily="2" charset="-122"/>
                <a:ea typeface="华文楷体" panose="02010600040101010101" pitchFamily="2" charset="-122"/>
                <a:sym typeface="+mn-ea"/>
              </a:rPr>
              <a:t>·</a:t>
            </a:r>
            <a:r>
              <a:rPr lang="zh-CN" altLang="en-US" sz="1800" dirty="0">
                <a:latin typeface="华文楷体" panose="02010600040101010101" pitchFamily="2" charset="-122"/>
                <a:ea typeface="华文楷体" panose="02010600040101010101" pitchFamily="2" charset="-122"/>
                <a:sym typeface="+mn-ea"/>
              </a:rPr>
              <a:t>论语注</a:t>
            </a:r>
            <a:r>
              <a:rPr lang="en-US" altLang="zh-CN" sz="1800" dirty="0">
                <a:latin typeface="华文楷体" panose="02010600040101010101" pitchFamily="2" charset="-122"/>
                <a:ea typeface="华文楷体" panose="02010600040101010101" pitchFamily="2" charset="-122"/>
                <a:sym typeface="+mn-ea"/>
              </a:rPr>
              <a:t>》</a:t>
            </a:r>
            <a:endParaRPr lang="en-US" altLang="zh-CN"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276" y="66697"/>
            <a:ext cx="11175586" cy="822821"/>
          </a:xfrm>
        </p:spPr>
        <p:txBody>
          <a:bodyPr>
            <a:normAutofit/>
          </a:bodyPr>
          <a:lstStyle/>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“劳谦，君子有终，吉。”</a:t>
            </a:r>
          </a:p>
          <a:p>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“子曰劳而不伐，有功而不德，厚之至也。语以其功下人者也。德言盛，礼言恭。谦也者，致恭以存其位也。”</a:t>
            </a:r>
          </a:p>
        </p:txBody>
      </p:sp>
      <p:sp>
        <p:nvSpPr>
          <p:cNvPr id="2" name="内容占位符 2"/>
          <p:cNvSpPr txBox="1">
            <a:spLocks/>
          </p:cNvSpPr>
          <p:nvPr/>
        </p:nvSpPr>
        <p:spPr>
          <a:xfrm>
            <a:off x="95794" y="819367"/>
            <a:ext cx="6771536" cy="2390364"/>
          </a:xfrm>
          <a:prstGeom prst="rect">
            <a:avLst/>
          </a:prstGeom>
        </p:spPr>
        <p:txBody>
          <a:bodyPr vert="horz" lIns="0" tIns="45720" rIns="0" bIns="45720" rtlCol="0">
            <a:normAutofit fontScale="95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rPr>
              <a:t>德：</a:t>
            </a:r>
            <a:r>
              <a:rPr lang="en-US" altLang="zh-CN" sz="1800" dirty="0">
                <a:latin typeface="华文楷体" panose="02010600040101010101" pitchFamily="2" charset="-122"/>
                <a:ea typeface="华文楷体" panose="02010600040101010101" pitchFamily="2" charset="-122"/>
              </a:rPr>
              <a:t>excellence</a:t>
            </a:r>
            <a:r>
              <a:rPr lang="zh-CN" altLang="en-US" sz="1800" dirty="0">
                <a:latin typeface="华文楷体" panose="02010600040101010101" pitchFamily="2" charset="-122"/>
                <a:ea typeface="华文楷体" panose="02010600040101010101" pitchFamily="2" charset="-122"/>
              </a:rPr>
              <a:t>，</a:t>
            </a:r>
            <a:r>
              <a:rPr lang="en-US" altLang="zh-CN" sz="1800" dirty="0">
                <a:latin typeface="华文楷体" panose="02010600040101010101" pitchFamily="2" charset="-122"/>
                <a:ea typeface="华文楷体" panose="02010600040101010101" pitchFamily="2" charset="-122"/>
              </a:rPr>
              <a:t>quality</a:t>
            </a:r>
          </a:p>
          <a:p>
            <a:r>
              <a:rPr lang="zh-CN" altLang="en-US" sz="1800" dirty="0">
                <a:latin typeface="华文楷体" panose="02010600040101010101" pitchFamily="2" charset="-122"/>
                <a:ea typeface="华文楷体" panose="02010600040101010101" pitchFamily="2" charset="-122"/>
              </a:rPr>
              <a:t>道德德性与理智德性</a:t>
            </a:r>
          </a:p>
          <a:p>
            <a:r>
              <a:rPr lang="zh-CN" altLang="en-US" sz="1800" dirty="0">
                <a:latin typeface="华文楷体" panose="02010600040101010101" pitchFamily="2" charset="-122"/>
                <a:ea typeface="华文楷体" panose="02010600040101010101" pitchFamily="2" charset="-122"/>
              </a:rPr>
              <a:t>勇敢、节制、慷概、大度、温和</a:t>
            </a:r>
          </a:p>
          <a:p>
            <a:r>
              <a:rPr lang="zh-CN" altLang="en-US" sz="1800" dirty="0">
                <a:latin typeface="华文楷体" panose="02010600040101010101" pitchFamily="2" charset="-122"/>
                <a:ea typeface="华文楷体" panose="02010600040101010101" pitchFamily="2" charset="-122"/>
              </a:rPr>
              <a:t>真诚、机智、友爱、义愤、公正（与共同体相关）</a:t>
            </a:r>
          </a:p>
          <a:p>
            <a:r>
              <a:rPr lang="zh-CN" altLang="en-US" sz="1800" dirty="0">
                <a:latin typeface="华文楷体" panose="02010600040101010101" pitchFamily="2" charset="-122"/>
                <a:ea typeface="华文楷体" panose="02010600040101010101" pitchFamily="2" charset="-122"/>
              </a:rPr>
              <a:t>技艺、科学、明智、智慧（努斯与科学，技艺上的德性）、努斯</a:t>
            </a:r>
          </a:p>
          <a:p>
            <a:r>
              <a:rPr lang="zh-CN" altLang="en-US" sz="1800" dirty="0">
                <a:latin typeface="华文楷体" panose="02010600040101010101" pitchFamily="2" charset="-122"/>
                <a:ea typeface="华文楷体" panose="02010600040101010101" pitchFamily="2" charset="-122"/>
              </a:rPr>
              <a:t>科学的对象：不变的、必然的、永恒的，不生成不毁灭</a:t>
            </a:r>
            <a:endParaRPr lang="en-US" altLang="zh-CN" sz="1800" dirty="0">
              <a:latin typeface="华文楷体" panose="02010600040101010101" pitchFamily="2" charset="-122"/>
              <a:ea typeface="华文楷体" panose="02010600040101010101" pitchFamily="2" charset="-122"/>
            </a:endParaRPr>
          </a:p>
        </p:txBody>
      </p:sp>
      <p:sp>
        <p:nvSpPr>
          <p:cNvPr id="4" name="内容占位符 2"/>
          <p:cNvSpPr txBox="1">
            <a:spLocks/>
          </p:cNvSpPr>
          <p:nvPr/>
        </p:nvSpPr>
        <p:spPr>
          <a:xfrm>
            <a:off x="6407021" y="987318"/>
            <a:ext cx="5308496" cy="142620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a:latin typeface="华文楷体" panose="02010600040101010101" pitchFamily="2" charset="-122"/>
                <a:ea typeface="华文楷体" panose="02010600040101010101" pitchFamily="2" charset="-122"/>
              </a:rPr>
              <a:t>中国古代伦理思想真正发端于西周伦理思想。从整体上来看，西周易商之后，通过三方面的努力建立了以</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孝</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为基石的宗法道德规范（</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孝</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友</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恭</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信</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忠</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）以及以</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敬德</a:t>
            </a:r>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为核心，融合道德、宗教、政治为一体的思想体系。</a:t>
            </a:r>
            <a:endParaRPr lang="zh-CN" altLang="en-US" sz="1800" dirty="0">
              <a:latin typeface="华文楷体" panose="02010600040101010101" pitchFamily="2" charset="-122"/>
              <a:ea typeface="华文楷体" panose="02010600040101010101" pitchFamily="2" charset="-122"/>
            </a:endParaRPr>
          </a:p>
        </p:txBody>
      </p:sp>
      <p:sp>
        <p:nvSpPr>
          <p:cNvPr id="5" name="标题 1"/>
          <p:cNvSpPr>
            <a:spLocks noGrp="1"/>
          </p:cNvSpPr>
          <p:nvPr>
            <p:ph type="title"/>
          </p:nvPr>
        </p:nvSpPr>
        <p:spPr>
          <a:xfrm>
            <a:off x="95794" y="3154992"/>
            <a:ext cx="3082834" cy="493278"/>
          </a:xfrm>
        </p:spPr>
        <p:txBody>
          <a:bodyPr>
            <a:normAutofit/>
          </a:bodyPr>
          <a:lstStyle/>
          <a:p>
            <a:r>
              <a:rPr lang="zh-CN" altLang="en-US" sz="2000" dirty="0">
                <a:latin typeface="华文楷体" panose="02010600040101010101" pitchFamily="2" charset="-122"/>
                <a:ea typeface="华文楷体" panose="02010600040101010101" pitchFamily="2" charset="-122"/>
              </a:rPr>
              <a:t>先秦德性观念的历史背景</a:t>
            </a:r>
          </a:p>
        </p:txBody>
      </p:sp>
      <p:sp>
        <p:nvSpPr>
          <p:cNvPr id="6" name="内容占位符 2"/>
          <p:cNvSpPr txBox="1">
            <a:spLocks/>
          </p:cNvSpPr>
          <p:nvPr/>
        </p:nvSpPr>
        <p:spPr>
          <a:xfrm>
            <a:off x="-59717" y="3648270"/>
            <a:ext cx="12363684" cy="226547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dirty="0">
                <a:latin typeface="华文楷体" panose="02010600040101010101" pitchFamily="2" charset="-122"/>
                <a:ea typeface="华文楷体" panose="02010600040101010101" pitchFamily="2" charset="-122"/>
              </a:rPr>
              <a:t>首先，西周</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因于殷（商）礼</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，建立了以嫡长子继承为基础的宗法制度，突出了家庭的重要性，家天下观念被继续强化（家天下观念肇始于夏启），以家庭血缘亲疏关系来确定身份的贵贱。自此，中华民族以自身的</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家族主义</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而迥异于其它民族，也因为属己的亲子关系与世代关系而形塑了自身品性。</a:t>
            </a:r>
          </a:p>
          <a:p>
            <a:r>
              <a:rPr lang="zh-CN" altLang="zh-CN" sz="1800" dirty="0">
                <a:latin typeface="华文楷体" panose="02010600040101010101" pitchFamily="2" charset="-122"/>
                <a:ea typeface="华文楷体" panose="02010600040101010101" pitchFamily="2" charset="-122"/>
              </a:rPr>
              <a:t>其次，</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封邦建国</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，周王将大量宗室姻亲分封到各地，建立了以地域为基础的诸侯国，为后来丰富的地域色彩打下基础。</a:t>
            </a:r>
          </a:p>
          <a:p>
            <a:r>
              <a:rPr lang="zh-CN" altLang="zh-CN" sz="1800" dirty="0">
                <a:latin typeface="华文楷体" panose="02010600040101010101" pitchFamily="2" charset="-122"/>
                <a:ea typeface="华文楷体" panose="02010600040101010101" pitchFamily="2" charset="-122"/>
              </a:rPr>
              <a:t>再次，</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制作礼乐</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，从各个方面确定稳固的政治等级秩序。周人主张的道德规范是：父慈、子孝、兄友、弟恭，尤其强调</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孝</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的重要性。周人行孝主要指奉养父母，遇事必须告知父母，因为父母拥有丰富的人生经验，而且是子女对待父母的应然之举。</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1701" y="106992"/>
            <a:ext cx="11919670" cy="4967968"/>
          </a:xfrm>
        </p:spPr>
        <p:txBody>
          <a:bodyPr>
            <a:normAutofit/>
          </a:bodyPr>
          <a:lstStyle/>
          <a:p>
            <a:pPr marL="0" indent="0">
              <a:buNone/>
            </a:pP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不孝不友，子弗祗服厥父母</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被视为</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元恶大愂</a:t>
            </a:r>
            <a:r>
              <a:rPr lang="en-US" altLang="zh-CN" sz="1800" dirty="0">
                <a:latin typeface="华文楷体" panose="02010600040101010101" pitchFamily="2" charset="-122"/>
                <a:ea typeface="华文楷体" panose="02010600040101010101" pitchFamily="2" charset="-122"/>
              </a:rPr>
              <a:t>”</a:t>
            </a:r>
            <a:r>
              <a:rPr lang="en-US" altLang="zh-CN" sz="1800" baseline="30000" dirty="0">
                <a:latin typeface="华文楷体" panose="02010600040101010101" pitchFamily="2" charset="-122"/>
                <a:ea typeface="华文楷体" panose="02010600040101010101" pitchFamily="2" charset="-122"/>
              </a:rPr>
              <a:t> </a:t>
            </a:r>
            <a:r>
              <a:rPr lang="zh-CN"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《尚书·康诰》</a:t>
            </a:r>
            <a:r>
              <a:rPr lang="zh-CN" altLang="en-US" sz="1800"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在做重大决定时听取父母的意见。如娶妻，</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必告父母</a:t>
            </a:r>
            <a:r>
              <a:rPr lang="en-US" altLang="zh-CN" sz="18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 </a:t>
            </a:r>
            <a:r>
              <a:rPr lang="zh-CN" altLang="en-US" sz="1800" baseline="300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《诗经·齐风·南山》</a:t>
            </a:r>
            <a:r>
              <a:rPr lang="zh-CN" altLang="en-US" sz="1800" baseline="30000"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，心中有倾慕的对象（</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可怀</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）也</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岂敢爱之，畏我父母</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，因为</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父母之言，亦可畏矣。</a:t>
            </a:r>
            <a:r>
              <a:rPr lang="en-US" altLang="zh-CN" sz="1800"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其次是祭祀祖先，</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慎终追远，民德归厚矣。</a:t>
            </a:r>
            <a:r>
              <a:rPr lang="en-US" altLang="zh-CN" sz="18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 </a:t>
            </a:r>
            <a:endParaRPr lang="zh-CN" altLang="zh-CN" sz="18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慎重对待父母祖辈之亡故，追怀远祖，民风日淳。而</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追孝</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一方面是对在世父母之孝的延伸，以事死的方式事生；另一方面则是祖先神崇拜的表现。</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假哉皇考，绥予孝子。宣哲维人，文武维后。燕及皇天，克昌厥后。绥我眉寿，介以繁祉。既右烈考，亦右文母。</a:t>
            </a:r>
            <a:r>
              <a:rPr lang="en-US" altLang="zh-CN" sz="18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 </a:t>
            </a:r>
            <a:endParaRPr lang="zh-CN" altLang="zh-CN" sz="18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只有敬畏先人，崇拜祖先，人们在此世方能过上智慧的生活，高寿多福，生命方得常绵不息，而且使生死两重世界各得其宜。在此基础上，“德”首次被赋予优先意义，抵达了</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敬德配命</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和</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敬德保民</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的道德自觉</a:t>
            </a:r>
          </a:p>
        </p:txBody>
      </p:sp>
      <p:sp>
        <p:nvSpPr>
          <p:cNvPr id="2" name="标题 1"/>
          <p:cNvSpPr>
            <a:spLocks noGrp="1"/>
          </p:cNvSpPr>
          <p:nvPr>
            <p:ph type="title"/>
          </p:nvPr>
        </p:nvSpPr>
        <p:spPr>
          <a:xfrm>
            <a:off x="0" y="3429000"/>
            <a:ext cx="2622524" cy="412413"/>
          </a:xfrm>
        </p:spPr>
        <p:txBody>
          <a:bodyPr>
            <a:normAutofit/>
          </a:bodyPr>
          <a:lstStyle/>
          <a:p>
            <a:r>
              <a:rPr lang="zh-CN" altLang="en-US" sz="2000" dirty="0">
                <a:latin typeface="华文楷体" panose="02010600040101010101" pitchFamily="2" charset="-122"/>
                <a:ea typeface="华文楷体" panose="02010600040101010101" pitchFamily="2" charset="-122"/>
              </a:rPr>
              <a:t>先秦义利之辩的场域</a:t>
            </a:r>
          </a:p>
        </p:txBody>
      </p:sp>
      <p:sp>
        <p:nvSpPr>
          <p:cNvPr id="4" name="内容占位符 2"/>
          <p:cNvSpPr txBox="1">
            <a:spLocks/>
          </p:cNvSpPr>
          <p:nvPr/>
        </p:nvSpPr>
        <p:spPr>
          <a:xfrm>
            <a:off x="141701" y="3766947"/>
            <a:ext cx="11801483" cy="130801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sz="1800" dirty="0">
                <a:latin typeface="华文楷体" panose="02010600040101010101" pitchFamily="2" charset="-122"/>
                <a:ea typeface="华文楷体" panose="02010600040101010101" pitchFamily="2" charset="-122"/>
              </a:rPr>
              <a:t>人伦秩序：身、家、国、天下</a:t>
            </a:r>
            <a:endParaRPr lang="en-US" altLang="zh-CN" sz="18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大学之道，在</a:t>
            </a:r>
            <a:r>
              <a:rPr lang="zh-CN" altLang="zh-CN" sz="1800" dirty="0">
                <a:solidFill>
                  <a:srgbClr val="FF0000"/>
                </a:solidFill>
                <a:latin typeface="华文楷体" panose="02010600040101010101" pitchFamily="2" charset="-122"/>
                <a:ea typeface="华文楷体" panose="02010600040101010101" pitchFamily="2" charset="-122"/>
              </a:rPr>
              <a:t>明明德</a:t>
            </a:r>
            <a:r>
              <a:rPr lang="zh-CN" altLang="zh-CN" sz="1800" dirty="0">
                <a:latin typeface="华文楷体" panose="02010600040101010101" pitchFamily="2" charset="-122"/>
                <a:ea typeface="华文楷体" panose="02010600040101010101" pitchFamily="2" charset="-122"/>
              </a:rPr>
              <a:t>，在</a:t>
            </a:r>
            <a:r>
              <a:rPr lang="zh-CN" altLang="zh-CN" sz="1800" dirty="0">
                <a:solidFill>
                  <a:srgbClr val="FF0000"/>
                </a:solidFill>
                <a:latin typeface="华文楷体" panose="02010600040101010101" pitchFamily="2" charset="-122"/>
                <a:ea typeface="华文楷体" panose="02010600040101010101" pitchFamily="2" charset="-122"/>
              </a:rPr>
              <a:t>亲民</a:t>
            </a:r>
            <a:r>
              <a:rPr lang="zh-CN" altLang="zh-CN" sz="1800" dirty="0">
                <a:latin typeface="华文楷体" panose="02010600040101010101" pitchFamily="2" charset="-122"/>
                <a:ea typeface="华文楷体" panose="02010600040101010101" pitchFamily="2" charset="-122"/>
              </a:rPr>
              <a:t>，在止于</a:t>
            </a:r>
            <a:r>
              <a:rPr lang="zh-CN" altLang="zh-CN" sz="1800" dirty="0">
                <a:solidFill>
                  <a:srgbClr val="FF0000"/>
                </a:solidFill>
                <a:latin typeface="华文楷体" panose="02010600040101010101" pitchFamily="2" charset="-122"/>
                <a:ea typeface="华文楷体" panose="02010600040101010101" pitchFamily="2" charset="-122"/>
              </a:rPr>
              <a:t>至善</a:t>
            </a:r>
            <a:r>
              <a:rPr lang="zh-CN" altLang="zh-CN" sz="1800" dirty="0">
                <a:latin typeface="华文楷体" panose="02010600040101010101" pitchFamily="2" charset="-122"/>
                <a:ea typeface="华文楷体" panose="02010600040101010101" pitchFamily="2" charset="-122"/>
              </a:rPr>
              <a:t>。……古之欲明明德于天下者，先治其国；欲治其国者，先齐其家；欲其家者，先修其身；欲修其身者，先正其心；欲正其心者，先诚其意；欲诚其意者，先致其知；致知在格物。</a:t>
            </a:r>
            <a:r>
              <a:rPr lang="en-US" altLang="zh-CN" sz="1800" dirty="0">
                <a:latin typeface="华文楷体" panose="02010600040101010101" pitchFamily="2" charset="-122"/>
                <a:ea typeface="华文楷体" panose="02010600040101010101" pitchFamily="2" charset="-122"/>
              </a:rPr>
              <a:t>”</a:t>
            </a:r>
          </a:p>
        </p:txBody>
      </p:sp>
      <p:sp>
        <p:nvSpPr>
          <p:cNvPr id="5" name="内容占位符 2"/>
          <p:cNvSpPr txBox="1">
            <a:spLocks/>
          </p:cNvSpPr>
          <p:nvPr/>
        </p:nvSpPr>
        <p:spPr>
          <a:xfrm>
            <a:off x="201540" y="4745596"/>
            <a:ext cx="10814802" cy="667311"/>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人之所以异于禽兽者几希，庶民去之，君子存之。舜明于万物，察于人伦，由仁义行，非行仁义也。</a:t>
            </a:r>
            <a:endParaRPr lang="en-US" altLang="zh-CN" sz="1800" dirty="0">
              <a:latin typeface="华文楷体" panose="02010600040101010101" pitchFamily="2" charset="-122"/>
              <a:ea typeface="华文楷体" panose="02010600040101010101" pitchFamily="2" charset="-122"/>
            </a:endParaRPr>
          </a:p>
        </p:txBody>
      </p:sp>
      <p:sp>
        <p:nvSpPr>
          <p:cNvPr id="6" name="内容占位符 2"/>
          <p:cNvSpPr txBox="1">
            <a:spLocks/>
          </p:cNvSpPr>
          <p:nvPr/>
        </p:nvSpPr>
        <p:spPr>
          <a:xfrm>
            <a:off x="350831" y="5149923"/>
            <a:ext cx="10058400" cy="90368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人之为人者，何已也？曰：以其有辨也。饥而欲食，寒而欲暖，劳而欲息，好利而恶害，是人之生而有也，是无待而然者也，是禹、桀之所同也。然则人之为人者，非特以二足而无毛也，以其有辨也。</a:t>
            </a:r>
            <a:r>
              <a:rPr lang="en-US" altLang="zh-CN" sz="180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354" y="104019"/>
            <a:ext cx="10058400" cy="4023360"/>
          </a:xfrm>
        </p:spPr>
        <p:txBody>
          <a:bodyPr>
            <a:normAutofit/>
          </a:bodyPr>
          <a:lstStyle/>
          <a:p>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为什么义利问题是社会生活中最重要的问题？</a:t>
            </a:r>
            <a:endParaRPr lang="en-US" altLang="zh-CN" sz="1800" dirty="0">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C7001609-C299-0AD5-3141-856D1CE9DF8D}"/>
              </a:ext>
            </a:extLst>
          </p:cNvPr>
          <p:cNvSpPr txBox="1"/>
          <p:nvPr/>
        </p:nvSpPr>
        <p:spPr>
          <a:xfrm>
            <a:off x="83354" y="380181"/>
            <a:ext cx="12025292" cy="4247317"/>
          </a:xfrm>
          <a:prstGeom prst="rect">
            <a:avLst/>
          </a:prstGeom>
          <a:noFill/>
        </p:spPr>
        <p:txBody>
          <a:bodyPr wrap="square">
            <a:spAutoFit/>
          </a:bodyPr>
          <a:lstStyle/>
          <a:p>
            <a:r>
              <a:rPr lang="zh-CN" altLang="en-US" dirty="0"/>
              <a:t>义利问题之所以是社会生活中最重要的问题，是因为它直接关涉**社会秩序的根基**与**人的行为导向**，任何共同体都无法回避。</a:t>
            </a:r>
          </a:p>
          <a:p>
            <a:r>
              <a:rPr lang="zh-CN" altLang="en-US" dirty="0"/>
              <a:t>首先，**义利问题是社会合作的前提**。社会由无数个体组成，每个人都在追求自身利益（利），但如果人人都“见利忘义”，社会将陷入霍布斯所说的“一切人对一切人的战争”。唯有通过“义”——即公平、正义、规则、诚信等道德原则——来约束和调节利益追求，合作才可能实现。孔子强调“君子喻于义，小人喻于利”，并非否定利，而是指明利的正当获取需以义为边界。</a:t>
            </a:r>
          </a:p>
          <a:p>
            <a:r>
              <a:rPr lang="zh-CN" altLang="en-US" dirty="0"/>
              <a:t>其次，**义利问题决定制度的公正性**。一个社会的法律、政策和经济制度，本质上都是在回答“谁的利应被优先考虑”“如何分配利才算正义”这些问题。若只讲利不讲义，社会将沦为弱肉强食的丛林；若只讲义不讲利，则沦为空洞的说教，无法激发活力。改革开放正是通过重新理解“义”与“利”的关系，承认合理追求个人利益的正当性，才释放了社会活力。</a:t>
            </a:r>
          </a:p>
          <a:p>
            <a:r>
              <a:rPr lang="zh-CN" altLang="en-US" dirty="0"/>
              <a:t>最后，**义利问题关乎每个公民的德行与幸福**。人在生活中不断面临抉择：是诚实守信还是投机取巧？是助人为乐还是自私自利？这些日常选择塑造着个体的品格，也累积为社会的道德风气。一个重义的社会，让人有安全感和尊严感；一个重利轻义的社会，则让人焦虑且疏离。</a:t>
            </a:r>
          </a:p>
          <a:p>
            <a:r>
              <a:rPr lang="zh-CN" altLang="en-US" dirty="0"/>
              <a:t>**结论**：义利问题之所以最重要，是因为它贯穿所有社会关系——从经济交换到政治治理，从法律制度到个人修养。能否妥善处理义与利的关系，决定着一个社会是走向和谐还是陷入混乱。</a:t>
            </a:r>
          </a:p>
        </p:txBody>
      </p:sp>
      <p:sp>
        <p:nvSpPr>
          <p:cNvPr id="9" name="文本框 8">
            <a:extLst>
              <a:ext uri="{FF2B5EF4-FFF2-40B4-BE49-F238E27FC236}">
                <a16:creationId xmlns:a16="http://schemas.microsoft.com/office/drawing/2014/main" id="{FF6A22A2-822A-B219-39AA-A283EACE0BC4}"/>
              </a:ext>
            </a:extLst>
          </p:cNvPr>
          <p:cNvSpPr txBox="1"/>
          <p:nvPr/>
        </p:nvSpPr>
        <p:spPr>
          <a:xfrm>
            <a:off x="83354" y="4847452"/>
            <a:ext cx="11520196" cy="646331"/>
          </a:xfrm>
          <a:prstGeom prst="rect">
            <a:avLst/>
          </a:prstGeom>
          <a:noFill/>
        </p:spPr>
        <p:txBody>
          <a:bodyPr wrap="square">
            <a:spAutoFit/>
          </a:bodyPr>
          <a:lstStyle/>
          <a:p>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义利问题自身能直接构成人之生命活动的完整</a:t>
            </a:r>
            <a:r>
              <a:rPr lang="zh-CN" altLang="en-US" sz="1800" dirty="0">
                <a:latin typeface="华文楷体" panose="02010600040101010101" pitchFamily="2" charset="-122"/>
                <a:ea typeface="华文楷体" panose="02010600040101010101" pitchFamily="2" charset="-122"/>
              </a:rPr>
              <a:t>领域</a:t>
            </a:r>
            <a:r>
              <a:rPr lang="zh-CN" altLang="zh-CN" sz="1800" dirty="0">
                <a:latin typeface="华文楷体" panose="02010600040101010101" pitchFamily="2" charset="-122"/>
                <a:ea typeface="华文楷体" panose="02010600040101010101" pitchFamily="2" charset="-122"/>
              </a:rPr>
              <a:t>吗？或者义利问题自身就从属于一个更广阔的系谱家族，它只是这个系谱家族的某个重要论题甚或至关重要的论题？</a:t>
            </a:r>
            <a:endParaRPr lang="zh-CN" altLang="en-US"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FD1A-34A2-D383-D2C2-DA77404B6175}"/>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380B9C48-4A2C-C660-3087-CC02AE494525}"/>
              </a:ext>
            </a:extLst>
          </p:cNvPr>
          <p:cNvSpPr>
            <a:spLocks noGrp="1"/>
          </p:cNvSpPr>
          <p:nvPr>
            <p:ph idx="1"/>
          </p:nvPr>
        </p:nvSpPr>
        <p:spPr>
          <a:xfrm>
            <a:off x="83354" y="104019"/>
            <a:ext cx="10058400" cy="4023360"/>
          </a:xfrm>
        </p:spPr>
        <p:txBody>
          <a:bodyPr>
            <a:normAutofit/>
          </a:bodyPr>
          <a:lstStyle/>
          <a:p>
            <a:r>
              <a:rPr lang="en-US" altLang="zh-CN" sz="1800" dirty="0">
                <a:latin typeface="华文楷体" panose="02010600040101010101" pitchFamily="2" charset="-122"/>
                <a:ea typeface="华文楷体" panose="02010600040101010101" pitchFamily="2" charset="-122"/>
              </a:rPr>
              <a:t>1.</a:t>
            </a:r>
            <a:r>
              <a:rPr lang="zh-CN" altLang="en-US" sz="1800" dirty="0">
                <a:latin typeface="华文楷体" panose="02010600040101010101" pitchFamily="2" charset="-122"/>
                <a:ea typeface="华文楷体" panose="02010600040101010101" pitchFamily="2" charset="-122"/>
              </a:rPr>
              <a:t>为什么义利问题是社会生活中最重要的问题？</a:t>
            </a:r>
            <a:endParaRPr lang="en-US" altLang="zh-CN" sz="1800" dirty="0">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9A58052D-E378-A9C9-D69E-FCEA6A4EF6A6}"/>
              </a:ext>
            </a:extLst>
          </p:cNvPr>
          <p:cNvSpPr txBox="1"/>
          <p:nvPr/>
        </p:nvSpPr>
        <p:spPr>
          <a:xfrm>
            <a:off x="83354" y="380181"/>
            <a:ext cx="12025292" cy="4247317"/>
          </a:xfrm>
          <a:prstGeom prst="rect">
            <a:avLst/>
          </a:prstGeom>
          <a:noFill/>
        </p:spPr>
        <p:txBody>
          <a:bodyPr wrap="square">
            <a:spAutoFit/>
          </a:bodyPr>
          <a:lstStyle/>
          <a:p>
            <a:r>
              <a:rPr lang="zh-CN" altLang="en-US" dirty="0"/>
              <a:t>义利问题之所以是社会生活中最重要的问题，是因为它直接关涉**社会秩序的根基**与**人的行为导向**，任何共同体都无法回避。</a:t>
            </a:r>
          </a:p>
          <a:p>
            <a:r>
              <a:rPr lang="zh-CN" altLang="en-US" dirty="0"/>
              <a:t>首先，**义利问题是社会合作的前提**。社会由无数个体组成，每个人都在追求自身利益（利），但如果人人都“见利忘义”，社会将陷入霍布斯所说的“一切人对一切人的战争”。唯有通过“义”——即公平、正义、规则、诚信等道德原则——来约束和调节利益追求，合作才可能实现。孔子强调“君子喻于义，小人喻于利”，并非否定利，而是指明利的正当获取需以义为边界。</a:t>
            </a:r>
          </a:p>
          <a:p>
            <a:r>
              <a:rPr lang="zh-CN" altLang="en-US" dirty="0"/>
              <a:t>其次，**义利问题决定制度的公正性**。一个社会的法律、政策和经济制度，本质上都是在回答“谁的利应被优先考虑”“如何分配利才算正义”这些问题。若只讲利不讲义，社会将沦为弱肉强食的丛林；若只讲义不讲利，则沦为空洞的说教，无法激发活力。改革开放正是通过重新理解“义”与“利”的关系，承认合理追求个人利益的正当性，才释放了社会活力。</a:t>
            </a:r>
          </a:p>
          <a:p>
            <a:r>
              <a:rPr lang="zh-CN" altLang="en-US" dirty="0"/>
              <a:t>最后，**义利问题关乎每个公民的德行与幸福**。人在生活中不断面临抉择：是诚实守信还是投机取巧？是助人为乐还是自私自利？这些日常选择塑造着个体的品格，也累积为社会的道德风气。一个重义的社会，让人有安全感和尊严感；一个重利轻义的社会，则让人焦虑且疏离。</a:t>
            </a:r>
          </a:p>
          <a:p>
            <a:r>
              <a:rPr lang="zh-CN" altLang="en-US" dirty="0"/>
              <a:t>**结论**：义利问题之所以最重要，是因为它贯穿所有社会关系——从经济交换到政治治理，从法律制度到个人修养。能否妥善处理义与利的关系，决定着一个社会是走向和谐还是陷入混乱。</a:t>
            </a:r>
          </a:p>
        </p:txBody>
      </p:sp>
      <p:sp>
        <p:nvSpPr>
          <p:cNvPr id="9" name="文本框 8">
            <a:extLst>
              <a:ext uri="{FF2B5EF4-FFF2-40B4-BE49-F238E27FC236}">
                <a16:creationId xmlns:a16="http://schemas.microsoft.com/office/drawing/2014/main" id="{B1698B4F-3BE4-05CE-B043-33CFED7F69CD}"/>
              </a:ext>
            </a:extLst>
          </p:cNvPr>
          <p:cNvSpPr txBox="1"/>
          <p:nvPr/>
        </p:nvSpPr>
        <p:spPr>
          <a:xfrm>
            <a:off x="83354" y="4847452"/>
            <a:ext cx="11520196" cy="646331"/>
          </a:xfrm>
          <a:prstGeom prst="rect">
            <a:avLst/>
          </a:prstGeom>
          <a:noFill/>
        </p:spPr>
        <p:txBody>
          <a:bodyPr wrap="square">
            <a:spAutoFit/>
          </a:bodyPr>
          <a:lstStyle/>
          <a:p>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义利问题自身能直接构成人之生命活动的完整</a:t>
            </a:r>
            <a:r>
              <a:rPr lang="zh-CN" altLang="en-US" sz="1800" dirty="0">
                <a:latin typeface="华文楷体" panose="02010600040101010101" pitchFamily="2" charset="-122"/>
                <a:ea typeface="华文楷体" panose="02010600040101010101" pitchFamily="2" charset="-122"/>
              </a:rPr>
              <a:t>领域</a:t>
            </a:r>
            <a:r>
              <a:rPr lang="zh-CN" altLang="zh-CN" sz="1800" dirty="0">
                <a:latin typeface="华文楷体" panose="02010600040101010101" pitchFamily="2" charset="-122"/>
                <a:ea typeface="华文楷体" panose="02010600040101010101" pitchFamily="2" charset="-122"/>
              </a:rPr>
              <a:t>吗？或者义利问题自身就从属于一个更广阔的系谱家族，它只是这个系谱家族的某个重要论题甚或至关重要的论题？</a:t>
            </a:r>
            <a:endParaRPr lang="zh-CN" altLang="en-US" sz="1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9964364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AC846-2BD3-E061-4FC5-ADA77B11BE8A}"/>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DCB31194-2F72-7E80-75C8-EA180278245C}"/>
              </a:ext>
            </a:extLst>
          </p:cNvPr>
          <p:cNvSpPr txBox="1"/>
          <p:nvPr/>
        </p:nvSpPr>
        <p:spPr>
          <a:xfrm>
            <a:off x="335902" y="151044"/>
            <a:ext cx="11520196" cy="646331"/>
          </a:xfrm>
          <a:prstGeom prst="rect">
            <a:avLst/>
          </a:prstGeom>
          <a:noFill/>
        </p:spPr>
        <p:txBody>
          <a:bodyPr wrap="square">
            <a:spAutoFit/>
          </a:bodyPr>
          <a:lstStyle/>
          <a:p>
            <a:r>
              <a:rPr lang="en-US" altLang="zh-CN" sz="1800" dirty="0">
                <a:latin typeface="华文楷体" panose="02010600040101010101" pitchFamily="2" charset="-122"/>
                <a:ea typeface="华文楷体" panose="02010600040101010101" pitchFamily="2" charset="-122"/>
              </a:rPr>
              <a:t>2.</a:t>
            </a:r>
            <a:r>
              <a:rPr lang="zh-CN" altLang="zh-CN" sz="1800" dirty="0">
                <a:latin typeface="华文楷体" panose="02010600040101010101" pitchFamily="2" charset="-122"/>
                <a:ea typeface="华文楷体" panose="02010600040101010101" pitchFamily="2" charset="-122"/>
              </a:rPr>
              <a:t>义利问题自身能直接构成人之生命活动的完整</a:t>
            </a:r>
            <a:r>
              <a:rPr lang="zh-CN" altLang="en-US" sz="1800" dirty="0">
                <a:latin typeface="华文楷体" panose="02010600040101010101" pitchFamily="2" charset="-122"/>
                <a:ea typeface="华文楷体" panose="02010600040101010101" pitchFamily="2" charset="-122"/>
              </a:rPr>
              <a:t>领域</a:t>
            </a:r>
            <a:r>
              <a:rPr lang="zh-CN" altLang="zh-CN" sz="1800" dirty="0">
                <a:latin typeface="华文楷体" panose="02010600040101010101" pitchFamily="2" charset="-122"/>
                <a:ea typeface="华文楷体" panose="02010600040101010101" pitchFamily="2" charset="-122"/>
              </a:rPr>
              <a:t>吗？或者义利问题自身就从属于一个更广阔的系谱家族，它只是这个系谱家族的某个重要论题甚或至关重要的论题？</a:t>
            </a:r>
            <a:endParaRPr lang="zh-CN" altLang="en-US" sz="1800" dirty="0">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24C4944F-4DC6-F0A0-019D-C5A814D018E2}"/>
              </a:ext>
            </a:extLst>
          </p:cNvPr>
          <p:cNvSpPr txBox="1"/>
          <p:nvPr/>
        </p:nvSpPr>
        <p:spPr>
          <a:xfrm>
            <a:off x="497633" y="935448"/>
            <a:ext cx="10481388" cy="4524315"/>
          </a:xfrm>
          <a:prstGeom prst="rect">
            <a:avLst/>
          </a:prstGeom>
          <a:noFill/>
        </p:spPr>
        <p:txBody>
          <a:bodyPr wrap="square">
            <a:spAutoFit/>
          </a:bodyPr>
          <a:lstStyle/>
          <a:p>
            <a:r>
              <a:rPr lang="zh-CN" altLang="en-US" dirty="0"/>
              <a:t>**义利问题自身不能构成人之生命活动的完整领域，它从属于一个更广阔的“价值哲学”或“实践哲学”的系谱家族**。</a:t>
            </a:r>
          </a:p>
          <a:p>
            <a:r>
              <a:rPr lang="zh-CN" altLang="en-US" dirty="0"/>
              <a:t>首先，**义利问题的本质是规范与效用的张力**。“义”指向正当性、义务、规则，“利”指向好处、福祉、后果。二者讨论的核心是“我应当如何行动”以及“什么样的结果有价值”。这意味着它始终停留在**实践理性**的范畴之内，而人的生命活动远远超出这一范畴。比如：审美体验（欣赏一首音乐）、纯粹认知（探索星辰的奥秘）、宗教信仰（对超越者的敬畏）、情感联结（母爱或友谊）——这些领域既不能简单还原为“义”的选择，也不能完全用“利”来计算。一个母亲对孩子的爱，既非出于义务（义）也非出于利益（利），而是更本源的情感生命。</a:t>
            </a:r>
          </a:p>
          <a:p>
            <a:r>
              <a:rPr lang="zh-CN" altLang="en-US" dirty="0"/>
              <a:t>其次，**义利问题是更广阔系谱中的一个核心节点**。这个系谱家族包括：价值论（什么是好的）、伦理学（什么是正当的）、政治哲学（什么是公正的）、人性论（人追求什么）等。义利之争实际上是这个家族中“目的论与义务论”、“后果论与道义论”之争的一个具体体现。它之所以显得重要，是因为它处在**个体欲望与社会规范**的交界处，但它并非家族的全部——比如德性伦理学的核心概念是“品格”与“实践智慧”，而非直接讨论义利对举。</a:t>
            </a:r>
          </a:p>
          <a:p>
            <a:r>
              <a:rPr lang="zh-CN" altLang="en-US" dirty="0"/>
              <a:t>**结论**：义利问题是一个至关重要的论题，因为它贯穿经济、政治、法律等核心社会领域。但它不能覆盖生命活动的完整领域——人的存在还包括审美、信仰、纯粹求知、情感体验等超越义利计算的维度。理解这一点，才能避免将全部人生问题窄化为“道德账本”或“利益算计”。</a:t>
            </a:r>
          </a:p>
        </p:txBody>
      </p:sp>
    </p:spTree>
    <p:extLst>
      <p:ext uri="{BB962C8B-B14F-4D97-AF65-F5344CB8AC3E}">
        <p14:creationId xmlns:p14="http://schemas.microsoft.com/office/powerpoint/2010/main" val="195291609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660" y="93307"/>
            <a:ext cx="1496630" cy="462176"/>
          </a:xfrm>
        </p:spPr>
        <p:txBody>
          <a:bodyPr>
            <a:normAutofit/>
          </a:bodyPr>
          <a:lstStyle/>
          <a:p>
            <a:r>
              <a:rPr lang="zh-CN" altLang="en-US" sz="2000" dirty="0">
                <a:latin typeface="华文楷体" panose="02010600040101010101" pitchFamily="2" charset="-122"/>
                <a:ea typeface="华文楷体" panose="02010600040101010101" pitchFamily="2" charset="-122"/>
              </a:rPr>
              <a:t>礼的重要性</a:t>
            </a:r>
          </a:p>
        </p:txBody>
      </p:sp>
      <p:sp>
        <p:nvSpPr>
          <p:cNvPr id="3" name="内容占位符 2"/>
          <p:cNvSpPr>
            <a:spLocks noGrp="1"/>
          </p:cNvSpPr>
          <p:nvPr>
            <p:ph idx="1"/>
          </p:nvPr>
        </p:nvSpPr>
        <p:spPr>
          <a:xfrm>
            <a:off x="114456" y="555483"/>
            <a:ext cx="4955177" cy="785499"/>
          </a:xfrm>
        </p:spPr>
        <p:txBody>
          <a:bodyPr>
            <a:normAutofit/>
          </a:bodyPr>
          <a:lstStyle/>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子曰：周监于二代，郁郁乎文哉！吾从周。</a:t>
            </a:r>
            <a:r>
              <a:rPr lang="en-US" altLang="zh-CN" sz="1800" dirty="0">
                <a:latin typeface="华文楷体" panose="02010600040101010101" pitchFamily="2" charset="-122"/>
                <a:ea typeface="华文楷体" panose="02010600040101010101" pitchFamily="2" charset="-122"/>
              </a:rPr>
              <a:t>”</a:t>
            </a:r>
            <a:endParaRPr lang="en-US" altLang="zh-CN" sz="1800" baseline="300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疾病，君视之，东首，加朝服，托绅。</a:t>
            </a:r>
            <a:r>
              <a:rPr lang="en-US" altLang="zh-CN" sz="1800" dirty="0">
                <a:latin typeface="华文楷体" panose="02010600040101010101" pitchFamily="2" charset="-122"/>
                <a:ea typeface="华文楷体" panose="02010600040101010101" pitchFamily="2" charset="-122"/>
              </a:rPr>
              <a:t>”</a:t>
            </a:r>
          </a:p>
        </p:txBody>
      </p:sp>
      <p:sp>
        <p:nvSpPr>
          <p:cNvPr id="6" name="内容占位符 2"/>
          <p:cNvSpPr txBox="1">
            <a:spLocks/>
          </p:cNvSpPr>
          <p:nvPr/>
        </p:nvSpPr>
        <p:spPr>
          <a:xfrm>
            <a:off x="114456" y="1340982"/>
            <a:ext cx="12195732" cy="69931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礼之可以为国也久矣，与天地并。君令臣共，父慈子孝，兄爱弟敬，夫和妻柔，姑慈妇听，礼也。君令而不违，臣共而不贰；父慈而敬，子孝而箴，兄爱而友，弟敬而顺；夫和而义，妻柔而正，姑慈而从，妇听而婉，礼之善物也。</a:t>
            </a:r>
            <a:endParaRPr lang="en-US" altLang="zh-CN" sz="1800" dirty="0">
              <a:latin typeface="华文楷体" panose="02010600040101010101" pitchFamily="2" charset="-122"/>
              <a:ea typeface="华文楷体" panose="02010600040101010101" pitchFamily="2" charset="-122"/>
            </a:endParaRPr>
          </a:p>
        </p:txBody>
      </p:sp>
      <p:sp>
        <p:nvSpPr>
          <p:cNvPr id="7" name="内容占位符 2"/>
          <p:cNvSpPr txBox="1">
            <a:spLocks/>
          </p:cNvSpPr>
          <p:nvPr/>
        </p:nvSpPr>
        <p:spPr>
          <a:xfrm>
            <a:off x="226422" y="1939040"/>
            <a:ext cx="10665512" cy="108407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生，事之以</a:t>
            </a:r>
            <a:r>
              <a:rPr lang="zh-CN" altLang="zh-CN" sz="1800" b="1" dirty="0">
                <a:latin typeface="华文楷体" panose="02010600040101010101" pitchFamily="2" charset="-122"/>
                <a:ea typeface="华文楷体" panose="02010600040101010101" pitchFamily="2" charset="-122"/>
              </a:rPr>
              <a:t>礼</a:t>
            </a:r>
            <a:r>
              <a:rPr lang="zh-CN" altLang="zh-CN" sz="1800" dirty="0">
                <a:latin typeface="华文楷体" panose="02010600040101010101" pitchFamily="2" charset="-122"/>
                <a:ea typeface="华文楷体" panose="02010600040101010101" pitchFamily="2" charset="-122"/>
              </a:rPr>
              <a:t>；死，葬之以</a:t>
            </a:r>
            <a:r>
              <a:rPr lang="zh-CN" altLang="zh-CN" sz="1800" b="1" dirty="0">
                <a:latin typeface="华文楷体" panose="02010600040101010101" pitchFamily="2" charset="-122"/>
                <a:ea typeface="华文楷体" panose="02010600040101010101" pitchFamily="2" charset="-122"/>
              </a:rPr>
              <a:t>礼</a:t>
            </a:r>
            <a:r>
              <a:rPr lang="zh-CN" altLang="zh-CN" sz="1800" dirty="0">
                <a:latin typeface="华文楷体" panose="02010600040101010101" pitchFamily="2" charset="-122"/>
                <a:ea typeface="华文楷体" panose="02010600040101010101" pitchFamily="2" charset="-122"/>
              </a:rPr>
              <a:t>，祭之以</a:t>
            </a:r>
            <a:r>
              <a:rPr lang="zh-CN" altLang="zh-CN" sz="1800" b="1" dirty="0">
                <a:latin typeface="华文楷体" panose="02010600040101010101" pitchFamily="2" charset="-122"/>
                <a:ea typeface="华文楷体" panose="02010600040101010101" pitchFamily="2" charset="-122"/>
              </a:rPr>
              <a:t>礼</a:t>
            </a:r>
            <a:r>
              <a:rPr lang="zh-CN" altLang="zh-CN" sz="1800" dirty="0">
                <a:latin typeface="华文楷体" panose="02010600040101010101" pitchFamily="2" charset="-122"/>
                <a:ea typeface="华文楷体" panose="02010600040101010101" pitchFamily="2" charset="-122"/>
              </a:rPr>
              <a:t>。</a:t>
            </a:r>
            <a:r>
              <a:rPr lang="en-US" altLang="zh-CN" sz="1800" dirty="0">
                <a:latin typeface="华文楷体" panose="02010600040101010101" pitchFamily="2" charset="-122"/>
                <a:ea typeface="华文楷体" panose="02010600040101010101" pitchFamily="2" charset="-122"/>
              </a:rPr>
              <a:t>’”</a:t>
            </a:r>
            <a:endParaRPr lang="en-US" altLang="zh-CN" sz="1800" baseline="30000" dirty="0">
              <a:latin typeface="华文楷体" panose="02010600040101010101" pitchFamily="2" charset="-122"/>
              <a:ea typeface="华文楷体" panose="02010600040101010101" pitchFamily="2" charset="-122"/>
            </a:endParaRP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故书者，政事之纪也；诗者，中声之所止也；</a:t>
            </a:r>
            <a:r>
              <a:rPr lang="zh-CN" altLang="zh-CN" sz="1800" b="1" dirty="0">
                <a:solidFill>
                  <a:srgbClr val="FF0000"/>
                </a:solidFill>
                <a:latin typeface="华文楷体" panose="02010600040101010101" pitchFamily="2" charset="-122"/>
                <a:ea typeface="华文楷体" panose="02010600040101010101" pitchFamily="2" charset="-122"/>
              </a:rPr>
              <a:t>礼者，法之大分，类之纲纪也，故学至乎礼而止</a:t>
            </a:r>
            <a:r>
              <a:rPr lang="zh-CN" altLang="zh-CN" sz="1800" dirty="0">
                <a:solidFill>
                  <a:srgbClr val="FF0000"/>
                </a:solidFill>
                <a:latin typeface="华文楷体" panose="02010600040101010101" pitchFamily="2" charset="-122"/>
                <a:ea typeface="华文楷体" panose="02010600040101010101" pitchFamily="2" charset="-122"/>
              </a:rPr>
              <a:t>矣</a:t>
            </a:r>
            <a:r>
              <a:rPr lang="zh-CN" altLang="zh-CN" sz="1800" dirty="0">
                <a:latin typeface="华文楷体" panose="02010600040101010101" pitchFamily="2" charset="-122"/>
                <a:ea typeface="华文楷体" panose="02010600040101010101" pitchFamily="2" charset="-122"/>
              </a:rPr>
              <a:t>。夫是之谓</a:t>
            </a:r>
            <a:r>
              <a:rPr lang="zh-CN" altLang="zh-CN" sz="1800" dirty="0">
                <a:solidFill>
                  <a:srgbClr val="FF0000"/>
                </a:solidFill>
                <a:latin typeface="华文楷体" panose="02010600040101010101" pitchFamily="2" charset="-122"/>
                <a:ea typeface="华文楷体" panose="02010600040101010101" pitchFamily="2" charset="-122"/>
              </a:rPr>
              <a:t>道德之极</a:t>
            </a:r>
            <a:r>
              <a:rPr lang="zh-CN" altLang="zh-CN" sz="1800" dirty="0">
                <a:latin typeface="华文楷体" panose="02010600040101010101" pitchFamily="2" charset="-122"/>
                <a:ea typeface="华文楷体" panose="02010600040101010101" pitchFamily="2" charset="-122"/>
              </a:rPr>
              <a:t>。礼之敬文也，乐之中和也，诗、书之博也，春秋之微也，在天地之间者毕矣。”</a:t>
            </a:r>
            <a:endParaRPr lang="zh-CN" altLang="en-US" sz="1800" dirty="0">
              <a:latin typeface="华文楷体" panose="02010600040101010101" pitchFamily="2" charset="-122"/>
              <a:ea typeface="华文楷体" panose="02010600040101010101" pitchFamily="2" charset="-122"/>
            </a:endParaRPr>
          </a:p>
          <a:p>
            <a:pPr marL="0" indent="0">
              <a:buFont typeface="Calibri" panose="020F0502020204030204" pitchFamily="34" charset="0"/>
              <a:buNone/>
            </a:pPr>
            <a:endParaRPr lang="zh-CN" altLang="en-US" sz="1800" dirty="0">
              <a:latin typeface="华文楷体" panose="02010600040101010101" pitchFamily="2" charset="-122"/>
              <a:ea typeface="华文楷体" panose="02010600040101010101" pitchFamily="2" charset="-122"/>
            </a:endParaRPr>
          </a:p>
        </p:txBody>
      </p:sp>
      <p:sp>
        <p:nvSpPr>
          <p:cNvPr id="8" name="Rectangle 1"/>
          <p:cNvSpPr txBox="1">
            <a:spLocks noChangeArrowheads="1"/>
          </p:cNvSpPr>
          <p:nvPr/>
        </p:nvSpPr>
        <p:spPr bwMode="auto">
          <a:xfrm>
            <a:off x="0" y="2890156"/>
            <a:ext cx="12192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eaLnBrk="0" fontAlgn="base" hangingPunct="0">
              <a:lnSpc>
                <a:spcPct val="100000"/>
              </a:lnSpc>
              <a:spcBef>
                <a:spcPct val="0"/>
              </a:spcBef>
              <a:spcAft>
                <a:spcPct val="0"/>
              </a:spcAft>
              <a:buClrTx/>
              <a:buSzTx/>
              <a:buFontTx/>
              <a:buNone/>
            </a:pPr>
            <a:r>
              <a:rPr lang="zh-CN" altLang="zh-CN" sz="1800">
                <a:solidFill>
                  <a:srgbClr val="000000"/>
                </a:solidFill>
                <a:latin typeface="华文楷体" panose="02010600040101010101" pitchFamily="2" charset="-122"/>
                <a:ea typeface="华文楷体" panose="02010600040101010101" pitchFamily="2" charset="-122"/>
                <a:cs typeface="Raavi" panose="020B0502040204020203"/>
              </a:rPr>
              <a:t>礼有三本：天地者，生之本也；先祖者，类之本也；君师者，治之本也。无天地恶生？无先祖恶出？无君师恶治</a:t>
            </a:r>
            <a:r>
              <a:rPr lang="zh-CN" altLang="zh-TW" sz="1800">
                <a:solidFill>
                  <a:srgbClr val="000000"/>
                </a:solidFill>
                <a:latin typeface="华文楷体" panose="02010600040101010101" pitchFamily="2" charset="-122"/>
                <a:ea typeface="华文楷体" panose="02010600040101010101" pitchFamily="2" charset="-122"/>
                <a:cs typeface="Raavi" panose="020B0502040204020203"/>
              </a:rPr>
              <a:t>?</a:t>
            </a:r>
            <a:r>
              <a:rPr lang="zh-CN" altLang="zh-CN" sz="1800">
                <a:solidFill>
                  <a:srgbClr val="000000"/>
                </a:solidFill>
                <a:latin typeface="华文楷体" panose="02010600040101010101" pitchFamily="2" charset="-122"/>
                <a:ea typeface="华文楷体" panose="02010600040101010101" pitchFamily="2" charset="-122"/>
                <a:cs typeface="Raavi" panose="020B0502040204020203"/>
              </a:rPr>
              <a:t>三者偏亡焉，无安人。故礼上事天，下事地，尊先祖而隆君师，是礼之三本也。”</a:t>
            </a:r>
            <a:r>
              <a:rPr lang="zh-CN" altLang="zh-CN" sz="1800">
                <a:solidFill>
                  <a:schemeClr val="tx1"/>
                </a:solidFill>
                <a:latin typeface="华文楷体" panose="02010600040101010101" pitchFamily="2" charset="-122"/>
                <a:ea typeface="华文楷体" panose="02010600040101010101" pitchFamily="2" charset="-122"/>
              </a:rPr>
              <a:t> </a:t>
            </a:r>
            <a:endParaRPr lang="zh-CN" altLang="zh-CN" sz="1800" dirty="0">
              <a:solidFill>
                <a:schemeClr val="tx1"/>
              </a:solidFill>
              <a:latin typeface="华文楷体" panose="02010600040101010101" pitchFamily="2" charset="-122"/>
              <a:ea typeface="华文楷体" panose="02010600040101010101" pitchFamily="2" charset="-122"/>
            </a:endParaRPr>
          </a:p>
        </p:txBody>
      </p:sp>
      <p:sp>
        <p:nvSpPr>
          <p:cNvPr id="51203" name="内容占位符 2"/>
          <p:cNvSpPr txBox="1">
            <a:spLocks/>
          </p:cNvSpPr>
          <p:nvPr/>
        </p:nvSpPr>
        <p:spPr>
          <a:xfrm>
            <a:off x="226422" y="3549814"/>
            <a:ext cx="11331096" cy="646331"/>
          </a:xfrm>
          <a:prstGeom prst="rect">
            <a:avLst/>
          </a:prstGeom>
        </p:spPr>
        <p:txBody>
          <a:bodyPr vert="horz" wrap="square" lIns="0" tIns="45720" rIns="0" bIns="45720" rtlCol="0" anchor="t"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2400" baseline="30000" dirty="0">
                <a:latin typeface="+mn-ea"/>
              </a:rPr>
              <a:t>从“三礼”即《仪礼》、《周礼》、《礼记》的具体文本中，我们可以发现它们所规范对象均为士以上成员，甚少涉及庶民，也就是说作为大众的庶民并未进入它们的视野</a:t>
            </a:r>
            <a:r>
              <a:rPr lang="en-US" altLang="zh-CN" sz="2400" baseline="30000" dirty="0">
                <a:latin typeface="+mn-ea"/>
              </a:rPr>
              <a:t>,</a:t>
            </a:r>
            <a:r>
              <a:rPr lang="zh-CN" altLang="zh-CN" sz="2400" baseline="30000" dirty="0">
                <a:latin typeface="+mn-ea"/>
              </a:rPr>
              <a:t>这预设了社会等级制在中国古代社会的重要程度。由此也可以看出，政治哲学的基本原则就是人性差异以及由此引发的身份差异、话语差异、权力差异、德性差异，而这种实质上就是古典政治社会的核心要素，这意味著“仁义”也以等级差异为基础。</a:t>
            </a:r>
            <a:endParaRPr lang="zh-CN" altLang="en-US" sz="2400" dirty="0">
              <a:latin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983" y="160003"/>
            <a:ext cx="11922034" cy="897466"/>
          </a:xfrm>
        </p:spPr>
        <p:txBody>
          <a:bodyPr>
            <a:normAutofit/>
          </a:bodyPr>
          <a:lstStyle/>
          <a:p>
            <a:r>
              <a:rPr lang="zh-CN" altLang="en-US" sz="1800" dirty="0">
                <a:latin typeface="华文楷体" panose="02010600040101010101" pitchFamily="2" charset="-122"/>
                <a:ea typeface="华文楷体" panose="02010600040101010101" pitchFamily="2" charset="-122"/>
              </a:rPr>
              <a:t>在社会共同体中，义利问题是人之行为原则的基础问题，它以社会共同体和个体的正当需要为依据，是处理社会共同体行动和个体生活的原则性问题，是确定人在现实政治生活中的身“位”的核心问题，这种问题在现实生活中表现为人与社会、人与人、人与自身的正当关系，进而，它解释正当性来源及自身的可能结构。</a:t>
            </a:r>
          </a:p>
        </p:txBody>
      </p:sp>
      <p:sp>
        <p:nvSpPr>
          <p:cNvPr id="2" name="内容占位符 2"/>
          <p:cNvSpPr txBox="1">
            <a:spLocks/>
          </p:cNvSpPr>
          <p:nvPr/>
        </p:nvSpPr>
        <p:spPr>
          <a:xfrm>
            <a:off x="296440" y="1113026"/>
            <a:ext cx="11422809" cy="302976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zh-CN" altLang="zh-CN" sz="2800" baseline="30000" dirty="0">
                <a:latin typeface="华文楷体" panose="02010600040101010101" pitchFamily="2" charset="-122"/>
                <a:ea typeface="华文楷体" panose="02010600040101010101" pitchFamily="2" charset="-122"/>
              </a:rPr>
              <a:t>“论政亦具四悉檀。如曰：‘既庶矣，富之；既富矣，教之’。”“足食足兵，民信之矣。”“谨权量，审法度，修废官。”“兴灭国，继绝世，举逸民。”“所重：民、食、丧、祭。”“不患寡而患不均，不患贫而患不安。均无贫，和无寡，安无倾。”</a:t>
            </a:r>
            <a:r>
              <a:rPr lang="zh-CN" altLang="zh-CN" sz="2800" baseline="30000" dirty="0">
                <a:solidFill>
                  <a:srgbClr val="FF0000"/>
                </a:solidFill>
                <a:latin typeface="华文楷体" panose="02010600040101010101" pitchFamily="2" charset="-122"/>
                <a:ea typeface="华文楷体" panose="02010600040101010101" pitchFamily="2" charset="-122"/>
              </a:rPr>
              <a:t>世界悉檀也</a:t>
            </a:r>
            <a:r>
              <a:rPr lang="zh-CN" altLang="zh-CN" sz="2800" baseline="30000" dirty="0">
                <a:latin typeface="华文楷体" panose="02010600040101010101" pitchFamily="2" charset="-122"/>
                <a:ea typeface="华文楷体" panose="02010600040101010101" pitchFamily="2" charset="-122"/>
              </a:rPr>
              <a:t>。答叶公问政曰：‘近者悦，远者来。’答子夏为莒父宰问政曰：‘无欲速</a:t>
            </a:r>
            <a:r>
              <a:rPr lang="zh-CN" altLang="zh-CN" sz="2800" baseline="30000" dirty="0">
                <a:solidFill>
                  <a:schemeClr val="tx1"/>
                </a:solidFill>
                <a:latin typeface="华文楷体" panose="02010600040101010101" pitchFamily="2" charset="-122"/>
                <a:ea typeface="华文楷体" panose="02010600040101010101" pitchFamily="2" charset="-122"/>
              </a:rPr>
              <a:t>，无见小</a:t>
            </a:r>
            <a:r>
              <a:rPr lang="zh-CN" altLang="zh-CN" sz="2800" baseline="30000" dirty="0">
                <a:latin typeface="华文楷体" panose="02010600040101010101" pitchFamily="2" charset="-122"/>
                <a:ea typeface="华文楷体" panose="02010600040101010101" pitchFamily="2" charset="-122"/>
              </a:rPr>
              <a:t>利。’答仲弓为季氏宰问政曰：‘先有司，赦小过，举贤才。’为人悉檀也。答哀公、季康子诸问及定公一言‘兴邦’‘丧邦’，答齐景公问政曰：‘君君，臣臣，父父，子子。’对悉檀也。答子张问政曰：‘居之无倦，行之以忠。’答子路问政曰：‘先之劳之。’请益。曰：‘无倦。’答子贡问‘必不得已而去’曰：‘去兵’、‘去食’、‘自古皆有死，民无信不立。’答子路问君子曰：‘修己以敬。’皆第一义悉檀也。‘宽则得众，信则民任焉。敏则有功，公则说。’答子张问从政，以‘尊五美</a:t>
            </a:r>
            <a:r>
              <a:rPr lang="en-US" altLang="zh-CN" sz="2800" baseline="30000" dirty="0">
                <a:latin typeface="华文楷体" panose="02010600040101010101" pitchFamily="2" charset="-122"/>
                <a:ea typeface="华文楷体" panose="02010600040101010101" pitchFamily="2" charset="-122"/>
              </a:rPr>
              <a:t>[</a:t>
            </a:r>
            <a:r>
              <a:rPr lang="zh-CN" altLang="zh-CN" sz="2800" baseline="30000" dirty="0">
                <a:latin typeface="华文楷体" panose="02010600040101010101" pitchFamily="2" charset="-122"/>
                <a:ea typeface="华文楷体" panose="02010600040101010101" pitchFamily="2" charset="-122"/>
              </a:rPr>
              <a:t>指‘惠而不费、劳而不怨，欲而不贪、泰而不骄、威而不猛’</a:t>
            </a:r>
            <a:r>
              <a:rPr lang="en-US" altLang="zh-CN" sz="2800" baseline="30000" dirty="0">
                <a:latin typeface="华文楷体" panose="02010600040101010101" pitchFamily="2" charset="-122"/>
                <a:ea typeface="华文楷体" panose="02010600040101010101" pitchFamily="2" charset="-122"/>
              </a:rPr>
              <a:t>]</a:t>
            </a:r>
            <a:r>
              <a:rPr lang="zh-CN" altLang="zh-CN" sz="2800" baseline="30000" dirty="0">
                <a:latin typeface="华文楷体" panose="02010600040101010101" pitchFamily="2" charset="-122"/>
                <a:ea typeface="华文楷体" panose="02010600040101010101" pitchFamily="2" charset="-122"/>
              </a:rPr>
              <a:t>，屏四恶。</a:t>
            </a:r>
            <a:r>
              <a:rPr lang="en-US" altLang="zh-CN" sz="2800" baseline="30000" dirty="0">
                <a:latin typeface="华文楷体" panose="02010600040101010101" pitchFamily="2" charset="-122"/>
                <a:ea typeface="华文楷体" panose="02010600040101010101" pitchFamily="2" charset="-122"/>
              </a:rPr>
              <a:t>[</a:t>
            </a:r>
            <a:r>
              <a:rPr lang="zh-CN" altLang="zh-CN" sz="2800" baseline="30000" dirty="0">
                <a:latin typeface="华文楷体" panose="02010600040101010101" pitchFamily="2" charset="-122"/>
                <a:ea typeface="华文楷体" panose="02010600040101010101" pitchFamily="2" charset="-122"/>
              </a:rPr>
              <a:t>指不教而杀谓之虐；不戒视成谓之暴；慢令致期谓之贼；犹之于人也，出纳之吝谓之有司</a:t>
            </a:r>
            <a:r>
              <a:rPr lang="en-US" altLang="zh-CN" sz="2800" baseline="30000" dirty="0">
                <a:latin typeface="华文楷体" panose="02010600040101010101" pitchFamily="2" charset="-122"/>
                <a:ea typeface="华文楷体" panose="02010600040101010101" pitchFamily="2" charset="-122"/>
              </a:rPr>
              <a:t>]</a:t>
            </a:r>
            <a:r>
              <a:rPr lang="zh-CN" altLang="zh-CN" sz="2800" baseline="30000" dirty="0">
                <a:latin typeface="华文楷体" panose="02010600040101010101" pitchFamily="2" charset="-122"/>
                <a:ea typeface="华文楷体" panose="02010600040101010101" pitchFamily="2" charset="-122"/>
              </a:rPr>
              <a:t>’，其言尤为该备。世界悉檀也。《中庸·哀公问政》一章，其要义曰：‘为政在人，取人以身，修身以道，修道以仁。’</a:t>
            </a:r>
            <a:r>
              <a:rPr lang="zh-CN" altLang="zh-CN" sz="2800" baseline="30000" dirty="0"/>
              <a:t>第一义悉檀也，学者当知。”</a:t>
            </a:r>
            <a:endParaRPr lang="en-US" altLang="zh-CN" sz="2800" baseline="30000" dirty="0"/>
          </a:p>
        </p:txBody>
      </p:sp>
      <p:sp>
        <p:nvSpPr>
          <p:cNvPr id="6" name="标题 1"/>
          <p:cNvSpPr>
            <a:spLocks noGrp="1"/>
          </p:cNvSpPr>
          <p:nvPr>
            <p:ph type="title"/>
          </p:nvPr>
        </p:nvSpPr>
        <p:spPr>
          <a:xfrm>
            <a:off x="134983" y="3968466"/>
            <a:ext cx="3866606" cy="459766"/>
          </a:xfrm>
        </p:spPr>
        <p:txBody>
          <a:bodyPr>
            <a:normAutofit/>
          </a:bodyPr>
          <a:lstStyle/>
          <a:p>
            <a:r>
              <a:rPr lang="zh-CN" altLang="en-US" sz="2000" dirty="0"/>
              <a:t>孔子的义利观：君子与小人</a:t>
            </a:r>
          </a:p>
        </p:txBody>
      </p:sp>
      <p:sp>
        <p:nvSpPr>
          <p:cNvPr id="4" name="内容占位符 2"/>
          <p:cNvSpPr txBox="1">
            <a:spLocks/>
          </p:cNvSpPr>
          <p:nvPr/>
        </p:nvSpPr>
        <p:spPr>
          <a:xfrm>
            <a:off x="296440" y="4349875"/>
            <a:ext cx="11578319" cy="139509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dirty="0">
                <a:latin typeface="华文楷体" panose="02010600040101010101" pitchFamily="2" charset="-122"/>
                <a:ea typeface="华文楷体" panose="02010600040101010101" pitchFamily="2" charset="-122"/>
              </a:rPr>
              <a:t>君子的高贵品格使其在行事时排除了“利”的原则，因为完全依“利”行事会严重危害社会。如果完全根据“利”的标准来取舍行事，那么社会关系将日渐恶化，人与人之间的关系将变得十分冷漠，彼此之间基本的信任感都将丧失殆尽，相互间心生怨隙。</a:t>
            </a: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子曰：放于利而行，多怨。</a:t>
            </a:r>
            <a:r>
              <a:rPr lang="en-US" altLang="zh-CN" sz="1800"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p:txBody>
      </p:sp>
      <p:sp>
        <p:nvSpPr>
          <p:cNvPr id="5" name="内容占位符 2"/>
          <p:cNvSpPr txBox="1">
            <a:spLocks/>
          </p:cNvSpPr>
          <p:nvPr/>
        </p:nvSpPr>
        <p:spPr>
          <a:xfrm>
            <a:off x="369492" y="5528216"/>
            <a:ext cx="10087014" cy="100321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dirty="0">
                <a:latin typeface="华文楷体" panose="02010600040101010101" pitchFamily="2" charset="-122"/>
                <a:ea typeface="华文楷体" panose="02010600040101010101" pitchFamily="2" charset="-122"/>
              </a:rPr>
              <a:t>君子必须在想到利的同时想到义，并且能</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以义制利</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，即必须谨慎对待以不合义的方式获得的利，或者从根本上损害义的利，利是并且只是人生手段，义才是人生目的，不因利行义，而因义行义，因义生利。在一切行为中切不可满脑子只想着有没有什么好处，而要</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见利思义</a:t>
            </a:r>
            <a:r>
              <a:rPr lang="zh-CN" altLang="en-US" sz="1800" dirty="0">
                <a:latin typeface="华文楷体" panose="02010600040101010101" pitchFamily="2" charset="-122"/>
                <a:ea typeface="华文楷体" panose="02010600040101010101" pitchFamily="2" charset="-122"/>
              </a:rPr>
              <a:t>”。</a:t>
            </a:r>
            <a:endParaRPr lang="zh-CN" altLang="zh-CN" sz="1800" dirty="0">
              <a:latin typeface="华文楷体" panose="02010600040101010101" pitchFamily="2" charset="-122"/>
              <a:ea typeface="华文楷体" panose="02010600040101010101" pitchFamily="2" charset="-122"/>
            </a:endParaRPr>
          </a:p>
          <a:p>
            <a:endParaRPr lang="en-US" altLang="zh-CN" baseline="30000" dirty="0"/>
          </a:p>
          <a:p>
            <a:endParaRPr lang="zh-CN" altLang="zh-CN" dirty="0"/>
          </a:p>
          <a:p>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1578"/>
            <a:ext cx="12192000" cy="2751149"/>
          </a:xfrm>
        </p:spPr>
        <p:txBody>
          <a:bodyPr>
            <a:normAutofit/>
          </a:bodyPr>
          <a:lstStyle/>
          <a:p>
            <a:r>
              <a:rPr lang="zh-CN" altLang="zh-CN" sz="1800" dirty="0">
                <a:latin typeface="华文楷体" panose="02010600040101010101" pitchFamily="2" charset="-122"/>
                <a:ea typeface="华文楷体" panose="02010600040101010101" pitchFamily="2" charset="-122"/>
              </a:rPr>
              <a:t>真正的君子于天下则无可无不可，于人于事都能做到不偏不倚，但不偏不倚是根据义来实行的。</a:t>
            </a:r>
          </a:p>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君子之于天下也，无适也，无莫也，义之于比。</a:t>
            </a:r>
            <a:r>
              <a:rPr lang="en-US" altLang="zh-CN" sz="1800" dirty="0">
                <a:latin typeface="华文楷体" panose="02010600040101010101" pitchFamily="2" charset="-122"/>
                <a:ea typeface="华文楷体" panose="02010600040101010101" pitchFamily="2" charset="-122"/>
              </a:rPr>
              <a:t>”</a:t>
            </a:r>
            <a:r>
              <a:rPr lang="zh-CN" altLang="zh-CN" sz="1800" baseline="30000" dirty="0">
                <a:latin typeface="华文楷体" panose="02010600040101010101" pitchFamily="2" charset="-122"/>
                <a:ea typeface="华文楷体" panose="02010600040101010101" pitchFamily="2" charset="-122"/>
              </a:rPr>
              <a:t> </a:t>
            </a:r>
            <a:endParaRPr lang="en-US" altLang="zh-CN" sz="1800" baseline="30000" dirty="0">
              <a:latin typeface="华文楷体" panose="02010600040101010101" pitchFamily="2" charset="-122"/>
              <a:ea typeface="华文楷体" panose="02010600040101010101" pitchFamily="2" charset="-122"/>
            </a:endParaRPr>
          </a:p>
          <a:p>
            <a:r>
              <a:rPr lang="zh-CN" altLang="zh-CN" sz="1800" dirty="0">
                <a:latin typeface="华文楷体" panose="02010600040101010101" pitchFamily="2" charset="-122"/>
                <a:ea typeface="华文楷体" panose="02010600040101010101" pitchFamily="2" charset="-122"/>
              </a:rPr>
              <a:t>而且，作为君子，他还不能仅仅停留于自身的修养之中，停留在修己之上，他必须在更高的层次上来提升自己，也就是说，不可能将自己的行为和整个社会分离开来，但又高于整个社会。无疑，人恰恰是自身从社会关系分离开来方能形成自我，人也就是社会存在，就是共同存在</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“共在”</a:t>
            </a:r>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。社会关系决定了人的规定性。而在孔子及其后继者看来，这种社会关系首先存在于与自己最切近的家庭中，其次才延伸至政治社会。</a:t>
            </a:r>
          </a:p>
          <a:p>
            <a:r>
              <a:rPr lang="zh-CN" altLang="zh-CN" sz="1800" dirty="0">
                <a:latin typeface="华文楷体" panose="02010600040101010101" pitchFamily="2" charset="-122"/>
                <a:ea typeface="华文楷体" panose="02010600040101010101" pitchFamily="2" charset="-122"/>
              </a:rPr>
              <a:t>“子路曰：‘不士无义。长幼之节，不可废也；君臣之义，如之何其废之？欲洁其身，而乱大伦。君子之仕也，行其义也。道之不行，已知之矣。’</a:t>
            </a:r>
            <a:endParaRPr lang="en-US" altLang="zh-CN" sz="1800" dirty="0">
              <a:latin typeface="华文楷体" panose="02010600040101010101" pitchFamily="2" charset="-122"/>
              <a:ea typeface="华文楷体" panose="02010600040101010101" pitchFamily="2" charset="-122"/>
            </a:endParaRPr>
          </a:p>
        </p:txBody>
      </p:sp>
      <p:sp>
        <p:nvSpPr>
          <p:cNvPr id="2" name="内容占位符 2"/>
          <p:cNvSpPr txBox="1">
            <a:spLocks/>
          </p:cNvSpPr>
          <p:nvPr/>
        </p:nvSpPr>
        <p:spPr>
          <a:xfrm>
            <a:off x="213982" y="2967135"/>
            <a:ext cx="11978018"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zh-CN" sz="1800">
                <a:latin typeface="华文楷体" panose="02010600040101010101" pitchFamily="2" charset="-122"/>
                <a:ea typeface="华文楷体" panose="02010600040101010101" pitchFamily="2" charset="-122"/>
              </a:rPr>
              <a:t>如果义利不能兼顾，即必须在义利之间做出抉择时，那么应当如何抉择呢？在儒家看来，这就必须考虑共同体与个体之间孰重孰轻了。此处的共同体指家庭、族群、国家的领域，尤其指家庭领域。儒家思想没有现代意义上的个体，它的个体只有在共同体中才成其为个体，个体是共同体的个体，个体只有在共同体中方能实现自身的意义，若割裂这种个体与共同体的内在关系来探讨个体，这对儒家而言是不可想象的。所以，当个体面临共同体的危难时，必定会挺身而出，为共同体舍弃自身利益，甚至自身的生命。当在共同体与个体之间做出抉择时，在君子的生命与尊严做出决断时，君子宁愿守护尊严而舍弃生命，舍生成仁。</a:t>
            </a:r>
          </a:p>
          <a:p>
            <a:r>
              <a:rPr lang="en-US" altLang="zh-CN" sz="1800">
                <a:latin typeface="华文楷体" panose="02010600040101010101" pitchFamily="2" charset="-122"/>
                <a:ea typeface="华文楷体" panose="02010600040101010101" pitchFamily="2" charset="-122"/>
              </a:rPr>
              <a:t>“</a:t>
            </a:r>
            <a:r>
              <a:rPr lang="zh-CN" altLang="zh-CN" sz="1800">
                <a:latin typeface="华文楷体" panose="02010600040101010101" pitchFamily="2" charset="-122"/>
                <a:ea typeface="华文楷体" panose="02010600040101010101" pitchFamily="2" charset="-122"/>
              </a:rPr>
              <a:t>士见危致命，见得思义。</a:t>
            </a:r>
            <a:r>
              <a:rPr lang="en-US" altLang="zh-CN" sz="1800">
                <a:latin typeface="华文楷体" panose="02010600040101010101" pitchFamily="2" charset="-122"/>
                <a:ea typeface="华文楷体" panose="02010600040101010101" pitchFamily="2" charset="-122"/>
              </a:rPr>
              <a:t>”</a:t>
            </a:r>
            <a:r>
              <a:rPr lang="en-US" altLang="zh-CN" sz="1800" baseline="30000">
                <a:latin typeface="华文楷体" panose="02010600040101010101" pitchFamily="2" charset="-122"/>
                <a:ea typeface="华文楷体" panose="02010600040101010101" pitchFamily="2" charset="-122"/>
              </a:rPr>
              <a:t> </a:t>
            </a:r>
          </a:p>
          <a:p>
            <a:pPr marL="0" indent="0">
              <a:buFont typeface="Calibri" panose="020F0502020204030204" pitchFamily="34" charset="0"/>
              <a:buNone/>
            </a:pPr>
            <a:r>
              <a:rPr lang="en-US" altLang="zh-CN" sz="1800">
                <a:latin typeface="华文楷体" panose="02010600040101010101" pitchFamily="2" charset="-122"/>
                <a:ea typeface="华文楷体" panose="02010600040101010101" pitchFamily="2" charset="-122"/>
              </a:rPr>
              <a:t> “</a:t>
            </a:r>
            <a:r>
              <a:rPr lang="zh-CN" altLang="zh-CN" sz="1800">
                <a:latin typeface="华文楷体" panose="02010600040101010101" pitchFamily="2" charset="-122"/>
                <a:ea typeface="华文楷体" panose="02010600040101010101" pitchFamily="2" charset="-122"/>
              </a:rPr>
              <a:t>志士仁人，无求生以害仁，有杀身以成仁。</a:t>
            </a:r>
            <a:r>
              <a:rPr lang="en-US" altLang="zh-CN" sz="1800">
                <a:latin typeface="华文楷体" panose="02010600040101010101" pitchFamily="2" charset="-122"/>
                <a:ea typeface="华文楷体" panose="02010600040101010101" pitchFamily="2" charset="-122"/>
              </a:rPr>
              <a:t>”</a:t>
            </a:r>
            <a:r>
              <a:rPr lang="en-US" altLang="zh-CN" sz="1800" baseline="30000">
                <a:latin typeface="华文楷体" panose="02010600040101010101" pitchFamily="2" charset="-122"/>
                <a:ea typeface="华文楷体" panose="02010600040101010101" pitchFamily="2" charset="-122"/>
              </a:rPr>
              <a:t> </a:t>
            </a:r>
            <a:endParaRPr lang="zh-CN" altLang="zh-CN" sz="180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3894" y="2175415"/>
            <a:ext cx="10058400" cy="972111"/>
          </a:xfrm>
        </p:spPr>
        <p:txBody>
          <a:bodyPr>
            <a:normAutofit/>
          </a:bodyPr>
          <a:lstStyle/>
          <a:p>
            <a:r>
              <a:rPr lang="en-US" altLang="zh-CN" sz="1800"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王！何必曰利？亦有仁义而已矣。……上下交征利而国危矣。……苟为后义而先利，不夺不厌。未有仁而遗其亲者也，未有义而后其君者也。王亦曰仁义而已何必曰利。”</a:t>
            </a:r>
          </a:p>
          <a:p>
            <a:endParaRPr lang="zh-CN" altLang="en-US" sz="1800" dirty="0"/>
          </a:p>
        </p:txBody>
      </p:sp>
      <p:sp>
        <p:nvSpPr>
          <p:cNvPr id="4" name="文本框 3">
            <a:extLst>
              <a:ext uri="{FF2B5EF4-FFF2-40B4-BE49-F238E27FC236}">
                <a16:creationId xmlns:a16="http://schemas.microsoft.com/office/drawing/2014/main" id="{F10DD5A7-B733-85E7-4B10-253D9D6D3EA0}"/>
              </a:ext>
            </a:extLst>
          </p:cNvPr>
          <p:cNvSpPr txBox="1"/>
          <p:nvPr/>
        </p:nvSpPr>
        <p:spPr>
          <a:xfrm>
            <a:off x="150470" y="161731"/>
            <a:ext cx="3457367" cy="400110"/>
          </a:xfrm>
          <a:prstGeom prst="rect">
            <a:avLst/>
          </a:prstGeom>
          <a:noFill/>
        </p:spPr>
        <p:txBody>
          <a:bodyPr wrap="square" rtlCol="0">
            <a:spAutoFit/>
          </a:bodyPr>
          <a:lstStyle/>
          <a:p>
            <a:r>
              <a:rPr lang="zh-CN" altLang="en-US" sz="2000" dirty="0"/>
              <a:t>孟子的义利观：“何必曰利”</a:t>
            </a:r>
          </a:p>
        </p:txBody>
      </p:sp>
      <p:sp>
        <p:nvSpPr>
          <p:cNvPr id="6" name="文本框 5">
            <a:extLst>
              <a:ext uri="{FF2B5EF4-FFF2-40B4-BE49-F238E27FC236}">
                <a16:creationId xmlns:a16="http://schemas.microsoft.com/office/drawing/2014/main" id="{E3DEBE9F-6757-2773-7CD4-DAA48CC31723}"/>
              </a:ext>
            </a:extLst>
          </p:cNvPr>
          <p:cNvSpPr txBox="1"/>
          <p:nvPr/>
        </p:nvSpPr>
        <p:spPr>
          <a:xfrm>
            <a:off x="411389" y="639490"/>
            <a:ext cx="10468105" cy="1754326"/>
          </a:xfrm>
          <a:prstGeom prst="rect">
            <a:avLst/>
          </a:prstGeom>
          <a:noFill/>
        </p:spPr>
        <p:txBody>
          <a:bodyPr wrap="square" rtlCol="0">
            <a:spAutoFit/>
          </a:bodyPr>
          <a:lstStyle/>
          <a:p>
            <a:r>
              <a:rPr lang="zh-CN" altLang="en-US" dirty="0">
                <a:solidFill>
                  <a:srgbClr val="000000"/>
                </a:solidFill>
                <a:latin typeface="楷体" panose="02010609060101010101" pitchFamily="49" charset="-122"/>
                <a:ea typeface="楷体" panose="02010609060101010101" pitchFamily="49" charset="-122"/>
              </a:rPr>
              <a:t>仁义礼智，非外铄我也，我固有之矣，弗思耳矣。</a:t>
            </a:r>
            <a:endParaRPr lang="en-US" altLang="zh-CN" dirty="0">
              <a:solidFill>
                <a:srgbClr val="000000"/>
              </a:solidFill>
              <a:latin typeface="楷体" panose="02010609060101010101" pitchFamily="49" charset="-122"/>
              <a:ea typeface="楷体" panose="02010609060101010101" pitchFamily="49" charset="-122"/>
            </a:endParaRPr>
          </a:p>
          <a:p>
            <a:r>
              <a:rPr lang="zh-CN" altLang="en-US" dirty="0">
                <a:solidFill>
                  <a:srgbClr val="000000"/>
                </a:solidFill>
                <a:latin typeface="楷体" panose="02010609060101010101" pitchFamily="49" charset="-122"/>
                <a:ea typeface="楷体" panose="02010609060101010101" pitchFamily="49" charset="-122"/>
              </a:rPr>
              <a:t>“我知言，我善养吾浩然之气。”</a:t>
            </a:r>
            <a:br>
              <a:rPr lang="zh-CN" altLang="en-US" dirty="0"/>
            </a:br>
            <a:r>
              <a:rPr lang="zh-CN" altLang="en-US" dirty="0">
                <a:latin typeface="华文楷体" panose="02010600040101010101" pitchFamily="2" charset="-122"/>
                <a:ea typeface="华文楷体" panose="02010600040101010101" pitchFamily="2" charset="-122"/>
              </a:rPr>
              <a:t>“难言也。其为气也，至大至刚，以直养而无害，则塞于天地之间。其为气也，</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配义与道；无是，馁也。是集义所生者，非义袭而取之也。行有不慊于心，则馁矣。</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我故曰，告子未尝知义，以其外之也。必有事焉，而勿正；心勿忘，勿助长也。</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endParaRPr lang="zh-CN" altLang="en-US" dirty="0">
              <a:solidFill>
                <a:srgbClr val="000000"/>
              </a:solidFill>
              <a:latin typeface="楷体" panose="02010609060101010101" pitchFamily="49" charset="-122"/>
              <a:ea typeface="楷体" panose="02010609060101010101" pitchFamily="49" charset="-122"/>
            </a:endParaRPr>
          </a:p>
        </p:txBody>
      </p:sp>
      <p:sp>
        <p:nvSpPr>
          <p:cNvPr id="7" name="标题 1"/>
          <p:cNvSpPr>
            <a:spLocks noGrp="1"/>
          </p:cNvSpPr>
          <p:nvPr>
            <p:ph type="title"/>
          </p:nvPr>
        </p:nvSpPr>
        <p:spPr>
          <a:xfrm>
            <a:off x="301068" y="2911152"/>
            <a:ext cx="4034557" cy="381311"/>
          </a:xfrm>
        </p:spPr>
        <p:txBody>
          <a:bodyPr>
            <a:normAutofit/>
          </a:bodyPr>
          <a:lstStyle/>
          <a:p>
            <a:r>
              <a:rPr lang="zh-CN" altLang="en-US" sz="2000" dirty="0">
                <a:latin typeface="华文中宋" panose="02010600040101010101" pitchFamily="2" charset="-122"/>
                <a:ea typeface="华文中宋" panose="02010600040101010101" pitchFamily="2" charset="-122"/>
              </a:rPr>
              <a:t>四、私德与公德：网络道德</a:t>
            </a:r>
          </a:p>
        </p:txBody>
      </p:sp>
      <p:sp>
        <p:nvSpPr>
          <p:cNvPr id="21507" name="标题 1"/>
          <p:cNvSpPr txBox="1">
            <a:spLocks/>
          </p:cNvSpPr>
          <p:nvPr/>
        </p:nvSpPr>
        <p:spPr>
          <a:xfrm>
            <a:off x="181572" y="3310889"/>
            <a:ext cx="2189479" cy="353973"/>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2000"/>
              <a:t> </a:t>
            </a:r>
            <a:r>
              <a:rPr lang="zh-CN" altLang="en-US" sz="2000"/>
              <a:t>公共生活</a:t>
            </a:r>
            <a:r>
              <a:rPr lang="zh-CN" altLang="en-US" sz="2000">
                <a:solidFill>
                  <a:srgbClr val="000099"/>
                </a:solidFill>
              </a:rPr>
              <a:t>（特征）</a:t>
            </a:r>
            <a:endParaRPr lang="zh-CN" altLang="en-US" sz="2000" dirty="0">
              <a:solidFill>
                <a:srgbClr val="000099"/>
              </a:solidFill>
            </a:endParaRPr>
          </a:p>
        </p:txBody>
      </p:sp>
      <p:sp>
        <p:nvSpPr>
          <p:cNvPr id="8" name="Rectangle 3"/>
          <p:cNvSpPr txBox="1">
            <a:spLocks noChangeArrowheads="1"/>
          </p:cNvSpPr>
          <p:nvPr/>
        </p:nvSpPr>
        <p:spPr>
          <a:xfrm>
            <a:off x="363894" y="3683288"/>
            <a:ext cx="5064671" cy="220202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nSpc>
                <a:spcPct val="130000"/>
              </a:lnSpc>
              <a:buClr>
                <a:srgbClr val="0000FF"/>
              </a:buClr>
              <a:buFont typeface="Calibri" panose="020F0502020204030204" pitchFamily="34" charset="0"/>
              <a:buNone/>
              <a:defRPr/>
            </a:pPr>
            <a:r>
              <a:rPr lang="en-US" altLang="zh-CN" sz="1800" dirty="0">
                <a:solidFill>
                  <a:schemeClr val="tx1"/>
                </a:solidFill>
                <a:latin typeface="华文楷体" panose="02010600040101010101" pitchFamily="2" charset="-122"/>
                <a:ea typeface="华文楷体" panose="02010600040101010101" pitchFamily="2" charset="-122"/>
              </a:rPr>
              <a:t>1.</a:t>
            </a:r>
            <a:r>
              <a:rPr lang="zh-CN" altLang="en-US" sz="1800" dirty="0">
                <a:solidFill>
                  <a:schemeClr val="tx1"/>
                </a:solidFill>
                <a:latin typeface="华文楷体" panose="02010600040101010101" pitchFamily="2" charset="-122"/>
                <a:ea typeface="华文楷体" panose="02010600040101010101" pitchFamily="2" charset="-122"/>
              </a:rPr>
              <a:t>活动范围的广泛性：</a:t>
            </a:r>
          </a:p>
          <a:p>
            <a:pPr>
              <a:lnSpc>
                <a:spcPct val="130000"/>
              </a:lnSpc>
              <a:buClr>
                <a:srgbClr val="0000FF"/>
              </a:buClr>
              <a:buFont typeface="Wingdings" panose="05000000000000000000" pitchFamily="2" charset="2"/>
              <a:buNone/>
              <a:defRPr/>
            </a:pPr>
            <a:r>
              <a:rPr lang="zh-CN" altLang="en-US" sz="1800" dirty="0">
                <a:solidFill>
                  <a:schemeClr val="tx1"/>
                </a:solidFill>
                <a:latin typeface="华文楷体" panose="02010600040101010101" pitchFamily="2" charset="-122"/>
                <a:ea typeface="华文楷体" panose="02010600040101010101" pitchFamily="2" charset="-122"/>
              </a:rPr>
              <a:t>空间扩展，现实世界</a:t>
            </a:r>
            <a:r>
              <a:rPr lang="en-US" sz="1800" dirty="0">
                <a:solidFill>
                  <a:schemeClr val="tx1"/>
                </a:solidFill>
                <a:latin typeface="华文楷体" panose="02010600040101010101" pitchFamily="2" charset="-122"/>
                <a:ea typeface="华文楷体" panose="02010600040101010101" pitchFamily="2" charset="-122"/>
              </a:rPr>
              <a:t>——</a:t>
            </a:r>
            <a:r>
              <a:rPr lang="zh-CN" altLang="en-US" sz="1800" dirty="0">
                <a:solidFill>
                  <a:schemeClr val="tx1"/>
                </a:solidFill>
                <a:latin typeface="华文楷体" panose="02010600040101010101" pitchFamily="2" charset="-122"/>
                <a:ea typeface="华文楷体" panose="02010600040101010101" pitchFamily="2" charset="-122"/>
              </a:rPr>
              <a:t>虚拟世界</a:t>
            </a:r>
          </a:p>
          <a:p>
            <a:pPr marL="0" indent="0">
              <a:lnSpc>
                <a:spcPct val="130000"/>
              </a:lnSpc>
              <a:buClr>
                <a:srgbClr val="0000FF"/>
              </a:buClr>
              <a:buFont typeface="Calibri" panose="020F0502020204030204" pitchFamily="34" charset="0"/>
              <a:buNone/>
              <a:defRPr/>
            </a:pPr>
            <a:r>
              <a:rPr lang="en-US" altLang="zh-CN" sz="1800" dirty="0">
                <a:solidFill>
                  <a:schemeClr val="tx1"/>
                </a:solidFill>
                <a:latin typeface="华文楷体" panose="02010600040101010101" pitchFamily="2" charset="-122"/>
                <a:ea typeface="华文楷体" panose="02010600040101010101" pitchFamily="2" charset="-122"/>
              </a:rPr>
              <a:t>2.</a:t>
            </a:r>
            <a:r>
              <a:rPr lang="zh-CN" altLang="en-US" sz="1800" dirty="0">
                <a:solidFill>
                  <a:schemeClr val="tx1"/>
                </a:solidFill>
                <a:latin typeface="华文楷体" panose="02010600040101010101" pitchFamily="2" charset="-122"/>
                <a:ea typeface="华文楷体" panose="02010600040101010101" pitchFamily="2" charset="-122"/>
              </a:rPr>
              <a:t>活动内容的公开性</a:t>
            </a:r>
          </a:p>
          <a:p>
            <a:pPr>
              <a:lnSpc>
                <a:spcPct val="130000"/>
              </a:lnSpc>
              <a:buClr>
                <a:srgbClr val="0000FF"/>
              </a:buClr>
              <a:buFont typeface="Wingdings" panose="05000000000000000000" pitchFamily="2" charset="2"/>
              <a:buNone/>
              <a:defRPr/>
            </a:pPr>
            <a:r>
              <a:rPr lang="en-US" altLang="zh-CN" sz="1800" dirty="0">
                <a:solidFill>
                  <a:schemeClr val="tx1"/>
                </a:solidFill>
                <a:latin typeface="华文楷体" panose="02010600040101010101" pitchFamily="2" charset="-122"/>
                <a:ea typeface="华文楷体" panose="02010600040101010101" pitchFamily="2" charset="-122"/>
              </a:rPr>
              <a:t>3.</a:t>
            </a:r>
            <a:r>
              <a:rPr lang="zh-CN" altLang="en-US" sz="1800" dirty="0">
                <a:solidFill>
                  <a:schemeClr val="tx1"/>
                </a:solidFill>
                <a:latin typeface="华文楷体" panose="02010600040101010101" pitchFamily="2" charset="-122"/>
                <a:ea typeface="华文楷体" panose="02010600040101010101" pitchFamily="2" charset="-122"/>
              </a:rPr>
              <a:t>共享公开，不具有排他性</a:t>
            </a:r>
          </a:p>
        </p:txBody>
      </p:sp>
      <p:sp>
        <p:nvSpPr>
          <p:cNvPr id="9" name="内容占位符 2"/>
          <p:cNvSpPr txBox="1">
            <a:spLocks/>
          </p:cNvSpPr>
          <p:nvPr/>
        </p:nvSpPr>
        <p:spPr>
          <a:xfrm>
            <a:off x="4107958" y="3429000"/>
            <a:ext cx="3480940" cy="230949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lnSpc>
                <a:spcPct val="130000"/>
              </a:lnSpc>
              <a:buClr>
                <a:srgbClr val="0000FF"/>
              </a:buClr>
              <a:buFont typeface="Calibri" panose="020F0502020204030204" pitchFamily="34" charset="0"/>
              <a:buNone/>
              <a:defRPr/>
            </a:pPr>
            <a:r>
              <a:rPr lang="en-US" altLang="zh-CN" sz="1800" dirty="0">
                <a:solidFill>
                  <a:schemeClr val="tx1"/>
                </a:solidFill>
                <a:latin typeface="华文楷体" panose="02010600040101010101" pitchFamily="2" charset="-122"/>
                <a:ea typeface="华文楷体" panose="02010600040101010101" pitchFamily="2" charset="-122"/>
              </a:rPr>
              <a:t>4.</a:t>
            </a:r>
            <a:r>
              <a:rPr lang="zh-CN" altLang="en-US" sz="1800" dirty="0">
                <a:solidFill>
                  <a:schemeClr val="tx1"/>
                </a:solidFill>
                <a:latin typeface="华文楷体" panose="02010600040101010101" pitchFamily="2" charset="-122"/>
                <a:ea typeface="华文楷体" panose="02010600040101010101" pitchFamily="2" charset="-122"/>
              </a:rPr>
              <a:t>交往对象的复杂性：</a:t>
            </a:r>
          </a:p>
          <a:p>
            <a:pPr>
              <a:lnSpc>
                <a:spcPct val="130000"/>
              </a:lnSpc>
              <a:buClr>
                <a:srgbClr val="0000FF"/>
              </a:buClr>
              <a:buFont typeface="Wingdings" panose="05000000000000000000" pitchFamily="2" charset="2"/>
              <a:buNone/>
              <a:defRPr/>
            </a:pPr>
            <a:r>
              <a:rPr lang="zh-CN" altLang="en-US" sz="1800" dirty="0">
                <a:solidFill>
                  <a:schemeClr val="tx1"/>
                </a:solidFill>
                <a:latin typeface="华文楷体" panose="02010600040101010101" pitchFamily="2" charset="-122"/>
                <a:ea typeface="华文楷体" panose="02010600040101010101" pitchFamily="2" charset="-122"/>
              </a:rPr>
              <a:t>     </a:t>
            </a:r>
            <a:r>
              <a:rPr lang="en-US" altLang="zh-CN" sz="1800" dirty="0">
                <a:solidFill>
                  <a:schemeClr val="tx1"/>
                </a:solidFill>
                <a:latin typeface="华文楷体" panose="02010600040101010101" pitchFamily="2" charset="-122"/>
                <a:ea typeface="华文楷体" panose="02010600040101010101" pitchFamily="2" charset="-122"/>
              </a:rPr>
              <a:t> </a:t>
            </a:r>
            <a:r>
              <a:rPr lang="zh-CN" altLang="en-US" sz="1800" dirty="0">
                <a:solidFill>
                  <a:schemeClr val="tx1"/>
                </a:solidFill>
                <a:latin typeface="华文楷体" panose="02010600040101010101" pitchFamily="2" charset="-122"/>
                <a:ea typeface="华文楷体" panose="02010600040101010101" pitchFamily="2" charset="-122"/>
              </a:rPr>
              <a:t>熟人社会</a:t>
            </a:r>
            <a:r>
              <a:rPr lang="en-US" altLang="zh-CN" sz="1800" dirty="0">
                <a:solidFill>
                  <a:schemeClr val="tx1"/>
                </a:solidFill>
                <a:latin typeface="华文楷体" panose="02010600040101010101" pitchFamily="2" charset="-122"/>
                <a:ea typeface="华文楷体" panose="02010600040101010101" pitchFamily="2" charset="-122"/>
              </a:rPr>
              <a:t>——</a:t>
            </a:r>
            <a:r>
              <a:rPr lang="zh-CN" altLang="en-US" sz="1800" dirty="0">
                <a:solidFill>
                  <a:schemeClr val="tx1"/>
                </a:solidFill>
                <a:latin typeface="华文楷体" panose="02010600040101010101" pitchFamily="2" charset="-122"/>
                <a:ea typeface="华文楷体" panose="02010600040101010101" pitchFamily="2" charset="-122"/>
              </a:rPr>
              <a:t>陌生人社会</a:t>
            </a:r>
          </a:p>
          <a:p>
            <a:pPr marL="0" indent="0">
              <a:lnSpc>
                <a:spcPct val="130000"/>
              </a:lnSpc>
              <a:buClr>
                <a:srgbClr val="0000FF"/>
              </a:buClr>
              <a:buFont typeface="Calibri" panose="020F0502020204030204" pitchFamily="34" charset="0"/>
              <a:buNone/>
              <a:defRPr/>
            </a:pPr>
            <a:r>
              <a:rPr lang="en-US" altLang="zh-CN" sz="1800" dirty="0">
                <a:solidFill>
                  <a:schemeClr val="tx1"/>
                </a:solidFill>
                <a:latin typeface="华文楷体" panose="02010600040101010101" pitchFamily="2" charset="-122"/>
                <a:ea typeface="华文楷体" panose="02010600040101010101" pitchFamily="2" charset="-122"/>
              </a:rPr>
              <a:t>5.</a:t>
            </a:r>
            <a:r>
              <a:rPr lang="zh-CN" altLang="en-US" sz="1800" dirty="0">
                <a:solidFill>
                  <a:schemeClr val="tx1"/>
                </a:solidFill>
                <a:latin typeface="华文楷体" panose="02010600040101010101" pitchFamily="2" charset="-122"/>
                <a:ea typeface="华文楷体" panose="02010600040101010101" pitchFamily="2" charset="-122"/>
              </a:rPr>
              <a:t>活动方式的多样性：</a:t>
            </a:r>
          </a:p>
          <a:p>
            <a:pPr>
              <a:lnSpc>
                <a:spcPct val="130000"/>
              </a:lnSpc>
              <a:buClr>
                <a:srgbClr val="0000FF"/>
              </a:buClr>
              <a:buFont typeface="Wingdings" panose="05000000000000000000" pitchFamily="2" charset="2"/>
              <a:buNone/>
              <a:defRPr/>
            </a:pPr>
            <a:r>
              <a:rPr lang="zh-CN" altLang="en-US" sz="1800" dirty="0">
                <a:solidFill>
                  <a:schemeClr val="tx1"/>
                </a:solidFill>
                <a:latin typeface="华文楷体" panose="02010600040101010101" pitchFamily="2" charset="-122"/>
                <a:ea typeface="华文楷体" panose="02010600040101010101" pitchFamily="2" charset="-122"/>
              </a:rPr>
              <a:t>   选择参与公共生活的具体方式</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cc4b1f01-5e27-4579-af90-b18894a7e547"/>
  <p:tag name="COMMONDATA" val="eyJoZGlkIjoiYjNkZjdmZjcwM2I5YzRhMjg5YmE5M2I1OWVkMzcyMjUifQ=="/>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232</TotalTime>
  <Words>9099</Words>
  <Application>Microsoft Office PowerPoint</Application>
  <PresentationFormat>宽屏</PresentationFormat>
  <Paragraphs>335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等线</vt:lpstr>
      <vt:lpstr>华文楷体</vt:lpstr>
      <vt:lpstr>华文行楷</vt:lpstr>
      <vt:lpstr>华文中宋</vt:lpstr>
      <vt:lpstr>楷体</vt:lpstr>
      <vt:lpstr>Arial</vt:lpstr>
      <vt:lpstr>Calibri</vt:lpstr>
      <vt:lpstr>Calibri Light</vt:lpstr>
      <vt:lpstr>Wingdings</vt:lpstr>
      <vt:lpstr>回顾</vt:lpstr>
      <vt:lpstr>PowerPoint 演示文稿</vt:lpstr>
      <vt:lpstr>PowerPoint 演示文稿</vt:lpstr>
      <vt:lpstr>黑格尔：《法权哲学》</vt:lpstr>
      <vt:lpstr>一、道德是什么</vt:lpstr>
      <vt:lpstr>情境伦理学</vt:lpstr>
      <vt:lpstr>PowerPoint 演示文稿</vt:lpstr>
      <vt:lpstr>道德共性模块</vt:lpstr>
      <vt:lpstr>理性行动者行动的三种动力</vt:lpstr>
      <vt:lpstr>发问</vt:lpstr>
      <vt:lpstr>个体意志和权威的关系</vt:lpstr>
      <vt:lpstr>道德与自然</vt:lpstr>
      <vt:lpstr>PowerPoint 演示文稿</vt:lpstr>
      <vt:lpstr>道德心理学三原则（Jonathan Haidt）</vt:lpstr>
      <vt:lpstr>PowerPoint 演示文稿</vt:lpstr>
      <vt:lpstr>二、道德文化是中华优秀传统文化重要内容</vt:lpstr>
      <vt:lpstr>先秦德性观念的历史背景</vt:lpstr>
      <vt:lpstr>先秦义利之辩的场域</vt:lpstr>
      <vt:lpstr>PowerPoint 演示文稿</vt:lpstr>
      <vt:lpstr>PowerPoint 演示文稿</vt:lpstr>
      <vt:lpstr>PowerPoint 演示文稿</vt:lpstr>
      <vt:lpstr>礼的重要性</vt:lpstr>
      <vt:lpstr>孔子的义利观：君子与小人</vt:lpstr>
      <vt:lpstr>PowerPoint 演示文稿</vt:lpstr>
      <vt:lpstr>四、私德与公德：网络道德</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道德哲学引论</dc:title>
  <dc:creator>lenovo</dc:creator>
  <cp:lastModifiedBy>Ruiyang Xu</cp:lastModifiedBy>
  <cp:revision>181</cp:revision>
  <cp:lastPrinted>2026-06-13T05:30:17Z</cp:lastPrinted>
  <dcterms:created xsi:type="dcterms:W3CDTF">2020-11-16T02:59:00Z</dcterms:created>
  <dcterms:modified xsi:type="dcterms:W3CDTF">2026-06-13T05:32:13Z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A95E5C79C61445D083FCE19FED768507_13</vt:lpwstr>
  </property>
  <property fmtid="{D5CDD505-2E9C-101B-9397-08002B2CF9AE}" pid="3" name="KSOProductBuildVer">
    <vt:lpwstr>2052-12.1.0.25865</vt:lpwstr>
  </property>
</Properties>
</file>