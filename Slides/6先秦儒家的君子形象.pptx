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307" r:id="rId2"/>
    <p:sldId id="306" r:id="rId3"/>
    <p:sldId id="267" r:id="rId4"/>
    <p:sldId id="317" r:id="rId5"/>
    <p:sldId id="263" r:id="rId6"/>
    <p:sldId id="312" r:id="rId7"/>
    <p:sldId id="313" r:id="rId8"/>
    <p:sldId id="321" r:id="rId9"/>
    <p:sldId id="301" r:id="rId10"/>
  </p:sldIdLst>
  <p:sldSz cx="9144000" cy="6858000" type="screen4x3"/>
  <p:notesSz cx="10234613" cy="71024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5"/>
    <p:restoredTop sz="94694"/>
  </p:normalViewPr>
  <p:slideViewPr>
    <p:cSldViewPr showGuides="1">
      <p:cViewPr varScale="1">
        <p:scale>
          <a:sx n="90" d="100"/>
          <a:sy n="90" d="100"/>
        </p:scale>
        <p:origin x="315" y="45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434999" cy="356357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pPr defTabSz="99066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797246" y="1"/>
            <a:ext cx="4434999" cy="356357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pPr defTabSz="99066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E52BCC9-B42D-42EA-AE03-2AA5306B8D52}" type="datetimeFigureOut">
              <a:rPr lang="zh-CN" altLang="en-US" smtClean="0">
                <a:latin typeface="Tahoma" panose="020B0604030504040204" pitchFamily="34" charset="0"/>
              </a:rPr>
              <a:pPr defTabSz="990661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2026/6/14</a:t>
            </a:fld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519488" y="887413"/>
            <a:ext cx="3195637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pPr marL="0" marR="0" lvl="0" indent="0" algn="l" defTabSz="990661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23462" y="3418066"/>
            <a:ext cx="8187690" cy="2796600"/>
          </a:xfrm>
          <a:prstGeom prst="rect">
            <a:avLst/>
          </a:prstGeom>
        </p:spPr>
        <p:txBody>
          <a:bodyPr vert="horz" lIns="99066" tIns="49533" rIns="99066" bIns="49533" rtlCol="0"/>
          <a:lstStyle/>
          <a:p>
            <a:pPr marL="0" marR="0" lvl="0" indent="0" algn="l" defTabSz="990661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95330" marR="0" lvl="1" indent="0" algn="l" defTabSz="990661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90661" marR="0" lvl="2" indent="0" algn="l" defTabSz="990661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485991" marR="0" lvl="3" indent="0" algn="l" defTabSz="990661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981322" marR="0" lvl="4" indent="0" algn="l" defTabSz="990661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746119"/>
            <a:ext cx="4434999" cy="35635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pPr defTabSz="99066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797246" y="6746119"/>
            <a:ext cx="4434999" cy="35635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pPr defTabSz="99066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240BEE4-250E-4CFF-8D5F-1289CB47B25F}" type="slidenum">
              <a:rPr lang="zh-CN" altLang="en-US" smtClean="0">
                <a:latin typeface="Tahoma" panose="020B0604030504040204" pitchFamily="34" charset="0"/>
              </a:rPr>
              <a:pPr defTabSz="990661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5B56C40-0AFC-41C5-ABF1-3E82256FF403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A9FD14-0552-45DA-A325-6C6B9036CD82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F54C86-9BB8-448B-8203-F968C2DEC98A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A9FD14-0552-45DA-A325-6C6B9036CD82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A9FD14-0552-45DA-A325-6C6B9036CD82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A9FD14-0552-45DA-A325-6C6B9036CD82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5F5D0E-FC73-41B4-8B0A-EB15D5C26DBA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all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E7F785-C640-4E0D-8A1E-0523268A6E39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4843D29-A373-4F20-801D-F535D419DBA9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A9FD14-0552-45DA-A325-6C6B9036CD82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10A10A-52FF-4281-800B-7193F78E0834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45000" b="-4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A9FD14-0552-45DA-A325-6C6B9036CD82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内容占位符 2"/>
          <p:cNvSpPr>
            <a:spLocks noGrp="1"/>
          </p:cNvSpPr>
          <p:nvPr>
            <p:ph idx="1"/>
          </p:nvPr>
        </p:nvSpPr>
        <p:spPr>
          <a:xfrm>
            <a:off x="179512" y="188640"/>
            <a:ext cx="9073008" cy="6264696"/>
          </a:xfrm>
        </p:spPr>
        <p:txBody>
          <a:bodyPr vert="horz" wrap="square" lIns="0" tIns="45720" rIns="0" bIns="45720" anchor="t" anchorCtr="0">
            <a:normAutofit/>
          </a:bodyPr>
          <a:lstStyle/>
          <a:p>
            <a:pPr marL="0" indent="0">
              <a:buNone/>
            </a:pP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1.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言</a:t>
            </a: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行能做到完全一致吗？在何种意义上可做到一致？传统和现实中的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伪善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问题。说的一套，做的一套。“修辞立其诚。”</a:t>
            </a:r>
            <a:endParaRPr lang="en-US" altLang="zh-CN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>
              <a:buNone/>
            </a:pP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言</a:t>
            </a: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行能否完全一致，取决于对“一致”的定义。若要求**绝对同一**</a:t>
            </a: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所言即所行，且所言包含全部未来行为细节</a:t>
            </a: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则不可能，因为语言具有普遍性和理想性，行动则受制于具体情境与偶然性。正如承诺明天见面，明天可能突发意外；此时“未行”并非虚伪，而是有限性的表现。</a:t>
            </a:r>
          </a:p>
          <a:p>
            <a:pPr marL="0" indent="0">
              <a:buNone/>
            </a:pP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但在另一意义上，一致是可能的，即**言作为真实意向的承诺，行作为朝向该承诺的真诚努力**。此时“一致”不要求行为完美契合言说的全部内容，而要求言说不撒谎、不掩饰。例如说“我愿公平待人”，并在实际中尽力克服偏见，即便偶有失误，仍可视为一致。</a:t>
            </a:r>
          </a:p>
          <a:p>
            <a:pPr marL="0" indent="0">
              <a:buNone/>
            </a:pP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伪善问题的核心，恰恰是放弃这种努力，而以言说充当表演。伪善者说的一套服务于形象管理，行的另一套服务于实际利益，二者之间存在**结构性的分裂**，并通常伴随着对分裂的自知与刻意隐瞒。</a:t>
            </a:r>
          </a:p>
          <a:p>
            <a:pPr marL="0" indent="0">
              <a:buNone/>
            </a:pP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“修辞立其诚”给出了解决方向：修辞的目的不是操控他人，而是**呈现内心的真实状态**。言</a:t>
            </a: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行一致的根本不在于行为完美兑现语言，而在于言说时已具有诚实的自我意识</a:t>
            </a: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不夸大、不掩饰、不欺骗。真正的“诚者”也未必言行完全吻合，但其言行之间的裂隙是公开的、有限的、被承认的。伪善者与诚者的区别，不在于是否出现裂隙，而在于是否**主动制造并隐瞒**裂隙。</a:t>
            </a:r>
            <a:endParaRPr lang="en-US" altLang="zh-CN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2.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注重个体的自省，自制，忽略甚至缺失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社会机制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的建构；</a:t>
            </a:r>
            <a:endParaRPr lang="en-US" altLang="zh-CN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3.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存在条件的变化：古典农业文明和现代城市文明。</a:t>
            </a:r>
            <a:endParaRPr lang="en-US" altLang="zh-CN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>
              <a:buNone/>
            </a:pP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伦理社会，陌生人社会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/>
          <p:cNvSpPr txBox="1"/>
          <p:nvPr/>
        </p:nvSpPr>
        <p:spPr bwMode="auto">
          <a:xfrm>
            <a:off x="35496" y="116632"/>
            <a:ext cx="4464397" cy="1727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805" marR="0" lvl="0" indent="-90805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道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（天、地、人）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 学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学之为学，为何学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90805" marR="0" lvl="0" indent="-90805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德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才，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理智德性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道德德性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90805" marR="0" lvl="0" indent="-90805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政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（政治定义，政治目标，政治的中介）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107405" y="1772816"/>
            <a:ext cx="8784976" cy="3600400"/>
          </a:xfrm>
        </p:spPr>
        <p:txBody>
          <a:bodyPr vert="horz" wrap="square" lIns="0" tIns="45720" rIns="0" bIns="45720" numCol="1" anchor="t" anchorCtr="0" compatLnSpc="1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</a:rPr>
              <a:t>道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</a:rPr>
              <a:t>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</a:rPr>
              <a:t>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</a:rPr>
              <a:t>“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</a:rPr>
              <a:t>德性之学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</a:rPr>
              <a:t>”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</a:rPr>
              <a:t>（牟宗三）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华文行楷" panose="020108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</a:rPr>
              <a:t>学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</a:rPr>
              <a:t>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</a:rPr>
              <a:t>“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</a:rPr>
              <a:t>知识之学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</a:rPr>
              <a:t>”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</a:rPr>
              <a:t>、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</a:rPr>
              <a:t>“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</a:rPr>
              <a:t>科学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</a:rPr>
              <a:t>”</a:t>
            </a:r>
          </a:p>
          <a:p>
            <a:pPr marL="90805" marR="0" lvl="0" indent="-90805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</a:rPr>
              <a:t>“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</a:rPr>
              <a:t>学统之成是心灵之智用之转为知性形态以成系统的知识（此即学之为学）所发展成。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华文行楷" panose="020108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</a:rPr>
              <a:t>政：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</a:rPr>
              <a:t>“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</a:rPr>
              <a:t>政治形态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  <a:sym typeface="+mn-ea"/>
              </a:rPr>
              <a:t>”“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  <a:sym typeface="+mn-ea"/>
              </a:rPr>
              <a:t>政体发展之统绪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  <a:sym typeface="+mn-ea"/>
              </a:rPr>
              <a:t>”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华文行楷" panose="02010800040101010101" pitchFamily="2" charset="-122"/>
              <a:sym typeface="+mn-ea"/>
            </a:endParaRPr>
          </a:p>
          <a:p>
            <a:pPr marL="90805" marR="0" lvl="0" indent="-90805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  <a:sym typeface="+mn-ea"/>
              </a:rPr>
              <a:t>古之所谓政者，视为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  <a:sym typeface="+mn-ea"/>
              </a:rPr>
              <a:t>伦常日用所当行之事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  <a:sym typeface="+mn-ea"/>
              </a:rPr>
              <a:t>，义在正己以正人，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  <a:sym typeface="+mn-ea"/>
              </a:rPr>
              <a:t>非有一毫权位之争存乎其间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  <a:sym typeface="+mn-ea"/>
              </a:rPr>
              <a:t>，如后世之力征经营，怙势贪利，据国窃号，厉民以求其所大欲者，是夷狄之道五帝三王之罪人，不得目之为政也。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华文行楷" panose="02010800040101010101" pitchFamily="2" charset="-122"/>
              <a:sym typeface="+mn-ea"/>
            </a:endParaRPr>
          </a:p>
          <a:p>
            <a:pPr marL="90805" marR="0" lvl="0" indent="-90805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  <a:sym typeface="+mn-ea"/>
              </a:rPr>
              <a:t>政是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  <a:sym typeface="+mn-ea"/>
              </a:rPr>
              <a:t>正己以正人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  <a:sym typeface="+mn-ea"/>
              </a:rPr>
              <a:t>，治是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  <a:sym typeface="+mn-ea"/>
              </a:rPr>
              <a:t>修己以治人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行楷" panose="02010800040101010101" pitchFamily="2" charset="-122"/>
                <a:sym typeface="+mn-ea"/>
              </a:rPr>
              <a:t>，此乃政治真义。今人好言政治，只知尚权力，计利害，与古义天地悬隔。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02" y="44624"/>
            <a:ext cx="2071142" cy="49393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儒家的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君子形象</a:t>
            </a:r>
            <a:endParaRPr kumimoji="0" lang="zh-CN" altLang="en-US" sz="2000" b="0" i="0" u="none" strike="noStrike" kern="1200" cap="none" spc="-5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48" y="538561"/>
            <a:ext cx="7903790" cy="811287"/>
          </a:xfrm>
        </p:spPr>
        <p:txBody>
          <a:bodyPr vert="horz" wrap="square" lIns="0" tIns="45720" rIns="0" bIns="45720" numCol="1" rtlCol="0" anchor="t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（一）君子五事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: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视、听、言、动、思</a:t>
            </a: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五伦：君臣、父子、夫妇、兄弟、朋友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道德意义上的君子</a:t>
            </a:r>
            <a:r>
              <a:rPr lang="en-US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治理者意义上的君子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-8100" y="1124744"/>
            <a:ext cx="9108504" cy="304366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故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君子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恭而不难，敬而不巩，贫穷而不约，富贵而不骄，并遇变态而不穷，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审之礼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也。故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君子之于礼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，敬而安之；其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于事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也，径而不失；其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于人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也，寡怨宽裕而无阿；其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为身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也，谨修饰而不危；其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应变故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也，齐给便捷而不惑；其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于天地万物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也，不务说其所以然，而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致善用其材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；其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于百官之事伎艺之人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也，不与之争能，而致善用其功；其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待上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也，忠顺而不懈；其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使下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也，均遍而不偏；其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交游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也，缘类而有义；其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居乡里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也，容而不乱。是故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穷则必有名，达则必有功，仁厚兼覆天下而不闵，明达用天地理万变而不疑，血气和平，志意广大，行义塞于天地之间，仁智之极也。夫是之谓圣人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；审之礼也。</a:t>
            </a:r>
            <a:endParaRPr lang="en-US" altLang="zh-CN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-180528" y="3933056"/>
            <a:ext cx="3727326" cy="543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（二）君子形象一：言与行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9529" y="4365104"/>
            <a:ext cx="9108504" cy="1747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sz="1800">
                <a:latin typeface="华文中宋" panose="02010600040101010101" pitchFamily="2" charset="-122"/>
                <a:ea typeface="华文中宋" panose="02010600040101010101" pitchFamily="2" charset="-122"/>
              </a:rPr>
              <a:t>子曰：“君子食无求饱，居无求安，</a:t>
            </a:r>
            <a:r>
              <a:rPr lang="zh-CN" altLang="en-US" sz="1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敏于事，而慎于言</a:t>
            </a:r>
            <a:r>
              <a:rPr lang="zh-CN" altLang="en-US" sz="1800">
                <a:latin typeface="华文中宋" panose="02010600040101010101" pitchFamily="2" charset="-122"/>
                <a:ea typeface="华文中宋" panose="02010600040101010101" pitchFamily="2" charset="-122"/>
              </a:rPr>
              <a:t>，就有道而正焉，可谓</a:t>
            </a:r>
            <a:r>
              <a:rPr lang="zh-CN" altLang="en-US" sz="1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好学</a:t>
            </a:r>
            <a:r>
              <a:rPr lang="zh-CN" altLang="en-US" sz="1800">
                <a:latin typeface="华文中宋" panose="02010600040101010101" pitchFamily="2" charset="-122"/>
                <a:ea typeface="华文中宋" panose="02010600040101010101" pitchFamily="2" charset="-122"/>
              </a:rPr>
              <a:t>已。”</a:t>
            </a:r>
            <a:endParaRPr lang="en-US" altLang="zh-CN" sz="18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sz="1800">
                <a:latin typeface="华文中宋" panose="02010600040101010101" pitchFamily="2" charset="-122"/>
                <a:ea typeface="华文中宋" panose="02010600040101010101" pitchFamily="2" charset="-122"/>
              </a:rPr>
              <a:t>子贡问君子。子曰：“</a:t>
            </a:r>
            <a:r>
              <a:rPr lang="zh-CN" altLang="en-US" sz="1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先行其言</a:t>
            </a:r>
            <a:r>
              <a:rPr lang="zh-CN" altLang="en-US" sz="1800">
                <a:latin typeface="华文中宋" panose="02010600040101010101" pitchFamily="2" charset="-122"/>
                <a:ea typeface="华文中宋" panose="02010600040101010101" pitchFamily="2" charset="-122"/>
              </a:rPr>
              <a:t>，而后从之。”</a:t>
            </a:r>
            <a:endParaRPr lang="en-US" altLang="zh-CN" sz="18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sz="1800">
                <a:latin typeface="华文中宋" panose="02010600040101010101" pitchFamily="2" charset="-122"/>
                <a:ea typeface="华文中宋" panose="02010600040101010101" pitchFamily="2" charset="-122"/>
              </a:rPr>
              <a:t>子曰：“君子</a:t>
            </a:r>
            <a:r>
              <a:rPr lang="zh-CN" altLang="en-US" sz="1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欲讷于言</a:t>
            </a:r>
            <a:r>
              <a:rPr lang="zh-CN" altLang="en-US" sz="1800">
                <a:latin typeface="华文中宋" panose="02010600040101010101" pitchFamily="2" charset="-122"/>
                <a:ea typeface="华文中宋" panose="02010600040101010101" pitchFamily="2" charset="-122"/>
              </a:rPr>
              <a:t>而</a:t>
            </a:r>
            <a:r>
              <a:rPr lang="zh-CN" altLang="en-US" sz="1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敏于行</a:t>
            </a:r>
            <a:r>
              <a:rPr lang="zh-CN" altLang="en-US" sz="1800">
                <a:latin typeface="华文中宋" panose="02010600040101010101" pitchFamily="2" charset="-122"/>
                <a:ea typeface="华文中宋" panose="02010600040101010101" pitchFamily="2" charset="-122"/>
              </a:rPr>
              <a:t>。”</a:t>
            </a:r>
            <a:r>
              <a:rPr lang="en-US" altLang="zh-CN" sz="180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sz="1800">
                <a:latin typeface="华文中宋" panose="02010600040101010101" pitchFamily="2" charset="-122"/>
                <a:ea typeface="华文中宋" panose="02010600040101010101" pitchFamily="2" charset="-122"/>
              </a:rPr>
              <a:t>子曰：“君子</a:t>
            </a:r>
            <a:r>
              <a:rPr lang="zh-CN" altLang="en-US" sz="1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耻其言</a:t>
            </a:r>
            <a:r>
              <a:rPr lang="zh-CN" altLang="en-US" sz="1800">
                <a:latin typeface="华文中宋" panose="02010600040101010101" pitchFamily="2" charset="-122"/>
                <a:ea typeface="华文中宋" panose="02010600040101010101" pitchFamily="2" charset="-122"/>
              </a:rPr>
              <a:t>而</a:t>
            </a:r>
            <a:r>
              <a:rPr lang="zh-CN" altLang="en-US" sz="1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过其行</a:t>
            </a:r>
            <a:r>
              <a:rPr lang="zh-CN" altLang="en-US" sz="1800">
                <a:latin typeface="华文中宋" panose="02010600040101010101" pitchFamily="2" charset="-122"/>
                <a:ea typeface="华文中宋" panose="02010600040101010101" pitchFamily="2" charset="-122"/>
              </a:rPr>
              <a:t>。”</a:t>
            </a:r>
            <a:endParaRPr lang="en-US" altLang="zh-CN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323528" y="5640909"/>
            <a:ext cx="1567086" cy="4715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失人与失言</a:t>
            </a:r>
            <a:endParaRPr lang="zh-CN" altLang="en-US" sz="20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07504" y="6013439"/>
            <a:ext cx="7886700" cy="591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可与言而不与之言，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失人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；不可与言而与之言，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失言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知者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不失人亦不失言。</a:t>
            </a:r>
            <a:endParaRPr lang="en-US" altLang="zh-CN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-180528" y="30067"/>
            <a:ext cx="3528392" cy="5040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（三）君子形象二：君子之仁</a:t>
            </a:r>
          </a:p>
        </p:txBody>
      </p:sp>
      <p:sp>
        <p:nvSpPr>
          <p:cNvPr id="5" name="Rectangle 3"/>
          <p:cNvSpPr>
            <a:spLocks noGrp="1"/>
          </p:cNvSpPr>
          <p:nvPr>
            <p:ph idx="1"/>
          </p:nvPr>
        </p:nvSpPr>
        <p:spPr>
          <a:xfrm>
            <a:off x="-8652" y="534124"/>
            <a:ext cx="7886700" cy="2376264"/>
          </a:xfrm>
        </p:spPr>
        <p:txBody>
          <a:bodyPr vert="horz" wrap="square" lIns="0" tIns="45720" rIns="0" bIns="45720" anchor="t" anchorCtr="0">
            <a:normAutofit/>
          </a:bodyPr>
          <a:lstStyle/>
          <a:p>
            <a:pPr marL="0" indent="0" eaLnBrk="1" hangingPunct="1">
              <a:buNone/>
            </a:pPr>
            <a:r>
              <a:rPr lang="en-US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“</a:t>
            </a:r>
            <a:r>
              <a:rPr lang="zh-CN" altLang="en-US" sz="1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君子务本，本立而道生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。” </a:t>
            </a:r>
          </a:p>
          <a:p>
            <a:pPr marL="0" indent="0" eaLnBrk="1" hangingPunct="1">
              <a:buNone/>
            </a:pPr>
            <a:r>
              <a:rPr lang="en-US" altLang="zh-CN" sz="1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《</a:t>
            </a:r>
            <a:r>
              <a:rPr lang="zh-CN" altLang="en-US" sz="1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论语</a:t>
            </a:r>
            <a:r>
              <a:rPr lang="en-US" altLang="zh-CN" sz="1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·</a:t>
            </a:r>
            <a:r>
              <a:rPr lang="zh-CN" altLang="en-US" sz="1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学而</a:t>
            </a:r>
            <a:r>
              <a:rPr lang="en-US" altLang="zh-CN" sz="1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》</a:t>
            </a:r>
          </a:p>
          <a:p>
            <a:pPr marL="0" indent="0" eaLnBrk="1" hangingPunct="1"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“本者，仁也。道者，即人道，其本在心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。”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</a:t>
            </a:r>
            <a:endParaRPr lang="en-US" altLang="zh-CN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eaLnBrk="1" hangingPunct="1">
              <a:buNone/>
            </a:pP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钱穆</a:t>
            </a: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《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论语新解</a:t>
            </a: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》</a:t>
            </a:r>
          </a:p>
          <a:p>
            <a:pPr marL="0" indent="0">
              <a:buNone/>
            </a:pP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“</a:t>
            </a:r>
            <a:r>
              <a:rPr lang="zh-CN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仁之所在无贫穷，仁之所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亡</a:t>
            </a:r>
            <a:r>
              <a:rPr lang="zh-CN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无富贵；天下知之，则欲与天下同苦乐；天下不知之，则傀然独立天地之间而不畏；是上勇也。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”</a:t>
            </a:r>
            <a:endParaRPr lang="zh-CN" altLang="zh-CN" sz="18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《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荀子</a:t>
            </a: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•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性恶</a:t>
            </a: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》</a:t>
            </a:r>
            <a:endParaRPr lang="zh-CN" altLang="en-US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内容占位符 2"/>
          <p:cNvSpPr txBox="1">
            <a:spLocks/>
          </p:cNvSpPr>
          <p:nvPr/>
        </p:nvSpPr>
        <p:spPr>
          <a:xfrm>
            <a:off x="53752" y="2996952"/>
            <a:ext cx="9036496" cy="2664296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仁是性德，</a:t>
            </a:r>
            <a:r>
              <a:rPr lang="zh-CN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不是知识，不是情见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zh-CN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一毫己私未尽，便是害仁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。今时人所言道德伦理，皆是知识情见，从</a:t>
            </a:r>
            <a:r>
              <a:rPr lang="zh-CN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己私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出发，所谓</a:t>
            </a:r>
            <a:r>
              <a:rPr lang="zh-CN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色取仁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者，与仁者觌体相反，以依似之解、回曲之言当之，最为心术之害。</a:t>
            </a:r>
            <a:endParaRPr lang="zh-CN" altLang="en-US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仁是性德之全，体仁是德，行仁是道。</a:t>
            </a:r>
            <a:r>
              <a:rPr lang="zh-CN" altLang="en-US" sz="1800" dirty="0">
                <a:latin typeface="仿宋" panose="02010609060101010101" charset="-122"/>
                <a:ea typeface="仿宋" panose="02010609060101010101" charset="-122"/>
              </a:rPr>
              <a:t>体仁者，仁为体，即全体是仁，犹体物而不可遗之。体非体会之体，若言体会，犹与仁为二也。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行仁即是率性。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孝悌忠恕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，所以行仁也。天理即自性所具之理。离自性岂有天理邪？天命天德。名异实同。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7384"/>
            <a:ext cx="3897511" cy="468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什么是“仁”？如何实践“仁”？ </a:t>
            </a:r>
          </a:p>
        </p:txBody>
      </p:sp>
      <p:sp>
        <p:nvSpPr>
          <p:cNvPr id="53251" name="Rectangle 3"/>
          <p:cNvSpPr>
            <a:spLocks noGrp="1"/>
          </p:cNvSpPr>
          <p:nvPr>
            <p:ph idx="1"/>
          </p:nvPr>
        </p:nvSpPr>
        <p:spPr>
          <a:xfrm>
            <a:off x="107504" y="440740"/>
            <a:ext cx="4663430" cy="1459359"/>
          </a:xfrm>
        </p:spPr>
        <p:txBody>
          <a:bodyPr vert="horz" wrap="square" lIns="0" tIns="45720" rIns="0" bIns="45720" anchor="t" anchorCtr="0">
            <a:normAutofit/>
          </a:bodyPr>
          <a:lstStyle/>
          <a:p>
            <a:pPr eaLnBrk="1" hangingPunct="1">
              <a:buFontTx/>
              <a:buNone/>
            </a:pP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忠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恕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之道。</a:t>
            </a:r>
          </a:p>
          <a:p>
            <a:pPr eaLnBrk="1" hangingPunct="1">
              <a:buFontTx/>
              <a:buNone/>
            </a:pPr>
            <a:r>
              <a:rPr lang="zh-CN" altLang="en-US" sz="1800" dirty="0">
                <a:solidFill>
                  <a:srgbClr val="FF66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忠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：心中有人、尽己为人、</a:t>
            </a:r>
          </a:p>
          <a:p>
            <a:pPr eaLnBrk="1" hangingPunct="1">
              <a:buFontTx/>
              <a:buNone/>
            </a:pP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</a:t>
            </a:r>
            <a:r>
              <a:rPr lang="zh-CN" altLang="en-US" sz="1800" b="1" dirty="0">
                <a:solidFill>
                  <a:srgbClr val="FF66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“己欲立而立人，己欲达而达人。”</a:t>
            </a:r>
          </a:p>
          <a:p>
            <a:pPr eaLnBrk="1" hangingPunct="1">
              <a:buFontTx/>
              <a:buNone/>
            </a:pPr>
            <a:r>
              <a:rPr lang="zh-CN" altLang="en-US" sz="1800" dirty="0">
                <a:solidFill>
                  <a:srgbClr val="FF66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恕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：推己及人， </a:t>
            </a:r>
            <a:r>
              <a:rPr lang="zh-CN" altLang="en-US" sz="1800" b="1" dirty="0">
                <a:solidFill>
                  <a:srgbClr val="FF66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“己所不欲，勿施于人。”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14338" name="Rectangle 2"/>
          <p:cNvSpPr txBox="1">
            <a:spLocks noChangeArrowheads="1"/>
          </p:cNvSpPr>
          <p:nvPr/>
        </p:nvSpPr>
        <p:spPr>
          <a:xfrm>
            <a:off x="0" y="1700808"/>
            <a:ext cx="2431182" cy="4939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lnSpc>
                <a:spcPct val="85000"/>
              </a:lnSpc>
              <a:defRPr/>
            </a:pPr>
            <a:r>
              <a:rPr lang="zh-CN" altLang="en-US" sz="2000" spc="-5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忠恕之道、仁爱精神</a:t>
            </a:r>
            <a:endParaRPr lang="zh-CN" altLang="en-US" sz="2000" spc="-50" dirty="0">
              <a:solidFill>
                <a:schemeClr val="tx1">
                  <a:lumMod val="75000"/>
                  <a:lumOff val="2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4275" name="Rectangle 3"/>
          <p:cNvSpPr txBox="1">
            <a:spLocks/>
          </p:cNvSpPr>
          <p:nvPr/>
        </p:nvSpPr>
        <p:spPr>
          <a:xfrm>
            <a:off x="92234" y="2212637"/>
            <a:ext cx="4119726" cy="1936443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Tx/>
              <a:buNone/>
            </a:pPr>
            <a:r>
              <a:rPr lang="zh-CN" altLang="en-US" sz="1800">
                <a:latin typeface="华文中宋" panose="02010600040101010101" pitchFamily="2" charset="-122"/>
                <a:ea typeface="华文中宋" panose="02010600040101010101" pitchFamily="2" charset="-122"/>
              </a:rPr>
              <a:t>说到底就是</a:t>
            </a:r>
            <a:r>
              <a:rPr lang="zh-CN" altLang="en-US" sz="1800">
                <a:solidFill>
                  <a:srgbClr val="FF66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“如人之心”，</a:t>
            </a:r>
            <a:r>
              <a:rPr lang="zh-CN" altLang="en-US" sz="1800">
                <a:latin typeface="华文中宋" panose="02010600040101010101" pitchFamily="2" charset="-122"/>
                <a:ea typeface="华文中宋" panose="02010600040101010101" pitchFamily="2" charset="-122"/>
              </a:rPr>
              <a:t>也就是我们说的“</a:t>
            </a:r>
            <a:r>
              <a:rPr lang="zh-CN" altLang="en-US" sz="1800">
                <a:solidFill>
                  <a:srgbClr val="FF66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将心比心</a:t>
            </a:r>
            <a:r>
              <a:rPr lang="zh-CN" altLang="en-US" sz="1800">
                <a:latin typeface="华文中宋" panose="02010600040101010101" pitchFamily="2" charset="-122"/>
                <a:ea typeface="华文中宋" panose="02010600040101010101" pitchFamily="2" charset="-122"/>
              </a:rPr>
              <a:t>”、“</a:t>
            </a:r>
            <a:r>
              <a:rPr lang="zh-CN" altLang="en-US" sz="1800">
                <a:solidFill>
                  <a:srgbClr val="FF66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感同身受</a:t>
            </a:r>
            <a:r>
              <a:rPr lang="zh-CN" altLang="en-US" sz="1800">
                <a:latin typeface="华文中宋" panose="02010600040101010101" pitchFamily="2" charset="-122"/>
                <a:ea typeface="华文中宋" panose="02010600040101010101" pitchFamily="2" charset="-122"/>
              </a:rPr>
              <a:t>”，也就是对人的“</a:t>
            </a:r>
            <a:r>
              <a:rPr lang="zh-CN" altLang="en-US" sz="1800">
                <a:solidFill>
                  <a:srgbClr val="FF66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博爱精神</a:t>
            </a:r>
            <a:r>
              <a:rPr lang="zh-CN" altLang="en-US" sz="1800">
                <a:latin typeface="华文中宋" panose="02010600040101010101" pitchFamily="2" charset="-122"/>
                <a:ea typeface="华文中宋" panose="02010600040101010101" pitchFamily="2" charset="-122"/>
              </a:rPr>
              <a:t>”，这也就是真正的“</a:t>
            </a:r>
            <a:r>
              <a:rPr lang="zh-CN" altLang="en-US" sz="1800">
                <a:solidFill>
                  <a:srgbClr val="FF66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道德</a:t>
            </a:r>
            <a:r>
              <a:rPr lang="zh-CN" altLang="en-US" sz="1800">
                <a:latin typeface="华文中宋" panose="02010600040101010101" pitchFamily="2" charset="-122"/>
                <a:ea typeface="华文中宋" panose="02010600040101010101" pitchFamily="2" charset="-122"/>
              </a:rPr>
              <a:t>”。 </a:t>
            </a:r>
            <a:endParaRPr lang="zh-CN" altLang="en-US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-36512" y="3861048"/>
            <a:ext cx="3024336" cy="4041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lnSpc>
                <a:spcPct val="85000"/>
              </a:lnSpc>
              <a:defRPr/>
            </a:pPr>
            <a:r>
              <a:rPr lang="zh-CN" altLang="en-US" sz="2000" spc="-5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“通体是仁，满腔恻隐”</a:t>
            </a:r>
            <a:endParaRPr lang="zh-CN" altLang="en-US" sz="2000" spc="-50" dirty="0">
              <a:solidFill>
                <a:schemeClr val="tx1">
                  <a:lumMod val="75000"/>
                  <a:lumOff val="2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92234" y="4265202"/>
            <a:ext cx="5544616" cy="2532225"/>
          </a:xfrm>
          <a:prstGeom prst="rect">
            <a:avLst/>
          </a:prstGeom>
        </p:spPr>
        <p:txBody>
          <a:bodyPr vert="horz" wrap="square" lIns="0" tIns="45720" rIns="0" bIns="45720" numCol="1" rtlCol="0" anchor="t" anchorCtr="0" compatLnSpc="1">
            <a:normAutofit fontScale="925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-91440" defTabSz="914400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/>
            </a:pP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人到无一毫</a:t>
            </a:r>
            <a:r>
              <a:rPr lang="zh-CN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恶慢之心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时，</a:t>
            </a:r>
            <a:r>
              <a:rPr lang="zh-CN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满腔都是恻隐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，都是和乐，都无偏倚，都无滞碍，乃知天地本来自位，万物本来自育，此是何等气象！才有一丝恶慢心起，便知险阻当前，触处皆碍，</a:t>
            </a:r>
            <a:r>
              <a:rPr lang="zh-CN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计较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横生，矛戟森然，天地变色，此时</a:t>
            </a:r>
            <a:r>
              <a:rPr lang="zh-CN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性德全被障覆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，其心更无一息平易之时，灾害祸乱并由此矣。此在当人于其起念时，反观自心作何景象，必能自悟。</a:t>
            </a:r>
            <a:endParaRPr lang="zh-CN" altLang="zh-CN" sz="18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209A734-0BE5-499F-A556-739D1480BE5E}"/>
              </a:ext>
            </a:extLst>
          </p:cNvPr>
          <p:cNvSpPr txBox="1">
            <a:spLocks/>
          </p:cNvSpPr>
          <p:nvPr/>
        </p:nvSpPr>
        <p:spPr>
          <a:xfrm>
            <a:off x="4427984" y="-31597"/>
            <a:ext cx="1567086" cy="5659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君子之于礼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12EB156-F1E2-43FD-961E-C676EEDFCBCA}"/>
              </a:ext>
            </a:extLst>
          </p:cNvPr>
          <p:cNvSpPr txBox="1">
            <a:spLocks/>
          </p:cNvSpPr>
          <p:nvPr/>
        </p:nvSpPr>
        <p:spPr>
          <a:xfrm>
            <a:off x="4427984" y="429894"/>
            <a:ext cx="4663430" cy="2207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修礼者王，为政者强，取民者安，聚敛者亡。故王者富民，霸者富士，仅存之国富大夫，亡国富筐箧，实府库。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礼者，贵贱有等，长幼有差，贫富轻重皆有称者也。故天子袾裷衣冕，诸侯玄裷衣冕，大夫裨冕，士皮弁服。德必称位，位必称禄，禄必称用。</a:t>
            </a:r>
            <a:r>
              <a:rPr lang="zh-CN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由士以上以礼乐节之，众庶百姓则必以法数制之</a:t>
            </a:r>
            <a:endParaRPr lang="zh-CN" altLang="en-US" sz="1800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-252536" y="-5204"/>
            <a:ext cx="4248472" cy="47319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（四）形象之三</a:t>
            </a:r>
            <a:r>
              <a:rPr kumimoji="0" lang="en-US" altLang="zh-CN" sz="2000" b="0" i="0" u="none" strike="noStrike" kern="120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:</a:t>
            </a:r>
            <a:r>
              <a:rPr kumimoji="0" lang="zh-CN" altLang="en-US" sz="2000" b="0" i="0" u="none" strike="noStrike" kern="120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君子之待人与克己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053" y="494576"/>
            <a:ext cx="7632848" cy="1872208"/>
          </a:xfrm>
        </p:spPr>
        <p:txBody>
          <a:bodyPr vert="horz" wrap="square" lIns="0" tIns="45720" rIns="0" bIns="45720" numCol="1" anchor="t" anchorCtr="0" compatLnSpc="1">
            <a:normAutofit/>
          </a:bodyPr>
          <a:lstStyle/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子曰：“君子不器。”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子曰：“君子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周而不比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，小人比而不周。”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子曰：“君子矜而不争，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群而不党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。”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君子能为可贵，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不能使人必贵己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；能为可用，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不能使人必用己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2" name="标题 1"/>
          <p:cNvSpPr txBox="1">
            <a:spLocks/>
          </p:cNvSpPr>
          <p:nvPr/>
        </p:nvSpPr>
        <p:spPr>
          <a:xfrm>
            <a:off x="9053" y="2060848"/>
            <a:ext cx="2592288" cy="441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 eaLnBrk="0" fontAlgn="base" hangingPunct="0">
              <a:lnSpc>
                <a:spcPct val="85000"/>
              </a:lnSpc>
              <a:spcAft>
                <a:spcPct val="0"/>
              </a:spcAft>
              <a:defRPr/>
            </a:pP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君子之敬与持敬</a:t>
            </a:r>
            <a:endParaRPr lang="zh-CN" altLang="en-US" sz="2000" spc="-50" dirty="0">
              <a:solidFill>
                <a:srgbClr val="40404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44399" y="2528900"/>
            <a:ext cx="5853817" cy="1800200"/>
          </a:xfrm>
          <a:prstGeom prst="rect">
            <a:avLst/>
          </a:prstGeom>
        </p:spPr>
        <p:txBody>
          <a:bodyPr vert="horz" wrap="square" lIns="0" tIns="45720" rIns="0" bIns="45720" numCol="1" rtlCol="0" anchor="t" anchorCtr="0" compatLnSpc="1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805" indent="-90805" defTabSz="914400" eaLnBrk="0" fontAlgn="base" hangingPunct="0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/>
            </a:pPr>
            <a:r>
              <a:rPr lang="zh-CN" altLang="en-US" sz="1800" dirty="0">
                <a:solidFill>
                  <a:srgbClr val="40404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潜行密用，不求人知，不务言诠。</a:t>
            </a:r>
            <a:endParaRPr lang="en-US" altLang="zh-CN" sz="1800" dirty="0">
              <a:solidFill>
                <a:srgbClr val="40404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defTabSz="914400" eaLnBrk="0" fontAlgn="base" hangingPunct="0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诚是本体，敬是工夫</a:t>
            </a:r>
            <a:r>
              <a:rPr lang="zh-CN" altLang="en-US" sz="1800" dirty="0">
                <a:solidFill>
                  <a:srgbClr val="40404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。（马一浮）</a:t>
            </a:r>
          </a:p>
          <a:p>
            <a:pPr marL="0" indent="0" defTabSz="914400" eaLnBrk="0" fontAlgn="base" hangingPunct="0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敬也者，体信达顺之道，聪明睿智，皆由此出</a:t>
            </a:r>
            <a:r>
              <a:rPr lang="zh-CN" altLang="en-US" sz="1800" dirty="0">
                <a:solidFill>
                  <a:srgbClr val="40404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en-US" altLang="zh-CN" sz="1800" dirty="0">
              <a:solidFill>
                <a:srgbClr val="40404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defTabSz="914400" eaLnBrk="0" fontAlgn="base" hangingPunct="0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lang="zh-CN" altLang="en-US" sz="1800" dirty="0">
                <a:solidFill>
                  <a:srgbClr val="40404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涵养需用敬，进学则在致知。（程颐）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44399" y="4221088"/>
            <a:ext cx="8964613" cy="2880319"/>
          </a:xfrm>
          <a:prstGeom prst="rect">
            <a:avLst/>
          </a:prstGeom>
        </p:spPr>
        <p:txBody>
          <a:bodyPr vert="horz" wrap="square" lIns="0" tIns="45720" rIns="0" bIns="45720" numCol="1" rtlCol="0" anchor="t" anchorCtr="0" compatLnSpc="1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-91440" defTabSz="914400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/>
            </a:pP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子谓子产：“有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君子之道四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焉：其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行己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也恭，其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事上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也敬，其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养民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也惠，其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使民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也义。”</a:t>
            </a:r>
            <a:endParaRPr lang="en-US" altLang="zh-CN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91440" indent="-91440" defTabSz="914400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/>
            </a:pP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樊迟问仁。子曰：“居处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恭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，执事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敬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，与人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忠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，虽之夷狄，不可弃也。”</a:t>
            </a:r>
            <a:endParaRPr lang="en-US" altLang="zh-CN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91440" indent="-91440" defTabSz="914400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/>
            </a:pP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子路问君子。子曰：“修己以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敬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。”</a:t>
            </a:r>
            <a:endParaRPr lang="en-US" altLang="zh-CN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91440" indent="-91440" defTabSz="914400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/>
            </a:pP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子夏曰：“君子敬而无失，与人恭而有礼。”</a:t>
            </a: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  <a:p>
            <a:pPr marL="91440" indent="-91440" defTabSz="914400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/>
            </a:pP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孔子曰：“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君子有九思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视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思明，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听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思聪，色思温，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貌思恭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言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思忠，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事思敬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，疑思问，忿思难，见得思义。”</a:t>
            </a:r>
            <a:endParaRPr lang="en-US" altLang="zh-CN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-108520" y="0"/>
            <a:ext cx="3602876" cy="46146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（五）君子形象之五：</a:t>
            </a:r>
            <a:r>
              <a:rPr kumimoji="0" lang="zh-CN" altLang="en-US" sz="2000" b="0" i="0" u="none" strike="noStrike" kern="120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容仪</a:t>
            </a:r>
          </a:p>
        </p:txBody>
      </p:sp>
      <p:sp>
        <p:nvSpPr>
          <p:cNvPr id="19458" name="内容占位符 2"/>
          <p:cNvSpPr>
            <a:spLocks noGrp="1"/>
          </p:cNvSpPr>
          <p:nvPr>
            <p:ph idx="1"/>
          </p:nvPr>
        </p:nvSpPr>
        <p:spPr>
          <a:xfrm>
            <a:off x="107504" y="332656"/>
            <a:ext cx="8856984" cy="2251704"/>
          </a:xfrm>
        </p:spPr>
        <p:txBody>
          <a:bodyPr vert="horz" wrap="square" lIns="0" tIns="45720" rIns="0" bIns="45720" anchor="t" anchorCtr="0">
            <a:normAutofit fontScale="975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君子所贵乎道者三：动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容貌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，斯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远暴慢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矣；正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颜色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，斯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近信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矣；出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辞气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，斯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远鄙倍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矣。笾豆之事，则有司存。</a:t>
            </a:r>
            <a:endParaRPr lang="en-US" altLang="zh-CN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心质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亮直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，其仪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劲固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；心质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休决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，其仪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进猛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；心质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平理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，其仪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安闲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en-US" altLang="zh-CN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容之动作，发乎心气，顾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诚仁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必有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温柔之色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；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诚勇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必有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矜奋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之色；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诚智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必有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明达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之色。</a:t>
            </a:r>
            <a:endParaRPr lang="en-US" altLang="zh-CN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CCA9056D-D87B-E83B-24F7-DFE8E8E5276F}"/>
              </a:ext>
            </a:extLst>
          </p:cNvPr>
          <p:cNvSpPr txBox="1">
            <a:spLocks/>
          </p:cNvSpPr>
          <p:nvPr/>
        </p:nvSpPr>
        <p:spPr>
          <a:xfrm>
            <a:off x="-100709" y="2276872"/>
            <a:ext cx="3995936" cy="5463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 eaLnBrk="0" fontAlgn="base" hangingPunct="0">
              <a:lnSpc>
                <a:spcPct val="85000"/>
              </a:lnSpc>
              <a:spcAft>
                <a:spcPct val="0"/>
              </a:spcAft>
              <a:defRPr/>
            </a:pP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（六）君子之九德、三德与至德</a:t>
            </a:r>
            <a:endParaRPr lang="zh-CN" altLang="en-US" sz="2000" spc="-50" dirty="0">
              <a:solidFill>
                <a:srgbClr val="40404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E352321-6C7C-4207-8BE4-396106AEADC7}"/>
              </a:ext>
            </a:extLst>
          </p:cNvPr>
          <p:cNvSpPr txBox="1">
            <a:spLocks/>
          </p:cNvSpPr>
          <p:nvPr/>
        </p:nvSpPr>
        <p:spPr>
          <a:xfrm>
            <a:off x="87192" y="2761473"/>
            <a:ext cx="8949304" cy="1273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/>
            </a:pP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直而温，宽而栗，刚而无虐，简而无傲。《尚书·尧典》</a:t>
            </a:r>
          </a:p>
          <a:p>
            <a:pPr marL="0" indent="0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/>
            </a:pPr>
            <a:r>
              <a:rPr lang="zh-CN" altLang="zh-CN" sz="1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宽而栗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，柔而立，愿而恭，乱而敬，扰而毅，</a:t>
            </a:r>
            <a:r>
              <a:rPr lang="zh-CN" altLang="zh-CN" sz="1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直而温</a:t>
            </a:r>
            <a:r>
              <a:rPr lang="zh-CN" alt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zh-CN" altLang="zh-CN" sz="1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简而廉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zh-CN" altLang="zh-CN" sz="1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刚而塞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，疆而义。</a:t>
            </a:r>
          </a:p>
          <a:p>
            <a:pPr marL="0" indent="0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/>
            </a:pPr>
            <a:r>
              <a:rPr lang="zh-CN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温而厉</a:t>
            </a: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，威而不猛，恭而安。《论语·述而》</a:t>
            </a:r>
          </a:p>
        </p:txBody>
      </p:sp>
      <p:sp>
        <p:nvSpPr>
          <p:cNvPr id="28675" name="内容占位符 2"/>
          <p:cNvSpPr txBox="1">
            <a:spLocks/>
          </p:cNvSpPr>
          <p:nvPr/>
        </p:nvSpPr>
        <p:spPr>
          <a:xfrm>
            <a:off x="107504" y="4027464"/>
            <a:ext cx="8820150" cy="2590849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/>
              <a:t> </a:t>
            </a:r>
            <a:r>
              <a:rPr lang="zh-CN" altLang="zh-CN" sz="1800">
                <a:latin typeface="华文中宋" panose="02010600040101010101" pitchFamily="2" charset="-122"/>
                <a:ea typeface="华文中宋" panose="02010600040101010101" pitchFamily="2" charset="-122"/>
              </a:rPr>
              <a:t>君子</a:t>
            </a:r>
            <a:r>
              <a:rPr lang="zh-CN" altLang="zh-CN" sz="1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宽而不僈</a:t>
            </a:r>
            <a:r>
              <a:rPr lang="zh-CN" altLang="zh-CN" sz="1800"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zh-CN" altLang="zh-CN" sz="1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廉而不刿</a:t>
            </a:r>
            <a:r>
              <a:rPr lang="zh-CN" altLang="zh-CN" sz="1800"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zh-CN" altLang="zh-CN" sz="1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辩而不争</a:t>
            </a:r>
            <a:r>
              <a:rPr lang="zh-CN" altLang="zh-CN" sz="1800"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zh-CN" altLang="zh-CN" sz="1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察而不激，寡立而不胜，坚疆而不暴，柔从而不流，恭敬谨慎而容</a:t>
            </a:r>
            <a:r>
              <a:rPr lang="zh-CN" altLang="zh-CN" sz="1800">
                <a:latin typeface="华文中宋" panose="02010600040101010101" pitchFamily="2" charset="-122"/>
                <a:ea typeface="华文中宋" panose="02010600040101010101" pitchFamily="2" charset="-122"/>
              </a:rPr>
              <a:t>，夫是之谓</a:t>
            </a:r>
            <a:r>
              <a:rPr lang="zh-CN" altLang="zh-CN" sz="1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至文</a:t>
            </a:r>
            <a:r>
              <a:rPr lang="zh-CN" altLang="zh-CN" sz="180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zh-CN" sz="1800">
                <a:latin typeface="华文楷体" panose="02010600040101010101" pitchFamily="2" charset="-122"/>
                <a:ea typeface="华文楷体" panose="02010600040101010101" pitchFamily="2" charset="-122"/>
              </a:rPr>
              <a:t>《荀子</a:t>
            </a:r>
            <a:r>
              <a:rPr lang="en-US" altLang="zh-CN" sz="1800">
                <a:latin typeface="华文楷体" panose="02010600040101010101" pitchFamily="2" charset="-122"/>
                <a:ea typeface="华文楷体" panose="02010600040101010101" pitchFamily="2" charset="-122"/>
              </a:rPr>
              <a:t>·</a:t>
            </a:r>
            <a:r>
              <a:rPr lang="zh-CN" altLang="zh-CN" sz="1800">
                <a:latin typeface="华文楷体" panose="02010600040101010101" pitchFamily="2" charset="-122"/>
                <a:ea typeface="华文楷体" panose="02010600040101010101" pitchFamily="2" charset="-122"/>
              </a:rPr>
              <a:t>不苟篇》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zh-CN" sz="1800">
                <a:latin typeface="华文中宋" panose="02010600040101010101" pitchFamily="2" charset="-122"/>
                <a:ea typeface="华文中宋" panose="02010600040101010101" pitchFamily="2" charset="-122"/>
              </a:rPr>
              <a:t>以不善先人者，谓之</a:t>
            </a:r>
            <a:r>
              <a:rPr lang="zh-CN" altLang="zh-CN" sz="1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谄</a:t>
            </a:r>
            <a:r>
              <a:rPr lang="zh-CN" altLang="zh-CN" sz="1800">
                <a:latin typeface="华文中宋" panose="02010600040101010101" pitchFamily="2" charset="-122"/>
                <a:ea typeface="华文中宋" panose="02010600040101010101" pitchFamily="2" charset="-122"/>
              </a:rPr>
              <a:t>，以不善和人者，谓之</a:t>
            </a:r>
            <a:r>
              <a:rPr lang="zh-CN" altLang="zh-CN" sz="1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谀</a:t>
            </a:r>
            <a:r>
              <a:rPr lang="zh-CN" altLang="zh-CN" sz="180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r>
              <a:rPr lang="zh-CN" altLang="zh-CN" sz="1800">
                <a:latin typeface="华文楷体" panose="02010600040101010101" pitchFamily="2" charset="-122"/>
                <a:ea typeface="华文楷体" panose="02010600040101010101" pitchFamily="2" charset="-122"/>
              </a:rPr>
              <a:t>（《修身篇》）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zh-CN" sz="1800">
                <a:latin typeface="华文楷体" panose="02010600040101010101" pitchFamily="2" charset="-122"/>
                <a:ea typeface="华文楷体" panose="02010600040101010101" pitchFamily="2" charset="-122"/>
              </a:rPr>
              <a:t>知时屈伸，</a:t>
            </a:r>
            <a:r>
              <a:rPr lang="zh-CN" altLang="zh-CN" sz="180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柔</a:t>
            </a:r>
            <a:r>
              <a:rPr lang="zh-CN" altLang="zh-CN" sz="1800">
                <a:latin typeface="华文楷体" panose="02010600040101010101" pitchFamily="2" charset="-122"/>
                <a:ea typeface="华文楷体" panose="02010600040101010101" pitchFamily="2" charset="-122"/>
              </a:rPr>
              <a:t>从</a:t>
            </a:r>
            <a:r>
              <a:rPr lang="zh-CN" altLang="zh-CN" sz="180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如蒲苇</a:t>
            </a:r>
            <a:r>
              <a:rPr lang="zh-CN" altLang="zh-CN" sz="1800">
                <a:latin typeface="华文楷体" panose="02010600040101010101" pitchFamily="2" charset="-122"/>
                <a:ea typeface="华文楷体" panose="02010600040101010101" pitchFamily="2" charset="-122"/>
              </a:rPr>
              <a:t>，非慑法也，</a:t>
            </a:r>
            <a:r>
              <a:rPr lang="zh-CN" altLang="zh-CN" sz="180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刚疆猛毅靡所不信</a:t>
            </a:r>
            <a:r>
              <a:rPr lang="zh-CN" altLang="zh-CN" sz="1800">
                <a:latin typeface="华文楷体" panose="02010600040101010101" pitchFamily="2" charset="-122"/>
                <a:ea typeface="华文楷体" panose="02010600040101010101" pitchFamily="2" charset="-122"/>
              </a:rPr>
              <a:t>，非骄暴也。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>
                <a:latin typeface="华文楷体" panose="02010600040101010101" pitchFamily="2" charset="-122"/>
                <a:ea typeface="华文楷体" panose="02010600040101010101" pitchFamily="2" charset="-122"/>
              </a:rPr>
              <a:t> </a:t>
            </a:r>
            <a:r>
              <a:rPr lang="zh-CN" altLang="zh-CN" sz="1800">
                <a:latin typeface="华文楷体" panose="02010600040101010101" pitchFamily="2" charset="-122"/>
                <a:ea typeface="华文楷体" panose="02010600040101010101" pitchFamily="2" charset="-122"/>
              </a:rPr>
              <a:t>以义变应，知当曲直。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zh-CN" sz="1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谈说之术</a:t>
            </a:r>
            <a:r>
              <a:rPr lang="zh-CN" altLang="zh-CN" sz="1800">
                <a:latin typeface="华文中宋" panose="02010600040101010101" pitchFamily="2" charset="-122"/>
                <a:ea typeface="华文中宋" panose="02010600040101010101" pitchFamily="2" charset="-122"/>
              </a:rPr>
              <a:t>：矜庄以莅之，端诚以处之，坚疆以持之，譬称以明之，欣驤芬芗以送之，宝之，珍之，贵之，神之，如是则说常无不受。</a:t>
            </a:r>
            <a:endParaRPr lang="zh-CN" altLang="en-US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内容占位符 2"/>
          <p:cNvSpPr>
            <a:spLocks noGrp="1"/>
          </p:cNvSpPr>
          <p:nvPr>
            <p:ph idx="1" hasCustomPrompt="1"/>
          </p:nvPr>
        </p:nvSpPr>
        <p:spPr>
          <a:xfrm>
            <a:off x="35496" y="116632"/>
            <a:ext cx="9001000" cy="720080"/>
          </a:xfrm>
        </p:spPr>
        <p:txBody>
          <a:bodyPr vert="horz" wrap="square" lIns="0" tIns="45720" rIns="0" bIns="45720" anchor="t" anchorCtr="0">
            <a:normAutofit/>
          </a:bodyPr>
          <a:lstStyle/>
          <a:p>
            <a:pPr marL="0" indent="0">
              <a:buNone/>
            </a:pP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君子能则</a:t>
            </a:r>
            <a:r>
              <a:rPr lang="zh-CN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宽容易直以开道人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，不能则</a:t>
            </a:r>
            <a:r>
              <a:rPr lang="zh-CN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恭敬繜绌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以</a:t>
            </a:r>
            <a:r>
              <a:rPr lang="zh-CN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畏事人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；小人能则</a:t>
            </a:r>
            <a:r>
              <a:rPr lang="zh-CN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倨傲僻违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以</a:t>
            </a:r>
            <a:r>
              <a:rPr lang="zh-CN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骄溢人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，不能则</a:t>
            </a:r>
            <a:r>
              <a:rPr lang="zh-CN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妒忌怨诽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以倾覆人。</a:t>
            </a:r>
            <a:endParaRPr lang="en-US" altLang="zh-CN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7C9B71-DF31-4D2E-8289-769AD6CCB508}"/>
              </a:ext>
            </a:extLst>
          </p:cNvPr>
          <p:cNvSpPr txBox="1">
            <a:spLocks/>
          </p:cNvSpPr>
          <p:nvPr/>
        </p:nvSpPr>
        <p:spPr>
          <a:xfrm>
            <a:off x="107504" y="764704"/>
            <a:ext cx="8856984" cy="1728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知、仁、勇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三者，天下之达德也。</a:t>
            </a: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《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礼记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·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中庸</a:t>
            </a: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》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好学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近乎智，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力行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近乎仁，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知耻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近乎勇。</a:t>
            </a: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《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礼记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·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中庸</a:t>
            </a: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》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子曰：“君子道者三，我无能焉：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仁者不忧，智者不惑，勇者不惧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。”子贡曰：“夫子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自道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也。”</a:t>
            </a: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《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论语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·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宪问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》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子曰：“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知者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不惑，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仁者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不忧，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勇者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不惧。”</a:t>
            </a: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《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论语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· 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子罕</a:t>
            </a: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》</a:t>
            </a:r>
          </a:p>
        </p:txBody>
      </p:sp>
      <p:sp>
        <p:nvSpPr>
          <p:cNvPr id="32770" name="内容占位符 2"/>
          <p:cNvSpPr txBox="1">
            <a:spLocks/>
          </p:cNvSpPr>
          <p:nvPr/>
        </p:nvSpPr>
        <p:spPr>
          <a:xfrm>
            <a:off x="54454" y="2492896"/>
            <a:ext cx="7886700" cy="100811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子路曰：“君子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尚勇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乎？”子曰：“君子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义以为上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，君子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有勇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而无义为乱，小人有勇而无义为盗。”</a:t>
            </a: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《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论语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· 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阳货</a:t>
            </a: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》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子曰：“非其鬼而祭之，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谄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也。见义不为，</a:t>
            </a:r>
            <a:r>
              <a:rPr lang="zh-CN" altLang="en-US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无勇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也。”</a:t>
            </a: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《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论语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· </a:t>
            </a: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为政</a:t>
            </a: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》</a:t>
            </a:r>
            <a:endParaRPr lang="en-US" altLang="zh-CN" sz="1800" dirty="0"/>
          </a:p>
          <a:p>
            <a:endParaRPr lang="zh-CN" altLang="en-US" sz="1800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B50EE9C1-10C2-4BED-8B2C-5908C45D8480}"/>
              </a:ext>
            </a:extLst>
          </p:cNvPr>
          <p:cNvSpPr txBox="1">
            <a:spLocks/>
          </p:cNvSpPr>
          <p:nvPr/>
        </p:nvSpPr>
        <p:spPr>
          <a:xfrm>
            <a:off x="0" y="3423721"/>
            <a:ext cx="9036496" cy="40324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-91440" defTabSz="914400">
              <a:lnSpc>
                <a:spcPts val="28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/>
            </a:pPr>
            <a:r>
              <a:rPr lang="en-US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</a:t>
            </a:r>
            <a:r>
              <a:rPr lang="zh-CN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一正直，二刚克，三柔克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。平康正直，强弗友刚克，燮友柔克，沈濳刚克，高明柔克。</a:t>
            </a:r>
            <a:r>
              <a:rPr lang="en-US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</a:t>
            </a:r>
            <a:r>
              <a:rPr lang="zh-CN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胜过一切逆顺境界，不为物转；胜过一切微细惑障，不被己谩，是之谓克。</a:t>
            </a:r>
          </a:p>
          <a:p>
            <a:pPr marL="91440" indent="-91440" defTabSz="914400">
              <a:lnSpc>
                <a:spcPts val="28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/>
            </a:pP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“平者，本无偏陂。康者，质近安行。若斯之人，不烦雕琢，示以正直，无假言诠，</a:t>
            </a:r>
            <a:r>
              <a:rPr lang="zh-CN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当下圆成，旷世一遇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。……前者（强）</a:t>
            </a:r>
            <a:r>
              <a:rPr lang="zh-CN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质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近</a:t>
            </a:r>
            <a:r>
              <a:rPr lang="zh-CN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强立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而</a:t>
            </a:r>
            <a:r>
              <a:rPr lang="zh-CN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乏巽顺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zh-CN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矜其廉隅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  <a:r>
              <a:rPr lang="zh-CN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成崖岸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，其辩足以自信，其守足以自坚，斯亦外道之俊也。若斯者宜折而服之，乃可以弗畔，故用</a:t>
            </a:r>
            <a:r>
              <a:rPr lang="zh-CN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刚克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。后者（燮）甘白之姿</a:t>
            </a:r>
            <a:r>
              <a:rPr lang="zh-CN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易施和采，疏通悦畅，告往知来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，其入则如时雨之润，其进则如江河之决，斯近道之器也。若斯者直摄而受之，可与有成，故用</a:t>
            </a:r>
            <a:r>
              <a:rPr lang="zh-CN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柔克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。……</a:t>
            </a:r>
            <a:r>
              <a:rPr lang="zh-CN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沈濳者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，深沈静默，有近于狷；</a:t>
            </a:r>
            <a:r>
              <a:rPr lang="zh-CN" altLang="zh-CN" sz="1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高明者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抗厉发越，有近于狂：二者皆有所章而不能无蔽，抗即违中，拘亦失理。”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1489" y="332656"/>
            <a:ext cx="8968355" cy="3207919"/>
          </a:xfrm>
        </p:spPr>
        <p:txBody>
          <a:bodyPr vert="horz" wrap="square" lIns="0" tIns="45720" rIns="0" bIns="45720" numCol="1" anchor="t" anchorCtr="0" compatLnSpc="1">
            <a:normAutofit lnSpcReduction="10000"/>
          </a:bodyPr>
          <a:lstStyle/>
          <a:p>
            <a:pPr marL="90805" marR="0" lvl="0" indent="-90805" algn="l" defTabSz="914400" rtl="0" eaLnBrk="0" fontAlgn="base" latinLnBrk="0" hangingPunct="0">
              <a:lnSpc>
                <a:spcPct val="17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极天下之赜者存乎卦，鼓天下之动者存乎辞。化而裁之存乎变，推而行之存乎通。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神而明之存乎其人。默而成之，不言而信，存乎德行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90805" marR="0" lvl="0" indent="-90805" algn="l" defTabSz="914400" rtl="0" eaLnBrk="0" fontAlgn="base" latinLnBrk="0" hangingPunct="0">
              <a:lnSpc>
                <a:spcPct val="17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（系辞上）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</a:t>
            </a:r>
            <a:r>
              <a:rPr lang="zh-CN" altLang="zh-CN" sz="1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君子安其身而后动，易其心而后语，定其交而后求。君子修此三者，故全也。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危以动则民不与也，惧以语则民不应也，无交而求则民不与也，莫之与则伤之者至矣。</a:t>
            </a:r>
            <a:endParaRPr lang="en-US" altLang="zh-CN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《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系辞</a:t>
            </a:r>
            <a:r>
              <a:rPr lang="en-US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》</a:t>
            </a:r>
            <a:r>
              <a:rPr lang="zh-CN" altLang="zh-CN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下）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ECB78FB-B2BA-4E5E-B017-E92007EA6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18621"/>
            <a:ext cx="1512168" cy="458052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君子之至德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8092FED-5197-45C1-9379-7D0DAD0DCAAB}"/>
              </a:ext>
            </a:extLst>
          </p:cNvPr>
          <p:cNvSpPr txBox="1">
            <a:spLocks/>
          </p:cNvSpPr>
          <p:nvPr/>
        </p:nvSpPr>
        <p:spPr>
          <a:xfrm>
            <a:off x="152053" y="3429000"/>
            <a:ext cx="1567086" cy="3995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厚德、盛德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177C027-436D-4C9A-A7F7-8BC830416EE1}"/>
              </a:ext>
            </a:extLst>
          </p:cNvPr>
          <p:cNvSpPr txBox="1">
            <a:spLocks/>
          </p:cNvSpPr>
          <p:nvPr/>
        </p:nvSpPr>
        <p:spPr>
          <a:xfrm>
            <a:off x="323528" y="4221088"/>
            <a:ext cx="7886700" cy="1368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>
                <a:latin typeface="华文中宋" panose="02010600040101010101" pitchFamily="2" charset="-122"/>
                <a:ea typeface="华文中宋" panose="02010600040101010101" pitchFamily="2" charset="-122"/>
              </a:rPr>
              <a:t>“</a:t>
            </a:r>
            <a:r>
              <a:rPr lang="zh-CN" altLang="zh-CN" sz="1800">
                <a:latin typeface="华文中宋" panose="02010600040101010101" pitchFamily="2" charset="-122"/>
                <a:ea typeface="华文中宋" panose="02010600040101010101" pitchFamily="2" charset="-122"/>
              </a:rPr>
              <a:t>劳谦，君子有终，吉。</a:t>
            </a:r>
            <a:r>
              <a:rPr lang="en-US" altLang="zh-CN" sz="1800">
                <a:latin typeface="华文中宋" panose="02010600040101010101" pitchFamily="2" charset="-122"/>
                <a:ea typeface="华文中宋" panose="02010600040101010101" pitchFamily="2" charset="-122"/>
              </a:rPr>
              <a:t>”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zh-CN" sz="1800">
                <a:latin typeface="华文中宋" panose="02010600040101010101" pitchFamily="2" charset="-122"/>
                <a:ea typeface="华文中宋" panose="02010600040101010101" pitchFamily="2" charset="-122"/>
              </a:rPr>
              <a:t>“子曰</a:t>
            </a:r>
            <a:r>
              <a:rPr lang="zh-CN" altLang="zh-CN" sz="1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劳而不伐</a:t>
            </a:r>
            <a:r>
              <a:rPr lang="zh-CN" altLang="zh-CN" sz="1800"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zh-CN" altLang="zh-CN" sz="1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有功而不德</a:t>
            </a:r>
            <a:r>
              <a:rPr lang="zh-CN" altLang="zh-CN" sz="1800"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zh-CN" altLang="zh-CN" sz="1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厚之至也</a:t>
            </a:r>
            <a:r>
              <a:rPr lang="zh-CN" altLang="zh-CN" sz="1800">
                <a:latin typeface="华文中宋" panose="02010600040101010101" pitchFamily="2" charset="-122"/>
                <a:ea typeface="华文中宋" panose="02010600040101010101" pitchFamily="2" charset="-122"/>
              </a:rPr>
              <a:t>。语</a:t>
            </a:r>
            <a:r>
              <a:rPr lang="zh-CN" altLang="zh-CN" sz="1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以其功下人者</a:t>
            </a:r>
            <a:r>
              <a:rPr lang="zh-CN" altLang="zh-CN" sz="1800">
                <a:latin typeface="华文中宋" panose="02010600040101010101" pitchFamily="2" charset="-122"/>
                <a:ea typeface="华文中宋" panose="02010600040101010101" pitchFamily="2" charset="-122"/>
              </a:rPr>
              <a:t>也。德言盛，礼言恭。</a:t>
            </a:r>
            <a:r>
              <a:rPr lang="zh-CN" altLang="zh-CN" sz="1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谦也者，致恭以存其位也。</a:t>
            </a:r>
            <a:r>
              <a:rPr lang="zh-CN" altLang="zh-CN" sz="1800">
                <a:latin typeface="华文中宋" panose="02010600040101010101" pitchFamily="2" charset="-122"/>
                <a:ea typeface="华文中宋" panose="02010600040101010101" pitchFamily="2" charset="-122"/>
              </a:rPr>
              <a:t>”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zh-CN" sz="1800">
                <a:latin typeface="华文中宋" panose="02010600040101010101" pitchFamily="2" charset="-122"/>
                <a:ea typeface="华文中宋" panose="02010600040101010101" pitchFamily="2" charset="-122"/>
              </a:rPr>
              <a:t>“贵而无位，高而无民，贤人在下位而无辅，是以动而有悔也。”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800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352</TotalTime>
  <Words>2989</Words>
  <Application>Microsoft Office PowerPoint</Application>
  <PresentationFormat>全屏显示(4:3)</PresentationFormat>
  <Paragraphs>97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等线</vt:lpstr>
      <vt:lpstr>等线 Light</vt:lpstr>
      <vt:lpstr>仿宋</vt:lpstr>
      <vt:lpstr>华文楷体</vt:lpstr>
      <vt:lpstr>华文中宋</vt:lpstr>
      <vt:lpstr>Arial</vt:lpstr>
      <vt:lpstr>Calibri</vt:lpstr>
      <vt:lpstr>Tahoma</vt:lpstr>
      <vt:lpstr>Office 主题​​</vt:lpstr>
      <vt:lpstr>PowerPoint 演示文稿</vt:lpstr>
      <vt:lpstr>PowerPoint 演示文稿</vt:lpstr>
      <vt:lpstr>儒家的君子形象</vt:lpstr>
      <vt:lpstr>（三）君子形象二：君子之仁</vt:lpstr>
      <vt:lpstr>什么是“仁”？如何实践“仁”？ </vt:lpstr>
      <vt:lpstr>（四）形象之三:君子之待人与克己</vt:lpstr>
      <vt:lpstr>（五）君子形象之五：容仪</vt:lpstr>
      <vt:lpstr>PowerPoint 演示文稿</vt:lpstr>
      <vt:lpstr>君子之至德</vt:lpstr>
    </vt:vector>
  </TitlesOfParts>
  <Company>WWW.YlmF.CoM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  加强道德修养，锤炼道德品质 </dc:title>
  <dc:creator>雨林木风</dc:creator>
  <cp:lastModifiedBy>Ruiyang Xu</cp:lastModifiedBy>
  <cp:revision>387</cp:revision>
  <cp:lastPrinted>2026-06-14T04:37:56Z</cp:lastPrinted>
  <dcterms:created xsi:type="dcterms:W3CDTF">2011-03-24T01:34:00Z</dcterms:created>
  <dcterms:modified xsi:type="dcterms:W3CDTF">2026-06-14T04:38:09Z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3A37BE45C5564DD29A48C61EB4452402_13</vt:lpwstr>
  </property>
  <property fmtid="{D5CDD505-2E9C-101B-9397-08002B2CF9AE}" pid="3" name="KSOProductBuildVer">
    <vt:lpwstr>2052-12.1.0.23125</vt:lpwstr>
  </property>
</Properties>
</file>