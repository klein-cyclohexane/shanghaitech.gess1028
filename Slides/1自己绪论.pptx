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388" r:id="rId2"/>
    <p:sldId id="262" r:id="rId3"/>
    <p:sldId id="688" r:id="rId4"/>
    <p:sldId id="444" r:id="rId5"/>
    <p:sldId id="519" r:id="rId6"/>
    <p:sldId id="268" r:id="rId7"/>
    <p:sldId id="597" r:id="rId8"/>
    <p:sldId id="690" r:id="rId9"/>
    <p:sldId id="270" r:id="rId10"/>
    <p:sldId id="392" r:id="rId11"/>
    <p:sldId id="693" r:id="rId12"/>
    <p:sldId id="448" r:id="rId13"/>
    <p:sldId id="447" r:id="rId14"/>
    <p:sldId id="452" r:id="rId15"/>
    <p:sldId id="691" r:id="rId16"/>
    <p:sldId id="692" r:id="rId17"/>
    <p:sldId id="702" r:id="rId18"/>
    <p:sldId id="451" r:id="rId19"/>
    <p:sldId id="259" r:id="rId20"/>
    <p:sldId id="355" r:id="rId21"/>
    <p:sldId id="272" r:id="rId22"/>
    <p:sldId id="288" r:id="rId23"/>
    <p:sldId id="367" r:id="rId24"/>
  </p:sldIdLst>
  <p:sldSz cx="9144000" cy="6858000" type="screen4x3"/>
  <p:notesSz cx="9144000" cy="6858000"/>
  <p:custDataLst>
    <p:tags r:id="rId26"/>
  </p:custDataLst>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楷体_GB2312" pitchFamily="49" charset="-122"/>
        <a:ea typeface="楷体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楷体_GB2312" pitchFamily="49" charset="-122"/>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楷体_GB2312" pitchFamily="49" charset="-122"/>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楷体_GB2312" pitchFamily="49" charset="-122"/>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楷体_GB2312" pitchFamily="49" charset="-122"/>
        <a:ea typeface="楷体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楷体_GB2312" pitchFamily="49" charset="-122"/>
        <a:ea typeface="楷体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楷体_GB2312" pitchFamily="49" charset="-122"/>
        <a:ea typeface="楷体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楷体_GB2312" pitchFamily="49" charset="-122"/>
        <a:ea typeface="楷体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3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83320"/>
    <a:srgbClr val="C8360E"/>
    <a:srgbClr val="F17E37"/>
    <a:srgbClr val="86BC8C"/>
    <a:srgbClr val="E4DA5E"/>
    <a:srgbClr val="ECC41C"/>
    <a:srgbClr val="D35A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39" autoAdjust="0"/>
    <p:restoredTop sz="88812"/>
  </p:normalViewPr>
  <p:slideViewPr>
    <p:cSldViewPr showGuides="1">
      <p:cViewPr varScale="1">
        <p:scale>
          <a:sx n="84" d="100"/>
          <a:sy n="84" d="100"/>
        </p:scale>
        <p:origin x="690" y="45"/>
      </p:cViewPr>
      <p:guideLst>
        <p:guide orient="horz" pos="213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atin typeface="楷体_GB2312" pitchFamily="49" charset="-122"/>
                <a:ea typeface="楷体_GB2312"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atin typeface="楷体_GB2312" pitchFamily="49" charset="-122"/>
                <a:ea typeface="楷体_GB2312" pitchFamily="49"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3BDF27D8-AF91-41B0-A90B-66B926B7843A}" type="datetimeFigureOut">
              <a:rPr kumimoji="0" lang="zh-CN" altLang="en-US" sz="1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2026/6/9</a:t>
            </a:fld>
            <a:endParaRPr kumimoji="0" lang="zh-CN" altLang="en-US" sz="1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4" name="幻灯片图像占位符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6513910"/>
            <a:ext cx="3962400" cy="344091"/>
          </a:xfrm>
          <a:prstGeom prst="rect">
            <a:avLst/>
          </a:prstGeom>
        </p:spPr>
        <p:txBody>
          <a:bodyPr vert="horz" lIns="91440" tIns="45720" rIns="91440" bIns="45720" rtlCol="0" anchor="b"/>
          <a:lstStyle>
            <a:lvl1pPr algn="l">
              <a:defRPr sz="1200">
                <a:latin typeface="楷体_GB2312" pitchFamily="49" charset="-122"/>
                <a:ea typeface="楷体_GB2312"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7" name="灯片编号占位符 6"/>
          <p:cNvSpPr>
            <a:spLocks noGrp="1"/>
          </p:cNvSpPr>
          <p:nvPr>
            <p:ph type="sldNum" sz="quarter" idx="5"/>
          </p:nvPr>
        </p:nvSpPr>
        <p:spPr>
          <a:xfrm>
            <a:off x="5179484" y="6513910"/>
            <a:ext cx="3962400" cy="344091"/>
          </a:xfrm>
          <a:prstGeom prst="rect">
            <a:avLst/>
          </a:prstGeom>
        </p:spPr>
        <p:txBody>
          <a:bodyPr vert="horz" lIns="91440" tIns="45720" rIns="91440" bIns="45720" rtlCol="0" anchor="b"/>
          <a:lstStyle>
            <a:lvl1pPr algn="r">
              <a:defRPr sz="1200">
                <a:latin typeface="楷体_GB2312" pitchFamily="49" charset="-122"/>
                <a:ea typeface="楷体_GB2312" pitchFamily="49"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FC49FA1E-8AAE-484F-BE67-C12AB1EEE791}" type="slidenum">
              <a:rPr kumimoji="0" lang="zh-CN" altLang="en-US" sz="1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fld>
            <a:endParaRPr kumimoji="0" lang="zh-CN" altLang="en-US" sz="1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4170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04355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12139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685800" y="3197225"/>
            <a:ext cx="77724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ctrTitle"/>
          </p:nvPr>
        </p:nvSpPr>
        <p:spPr>
          <a:xfrm>
            <a:off x="685800" y="1676401"/>
            <a:ext cx="7772400" cy="1538286"/>
          </a:xfrm>
        </p:spPr>
        <p:txBody>
          <a:bodyPr anchor="b"/>
          <a:lstStyle/>
          <a:p>
            <a:r>
              <a:rPr lang="zh-CN" altLang="en-US" noProof="1"/>
              <a:t>单击此处编辑母版标题样式</a:t>
            </a:r>
            <a:endParaRPr lang="en-US" noProof="1"/>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en-US" noProof="1"/>
          </a:p>
        </p:txBody>
      </p:sp>
      <p:sp>
        <p:nvSpPr>
          <p:cNvPr id="12" name="日期占位符 3"/>
          <p:cNvSpPr>
            <a:spLocks noGrp="1"/>
          </p:cNvSpPr>
          <p:nvPr>
            <p:ph type="dt" sz="half" idx="2"/>
          </p:nvPr>
        </p:nvSpPr>
        <p:spPr>
          <a:xfrm>
            <a:off x="76200"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3" name="页脚占位符 4"/>
          <p:cNvSpPr>
            <a:spLocks noGrp="1"/>
          </p:cNvSpPr>
          <p:nvPr>
            <p:ph type="ftr" sz="quarter" idx="3"/>
          </p:nvPr>
        </p:nvSpPr>
        <p:spPr>
          <a:xfrm>
            <a:off x="5334000"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4" name="灯片编号占位符 5"/>
          <p:cNvSpPr>
            <a:spLocks noGrp="1"/>
          </p:cNvSpPr>
          <p:nvPr>
            <p:ph type="sldNum" sz="quarter" idx="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B919A5D5-B48D-4DDF-8EF7-C44063FF214D}"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457200" y="1411288"/>
            <a:ext cx="82296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2" name="日期占位符 3"/>
          <p:cNvSpPr>
            <a:spLocks noGrp="1"/>
          </p:cNvSpPr>
          <p:nvPr>
            <p:ph type="dt" sz="half" idx="2"/>
          </p:nvPr>
        </p:nvSpPr>
        <p:spPr>
          <a:xfrm>
            <a:off x="73025"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3" name="页脚占位符 4"/>
          <p:cNvSpPr>
            <a:spLocks noGrp="1"/>
          </p:cNvSpPr>
          <p:nvPr>
            <p:ph type="ftr" sz="quarter" idx="3"/>
          </p:nvPr>
        </p:nvSpPr>
        <p:spPr>
          <a:xfrm>
            <a:off x="5330825"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4" name="灯片编号占位符 5"/>
          <p:cNvSpPr>
            <a:spLocks noGrp="1"/>
          </p:cNvSpPr>
          <p:nvPr>
            <p:ph type="sldNum" sz="quarter" idx="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374C9D2-A096-4112-8F2C-B0A2A2B80E4E}"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685800" y="3143250"/>
            <a:ext cx="77724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lang="zh-CN" altLang="en-US" noProof="1"/>
              <a:t>单击此处编辑母版标题样式</a:t>
            </a:r>
            <a:endParaRPr lang="en-US" noProof="1"/>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2" name="日期占位符 3"/>
          <p:cNvSpPr>
            <a:spLocks noGrp="1"/>
          </p:cNvSpPr>
          <p:nvPr>
            <p:ph type="dt" sz="half" idx="2"/>
          </p:nvPr>
        </p:nvSpPr>
        <p:spPr>
          <a:xfrm>
            <a:off x="76200"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3" name="页脚占位符 4"/>
          <p:cNvSpPr>
            <a:spLocks noGrp="1"/>
          </p:cNvSpPr>
          <p:nvPr>
            <p:ph type="ftr" sz="quarter" idx="3"/>
          </p:nvPr>
        </p:nvSpPr>
        <p:spPr>
          <a:xfrm>
            <a:off x="5334000"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4" name="灯片编号占位符 5"/>
          <p:cNvSpPr>
            <a:spLocks noGrp="1"/>
          </p:cNvSpPr>
          <p:nvPr>
            <p:ph type="sldNum" sz="quarter" idx="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59851-3B1A-4C94-840B-274023E79328}"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两栏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457200" y="1411288"/>
            <a:ext cx="82296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2" name="日期占位符 4"/>
          <p:cNvSpPr>
            <a:spLocks noGrp="1"/>
          </p:cNvSpPr>
          <p:nvPr>
            <p:ph type="dt" sz="half" idx="12"/>
          </p:nvPr>
        </p:nvSpPr>
        <p:spPr>
          <a:xfrm>
            <a:off x="76200"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3" name="页脚占位符 5"/>
          <p:cNvSpPr>
            <a:spLocks noGrp="1"/>
          </p:cNvSpPr>
          <p:nvPr>
            <p:ph type="ftr" sz="quarter" idx="3"/>
          </p:nvPr>
        </p:nvSpPr>
        <p:spPr>
          <a:xfrm>
            <a:off x="5334000"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4" name="灯片编号占位符 6"/>
          <p:cNvSpPr>
            <a:spLocks noGrp="1"/>
          </p:cNvSpPr>
          <p:nvPr>
            <p:ph type="sldNum" sz="quarter" idx="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E1C7A78C-EAE6-4571-89CF-1FD0ABA1E7A4}"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比较">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457200" y="1411288"/>
            <a:ext cx="82296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lvl1pPr>
              <a:defRPr/>
            </a:lvl1pPr>
          </a:lstStyle>
          <a:p>
            <a:r>
              <a:rPr lang="zh-CN" altLang="en-US" noProof="1"/>
              <a:t>单击此处编辑母版标题样式</a:t>
            </a:r>
            <a:endParaRPr 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2" name="日期占位符 6"/>
          <p:cNvSpPr>
            <a:spLocks noGrp="1"/>
          </p:cNvSpPr>
          <p:nvPr>
            <p:ph type="dt" sz="half" idx="12"/>
          </p:nvPr>
        </p:nvSpPr>
        <p:spPr>
          <a:xfrm>
            <a:off x="76200"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3" name="页脚占位符 7"/>
          <p:cNvSpPr>
            <a:spLocks noGrp="1"/>
          </p:cNvSpPr>
          <p:nvPr>
            <p:ph type="ftr" sz="quarter" idx="13"/>
          </p:nvPr>
        </p:nvSpPr>
        <p:spPr>
          <a:xfrm>
            <a:off x="5334000"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4" name="灯片编号占位符 8"/>
          <p:cNvSpPr>
            <a:spLocks noGrp="1"/>
          </p:cNvSpPr>
          <p:nvPr>
            <p:ph type="sldNum" sz="quarter" idx="1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922CDAC-3D31-4104-95F2-4BEB9F925175}"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showMasterPhAnim="0" type="titleOnly" preserve="1">
  <p:cSld name="仅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457200" y="1411288"/>
            <a:ext cx="82296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12" name="日期占位符 2"/>
          <p:cNvSpPr>
            <a:spLocks noGrp="1"/>
          </p:cNvSpPr>
          <p:nvPr>
            <p:ph type="dt" sz="half" idx="2"/>
          </p:nvPr>
        </p:nvSpPr>
        <p:spPr>
          <a:xfrm>
            <a:off x="76200"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3" name="页脚占位符 3"/>
          <p:cNvSpPr>
            <a:spLocks noGrp="1"/>
          </p:cNvSpPr>
          <p:nvPr>
            <p:ph type="ftr" sz="quarter" idx="3"/>
          </p:nvPr>
        </p:nvSpPr>
        <p:spPr>
          <a:xfrm>
            <a:off x="5334000"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4" name="灯片编号占位符 4"/>
          <p:cNvSpPr>
            <a:spLocks noGrp="1"/>
          </p:cNvSpPr>
          <p:nvPr>
            <p:ph type="sldNum" sz="quarter" idx="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FFF3FFB8-DBDC-44F8-A1FF-4293D2F8854C}"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showMasterPhAnim="0"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1" name="日期占位符 1"/>
          <p:cNvSpPr>
            <a:spLocks noGrp="1"/>
          </p:cNvSpPr>
          <p:nvPr>
            <p:ph type="dt" sz="half" idx="2"/>
          </p:nvPr>
        </p:nvSpPr>
        <p:spPr>
          <a:xfrm>
            <a:off x="76200"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2" name="页脚占位符 2"/>
          <p:cNvSpPr>
            <a:spLocks noGrp="1"/>
          </p:cNvSpPr>
          <p:nvPr>
            <p:ph type="ftr" sz="quarter" idx="3"/>
          </p:nvPr>
        </p:nvSpPr>
        <p:spPr>
          <a:xfrm>
            <a:off x="5334000"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3" name="灯片编号占位符 3"/>
          <p:cNvSpPr>
            <a:spLocks noGrp="1"/>
          </p:cNvSpPr>
          <p:nvPr>
            <p:ph type="sldNum" sz="quarter" idx="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67DC2B0-E156-49E8-9B09-5845597156F0}"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内容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2786063" y="1054100"/>
            <a:ext cx="5903913"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lang="zh-CN" altLang="en-US" noProof="1"/>
              <a:t>单击此处编辑母版标题样式</a:t>
            </a:r>
            <a:endParaRPr lang="en-US" noProof="1"/>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2" name="日期占位符 4"/>
          <p:cNvSpPr>
            <a:spLocks noGrp="1"/>
          </p:cNvSpPr>
          <p:nvPr>
            <p:ph type="dt" sz="half" idx="12"/>
          </p:nvPr>
        </p:nvSpPr>
        <p:spPr>
          <a:xfrm>
            <a:off x="76200"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3" name="页脚占位符 5"/>
          <p:cNvSpPr>
            <a:spLocks noGrp="1"/>
          </p:cNvSpPr>
          <p:nvPr>
            <p:ph type="ftr" sz="quarter" idx="3"/>
          </p:nvPr>
        </p:nvSpPr>
        <p:spPr>
          <a:xfrm>
            <a:off x="5334000"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4" name="灯片编号占位符 6"/>
          <p:cNvSpPr>
            <a:spLocks noGrp="1"/>
          </p:cNvSpPr>
          <p:nvPr>
            <p:ph type="sldNum" sz="quarter" idx="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0A1E594-EFE0-4B28-9844-8E07E63144EC}"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533400" y="304800"/>
            <a:ext cx="6400800" cy="685800"/>
          </a:xfrm>
        </p:spPr>
        <p:txBody>
          <a:bodyPr/>
          <a:lstStyle>
            <a:lvl1pPr algn="l">
              <a:defRPr sz="2400" b="0"/>
            </a:lvl1pPr>
          </a:lstStyle>
          <a:p>
            <a:r>
              <a:rPr lang="zh-CN" altLang="en-US" noProof="1"/>
              <a:t>单击此处编辑母版标题样式</a:t>
            </a:r>
            <a:endParaRPr lang="en-US" noProof="1"/>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1" name="日期占位符 4"/>
          <p:cNvSpPr>
            <a:spLocks noGrp="1"/>
          </p:cNvSpPr>
          <p:nvPr>
            <p:ph type="dt" sz="half" idx="12"/>
          </p:nvPr>
        </p:nvSpPr>
        <p:spPr>
          <a:xfrm>
            <a:off x="76200"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2" name="页脚占位符 5"/>
          <p:cNvSpPr>
            <a:spLocks noGrp="1"/>
          </p:cNvSpPr>
          <p:nvPr>
            <p:ph type="ftr" sz="quarter" idx="3"/>
          </p:nvPr>
        </p:nvSpPr>
        <p:spPr>
          <a:xfrm>
            <a:off x="5334000"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3" name="灯片编号占位符 6"/>
          <p:cNvSpPr>
            <a:spLocks noGrp="1"/>
          </p:cNvSpPr>
          <p:nvPr>
            <p:ph type="sldNum" sz="quarter" idx="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14EC1BA-3E1F-4192-BE46-8AC63FC1CD70}"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showMasterPhAnim="0" type="vertTx" preserve="1">
  <p:cSld name="标题和竖排文字">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457200" y="1411288"/>
            <a:ext cx="82296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2" name="日期占位符 3"/>
          <p:cNvSpPr>
            <a:spLocks noGrp="1"/>
          </p:cNvSpPr>
          <p:nvPr>
            <p:ph type="dt" sz="half" idx="2"/>
          </p:nvPr>
        </p:nvSpPr>
        <p:spPr>
          <a:xfrm>
            <a:off x="76200"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3" name="页脚占位符 4"/>
          <p:cNvSpPr>
            <a:spLocks noGrp="1"/>
          </p:cNvSpPr>
          <p:nvPr>
            <p:ph type="ftr" sz="quarter" idx="3"/>
          </p:nvPr>
        </p:nvSpPr>
        <p:spPr>
          <a:xfrm>
            <a:off x="5334000"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4" name="灯片编号占位符 5"/>
          <p:cNvSpPr>
            <a:spLocks noGrp="1"/>
          </p:cNvSpPr>
          <p:nvPr>
            <p:ph type="sldNum" sz="quarter" idx="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9C07425-1BD8-47C4-A02F-C6E1D393BF18}"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lang="zh-CN" altLang="en-US" noProof="1"/>
              <a:t>单击此处编辑母版标题样式</a:t>
            </a:r>
            <a:endParaRPr lang="en-US" noProof="1"/>
          </a:p>
        </p:txBody>
      </p:sp>
      <p:sp>
        <p:nvSpPr>
          <p:cNvPr id="3" name="竖排文字占位符 2"/>
          <p:cNvSpPr>
            <a:spLocks noGrp="1"/>
          </p:cNvSpPr>
          <p:nvPr>
            <p:ph type="body" orient="vert" idx="1"/>
          </p:nvPr>
        </p:nvSpPr>
        <p:spPr>
          <a:xfrm>
            <a:off x="457200" y="274638"/>
            <a:ext cx="6686568" cy="601188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6A1742B-B347-498E-8ABF-CD314291FA27}"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6" name="文本占位符 2"/>
          <p:cNvSpPr>
            <a:spLocks noGrp="1"/>
          </p:cNvSpPr>
          <p:nvPr>
            <p:ph idx="1"/>
          </p:nvPr>
        </p:nvSpPr>
        <p:spPr bwMode="auto">
          <a:xfrm>
            <a:off x="468313" y="1350645"/>
            <a:ext cx="8229600" cy="4526280"/>
          </a:xfrm>
          <a:prstGeom prst="rect">
            <a:avLst/>
          </a:prstGeom>
          <a:noFill/>
          <a:ln>
            <a:noFill/>
          </a:ln>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zh-CN" altLang="en-US" noProof="0" dirty="0"/>
          </a:p>
        </p:txBody>
      </p:sp>
      <p:sp>
        <p:nvSpPr>
          <p:cNvPr id="9" name="日期占位符 3"/>
          <p:cNvSpPr>
            <a:spLocks noGrp="1"/>
          </p:cNvSpPr>
          <p:nvPr>
            <p:ph type="dt" sz="half" idx="2"/>
          </p:nvPr>
        </p:nvSpPr>
        <p:spPr>
          <a:xfrm>
            <a:off x="76200" y="6400800"/>
            <a:ext cx="32004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239C152-FBE5-4958-A81C-6141D36CBAF3}" type="datetimeFigureOut">
              <a:rPr kumimoji="0" lang="zh-CN" altLang="en-US"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rPr>
              <a:t>2026/6/9</a:t>
            </a:fld>
            <a:endParaRPr kumimoji="0" lang="zh-CN" altLang="en-US"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0" name="页脚占位符 4"/>
          <p:cNvSpPr>
            <a:spLocks noGrp="1"/>
          </p:cNvSpPr>
          <p:nvPr>
            <p:ph type="ftr" sz="quarter" idx="3"/>
          </p:nvPr>
        </p:nvSpPr>
        <p:spPr>
          <a:xfrm>
            <a:off x="5334000" y="6400800"/>
            <a:ext cx="37338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11" name="灯片编号占位符 5"/>
          <p:cNvSpPr>
            <a:spLocks noGrp="1"/>
          </p:cNvSpPr>
          <p:nvPr>
            <p:ph type="sldNum" sz="quarter" idx="4"/>
          </p:nvPr>
        </p:nvSpPr>
        <p:spPr>
          <a:xfrm>
            <a:off x="4114800" y="6400800"/>
            <a:ext cx="914400" cy="284163"/>
          </a:xfrm>
          <a:prstGeom prst="rect">
            <a:avLst/>
          </a:prstGeom>
        </p:spPr>
        <p:txBody>
          <a:bodyPr vert="horz" wrap="square" lIns="45720" tIns="45720" rIns="4572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501C424C-22EA-466E-8CB0-4D286B1B563C}" type="slidenum">
              <a:rPr kumimoji="0" lang="zh-CN" altLang="en-US"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835151" y="274638"/>
            <a:ext cx="685165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763713" y="2060577"/>
            <a:ext cx="3524250" cy="46085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440363" y="2060577"/>
            <a:ext cx="3524250" cy="46085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6A1742B-B347-498E-8ABF-CD314291FA27}"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0" y="6678613"/>
            <a:ext cx="9144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27"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endParaRPr lang="en-US" altLang="zh-CN" dirty="0"/>
          </a:p>
        </p:txBody>
      </p:sp>
      <p:sp>
        <p:nvSpPr>
          <p:cNvPr id="3" name="文本占位符 2"/>
          <p:cNvSpPr>
            <a:spLocks noGrp="1"/>
          </p:cNvSpPr>
          <p:nvPr>
            <p:ph type="body"/>
          </p:nvPr>
        </p:nvSpPr>
        <p:spPr>
          <a:xfrm>
            <a:off x="457200" y="1600200"/>
            <a:ext cx="8229600" cy="46863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4" name="日期占位符 3"/>
          <p:cNvSpPr>
            <a:spLocks noGrp="1"/>
          </p:cNvSpPr>
          <p:nvPr>
            <p:ph type="dt" sz="half" idx="2"/>
          </p:nvPr>
        </p:nvSpPr>
        <p:spPr>
          <a:xfrm>
            <a:off x="76200" y="6400800"/>
            <a:ext cx="3200400" cy="284163"/>
          </a:xfrm>
          <a:prstGeom prst="rect">
            <a:avLst/>
          </a:prstGeom>
        </p:spPr>
        <p:txBody>
          <a:bodyPr vert="horz" rtlCol="0" anchor="b"/>
          <a:lstStyle>
            <a:lvl1pPr algn="l" eaLnBrk="1" latinLnBrk="0" hangingPunct="1">
              <a:buFont typeface="Arial" panose="020B0604020202020204" pitchFamily="34" charset="0"/>
              <a:buNone/>
              <a:defRPr kumimoji="0" sz="1100">
                <a:solidFill>
                  <a:schemeClr val="tx2">
                    <a:lumMod val="75000"/>
                    <a:lumOff val="25000"/>
                  </a:schemeClr>
                </a:solidFill>
                <a:latin typeface="楷体_GB2312" pitchFamily="49" charset="-122"/>
                <a:ea typeface="楷体_GB2312"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5" name="页脚占位符 4"/>
          <p:cNvSpPr>
            <a:spLocks noGrp="1"/>
          </p:cNvSpPr>
          <p:nvPr>
            <p:ph type="ftr" sz="quarter" idx="3"/>
          </p:nvPr>
        </p:nvSpPr>
        <p:spPr>
          <a:xfrm>
            <a:off x="5334000" y="6400800"/>
            <a:ext cx="3733800" cy="284163"/>
          </a:xfrm>
          <a:prstGeom prst="rect">
            <a:avLst/>
          </a:prstGeom>
        </p:spPr>
        <p:txBody>
          <a:bodyPr vert="horz" rtlCol="0" anchor="ctr"/>
          <a:lstStyle>
            <a:lvl1pPr algn="r" eaLnBrk="1" latinLnBrk="0" hangingPunct="1">
              <a:buFont typeface="Arial" panose="020B0604020202020204" pitchFamily="34" charset="0"/>
              <a:buNone/>
              <a:defRPr kumimoji="0" sz="1100">
                <a:solidFill>
                  <a:schemeClr val="tx2">
                    <a:lumMod val="75000"/>
                    <a:lumOff val="25000"/>
                  </a:schemeClr>
                </a:solidFill>
                <a:latin typeface="楷体_GB2312" pitchFamily="49" charset="-122"/>
                <a:ea typeface="楷体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100" b="1" i="0" u="none" strike="noStrike" kern="1200" cap="none" spc="0" normalizeH="0" baseline="0" noProof="0">
              <a:ln>
                <a:noFill/>
              </a:ln>
              <a:solidFill>
                <a:schemeClr val="tx2">
                  <a:lumMod val="75000"/>
                  <a:lumOff val="25000"/>
                </a:schemeClr>
              </a:solidFill>
              <a:effectLst/>
              <a:uLnTx/>
              <a:uFillTx/>
              <a:latin typeface="楷体_GB2312" pitchFamily="49" charset="-122"/>
              <a:ea typeface="楷体_GB2312" pitchFamily="49" charset="-122"/>
              <a:cs typeface="+mn-cs"/>
            </a:endParaRPr>
          </a:p>
        </p:txBody>
      </p:sp>
      <p:sp>
        <p:nvSpPr>
          <p:cNvPr id="6" name="灯片编号占位符 5"/>
          <p:cNvSpPr>
            <a:spLocks noGrp="1"/>
          </p:cNvSpPr>
          <p:nvPr>
            <p:ph type="sldNum" sz="quarter" idx="4"/>
          </p:nvPr>
        </p:nvSpPr>
        <p:spPr>
          <a:xfrm>
            <a:off x="4114800" y="6400800"/>
            <a:ext cx="914400" cy="284163"/>
          </a:xfrm>
          <a:prstGeom prst="rect">
            <a:avLst/>
          </a:prstGeom>
          <a:noFill/>
        </p:spPr>
        <p:txBody>
          <a:bodyPr vert="horz" wrap="square" lIns="45720" tIns="45720" rIns="45720" bIns="45720" numCol="1" anchor="ctr" anchorCtr="0" compatLnSpc="1"/>
          <a:lstStyle>
            <a:lvl1pPr algn="ctr" eaLnBrk="1" hangingPunct="1">
              <a:buFont typeface="Arial" panose="020B0604020202020204" pitchFamily="34" charset="0"/>
              <a:buNone/>
              <a:defRPr sz="1100" b="0">
                <a:solidFill>
                  <a:srgbClr val="636363"/>
                </a:solidFill>
                <a:latin typeface="楷体_GB2312" pitchFamily="49" charset="-122"/>
                <a:ea typeface="楷体_GB2312" pitchFamily="49"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6A1742B-B347-498E-8ABF-CD314291FA27}" type="slidenum">
              <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rPr>
              <a:t>‹#›</a:t>
            </a:fld>
            <a:endParaRPr kumimoji="0" lang="en-US" altLang="zh-CN" sz="1100" b="0" i="0" u="none" strike="noStrike" kern="1200" cap="none" spc="0" normalizeH="0" baseline="0" noProof="0">
              <a:ln>
                <a:noFill/>
              </a:ln>
              <a:solidFill>
                <a:srgbClr val="636363"/>
              </a:solidFill>
              <a:effectLst/>
              <a:uLnTx/>
              <a:uFillTx/>
              <a:latin typeface="楷体_GB2312" pitchFamily="49" charset="-122"/>
              <a:ea typeface="楷体_GB2312" pitchFamily="49" charset="-122"/>
              <a:cs typeface="+mn-cs"/>
            </a:endParaRPr>
          </a:p>
        </p:txBody>
      </p:sp>
      <p:sp>
        <p:nvSpPr>
          <p:cNvPr id="8" name="矩形 7"/>
          <p:cNvSpPr/>
          <p:nvPr/>
        </p:nvSpPr>
        <p:spPr>
          <a:xfrm>
            <a:off x="0" y="0"/>
            <a:ext cx="9144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tags" Target="../tags/tag4.xml"/><Relationship Id="rId7" Type="http://schemas.openxmlformats.org/officeDocument/2006/relationships/slideLayout" Target="../slideLayouts/slideLayout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7.jpeg"/><Relationship Id="rId4" Type="http://schemas.openxmlformats.org/officeDocument/2006/relationships/tags" Target="../tags/tag5.xml"/><Relationship Id="rId9"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slideLayout" Target="../slideLayouts/slideLayout12.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notesSlide" Target="../notesSlides/notesSlide3.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Layout" Target="../slideLayouts/slideLayout7.xml"/><Relationship Id="rId5" Type="http://schemas.openxmlformats.org/officeDocument/2006/relationships/tags" Target="../tags/tag18.xml"/><Relationship Id="rId4" Type="http://schemas.openxmlformats.org/officeDocument/2006/relationships/tags" Target="../tags/tag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4" name="图片 3"/>
          <p:cNvPicPr>
            <a:picLocks noChangeAspect="1"/>
          </p:cNvPicPr>
          <p:nvPr>
            <p:custDataLst>
              <p:tags r:id="rId1"/>
            </p:custDataLst>
          </p:nvPr>
        </p:nvPicPr>
        <p:blipFill>
          <a:blip r:embed="rId8"/>
          <a:srcRect/>
          <a:stretch>
            <a:fillRect/>
          </a:stretch>
        </p:blipFill>
        <p:spPr bwMode="auto">
          <a:xfrm>
            <a:off x="6161177" y="2625387"/>
            <a:ext cx="2596066" cy="2564056"/>
          </a:xfrm>
          <a:prstGeom prst="rect">
            <a:avLst/>
          </a:prstGeom>
          <a:ln>
            <a:noFill/>
          </a:ln>
          <a:effectLst>
            <a:softEdge rad="112500"/>
          </a:effectLst>
        </p:spPr>
      </p:pic>
      <p:sp>
        <p:nvSpPr>
          <p:cNvPr id="19459" name="内容占位符 3"/>
          <p:cNvSpPr>
            <a:spLocks noGrp="1"/>
          </p:cNvSpPr>
          <p:nvPr>
            <p:ph sz="half" idx="1"/>
            <p:custDataLst>
              <p:tags r:id="rId2"/>
            </p:custDataLst>
          </p:nvPr>
        </p:nvSpPr>
        <p:spPr>
          <a:xfrm>
            <a:off x="2006600" y="1512888"/>
            <a:ext cx="6310313" cy="428625"/>
          </a:xfrm>
        </p:spPr>
        <p:txBody>
          <a:bodyPr vert="horz" wrap="square" lIns="91440" tIns="45720" rIns="91440" bIns="45720" anchor="t" anchorCtr="0"/>
          <a:lstStyle/>
          <a:p>
            <a:pPr marL="0" indent="0">
              <a:buSzPct val="50000"/>
              <a:buFont typeface="Wingdings 2" panose="05020102010507070707" pitchFamily="18" charset="2"/>
              <a:buNone/>
            </a:pPr>
            <a:r>
              <a:rPr lang="en-US" altLang="zh-CN" b="1" kern="1200" dirty="0">
                <a:latin typeface="华文楷体" panose="02010600040101010101" pitchFamily="2" charset="-122"/>
                <a:ea typeface="华文楷体" panose="02010600040101010101" pitchFamily="2" charset="-122"/>
                <a:cs typeface="+mn-cs"/>
              </a:rPr>
              <a:t>1936</a:t>
            </a:r>
            <a:r>
              <a:rPr lang="zh-CN" altLang="en-US" b="1" kern="1200" dirty="0">
                <a:latin typeface="华文楷体" panose="02010600040101010101" pitchFamily="2" charset="-122"/>
                <a:ea typeface="华文楷体" panose="02010600040101010101" pitchFamily="2" charset="-122"/>
                <a:cs typeface="+mn-cs"/>
              </a:rPr>
              <a:t>年</a:t>
            </a:r>
            <a:r>
              <a:rPr lang="en-US" altLang="zh-CN" b="1" kern="1200" dirty="0">
                <a:latin typeface="华文楷体" panose="02010600040101010101" pitchFamily="2" charset="-122"/>
                <a:ea typeface="华文楷体" panose="02010600040101010101" pitchFamily="2" charset="-122"/>
                <a:cs typeface="+mn-cs"/>
              </a:rPr>
              <a:t>9</a:t>
            </a:r>
            <a:r>
              <a:rPr lang="zh-CN" altLang="en-US" b="1" kern="1200" dirty="0">
                <a:latin typeface="华文楷体" panose="02010600040101010101" pitchFamily="2" charset="-122"/>
                <a:ea typeface="华文楷体" panose="02010600040101010101" pitchFamily="2" charset="-122"/>
                <a:cs typeface="+mn-cs"/>
              </a:rPr>
              <a:t>月竺可桢浙大开学典礼演讲</a:t>
            </a:r>
            <a:endParaRPr lang="en-US" altLang="zh-CN" b="1" kern="1200" dirty="0">
              <a:latin typeface="华文楷体" panose="02010600040101010101" pitchFamily="2" charset="-122"/>
              <a:ea typeface="华文楷体" panose="02010600040101010101" pitchFamily="2" charset="-122"/>
              <a:cs typeface="+mn-cs"/>
            </a:endParaRPr>
          </a:p>
        </p:txBody>
      </p:sp>
      <p:pic>
        <p:nvPicPr>
          <p:cNvPr id="19460" name="图片 5" descr="timg (5).jpg"/>
          <p:cNvPicPr>
            <a:picLocks noChangeAspect="1"/>
          </p:cNvPicPr>
          <p:nvPr>
            <p:custDataLst>
              <p:tags r:id="rId3"/>
            </p:custDataLst>
          </p:nvPr>
        </p:nvPicPr>
        <p:blipFill>
          <a:blip r:embed="rId9"/>
          <a:stretch>
            <a:fillRect/>
          </a:stretch>
        </p:blipFill>
        <p:spPr>
          <a:xfrm>
            <a:off x="295275" y="2433638"/>
            <a:ext cx="985838" cy="985837"/>
          </a:xfrm>
          <a:prstGeom prst="rect">
            <a:avLst/>
          </a:prstGeom>
          <a:noFill/>
          <a:ln w="9525">
            <a:noFill/>
          </a:ln>
        </p:spPr>
      </p:pic>
      <p:sp>
        <p:nvSpPr>
          <p:cNvPr id="7" name="内容占位符 3"/>
          <p:cNvSpPr>
            <a:spLocks noGrp="1"/>
          </p:cNvSpPr>
          <p:nvPr>
            <p:ph sz="half" idx="1"/>
            <p:custDataLst>
              <p:tags r:id="rId4"/>
            </p:custDataLst>
          </p:nvPr>
        </p:nvSpPr>
        <p:spPr>
          <a:xfrm>
            <a:off x="1412875" y="3908425"/>
            <a:ext cx="4676775" cy="1717675"/>
          </a:xfrm>
          <a:solidFill>
            <a:schemeClr val="accent2">
              <a:lumMod val="40000"/>
              <a:lumOff val="60000"/>
            </a:schemeClr>
          </a:solidFill>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1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第一，诸位求学，应不仅在</a:t>
            </a:r>
            <a:r>
              <a:rPr kumimoji="0" lang="zh-CN" altLang="en-US" sz="21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科目本身</a:t>
            </a:r>
            <a:r>
              <a:rPr kumimoji="0" lang="zh-CN" altLang="en-US" sz="21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，而且要训练如何能正确地训练自己的思想</a:t>
            </a:r>
            <a:r>
              <a:rPr kumimoji="0" lang="en-US" altLang="zh-CN" sz="21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1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第二，我们人生的目的是在</a:t>
            </a:r>
            <a:r>
              <a:rPr kumimoji="0" lang="zh-CN" altLang="en-US" sz="21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能服务</a:t>
            </a:r>
            <a:r>
              <a:rPr kumimoji="0" lang="zh-CN" altLang="en-US" sz="21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，而</a:t>
            </a:r>
            <a:r>
              <a:rPr kumimoji="0" lang="zh-CN" altLang="en-US" sz="21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不在享受</a:t>
            </a:r>
            <a:r>
              <a:rPr kumimoji="0" lang="zh-CN" altLang="en-US" sz="21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21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265" marR="0" lvl="0" indent="-342265"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9462" name="内容占位符 3"/>
          <p:cNvSpPr>
            <a:spLocks noGrp="1"/>
          </p:cNvSpPr>
          <p:nvPr>
            <p:ph sz="half" idx="1"/>
            <p:custDataLst>
              <p:tags r:id="rId5"/>
            </p:custDataLst>
          </p:nvPr>
        </p:nvSpPr>
        <p:spPr>
          <a:xfrm>
            <a:off x="1455738" y="2401888"/>
            <a:ext cx="4705350" cy="1073150"/>
          </a:xfrm>
          <a:solidFill>
            <a:srgbClr val="FFFF00">
              <a:alpha val="100000"/>
            </a:srgbClr>
          </a:solidFill>
        </p:spPr>
        <p:txBody>
          <a:bodyPr vert="horz" wrap="square" lIns="91440" tIns="45720" rIns="91440" bIns="45720" anchor="t" anchorCtr="0"/>
          <a:lstStyle/>
          <a:p>
            <a:pPr marL="0" indent="0">
              <a:buSzPct val="50000"/>
              <a:buFont typeface="Wingdings 2" panose="05020102010507070707" pitchFamily="18" charset="2"/>
              <a:buNone/>
            </a:pPr>
            <a:r>
              <a:rPr lang="zh-CN" altLang="en-US" sz="2100" b="1" kern="1200" dirty="0">
                <a:solidFill>
                  <a:srgbClr val="0070C0"/>
                </a:solidFill>
                <a:latin typeface="华文楷体" panose="02010600040101010101" pitchFamily="2" charset="-122"/>
                <a:ea typeface="华文楷体" panose="02010600040101010101" pitchFamily="2" charset="-122"/>
                <a:cs typeface="+mn-cs"/>
              </a:rPr>
              <a:t>第一，到大学来做什么？</a:t>
            </a:r>
            <a:endParaRPr lang="en-US" altLang="zh-CN" sz="2100" b="1" kern="1200" dirty="0">
              <a:solidFill>
                <a:srgbClr val="0070C0"/>
              </a:solidFill>
              <a:latin typeface="华文楷体" panose="02010600040101010101" pitchFamily="2" charset="-122"/>
              <a:ea typeface="华文楷体" panose="02010600040101010101" pitchFamily="2" charset="-122"/>
              <a:cs typeface="+mn-cs"/>
            </a:endParaRPr>
          </a:p>
          <a:p>
            <a:pPr marL="0" indent="0">
              <a:buSzPct val="50000"/>
              <a:buFont typeface="Wingdings 2" panose="05020102010507070707" pitchFamily="18" charset="2"/>
              <a:buNone/>
            </a:pPr>
            <a:r>
              <a:rPr lang="zh-CN" altLang="en-US" sz="2100" b="1" kern="1200" dirty="0">
                <a:solidFill>
                  <a:srgbClr val="0070C0"/>
                </a:solidFill>
                <a:latin typeface="华文楷体" panose="02010600040101010101" pitchFamily="2" charset="-122"/>
                <a:ea typeface="华文楷体" panose="02010600040101010101" pitchFamily="2" charset="-122"/>
                <a:cs typeface="+mn-cs"/>
              </a:rPr>
              <a:t>第二，将来毕业后做什么样的人？</a:t>
            </a:r>
            <a:endParaRPr lang="en-US" altLang="zh-CN" sz="2100" b="1" kern="1200" dirty="0">
              <a:solidFill>
                <a:srgbClr val="0070C0"/>
              </a:solidFill>
              <a:latin typeface="华文楷体" panose="02010600040101010101" pitchFamily="2" charset="-122"/>
              <a:ea typeface="华文楷体" panose="02010600040101010101" pitchFamily="2" charset="-122"/>
              <a:cs typeface="+mn-cs"/>
            </a:endParaRPr>
          </a:p>
        </p:txBody>
      </p:sp>
      <p:pic>
        <p:nvPicPr>
          <p:cNvPr id="19463" name="图片 8" descr="timg (7).jpg"/>
          <p:cNvPicPr>
            <a:picLocks noChangeAspect="1"/>
          </p:cNvPicPr>
          <p:nvPr>
            <p:custDataLst>
              <p:tags r:id="rId6"/>
            </p:custDataLst>
          </p:nvPr>
        </p:nvPicPr>
        <p:blipFill>
          <a:blip r:embed="rId10"/>
          <a:stretch>
            <a:fillRect/>
          </a:stretch>
        </p:blipFill>
        <p:spPr>
          <a:xfrm>
            <a:off x="212725" y="4070350"/>
            <a:ext cx="1065213" cy="1038225"/>
          </a:xfrm>
          <a:prstGeom prst="rect">
            <a:avLst/>
          </a:prstGeom>
          <a:noFill/>
          <a:ln w="9525">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51520" y="404664"/>
            <a:ext cx="7772400" cy="571500"/>
          </a:xfrm>
          <a:prstGeom prst="rect">
            <a:avLst/>
          </a:prstGeom>
          <a:noFill/>
        </p:spPr>
        <p:txBody>
          <a:bodyPr anchor="b"/>
          <a:lstStyle/>
          <a:p>
            <a:pPr marR="0" algn="ctr" defTabSz="914400">
              <a:spcBef>
                <a:spcPts val="0"/>
              </a:spcBef>
              <a:spcAft>
                <a:spcPts val="0"/>
              </a:spcAft>
              <a:buClrTx/>
              <a:buSzPct val="100000"/>
              <a:buFontTx/>
              <a:buNone/>
              <a:defRPr/>
            </a:pPr>
            <a:r>
              <a:rPr kumimoji="0" lang="zh-CN" altLang="zh-CN" sz="3000" kern="1200" cap="none" spc="225" normalizeH="0" baseline="0" noProof="1">
                <a:solidFill>
                  <a:srgbClr val="000000"/>
                </a:solidFill>
                <a:latin typeface="华文楷体" panose="02010600040101010101" pitchFamily="2" charset="-122"/>
                <a:ea typeface="华文楷体" panose="02010600040101010101" pitchFamily="2" charset="-122"/>
                <a:cs typeface="+mn-cs"/>
                <a:sym typeface="+mn-ea"/>
              </a:rPr>
              <a:t>一、</a:t>
            </a:r>
            <a:r>
              <a:rPr kumimoji="0" lang="zh-CN" altLang="en-US" sz="3000" kern="1200" cap="none" spc="225" normalizeH="0" baseline="0" noProof="1">
                <a:solidFill>
                  <a:srgbClr val="000000"/>
                </a:solidFill>
                <a:latin typeface="华文楷体" panose="02010600040101010101" pitchFamily="2" charset="-122"/>
                <a:ea typeface="华文楷体" panose="02010600040101010101" pitchFamily="2" charset="-122"/>
                <a:cs typeface="+mn-cs"/>
                <a:sym typeface="+mn-ea"/>
              </a:rPr>
              <a:t>大学是什么</a:t>
            </a:r>
            <a:endParaRPr kumimoji="0" lang="zh-CN" altLang="zh-CN" sz="3000" kern="1200" cap="none" spc="225" normalizeH="0" baseline="0" noProof="1">
              <a:solidFill>
                <a:srgbClr val="000000"/>
              </a:solidFill>
              <a:latin typeface="华文楷体" panose="02010600040101010101" pitchFamily="2" charset="-122"/>
              <a:ea typeface="华文楷体" panose="02010600040101010101" pitchFamily="2" charset="-122"/>
              <a:cs typeface="+mn-cs"/>
              <a:sym typeface="+mn-ea"/>
            </a:endParaRPr>
          </a:p>
        </p:txBody>
      </p:sp>
      <p:sp>
        <p:nvSpPr>
          <p:cNvPr id="11" name="Title 6"/>
          <p:cNvSpPr txBox="1"/>
          <p:nvPr>
            <p:custDataLst>
              <p:tags r:id="rId3"/>
            </p:custDataLst>
          </p:nvPr>
        </p:nvSpPr>
        <p:spPr>
          <a:xfrm>
            <a:off x="107504" y="404664"/>
            <a:ext cx="3324225" cy="3086100"/>
          </a:xfrm>
          <a:prstGeom prst="rect">
            <a:avLst/>
          </a:prstGeom>
          <a:noFill/>
          <a:ln w="3175">
            <a:noFill/>
            <a:prstDash val="dash"/>
          </a:ln>
        </p:spPr>
        <p:txBody>
          <a:bodyPr anchor="ct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base" latinLnBrk="0" hangingPunct="1">
              <a:lnSpc>
                <a:spcPct val="130000"/>
              </a:lnSpc>
              <a:spcBef>
                <a:spcPts val="0"/>
              </a:spcBef>
              <a:spcAft>
                <a:spcPts val="600"/>
              </a:spcAft>
              <a:buClrTx/>
              <a:buSzPct val="100000"/>
              <a:buFontTx/>
              <a:buNone/>
              <a:defRPr/>
            </a:pPr>
            <a:r>
              <a:rPr kumimoji="0" lang="zh-CN" altLang="en-US" sz="2100" b="0"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rPr>
              <a:t>大学是立德树人、培养人才的地方，是青年人学习知识、增长才干、放飞梦想的地方。</a:t>
            </a:r>
          </a:p>
        </p:txBody>
      </p:sp>
      <p:sp>
        <p:nvSpPr>
          <p:cNvPr id="2" name="Title 6">
            <a:extLst>
              <a:ext uri="{FF2B5EF4-FFF2-40B4-BE49-F238E27FC236}">
                <a16:creationId xmlns:a16="http://schemas.microsoft.com/office/drawing/2014/main" id="{2C205D99-8103-8DB3-ED45-30D3D361C1EB}"/>
              </a:ext>
            </a:extLst>
          </p:cNvPr>
          <p:cNvSpPr txBox="1"/>
          <p:nvPr>
            <p:custDataLst>
              <p:tags r:id="rId4"/>
            </p:custDataLst>
          </p:nvPr>
        </p:nvSpPr>
        <p:spPr>
          <a:xfrm>
            <a:off x="171533" y="2564904"/>
            <a:ext cx="3963988" cy="2963863"/>
          </a:xfrm>
          <a:prstGeom prst="rect">
            <a:avLst/>
          </a:prstGeom>
          <a:noFill/>
          <a:ln w="3175">
            <a:noFill/>
            <a:prstDash val="dash"/>
          </a:ln>
        </p:spPr>
        <p:txBody>
          <a:bodyPr anchor="ct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base" latinLnBrk="0" hangingPunct="1">
              <a:lnSpc>
                <a:spcPct val="130000"/>
              </a:lnSpc>
              <a:spcBef>
                <a:spcPts val="0"/>
              </a:spcBef>
              <a:spcAft>
                <a:spcPts val="600"/>
              </a:spcAft>
              <a:buClrTx/>
              <a:buSzPct val="100000"/>
              <a:buFontTx/>
              <a:buNone/>
              <a:defRPr/>
            </a:pPr>
            <a:r>
              <a:rPr kumimoji="0" lang="zh-CN" altLang="en-US" sz="2400" b="1"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rPr>
              <a:t>所谓大学者，非谓有大楼之谓也，有大师之谓也。</a:t>
            </a:r>
            <a:endParaRPr kumimoji="0" lang="en-US" altLang="zh-CN" sz="2400" b="1"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endParaRPr>
          </a:p>
          <a:p>
            <a:pPr marL="0" marR="0" lvl="0" indent="0" algn="l" defTabSz="913765" rtl="0" eaLnBrk="1" fontAlgn="base" latinLnBrk="0" hangingPunct="1">
              <a:lnSpc>
                <a:spcPct val="130000"/>
              </a:lnSpc>
              <a:spcBef>
                <a:spcPts val="0"/>
              </a:spcBef>
              <a:spcAft>
                <a:spcPts val="600"/>
              </a:spcAft>
              <a:buClrTx/>
              <a:buSzPct val="100000"/>
              <a:buFontTx/>
              <a:buNone/>
              <a:defRPr/>
            </a:pPr>
            <a:endParaRPr kumimoji="0" lang="en-US" altLang="zh-CN" sz="2400" b="1"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endParaRPr>
          </a:p>
          <a:p>
            <a:pPr marL="0" marR="0" lvl="0" indent="0" algn="l" defTabSz="913765" rtl="0" eaLnBrk="1" fontAlgn="base" latinLnBrk="0" hangingPunct="1">
              <a:lnSpc>
                <a:spcPct val="130000"/>
              </a:lnSpc>
              <a:spcBef>
                <a:spcPts val="0"/>
              </a:spcBef>
              <a:spcAft>
                <a:spcPts val="600"/>
              </a:spcAft>
              <a:buClrTx/>
              <a:buSzPct val="100000"/>
              <a:buFontTx/>
              <a:buNone/>
              <a:defRPr/>
            </a:pPr>
            <a:r>
              <a:rPr kumimoji="0" lang="en-US" altLang="zh-CN" sz="2400" b="1"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rPr>
              <a:t>   ———</a:t>
            </a:r>
            <a:r>
              <a:rPr kumimoji="0" lang="zh-CN" altLang="en-US" sz="2400" b="1"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rPr>
              <a:t>梅贻琦（清华校长）</a:t>
            </a:r>
          </a:p>
        </p:txBody>
      </p:sp>
      <p:sp>
        <p:nvSpPr>
          <p:cNvPr id="5" name="Title 6">
            <a:extLst>
              <a:ext uri="{FF2B5EF4-FFF2-40B4-BE49-F238E27FC236}">
                <a16:creationId xmlns:a16="http://schemas.microsoft.com/office/drawing/2014/main" id="{C4A889A5-3D86-C334-DEB4-E69226A38222}"/>
              </a:ext>
            </a:extLst>
          </p:cNvPr>
          <p:cNvSpPr txBox="1"/>
          <p:nvPr>
            <p:custDataLst>
              <p:tags r:id="rId5"/>
            </p:custDataLst>
          </p:nvPr>
        </p:nvSpPr>
        <p:spPr>
          <a:xfrm>
            <a:off x="4199550" y="947718"/>
            <a:ext cx="4159250" cy="3027363"/>
          </a:xfrm>
          <a:prstGeom prst="rect">
            <a:avLst/>
          </a:prstGeom>
          <a:noFill/>
          <a:ln w="3175">
            <a:noFill/>
            <a:prstDash val="dash"/>
          </a:ln>
        </p:spPr>
        <p:txBody>
          <a:bodyPr anchor="ct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base" latinLnBrk="0" hangingPunct="1">
              <a:lnSpc>
                <a:spcPct val="130000"/>
              </a:lnSpc>
              <a:spcBef>
                <a:spcPts val="0"/>
              </a:spcBef>
              <a:spcAft>
                <a:spcPts val="600"/>
              </a:spcAft>
              <a:buClrTx/>
              <a:buSzPct val="100000"/>
              <a:buFontTx/>
              <a:buNone/>
              <a:defRPr/>
            </a:pPr>
            <a:r>
              <a:rPr kumimoji="0" lang="zh-CN" altLang="en-US" sz="2400" b="0"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rPr>
              <a:t>大学者，研究</a:t>
            </a:r>
            <a:r>
              <a:rPr kumimoji="0" lang="zh-CN" altLang="en-US" sz="2400" b="0" i="0" u="none" strike="noStrike" kern="1200" cap="none" spc="38" normalizeH="0" baseline="0" noProof="1">
                <a:ln w="3175">
                  <a:noFill/>
                  <a:prstDash val="dash"/>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pitchFamily="34" charset="-122"/>
              </a:rPr>
              <a:t>高深学问</a:t>
            </a:r>
            <a:r>
              <a:rPr kumimoji="0" lang="zh-CN" altLang="en-US" sz="2400" b="0"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rPr>
              <a:t>者也。大学并不是赎卖毕业证的机关，也不是灌输固定知识的机关，而是研究</a:t>
            </a:r>
            <a:r>
              <a:rPr kumimoji="0" lang="zh-CN" altLang="en-US" sz="2400" b="0" i="0" u="none" strike="noStrike" kern="1200" cap="none" spc="38" normalizeH="0" baseline="0" noProof="1">
                <a:ln w="3175">
                  <a:noFill/>
                  <a:prstDash val="dash"/>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pitchFamily="34" charset="-122"/>
              </a:rPr>
              <a:t>学理</a:t>
            </a:r>
            <a:r>
              <a:rPr kumimoji="0" lang="zh-CN" altLang="en-US" sz="2400" b="0"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rPr>
              <a:t>的机关。       </a:t>
            </a:r>
            <a:endParaRPr kumimoji="0" lang="en-US" altLang="zh-CN" sz="2400" b="0"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endParaRPr>
          </a:p>
          <a:p>
            <a:pPr marL="0" marR="0" lvl="0" indent="0" algn="l" defTabSz="913765" rtl="0" eaLnBrk="1" fontAlgn="base" latinLnBrk="0" hangingPunct="1">
              <a:lnSpc>
                <a:spcPct val="130000"/>
              </a:lnSpc>
              <a:spcBef>
                <a:spcPts val="0"/>
              </a:spcBef>
              <a:spcAft>
                <a:spcPts val="600"/>
              </a:spcAft>
              <a:buClrTx/>
              <a:buSzPct val="100000"/>
              <a:buFontTx/>
              <a:buNone/>
              <a:defRPr/>
            </a:pPr>
            <a:r>
              <a:rPr kumimoji="0" lang="en-US" altLang="zh-CN" sz="2400" b="0"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rPr>
              <a:t>                ——</a:t>
            </a:r>
            <a:r>
              <a:rPr kumimoji="0" lang="zh-CN" altLang="en-US" sz="2400" b="0" i="0" u="none" strike="noStrike" kern="1200" cap="none" spc="38" normalizeH="0" baseline="0" noProof="1">
                <a:ln w="3175">
                  <a:noFill/>
                  <a:prstDash val="dash"/>
                </a:ln>
                <a:solidFill>
                  <a:srgbClr val="404040"/>
                </a:solidFill>
                <a:effectLst/>
                <a:uLnTx/>
                <a:uFillTx/>
                <a:latin typeface="华文楷体" panose="02010600040101010101" pitchFamily="2" charset="-122"/>
                <a:ea typeface="华文楷体" panose="02010600040101010101" pitchFamily="2" charset="-122"/>
                <a:cs typeface="微软雅黑" panose="020B0503020204020204" pitchFamily="34" charset="-122"/>
              </a:rPr>
              <a:t>蔡元培</a:t>
            </a:r>
          </a:p>
        </p:txBody>
      </p:sp>
      <p:sp>
        <p:nvSpPr>
          <p:cNvPr id="6" name="Title 6">
            <a:extLst>
              <a:ext uri="{FF2B5EF4-FFF2-40B4-BE49-F238E27FC236}">
                <a16:creationId xmlns:a16="http://schemas.microsoft.com/office/drawing/2014/main" id="{20CAC2EF-4F77-3D7B-E9DC-84B7E03D92BE}"/>
              </a:ext>
            </a:extLst>
          </p:cNvPr>
          <p:cNvSpPr txBox="1"/>
          <p:nvPr>
            <p:custDataLst>
              <p:tags r:id="rId6"/>
            </p:custDataLst>
          </p:nvPr>
        </p:nvSpPr>
        <p:spPr>
          <a:xfrm>
            <a:off x="4644008" y="3429000"/>
            <a:ext cx="3124200" cy="3086100"/>
          </a:xfrm>
          <a:prstGeom prst="rect">
            <a:avLst/>
          </a:prstGeom>
          <a:noFill/>
          <a:ln w="3175">
            <a:noFill/>
            <a:prstDash val="dash"/>
          </a:ln>
        </p:spPr>
        <p:txBody>
          <a:bodyPr anchor="ct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ctr" latinLnBrk="0" hangingPunct="1">
              <a:lnSpc>
                <a:spcPct val="130000"/>
              </a:lnSpc>
              <a:spcBef>
                <a:spcPts val="750"/>
              </a:spcBef>
              <a:spcAft>
                <a:spcPts val="0"/>
              </a:spcAft>
              <a:buClrTx/>
              <a:buSzPct val="100000"/>
              <a:buFontTx/>
              <a:buNone/>
              <a:defRPr/>
            </a:pPr>
            <a:r>
              <a:rPr kumimoji="0" lang="zh-CN" altLang="en-US" sz="2100" b="0" i="0" u="none" strike="noStrike" kern="1200" cap="none" spc="38" normalizeH="0" baseline="0" noProof="1">
                <a:ln w="3175">
                  <a:noFill/>
                  <a:prstDash val="dash"/>
                </a:ln>
                <a:solidFill>
                  <a:schemeClr val="tx1"/>
                </a:solidFill>
                <a:effectLst/>
                <a:uLnTx/>
                <a:uFillTx/>
                <a:latin typeface="华文楷体" panose="02010600040101010101" pitchFamily="2" charset="-122"/>
                <a:ea typeface="华文楷体" panose="02010600040101010101" pitchFamily="2" charset="-122"/>
                <a:cs typeface="微软雅黑" panose="020B0503020204020204" pitchFamily="34" charset="-122"/>
                <a:sym typeface="+mn-ea"/>
              </a:rPr>
              <a:t>大学是研究和传授科学的殿堂，是教育新人成长的世界，是</a:t>
            </a:r>
            <a:r>
              <a:rPr kumimoji="0" lang="zh-CN" altLang="en-US" sz="2100" b="0" i="0" u="none" strike="noStrike" kern="1200" cap="none" spc="38" normalizeH="0" baseline="0" noProof="1">
                <a:ln w="3175">
                  <a:noFill/>
                  <a:prstDash val="dash"/>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pitchFamily="34" charset="-122"/>
                <a:sym typeface="+mn-ea"/>
              </a:rPr>
              <a:t>个体之间富有生命的交往</a:t>
            </a:r>
            <a:r>
              <a:rPr kumimoji="0" lang="zh-CN" altLang="en-US" sz="2100" b="0" i="0" u="none" strike="noStrike" kern="1200" cap="none" spc="38" normalizeH="0" baseline="0" noProof="1">
                <a:ln w="3175">
                  <a:noFill/>
                  <a:prstDash val="dash"/>
                </a:ln>
                <a:solidFill>
                  <a:schemeClr val="tx1"/>
                </a:solidFill>
                <a:effectLst/>
                <a:uLnTx/>
                <a:uFillTx/>
                <a:latin typeface="华文楷体" panose="02010600040101010101" pitchFamily="2" charset="-122"/>
                <a:ea typeface="华文楷体" panose="02010600040101010101" pitchFamily="2" charset="-122"/>
                <a:cs typeface="微软雅黑" panose="020B0503020204020204" pitchFamily="34" charset="-122"/>
                <a:sym typeface="+mn-ea"/>
              </a:rPr>
              <a:t>，是学术勃发的世界。</a:t>
            </a:r>
          </a:p>
          <a:p>
            <a:pPr marL="214630" marR="0" lvl="1" indent="0" algn="l" defTabSz="914400" rtl="0" eaLnBrk="0" fontAlgn="base" latinLnBrk="0" hangingPunct="0">
              <a:lnSpc>
                <a:spcPct val="130000"/>
              </a:lnSpc>
              <a:spcBef>
                <a:spcPts val="0"/>
              </a:spcBef>
              <a:spcAft>
                <a:spcPts val="600"/>
              </a:spcAft>
              <a:buClrTx/>
              <a:buSzPct val="100000"/>
              <a:buFontTx/>
              <a:buNone/>
              <a:defRPr/>
            </a:pPr>
            <a:r>
              <a:rPr kumimoji="0" lang="en-US" altLang="zh-CN" sz="1800" b="1" i="0" u="none" strike="noStrike" kern="1200" cap="none" spc="38" normalizeH="0" baseline="0" noProof="1">
                <a:ln w="3175">
                  <a:noFill/>
                  <a:prstDash val="dash"/>
                </a:ln>
                <a:solidFill>
                  <a:schemeClr val="tx1"/>
                </a:solidFill>
                <a:effectLst/>
                <a:uLnTx/>
                <a:uFillTx/>
                <a:latin typeface="华文楷体" panose="02010600040101010101" pitchFamily="2" charset="-122"/>
                <a:ea typeface="华文楷体" panose="02010600040101010101" pitchFamily="2" charset="-122"/>
                <a:cs typeface="微软雅黑" panose="020B0503020204020204" pitchFamily="34" charset="-122"/>
                <a:sym typeface="+mn-ea"/>
              </a:rPr>
              <a:t>     </a:t>
            </a:r>
            <a:r>
              <a:rPr kumimoji="0" lang="en-US" altLang="zh-CN" sz="1800" b="0" i="0" u="none" strike="noStrike" kern="1200" cap="none" spc="38" normalizeH="0" baseline="0" noProof="1">
                <a:ln w="3175">
                  <a:noFill/>
                  <a:prstDash val="dash"/>
                </a:ln>
                <a:solidFill>
                  <a:schemeClr val="tx1"/>
                </a:solidFill>
                <a:effectLst/>
                <a:uLnTx/>
                <a:uFillTx/>
                <a:latin typeface="华文楷体" panose="02010600040101010101" pitchFamily="2" charset="-122"/>
                <a:ea typeface="华文楷体" panose="02010600040101010101" pitchFamily="2" charset="-122"/>
                <a:cs typeface="微软雅黑" panose="020B0503020204020204" pitchFamily="34" charset="-122"/>
                <a:sym typeface="+mn-ea"/>
              </a:rPr>
              <a:t>——雅斯贝尔斯（德）</a:t>
            </a:r>
          </a:p>
        </p:txBody>
      </p:sp>
    </p:spTree>
    <p:custDataLst>
      <p:tags r:id="rId1"/>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107504" y="1772816"/>
            <a:ext cx="9036496" cy="4608513"/>
          </a:xfrm>
        </p:spPr>
        <p:txBody>
          <a:bodyPr/>
          <a:lstStyle/>
          <a:p>
            <a:pPr marL="0" indent="0">
              <a:buNone/>
            </a:pPr>
            <a:r>
              <a:rPr lang="zh-CN" altLang="en-US" dirty="0">
                <a:latin typeface="华文楷体" panose="02010600040101010101" pitchFamily="2" charset="-122"/>
                <a:ea typeface="华文楷体" panose="02010600040101010101" pitchFamily="2" charset="-122"/>
              </a:rPr>
              <a:t>“极深研几”（</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易</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0" indent="0">
              <a:buNone/>
            </a:pPr>
            <a:r>
              <a:rPr lang="zh-CN" altLang="en-US" dirty="0">
                <a:latin typeface="华文楷体" panose="02010600040101010101" pitchFamily="2" charset="-122"/>
                <a:ea typeface="华文楷体" panose="02010600040101010101" pitchFamily="2" charset="-122"/>
              </a:rPr>
              <a:t>夫</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易</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，圣人之所以极深而研几也。惟深也，故能通天下之志；惟几也，故能成天下之务；惟神也，故不疾而速，不行而至。</a:t>
            </a:r>
            <a:endParaRPr lang="en-US" altLang="zh-CN" dirty="0">
              <a:latin typeface="华文楷体" panose="02010600040101010101" pitchFamily="2" charset="-122"/>
              <a:ea typeface="华文楷体" panose="02010600040101010101" pitchFamily="2" charset="-122"/>
            </a:endParaRPr>
          </a:p>
          <a:p>
            <a:pPr marL="0" indent="0">
              <a:buNone/>
            </a:pPr>
            <a:r>
              <a:rPr lang="zh-CN" altLang="en-US" dirty="0">
                <a:latin typeface="华文楷体" panose="02010600040101010101" pitchFamily="2" charset="-122"/>
                <a:ea typeface="华文楷体" panose="02010600040101010101" pitchFamily="2" charset="-122"/>
              </a:rPr>
              <a:t>几者，动之微，吉之先见者也。</a:t>
            </a:r>
          </a:p>
          <a:p>
            <a:pPr marL="0" indent="0">
              <a:buNone/>
            </a:pP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易</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系辞</a:t>
            </a:r>
            <a:r>
              <a:rPr lang="en-US" altLang="zh-CN" dirty="0">
                <a:latin typeface="华文楷体" panose="02010600040101010101" pitchFamily="2" charset="-122"/>
                <a:ea typeface="华文楷体" panose="02010600040101010101" pitchFamily="2" charset="-122"/>
              </a:rPr>
              <a:t>》</a:t>
            </a:r>
          </a:p>
          <a:p>
            <a:pPr marL="0" indent="0">
              <a:buNone/>
            </a:pPr>
            <a:r>
              <a:rPr lang="zh-CN" altLang="en-US" dirty="0">
                <a:latin typeface="华文楷体" panose="02010600040101010101" pitchFamily="2" charset="-122"/>
                <a:ea typeface="华文楷体" panose="02010600040101010101" pitchFamily="2" charset="-122"/>
              </a:rPr>
              <a:t>“极未形之理曰深，动适微之会曰几”（韩康伯）</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180975" y="0"/>
            <a:ext cx="8867775" cy="1417638"/>
          </a:xfrm>
        </p:spPr>
        <p:txBody>
          <a:bodyPr vert="horz" wrap="square" lIns="91440" tIns="45720" rIns="91440" bIns="45720" anchor="ctr" anchorCtr="0"/>
          <a:lstStyle/>
          <a:p>
            <a:r>
              <a:rPr lang="zh-CN" altLang="zh-CN" dirty="0">
                <a:latin typeface="楷体" panose="02010609060101010101" pitchFamily="49" charset="-122"/>
                <a:ea typeface="楷体" panose="02010609060101010101" pitchFamily="49" charset="-122"/>
              </a:rPr>
              <a:t>现代大学的四个特征</a:t>
            </a:r>
            <a:br>
              <a:rPr lang="zh-CN" altLang="zh-CN" dirty="0"/>
            </a:br>
            <a:endParaRPr lang="zh-CN" altLang="en-US" dirty="0"/>
          </a:p>
        </p:txBody>
      </p:sp>
      <p:sp>
        <p:nvSpPr>
          <p:cNvPr id="3" name="文本占位符 2"/>
          <p:cNvSpPr>
            <a:spLocks noGrp="1"/>
          </p:cNvSpPr>
          <p:nvPr>
            <p:ph type="body" sz="half" idx="1"/>
          </p:nvPr>
        </p:nvSpPr>
        <p:spPr>
          <a:xfrm>
            <a:off x="457200" y="836613"/>
            <a:ext cx="4830763" cy="583247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en-US" altLang="zh-CN" sz="24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1.</a:t>
            </a:r>
            <a:r>
              <a:rPr kumimoji="0" lang="zh-CN" altLang="zh-CN" sz="24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它所提供的中学以上的“教育”，不止于职业培训。</a:t>
            </a: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en-US" altLang="zh-CN" sz="24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2.</a:t>
            </a:r>
            <a:r>
              <a:rPr kumimoji="0" lang="zh-CN" altLang="zh-CN" sz="24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它追求高深学问，促进前沿研究，大学的特质不完全受制于解决眼前的实际问题。</a:t>
            </a: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en-US" altLang="zh-CN" sz="24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3.</a:t>
            </a:r>
            <a:r>
              <a:rPr kumimoji="0" lang="zh-CN" altLang="zh-CN" sz="24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这些科研活动的开展，并不局限于某个单一学科或范围狭窄的学科群。</a:t>
            </a: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en-US" altLang="zh-CN" sz="24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4.</a:t>
            </a:r>
            <a:r>
              <a:rPr kumimoji="0" lang="zh-CN" altLang="zh-CN" sz="24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就思想活动而言，它享有某种形式的高校自治权</a:t>
            </a:r>
            <a:r>
              <a:rPr kumimoji="0" lang="zh-CN" altLang="zh-CN" sz="32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endParaRPr kumimoji="0" lang="en-US" altLang="zh-CN" sz="20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en-US" altLang="zh-CN" sz="20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Stefan </a:t>
            </a:r>
            <a:r>
              <a:rPr kumimoji="0" lang="en-US" altLang="zh-CN" sz="2000" b="0" i="0" u="none" strike="noStrike" kern="1200" cap="none" spc="0" normalizeH="0" baseline="0" noProof="0" dirty="0" err="1">
                <a:ln>
                  <a:noFill/>
                </a:ln>
                <a:solidFill>
                  <a:schemeClr val="tx1"/>
                </a:solidFill>
                <a:effectLst/>
                <a:uLnTx/>
                <a:uFillTx/>
                <a:latin typeface="楷体" panose="02010609060101010101" pitchFamily="49" charset="-122"/>
                <a:ea typeface="楷体" panose="02010609060101010101" pitchFamily="49" charset="-122"/>
                <a:cs typeface="+mn-cs"/>
              </a:rPr>
              <a:t>Collini</a:t>
            </a:r>
            <a:r>
              <a:rPr kumimoji="0" lang="en-US" altLang="zh-CN" sz="20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a:t>
            </a:r>
            <a:r>
              <a:rPr kumimoji="0" lang="zh-CN" altLang="zh-CN" sz="20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大学，有什么用？南京大学出版社，</a:t>
            </a:r>
            <a:r>
              <a:rPr kumimoji="0" lang="en-US" altLang="zh-CN" sz="20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2023</a:t>
            </a:r>
            <a:r>
              <a:rPr kumimoji="0" lang="zh-CN" altLang="zh-CN" sz="20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a:t>
            </a:r>
            <a:r>
              <a:rPr kumimoji="0" lang="en-US" altLang="zh-CN" sz="20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19</a:t>
            </a:r>
            <a:r>
              <a:rPr kumimoji="0" lang="zh-CN" altLang="en-US" sz="20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a:t>
            </a:r>
            <a:endParaRPr kumimoji="0" lang="zh-CN" altLang="zh-CN" sz="20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25604" name="内容占位符 5"/>
          <p:cNvPicPr>
            <a:picLocks noGrp="1" noChangeAspect="1"/>
          </p:cNvPicPr>
          <p:nvPr>
            <p:ph sz="half" idx="2"/>
          </p:nvPr>
        </p:nvPicPr>
        <p:blipFill>
          <a:blip r:embed="rId2"/>
          <a:srcRect/>
          <a:stretch>
            <a:fillRect/>
          </a:stretch>
        </p:blipFill>
        <p:spPr>
          <a:xfrm>
            <a:off x="5800725" y="866775"/>
            <a:ext cx="3332163" cy="4608513"/>
          </a:xfr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107315" y="116840"/>
            <a:ext cx="8996045" cy="5238750"/>
          </a:xfrm>
        </p:spPr>
        <p:txBody>
          <a:bodyPr/>
          <a:lstStyle/>
          <a:p>
            <a:pPr marL="0" indent="0">
              <a:buNone/>
            </a:pPr>
            <a:r>
              <a:rPr lang="en-US" altLang="zh-CN">
                <a:latin typeface="华文楷体" panose="02010600040101010101" pitchFamily="2" charset="-122"/>
                <a:ea typeface="华文楷体" panose="02010600040101010101" pitchFamily="2" charset="-122"/>
                <a:cs typeface="华文楷体" panose="02010600040101010101" pitchFamily="2" charset="-122"/>
              </a:rPr>
              <a:t>1.</a:t>
            </a:r>
            <a:r>
              <a:rPr lang="zh-CN" altLang="en-US">
                <a:latin typeface="华文楷体" panose="02010600040101010101" pitchFamily="2" charset="-122"/>
                <a:ea typeface="华文楷体" panose="02010600040101010101" pitchFamily="2" charset="-122"/>
                <a:cs typeface="华文楷体" panose="02010600040101010101" pitchFamily="2" charset="-122"/>
              </a:rPr>
              <a:t>律师对高校管理的权力日益扩大；</a:t>
            </a:r>
          </a:p>
          <a:p>
            <a:pPr marL="0" indent="0">
              <a:buNone/>
            </a:pPr>
            <a:r>
              <a:rPr lang="en-US" altLang="zh-CN">
                <a:latin typeface="华文楷体" panose="02010600040101010101" pitchFamily="2" charset="-122"/>
                <a:ea typeface="华文楷体" panose="02010600040101010101" pitchFamily="2" charset="-122"/>
                <a:cs typeface="华文楷体" panose="02010600040101010101" pitchFamily="2" charset="-122"/>
              </a:rPr>
              <a:t>2.</a:t>
            </a:r>
            <a:r>
              <a:rPr lang="zh-CN" altLang="en-US">
                <a:latin typeface="华文楷体" panose="02010600040101010101" pitchFamily="2" charset="-122"/>
                <a:ea typeface="华文楷体" panose="02010600040101010101" pitchFamily="2" charset="-122"/>
                <a:cs typeface="华文楷体" panose="02010600040101010101" pitchFamily="2" charset="-122"/>
              </a:rPr>
              <a:t>生成式人工智能使人工智能领域跨越了一个尚未定义且至关重要的关键门槛。整个高教行业似乎尚未证明高教与研究机构能适应这一技术并跟上其迅猛的发展步伐；</a:t>
            </a:r>
          </a:p>
          <a:p>
            <a:pPr marL="0" indent="0">
              <a:buNone/>
            </a:pPr>
            <a:r>
              <a:rPr lang="en-US" altLang="zh-CN">
                <a:latin typeface="华文楷体" panose="02010600040101010101" pitchFamily="2" charset="-122"/>
                <a:ea typeface="华文楷体" panose="02010600040101010101" pitchFamily="2" charset="-122"/>
                <a:cs typeface="华文楷体" panose="02010600040101010101" pitchFamily="2" charset="-122"/>
              </a:rPr>
              <a:t>3.</a:t>
            </a:r>
            <a:r>
              <a:rPr lang="zh-CN" altLang="en-US">
                <a:latin typeface="华文楷体" panose="02010600040101010101" pitchFamily="2" charset="-122"/>
                <a:ea typeface="华文楷体" panose="02010600040101010101" pitchFamily="2" charset="-122"/>
                <a:cs typeface="华文楷体" panose="02010600040101010101" pitchFamily="2" charset="-122"/>
              </a:rPr>
              <a:t>捐赠者对学校管理的影响。（哈佛、宾夕法尼亚大学校长先后辞职）</a:t>
            </a:r>
          </a:p>
          <a:p>
            <a:pPr marL="0" indent="0">
              <a:buNone/>
            </a:pPr>
            <a:r>
              <a:rPr lang="en-US" altLang="zh-CN">
                <a:latin typeface="华文楷体" panose="02010600040101010101" pitchFamily="2" charset="-122"/>
                <a:ea typeface="华文楷体" panose="02010600040101010101" pitchFamily="2" charset="-122"/>
                <a:cs typeface="华文楷体" panose="02010600040101010101" pitchFamily="2" charset="-122"/>
              </a:rPr>
              <a:t>4.</a:t>
            </a:r>
            <a:r>
              <a:rPr lang="zh-CN" altLang="en-US">
                <a:latin typeface="华文楷体" panose="02010600040101010101" pitchFamily="2" charset="-122"/>
                <a:ea typeface="华文楷体" panose="02010600040101010101" pitchFamily="2" charset="-122"/>
                <a:cs typeface="华文楷体" panose="02010600040101010101" pitchFamily="2" charset="-122"/>
              </a:rPr>
              <a:t>大学领导者面临的生存问题</a:t>
            </a:r>
            <a:r>
              <a:rPr lang="en-US" altLang="zh-CN">
                <a:latin typeface="华文楷体" panose="02010600040101010101" pitchFamily="2" charset="-122"/>
                <a:ea typeface="华文楷体" panose="02010600040101010101" pitchFamily="2" charset="-122"/>
                <a:cs typeface="华文楷体" panose="02010600040101010101" pitchFamily="2" charset="-122"/>
              </a:rPr>
              <a:t>——</a:t>
            </a:r>
            <a:r>
              <a:rPr lang="zh-CN" altLang="en-US">
                <a:latin typeface="华文楷体" panose="02010600040101010101" pitchFamily="2" charset="-122"/>
                <a:ea typeface="华文楷体" panose="02010600040101010101" pitchFamily="2" charset="-122"/>
                <a:cs typeface="华文楷体" panose="02010600040101010101" pitchFamily="2" charset="-122"/>
              </a:rPr>
              <a:t>谁在负责？技术如何成为行善的力量？我们要为哪些学生服务？</a:t>
            </a:r>
          </a:p>
        </p:txBody>
      </p:sp>
      <p:sp>
        <p:nvSpPr>
          <p:cNvPr id="6" name="标题 1"/>
          <p:cNvSpPr>
            <a:spLocks noGrp="1"/>
          </p:cNvSpPr>
          <p:nvPr/>
        </p:nvSpPr>
        <p:spPr>
          <a:xfrm>
            <a:off x="258445" y="5517515"/>
            <a:ext cx="8627745" cy="1143000"/>
          </a:xfrm>
          <a:prstGeom prst="rect">
            <a:avLst/>
          </a:prstGeom>
          <a:noFill/>
          <a:ln w="9525">
            <a:noFill/>
          </a:ln>
        </p:spPr>
        <p:txBody>
          <a:bodyPr anchor="ctr" anchorCtr="0"/>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r>
              <a:rPr lang="zh-CN" altLang="en-US" sz="2800">
                <a:latin typeface="华文楷体" panose="02010600040101010101" pitchFamily="2" charset="-122"/>
                <a:ea typeface="华文楷体" panose="02010600040101010101" pitchFamily="2" charset="-122"/>
                <a:cs typeface="华文楷体" panose="02010600040101010101" pitchFamily="2" charset="-122"/>
                <a:sym typeface="+mn-ea"/>
              </a:rPr>
              <a:t>美国《高等教育纪事》：《2024年度高教趋势报告》</a:t>
            </a:r>
            <a:br>
              <a:rPr lang="zh-CN" altLang="en-US" sz="2400">
                <a:latin typeface="华文楷体" panose="02010600040101010101" pitchFamily="2" charset="-122"/>
                <a:ea typeface="华文楷体" panose="02010600040101010101" pitchFamily="2" charset="-122"/>
                <a:cs typeface="华文楷体" panose="02010600040101010101" pitchFamily="2" charset="-122"/>
              </a:rPr>
            </a:br>
            <a:endParaRPr lang="zh-CN" altLang="en-US" sz="2400">
              <a:latin typeface="华文楷体" panose="02010600040101010101" pitchFamily="2" charset="-122"/>
              <a:ea typeface="华文楷体" panose="02010600040101010101" pitchFamily="2" charset="-122"/>
              <a:cs typeface="华文楷体" panose="02010600040101010101"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180528" y="332656"/>
            <a:ext cx="5770984" cy="436910"/>
          </a:xfrm>
        </p:spPr>
        <p:txBody>
          <a:bodyPr vert="horz" wrap="square" lIns="91440" tIns="45720" rIns="91440" bIns="45720" anchor="ctr" anchorCtr="0"/>
          <a:lstStyle/>
          <a:p>
            <a:r>
              <a:rPr lang="zh-CN" altLang="en-US" dirty="0">
                <a:latin typeface="华文楷体" panose="02010600040101010101" pitchFamily="2" charset="-122"/>
                <a:ea typeface="华文楷体" panose="02010600040101010101" pitchFamily="2" charset="-122"/>
              </a:rPr>
              <a:t>大学精神要义</a:t>
            </a:r>
          </a:p>
        </p:txBody>
      </p:sp>
      <p:sp>
        <p:nvSpPr>
          <p:cNvPr id="26627" name="内容占位符 2"/>
          <p:cNvSpPr>
            <a:spLocks noGrp="1"/>
          </p:cNvSpPr>
          <p:nvPr>
            <p:ph idx="1"/>
          </p:nvPr>
        </p:nvSpPr>
        <p:spPr>
          <a:xfrm>
            <a:off x="107504" y="980729"/>
            <a:ext cx="8229600" cy="2088232"/>
          </a:xfrm>
        </p:spPr>
        <p:txBody>
          <a:bodyPr vert="horz" wrap="square" lIns="91440" tIns="45720" rIns="91440" bIns="45720" anchor="t" anchorCtr="0"/>
          <a:lstStyle/>
          <a:p>
            <a:pPr eaLnBrk="1" hangingPunct="1">
              <a:lnSpc>
                <a:spcPts val="2215"/>
              </a:lnSpc>
              <a:buNone/>
            </a:pPr>
            <a:r>
              <a:rPr lang="en-US" altLang="zh-CN" sz="2100" dirty="0">
                <a:latin typeface="华文楷体" panose="02010600040101010101" pitchFamily="2" charset="-122"/>
                <a:ea typeface="华文楷体" panose="02010600040101010101" pitchFamily="2" charset="-122"/>
              </a:rPr>
              <a:t>《</a:t>
            </a:r>
            <a:r>
              <a:rPr lang="zh-CN" altLang="en-US" sz="2100" dirty="0">
                <a:latin typeface="华文楷体" panose="02010600040101010101" pitchFamily="2" charset="-122"/>
                <a:ea typeface="华文楷体" panose="02010600040101010101" pitchFamily="2" charset="-122"/>
              </a:rPr>
              <a:t>大学</a:t>
            </a:r>
            <a:r>
              <a:rPr lang="en-US" altLang="zh-CN" sz="2100" dirty="0">
                <a:latin typeface="华文楷体" panose="02010600040101010101" pitchFamily="2" charset="-122"/>
                <a:ea typeface="华文楷体" panose="02010600040101010101" pitchFamily="2" charset="-122"/>
              </a:rPr>
              <a:t>》</a:t>
            </a:r>
            <a:r>
              <a:rPr lang="zh-CN" altLang="zh-CN" sz="2100" dirty="0">
                <a:latin typeface="华文楷体" panose="02010600040101010101" pitchFamily="2" charset="-122"/>
                <a:ea typeface="华文楷体" panose="02010600040101010101" pitchFamily="2" charset="-122"/>
              </a:rPr>
              <a:t>“</a:t>
            </a:r>
            <a:r>
              <a:rPr lang="zh-CN" altLang="en-US" sz="2100" dirty="0">
                <a:latin typeface="华文楷体" panose="02010600040101010101" pitchFamily="2" charset="-122"/>
                <a:ea typeface="华文楷体" panose="02010600040101010101" pitchFamily="2" charset="-122"/>
              </a:rPr>
              <a:t>大学之道，在明明德，在新民，在止于至善</a:t>
            </a:r>
            <a:r>
              <a:rPr lang="zh-CN" altLang="zh-CN" sz="2100" dirty="0">
                <a:latin typeface="华文楷体" panose="02010600040101010101" pitchFamily="2" charset="-122"/>
                <a:ea typeface="华文楷体" panose="02010600040101010101" pitchFamily="2" charset="-122"/>
              </a:rPr>
              <a:t>”</a:t>
            </a:r>
            <a:endParaRPr lang="zh-CN" altLang="en-US" sz="2100" dirty="0">
              <a:latin typeface="华文楷体" panose="02010600040101010101" pitchFamily="2" charset="-122"/>
              <a:ea typeface="华文楷体" panose="02010600040101010101" pitchFamily="2" charset="-122"/>
            </a:endParaRPr>
          </a:p>
          <a:p>
            <a:pPr eaLnBrk="1" hangingPunct="1">
              <a:lnSpc>
                <a:spcPts val="2215"/>
              </a:lnSpc>
              <a:buNone/>
            </a:pPr>
            <a:r>
              <a:rPr lang="zh-CN" altLang="en-US" sz="2100" dirty="0">
                <a:latin typeface="华文楷体" panose="02010600040101010101" pitchFamily="2" charset="-122"/>
                <a:ea typeface="华文楷体" panose="02010600040101010101" pitchFamily="2" charset="-122"/>
              </a:rPr>
              <a:t>欧洲中世纪：博雅教育（</a:t>
            </a:r>
            <a:r>
              <a:rPr lang="en-US" altLang="zh-CN" sz="2100" dirty="0">
                <a:latin typeface="华文楷体" panose="02010600040101010101" pitchFamily="2" charset="-122"/>
                <a:ea typeface="华文楷体" panose="02010600040101010101" pitchFamily="2" charset="-122"/>
              </a:rPr>
              <a:t>liberal education </a:t>
            </a:r>
            <a:r>
              <a:rPr lang="zh-CN" altLang="en-US" sz="2100" dirty="0">
                <a:latin typeface="华文楷体" panose="02010600040101010101" pitchFamily="2" charset="-122"/>
                <a:ea typeface="华文楷体" panose="02010600040101010101" pitchFamily="2" charset="-122"/>
              </a:rPr>
              <a:t>）</a:t>
            </a:r>
          </a:p>
          <a:p>
            <a:pPr eaLnBrk="1" hangingPunct="1">
              <a:lnSpc>
                <a:spcPts val="2215"/>
              </a:lnSpc>
              <a:spcBef>
                <a:spcPts val="1590"/>
              </a:spcBef>
              <a:buNone/>
            </a:pPr>
            <a:r>
              <a:rPr lang="en-US" altLang="zh-CN" sz="2100" dirty="0">
                <a:latin typeface="华文楷体" panose="02010600040101010101" pitchFamily="2" charset="-122"/>
                <a:ea typeface="华文楷体" panose="02010600040101010101" pitchFamily="2" charset="-122"/>
              </a:rPr>
              <a:t>18-19</a:t>
            </a:r>
            <a:r>
              <a:rPr lang="zh-CN" altLang="en-US" sz="2100" dirty="0">
                <a:latin typeface="华文楷体" panose="02010600040101010101" pitchFamily="2" charset="-122"/>
                <a:ea typeface="华文楷体" panose="02010600040101010101" pitchFamily="2" charset="-122"/>
              </a:rPr>
              <a:t>世纪：洪堡大学“大学的真正成就在于它使学生有可能或者说迫使学生至少在他一生中有一段时间完全献身于他个人道德和精神上的完善。”</a:t>
            </a:r>
            <a:endParaRPr lang="en-US" altLang="zh-CN" sz="2100" dirty="0">
              <a:latin typeface="华文楷体" panose="02010600040101010101" pitchFamily="2" charset="-122"/>
              <a:ea typeface="华文楷体" panose="02010600040101010101" pitchFamily="2" charset="-122"/>
            </a:endParaRPr>
          </a:p>
          <a:p>
            <a:pPr eaLnBrk="1" hangingPunct="1">
              <a:lnSpc>
                <a:spcPts val="2215"/>
              </a:lnSpc>
              <a:buNone/>
            </a:pPr>
            <a:r>
              <a:rPr lang="zh-CN" altLang="en-US" sz="2100" dirty="0">
                <a:latin typeface="华文楷体" panose="02010600040101010101" pitchFamily="2" charset="-122"/>
                <a:ea typeface="华文楷体" panose="02010600040101010101" pitchFamily="2" charset="-122"/>
              </a:rPr>
              <a:t>现代新型大学：自由与独立精神</a:t>
            </a:r>
          </a:p>
        </p:txBody>
      </p:sp>
      <p:sp>
        <p:nvSpPr>
          <p:cNvPr id="2" name="标题 1">
            <a:extLst>
              <a:ext uri="{FF2B5EF4-FFF2-40B4-BE49-F238E27FC236}">
                <a16:creationId xmlns:a16="http://schemas.microsoft.com/office/drawing/2014/main" id="{948D257B-D8C4-C585-EA26-E42EB6DA32E8}"/>
              </a:ext>
            </a:extLst>
          </p:cNvPr>
          <p:cNvSpPr txBox="1">
            <a:spLocks/>
          </p:cNvSpPr>
          <p:nvPr/>
        </p:nvSpPr>
        <p:spPr>
          <a:xfrm>
            <a:off x="-19849" y="2996952"/>
            <a:ext cx="6311216" cy="648072"/>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r>
              <a:rPr lang="zh-CN" altLang="en-US" b="0">
                <a:latin typeface="华文楷体" panose="02010600040101010101" pitchFamily="2" charset="-122"/>
                <a:ea typeface="华文楷体" panose="02010600040101010101" pitchFamily="2" charset="-122"/>
              </a:rPr>
              <a:t>复旦通识教育改革理念</a:t>
            </a:r>
            <a:endParaRPr lang="zh-CN" altLang="en-US" b="0" dirty="0">
              <a:latin typeface="华文楷体" panose="02010600040101010101" pitchFamily="2" charset="-122"/>
              <a:ea typeface="华文楷体" panose="02010600040101010101" pitchFamily="2" charset="-122"/>
            </a:endParaRPr>
          </a:p>
        </p:txBody>
      </p:sp>
      <p:sp>
        <p:nvSpPr>
          <p:cNvPr id="3" name="内容占位符 2">
            <a:extLst>
              <a:ext uri="{FF2B5EF4-FFF2-40B4-BE49-F238E27FC236}">
                <a16:creationId xmlns:a16="http://schemas.microsoft.com/office/drawing/2014/main" id="{D0804CB7-B42D-37CC-F187-B41321A60C20}"/>
              </a:ext>
            </a:extLst>
          </p:cNvPr>
          <p:cNvSpPr txBox="1">
            <a:spLocks noChangeArrowheads="1"/>
          </p:cNvSpPr>
          <p:nvPr/>
        </p:nvSpPr>
        <p:spPr>
          <a:xfrm>
            <a:off x="107504" y="3613133"/>
            <a:ext cx="8964613" cy="3236913"/>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buFont typeface="Wingdings 2" panose="05020102010507070707" pitchFamily="18" charset="2"/>
              <a:buNone/>
              <a:defRPr/>
            </a:pPr>
            <a:r>
              <a:rPr lang="zh-CN" altLang="en-US" sz="2530" b="0">
                <a:latin typeface="华文楷体" panose="02010600040101010101" pitchFamily="2" charset="-122"/>
                <a:ea typeface="华文楷体" panose="02010600040101010101" pitchFamily="2" charset="-122"/>
              </a:rPr>
              <a:t>基本目标是：向本科学生展示人类的</a:t>
            </a:r>
            <a:r>
              <a:rPr lang="zh-CN" altLang="en-US" sz="2530" b="0">
                <a:solidFill>
                  <a:srgbClr val="FF0000"/>
                </a:solidFill>
                <a:latin typeface="华文楷体" panose="02010600040101010101" pitchFamily="2" charset="-122"/>
                <a:ea typeface="华文楷体" panose="02010600040101010101" pitchFamily="2" charset="-122"/>
              </a:rPr>
              <a:t>基础性学问与精神实践领域</a:t>
            </a:r>
            <a:r>
              <a:rPr lang="zh-CN" altLang="en-US" sz="2530" b="0">
                <a:latin typeface="华文楷体" panose="02010600040101010101" pitchFamily="2" charset="-122"/>
                <a:ea typeface="华文楷体" panose="02010600040101010101" pitchFamily="2" charset="-122"/>
              </a:rPr>
              <a:t>中的问题、思考和探索之路，展示</a:t>
            </a:r>
            <a:r>
              <a:rPr lang="zh-CN" altLang="en-US" sz="2530" b="0">
                <a:solidFill>
                  <a:srgbClr val="FF0000"/>
                </a:solidFill>
                <a:latin typeface="华文楷体" panose="02010600040101010101" pitchFamily="2" charset="-122"/>
                <a:ea typeface="华文楷体" panose="02010600040101010101" pitchFamily="2" charset="-122"/>
              </a:rPr>
              <a:t>人类社会历史的重大演变</a:t>
            </a:r>
            <a:r>
              <a:rPr lang="zh-CN" altLang="en-US" sz="2530" b="0">
                <a:latin typeface="华文楷体" panose="02010600040101010101" pitchFamily="2" charset="-122"/>
                <a:ea typeface="华文楷体" panose="02010600040101010101" pitchFamily="2" charset="-122"/>
              </a:rPr>
              <a:t>和</a:t>
            </a:r>
            <a:r>
              <a:rPr lang="zh-CN" altLang="en-US" sz="2530" b="0">
                <a:solidFill>
                  <a:srgbClr val="FF0000"/>
                </a:solidFill>
                <a:latin typeface="华文楷体" panose="02010600040101010101" pitchFamily="2" charset="-122"/>
                <a:ea typeface="华文楷体" panose="02010600040101010101" pitchFamily="2" charset="-122"/>
              </a:rPr>
              <a:t>人类当代状况</a:t>
            </a:r>
            <a:r>
              <a:rPr lang="zh-CN" altLang="en-US" sz="2530" b="0">
                <a:latin typeface="华文楷体" panose="02010600040101010101" pitchFamily="2" charset="-122"/>
                <a:ea typeface="华文楷体" panose="02010600040101010101" pitchFamily="2" charset="-122"/>
              </a:rPr>
              <a:t>的基本性质，帮助学生获得在</a:t>
            </a:r>
            <a:r>
              <a:rPr lang="zh-CN" altLang="en-US" sz="2530" b="0">
                <a:solidFill>
                  <a:srgbClr val="FF0000"/>
                </a:solidFill>
                <a:latin typeface="华文楷体" panose="02010600040101010101" pitchFamily="2" charset="-122"/>
                <a:ea typeface="华文楷体" panose="02010600040101010101" pitchFamily="2" charset="-122"/>
              </a:rPr>
              <a:t>祖国语言实践</a:t>
            </a:r>
            <a:r>
              <a:rPr lang="zh-CN" altLang="en-US" sz="2530" b="0">
                <a:latin typeface="华文楷体" panose="02010600040101010101" pitchFamily="2" charset="-122"/>
                <a:ea typeface="华文楷体" panose="02010600040101010101" pitchFamily="2" charset="-122"/>
              </a:rPr>
              <a:t>中的</a:t>
            </a:r>
            <a:r>
              <a:rPr lang="zh-CN" altLang="en-US" sz="2530" b="0">
                <a:solidFill>
                  <a:srgbClr val="FF0000"/>
                </a:solidFill>
                <a:latin typeface="华文楷体" panose="02010600040101010101" pitchFamily="2" charset="-122"/>
                <a:ea typeface="华文楷体" panose="02010600040101010101" pitchFamily="2" charset="-122"/>
              </a:rPr>
              <a:t>生命体验</a:t>
            </a:r>
            <a:r>
              <a:rPr lang="zh-CN" altLang="en-US" sz="2530" b="0">
                <a:latin typeface="华文楷体" panose="02010600040101010101" pitchFamily="2" charset="-122"/>
                <a:ea typeface="华文楷体" panose="02010600040101010101" pitchFamily="2" charset="-122"/>
              </a:rPr>
              <a:t>，以引导学生形成天下关怀、文化自觉与学术探讨之精神。</a:t>
            </a:r>
            <a:endParaRPr lang="zh-CN" altLang="en-US" sz="2530" b="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1143000"/>
          </a:xfrm>
        </p:spPr>
        <p:txBody>
          <a:bodyPr/>
          <a:lstStyle/>
          <a:p>
            <a:r>
              <a:rPr lang="zh-CN" altLang="en-US" sz="3600" dirty="0">
                <a:latin typeface="华文楷体" panose="02010600040101010101" pitchFamily="2" charset="-122"/>
                <a:ea typeface="华文楷体" panose="02010600040101010101" pitchFamily="2" charset="-122"/>
              </a:rPr>
              <a:t>能力清单（</a:t>
            </a:r>
            <a:r>
              <a:rPr lang="zh-CN" altLang="en-US" sz="2000" dirty="0">
                <a:solidFill>
                  <a:prstClr val="black"/>
                </a:solidFill>
                <a:latin typeface="华文楷体" panose="02010600040101010101" pitchFamily="2" charset="-122"/>
                <a:ea typeface="华文楷体" panose="02010600040101010101" pitchFamily="2" charset="-122"/>
                <a:cs typeface="+mn-cs"/>
              </a:rPr>
              <a:t>纳斯鲍姆，</a:t>
            </a:r>
            <a:r>
              <a:rPr lang="en-US" altLang="zh-CN" sz="2000" dirty="0">
                <a:solidFill>
                  <a:prstClr val="black"/>
                </a:solidFill>
                <a:latin typeface="华文楷体" panose="02010600040101010101" pitchFamily="2" charset="-122"/>
                <a:ea typeface="华文楷体" panose="02010600040101010101" pitchFamily="2" charset="-122"/>
                <a:cs typeface="+mn-cs"/>
              </a:rPr>
              <a:t>《</a:t>
            </a:r>
            <a:r>
              <a:rPr lang="zh-CN" altLang="en-US" sz="2000" dirty="0">
                <a:solidFill>
                  <a:prstClr val="black"/>
                </a:solidFill>
                <a:latin typeface="华文楷体" panose="02010600040101010101" pitchFamily="2" charset="-122"/>
                <a:ea typeface="华文楷体" panose="02010600040101010101" pitchFamily="2" charset="-122"/>
                <a:cs typeface="+mn-cs"/>
              </a:rPr>
              <a:t>正义的前沿</a:t>
            </a:r>
            <a:r>
              <a:rPr lang="en-US" altLang="zh-CN" sz="2000" dirty="0">
                <a:solidFill>
                  <a:prstClr val="black"/>
                </a:solidFill>
                <a:latin typeface="华文楷体" panose="02010600040101010101" pitchFamily="2" charset="-122"/>
                <a:ea typeface="华文楷体" panose="02010600040101010101" pitchFamily="2" charset="-122"/>
                <a:cs typeface="+mn-cs"/>
              </a:rPr>
              <a:t>》</a:t>
            </a:r>
            <a:r>
              <a:rPr lang="zh-CN" altLang="en-US" sz="2000" dirty="0">
                <a:solidFill>
                  <a:prstClr val="black"/>
                </a:solidFill>
                <a:latin typeface="华文楷体" panose="02010600040101010101" pitchFamily="2" charset="-122"/>
                <a:ea typeface="华文楷体" panose="02010600040101010101" pitchFamily="2" charset="-122"/>
                <a:cs typeface="+mn-cs"/>
              </a:rPr>
              <a:t>，</a:t>
            </a:r>
            <a:r>
              <a:rPr lang="en-US" altLang="zh-CN" sz="2000" dirty="0">
                <a:solidFill>
                  <a:prstClr val="black"/>
                </a:solidFill>
                <a:latin typeface="华文楷体" panose="02010600040101010101" pitchFamily="2" charset="-122"/>
                <a:ea typeface="华文楷体" panose="02010600040101010101" pitchFamily="2" charset="-122"/>
                <a:cs typeface="+mn-cs"/>
              </a:rPr>
              <a:t>p53-55</a:t>
            </a:r>
            <a:r>
              <a:rPr lang="zh-CN" altLang="en-US" sz="2000" dirty="0">
                <a:solidFill>
                  <a:prstClr val="black"/>
                </a:solidFill>
                <a:latin typeface="华文楷体" panose="02010600040101010101" pitchFamily="2" charset="-122"/>
                <a:ea typeface="华文楷体" panose="02010600040101010101" pitchFamily="2" charset="-122"/>
                <a:cs typeface="+mn-cs"/>
              </a:rPr>
              <a:t>。</a:t>
            </a:r>
            <a:r>
              <a:rPr lang="zh-CN" altLang="en-US" sz="3200" dirty="0">
                <a:solidFill>
                  <a:prstClr val="black"/>
                </a:solidFill>
                <a:latin typeface="Franklin Gothic Book" panose="020B0503020102020204"/>
                <a:ea typeface="黑体" panose="02010609060101010101" charset="-122"/>
                <a:cs typeface="+mn-cs"/>
              </a:rPr>
              <a:t>）</a:t>
            </a:r>
            <a:endParaRPr lang="zh-CN" altLang="en-US" sz="3600" dirty="0">
              <a:latin typeface="华文楷体" panose="02010600040101010101" pitchFamily="2" charset="-122"/>
              <a:ea typeface="华文楷体" panose="02010600040101010101" pitchFamily="2" charset="-122"/>
            </a:endParaRPr>
          </a:p>
        </p:txBody>
      </p:sp>
      <p:sp>
        <p:nvSpPr>
          <p:cNvPr id="3" name="内容占位符 2"/>
          <p:cNvSpPr>
            <a:spLocks noGrp="1"/>
          </p:cNvSpPr>
          <p:nvPr>
            <p:ph idx="1"/>
          </p:nvPr>
        </p:nvSpPr>
        <p:spPr>
          <a:xfrm>
            <a:off x="8384" y="980728"/>
            <a:ext cx="9144000" cy="5688632"/>
          </a:xfrm>
        </p:spPr>
        <p:txBody>
          <a:bodyPr/>
          <a:lstStyle/>
          <a:p>
            <a:pPr marL="0" indent="0">
              <a:buNone/>
            </a:pPr>
            <a:r>
              <a:rPr lang="en-US" altLang="zh-CN" sz="1800" dirty="0">
                <a:latin typeface="华文楷体" panose="02010600040101010101" pitchFamily="2" charset="-122"/>
                <a:ea typeface="华文楷体" panose="02010600040101010101" pitchFamily="2" charset="-122"/>
              </a:rPr>
              <a:t>1.</a:t>
            </a:r>
            <a:r>
              <a:rPr lang="zh-CN" altLang="en-US" sz="1800" dirty="0">
                <a:solidFill>
                  <a:srgbClr val="FF0000"/>
                </a:solidFill>
                <a:latin typeface="华文楷体" panose="02010600040101010101" pitchFamily="2" charset="-122"/>
                <a:ea typeface="华文楷体" panose="02010600040101010101" pitchFamily="2" charset="-122"/>
              </a:rPr>
              <a:t>生命</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能够活到正常的预期寿命</a:t>
            </a:r>
            <a:r>
              <a:rPr lang="en-US" altLang="zh-CN" sz="1800" dirty="0">
                <a:latin typeface="华文楷体" panose="02010600040101010101" pitchFamily="2" charset="-122"/>
                <a:ea typeface="华文楷体" panose="02010600040101010101" pitchFamily="2" charset="-122"/>
              </a:rPr>
              <a:t>;</a:t>
            </a:r>
          </a:p>
          <a:p>
            <a:pPr marL="0" indent="0">
              <a:buNone/>
            </a:pPr>
            <a:r>
              <a:rPr lang="en-US" altLang="zh-CN" sz="1800" dirty="0">
                <a:latin typeface="华文楷体" panose="02010600040101010101" pitchFamily="2" charset="-122"/>
                <a:ea typeface="华文楷体" panose="02010600040101010101" pitchFamily="2" charset="-122"/>
              </a:rPr>
              <a:t>2.</a:t>
            </a:r>
            <a:r>
              <a:rPr lang="zh-CN" altLang="en-US" sz="1800" dirty="0">
                <a:solidFill>
                  <a:srgbClr val="FF0000"/>
                </a:solidFill>
                <a:latin typeface="华文楷体" panose="02010600040101010101" pitchFamily="2" charset="-122"/>
                <a:ea typeface="华文楷体" panose="02010600040101010101" pitchFamily="2" charset="-122"/>
              </a:rPr>
              <a:t>身体健康</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保持良好的健康状况</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包括生殖健康、充足的营养和适当的居所</a:t>
            </a:r>
            <a:r>
              <a:rPr lang="en-US" altLang="zh-CN" sz="1800" dirty="0">
                <a:latin typeface="华文楷体" panose="02010600040101010101" pitchFamily="2" charset="-122"/>
                <a:ea typeface="华文楷体" panose="02010600040101010101" pitchFamily="2" charset="-122"/>
              </a:rPr>
              <a:t>;</a:t>
            </a:r>
          </a:p>
          <a:p>
            <a:pPr marL="0" indent="0">
              <a:buNone/>
            </a:pPr>
            <a:r>
              <a:rPr lang="en-US" altLang="zh-CN" sz="1800" dirty="0">
                <a:latin typeface="华文楷体" panose="02010600040101010101" pitchFamily="2" charset="-122"/>
                <a:ea typeface="华文楷体" panose="02010600040101010101" pitchFamily="2" charset="-122"/>
              </a:rPr>
              <a:t>3.</a:t>
            </a:r>
            <a:r>
              <a:rPr lang="zh-CN" altLang="en-US" sz="1800" dirty="0">
                <a:solidFill>
                  <a:srgbClr val="FF0000"/>
                </a:solidFill>
                <a:latin typeface="华文楷体" panose="02010600040101010101" pitchFamily="2" charset="-122"/>
                <a:ea typeface="华文楷体" panose="02010600040101010101" pitchFamily="2" charset="-122"/>
              </a:rPr>
              <a:t>身体完整</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能够自由地迁徙、免受暴力攻击</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包括性侵犯和家庭暴力</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、有机会得到性满足和进行生殖选择</a:t>
            </a:r>
            <a:r>
              <a:rPr lang="en-US" altLang="zh-CN" sz="1800" dirty="0">
                <a:latin typeface="华文楷体" panose="02010600040101010101" pitchFamily="2" charset="-122"/>
                <a:ea typeface="华文楷体" panose="02010600040101010101" pitchFamily="2" charset="-122"/>
              </a:rPr>
              <a:t>;</a:t>
            </a:r>
          </a:p>
          <a:p>
            <a:pPr marL="0" indent="0">
              <a:buNone/>
            </a:pPr>
            <a:r>
              <a:rPr lang="en-US" altLang="zh-CN" sz="1800" dirty="0">
                <a:latin typeface="华文楷体" panose="02010600040101010101" pitchFamily="2" charset="-122"/>
                <a:ea typeface="华文楷体" panose="02010600040101010101" pitchFamily="2" charset="-122"/>
              </a:rPr>
              <a:t>4.</a:t>
            </a:r>
            <a:r>
              <a:rPr lang="zh-CN" altLang="en-US" sz="1800" dirty="0">
                <a:solidFill>
                  <a:srgbClr val="FF0000"/>
                </a:solidFill>
                <a:latin typeface="华文楷体" panose="02010600040101010101" pitchFamily="2" charset="-122"/>
                <a:ea typeface="华文楷体" panose="02010600040101010101" pitchFamily="2" charset="-122"/>
              </a:rPr>
              <a:t>感觉、想象和思考</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能够以“真正的人”的方式</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以被充分教育所告知和培育的方式</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包括但不限于文学、基本数学和科学训练</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来使用感觉、思考和理性。在体验和从事出于自己选择的工作和事情时</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如宗教、文学、音乐等</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能够运用想象和思考。能够以保证政治和艺术演讲的表达自由、宗教行为自由得到保护的方式</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运用其心智。能够拥有愉快的经历和避免不必要的痛苦</a:t>
            </a:r>
            <a:r>
              <a:rPr lang="en-US" altLang="zh-CN" sz="1800" dirty="0">
                <a:latin typeface="华文楷体" panose="02010600040101010101" pitchFamily="2" charset="-122"/>
                <a:ea typeface="华文楷体" panose="02010600040101010101" pitchFamily="2" charset="-122"/>
              </a:rPr>
              <a:t>;</a:t>
            </a:r>
          </a:p>
          <a:p>
            <a:pPr marL="0" indent="0">
              <a:buNone/>
            </a:pPr>
            <a:r>
              <a:rPr lang="en-US" altLang="zh-CN" sz="1800" dirty="0">
                <a:latin typeface="华文楷体" panose="02010600040101010101" pitchFamily="2" charset="-122"/>
                <a:ea typeface="华文楷体" panose="02010600040101010101" pitchFamily="2" charset="-122"/>
              </a:rPr>
              <a:t>5.</a:t>
            </a:r>
            <a:r>
              <a:rPr lang="zh-CN" altLang="en-US" sz="1800" dirty="0">
                <a:solidFill>
                  <a:srgbClr val="FF0000"/>
                </a:solidFill>
                <a:latin typeface="华文楷体" panose="02010600040101010101" pitchFamily="2" charset="-122"/>
                <a:ea typeface="华文楷体" panose="02010600040101010101" pitchFamily="2" charset="-122"/>
              </a:rPr>
              <a:t>情感</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有能力去爱、悲伤、感激以及适度的愤怒</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不要因恐惧和焦虑而不能发展自己的情感</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支持某种人类友谊形式在情感发展中具有至关重要性</a:t>
            </a:r>
            <a:r>
              <a:rPr lang="en-US" altLang="zh-CN" sz="1800" dirty="0">
                <a:latin typeface="华文楷体" panose="02010600040101010101" pitchFamily="2" charset="-122"/>
                <a:ea typeface="华文楷体" panose="02010600040101010101" pitchFamily="2" charset="-122"/>
              </a:rPr>
              <a:t>;</a:t>
            </a:r>
          </a:p>
          <a:p>
            <a:pPr marL="0" indent="0">
              <a:buNone/>
            </a:pPr>
            <a:r>
              <a:rPr lang="en-US" altLang="zh-CN" sz="1800" dirty="0">
                <a:latin typeface="华文楷体" panose="02010600040101010101" pitchFamily="2" charset="-122"/>
                <a:ea typeface="华文楷体" panose="02010600040101010101" pitchFamily="2" charset="-122"/>
              </a:rPr>
              <a:t>6.</a:t>
            </a:r>
            <a:r>
              <a:rPr lang="zh-CN" altLang="en-US" sz="1800" dirty="0">
                <a:latin typeface="华文楷体" panose="02010600040101010101" pitchFamily="2" charset="-122"/>
                <a:ea typeface="华文楷体" panose="02010600040101010101" pitchFamily="2" charset="-122"/>
              </a:rPr>
              <a:t>实践理性</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能够形成一种善的观念</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并且对人生规划进行批判性反思</a:t>
            </a:r>
            <a:r>
              <a:rPr lang="en-US" altLang="zh-CN" sz="1800" dirty="0">
                <a:latin typeface="华文楷体" panose="02010600040101010101" pitchFamily="2" charset="-122"/>
                <a:ea typeface="华文楷体" panose="02010600040101010101" pitchFamily="2" charset="-122"/>
              </a:rPr>
              <a:t>;</a:t>
            </a:r>
          </a:p>
          <a:p>
            <a:pPr marL="0" indent="0">
              <a:buNone/>
            </a:pPr>
            <a:r>
              <a:rPr lang="en-US" altLang="zh-CN" sz="1800" dirty="0">
                <a:latin typeface="华文楷体" panose="02010600040101010101" pitchFamily="2" charset="-122"/>
                <a:ea typeface="华文楷体" panose="02010600040101010101" pitchFamily="2" charset="-122"/>
              </a:rPr>
              <a:t>7.</a:t>
            </a:r>
            <a:r>
              <a:rPr lang="zh-CN" altLang="en-US" sz="1800" dirty="0">
                <a:solidFill>
                  <a:srgbClr val="FF0000"/>
                </a:solidFill>
                <a:latin typeface="华文楷体" panose="02010600040101010101" pitchFamily="2" charset="-122"/>
                <a:ea typeface="华文楷体" panose="02010600040101010101" pitchFamily="2" charset="-122"/>
              </a:rPr>
              <a:t>归属</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能够与别人一起生活</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从事各种形式的社会交往。能够设身处地为他人的情境着想。具有自尊和不被羞辱的社会基础。能够被当作与其他人具有平等价值的、有尊严的个体来对待</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不存在基于种族、性别、性取向、种姓、族群、宗教、民族起源的歧视</a:t>
            </a:r>
            <a:r>
              <a:rPr lang="en-US" altLang="zh-CN" sz="1800" dirty="0">
                <a:latin typeface="华文楷体" panose="02010600040101010101" pitchFamily="2" charset="-122"/>
                <a:ea typeface="华文楷体" panose="02010600040101010101" pitchFamily="2" charset="-122"/>
              </a:rPr>
              <a:t>;</a:t>
            </a:r>
          </a:p>
          <a:p>
            <a:pPr marL="0" indent="0">
              <a:buNone/>
            </a:pPr>
            <a:r>
              <a:rPr lang="en-US" altLang="zh-CN" sz="1800" dirty="0">
                <a:latin typeface="华文楷体" panose="02010600040101010101" pitchFamily="2" charset="-122"/>
                <a:ea typeface="华文楷体" panose="02010600040101010101" pitchFamily="2" charset="-122"/>
              </a:rPr>
              <a:t>8.</a:t>
            </a:r>
            <a:r>
              <a:rPr lang="zh-CN" altLang="en-US" sz="1800" dirty="0">
                <a:solidFill>
                  <a:srgbClr val="FF0000"/>
                </a:solidFill>
                <a:latin typeface="华文楷体" panose="02010600040101010101" pitchFamily="2" charset="-122"/>
                <a:ea typeface="华文楷体" panose="02010600040101010101" pitchFamily="2" charset="-122"/>
              </a:rPr>
              <a:t>其他物种</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能够和动物、植物和自然世界共同生活</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并关心它们</a:t>
            </a:r>
            <a:r>
              <a:rPr lang="en-US" altLang="zh-CN" sz="1800" dirty="0">
                <a:latin typeface="华文楷体" panose="02010600040101010101" pitchFamily="2" charset="-122"/>
                <a:ea typeface="华文楷体" panose="02010600040101010101" pitchFamily="2" charset="-122"/>
              </a:rPr>
              <a:t>;</a:t>
            </a:r>
          </a:p>
          <a:p>
            <a:pPr marL="0" indent="0">
              <a:buNone/>
            </a:pPr>
            <a:r>
              <a:rPr lang="en-US" altLang="zh-CN" sz="1800" dirty="0">
                <a:latin typeface="华文楷体" panose="02010600040101010101" pitchFamily="2" charset="-122"/>
                <a:ea typeface="华文楷体" panose="02010600040101010101" pitchFamily="2" charset="-122"/>
              </a:rPr>
              <a:t>9.</a:t>
            </a:r>
            <a:r>
              <a:rPr lang="zh-CN" altLang="en-US" sz="1800" dirty="0">
                <a:solidFill>
                  <a:srgbClr val="FF0000"/>
                </a:solidFill>
                <a:latin typeface="华文楷体" panose="02010600040101010101" pitchFamily="2" charset="-122"/>
                <a:ea typeface="华文楷体" panose="02010600040101010101" pitchFamily="2" charset="-122"/>
              </a:rPr>
              <a:t>玩耍</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能够笑、玩以及享受娱乐活动</a:t>
            </a:r>
            <a:r>
              <a:rPr lang="en-US" altLang="zh-CN" sz="1800" dirty="0">
                <a:latin typeface="华文楷体" panose="02010600040101010101" pitchFamily="2" charset="-122"/>
                <a:ea typeface="华文楷体" panose="02010600040101010101" pitchFamily="2" charset="-122"/>
              </a:rPr>
              <a:t>;</a:t>
            </a:r>
          </a:p>
          <a:p>
            <a:pPr marL="0" indent="0">
              <a:buNone/>
            </a:pPr>
            <a:r>
              <a:rPr lang="en-US" altLang="zh-CN" sz="1800" dirty="0">
                <a:latin typeface="华文楷体" panose="02010600040101010101" pitchFamily="2" charset="-122"/>
                <a:ea typeface="华文楷体" panose="02010600040101010101" pitchFamily="2" charset="-122"/>
              </a:rPr>
              <a:t>10.</a:t>
            </a:r>
            <a:r>
              <a:rPr lang="zh-CN" altLang="en-US" sz="1800" dirty="0">
                <a:solidFill>
                  <a:srgbClr val="FF0000"/>
                </a:solidFill>
                <a:latin typeface="华文楷体" panose="02010600040101010101" pitchFamily="2" charset="-122"/>
                <a:ea typeface="华文楷体" panose="02010600040101010101" pitchFamily="2" charset="-122"/>
              </a:rPr>
              <a:t>对自身环境的控制</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政治上具有参与权、言论自由及集会自由</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物质上拥有财产权和工作权。</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260648"/>
            <a:ext cx="8064896" cy="1152128"/>
          </a:xfrm>
        </p:spPr>
        <p:txBody>
          <a:bodyPr/>
          <a:lstStyle/>
          <a:p>
            <a:pPr marL="0" indent="0">
              <a:buNone/>
            </a:pPr>
            <a:r>
              <a:rPr lang="zh-CN" altLang="zh-CN" sz="1600" dirty="0">
                <a:latin typeface="华文中宋" panose="02010600040101010101" pitchFamily="2" charset="-122"/>
                <a:ea typeface="华文中宋" panose="02010600040101010101" pitchFamily="2" charset="-122"/>
              </a:rPr>
              <a:t>今天听到您课堂开篇关于人作为生命主体“自主性</a:t>
            </a:r>
            <a:r>
              <a:rPr lang="en-US" altLang="zh-CN" sz="1600" dirty="0">
                <a:latin typeface="华文中宋" panose="02010600040101010101" pitchFamily="2" charset="-122"/>
                <a:ea typeface="华文中宋" panose="02010600040101010101" pitchFamily="2" charset="-122"/>
              </a:rPr>
              <a:t>"</a:t>
            </a:r>
            <a:r>
              <a:rPr lang="zh-CN" altLang="zh-CN" sz="1600" dirty="0">
                <a:latin typeface="华文中宋" panose="02010600040101010101" pitchFamily="2" charset="-122"/>
                <a:ea typeface="华文中宋" panose="02010600040101010101" pitchFamily="2" charset="-122"/>
              </a:rPr>
              <a:t>的思考，甚有启发。但您之后的课堂都在探讨关于外界纷繁的束缚和评判标准，这本质是对人自主性不可避免的压制。理想的大学应当是一个激发人“自主性”的平台，还是一个应当有足够约束的平台。现实中，作为大学生的我，除了享受太阳朝升暮落，听风听雨之外，又有什么可以获得足够“自主性”体验的生活方式而不是一种您口中的“放纵”呢？这是否矛盾？</a:t>
            </a:r>
          </a:p>
          <a:p>
            <a:endParaRPr lang="zh-CN" altLang="en-US" sz="1200" dirty="0"/>
          </a:p>
        </p:txBody>
      </p:sp>
      <p:sp>
        <p:nvSpPr>
          <p:cNvPr id="6" name="内容占位符 2">
            <a:extLst>
              <a:ext uri="{FF2B5EF4-FFF2-40B4-BE49-F238E27FC236}">
                <a16:creationId xmlns:a16="http://schemas.microsoft.com/office/drawing/2014/main" id="{E694D193-1291-5EA0-CA03-A5527DE94142}"/>
              </a:ext>
            </a:extLst>
          </p:cNvPr>
          <p:cNvSpPr txBox="1">
            <a:spLocks/>
          </p:cNvSpPr>
          <p:nvPr/>
        </p:nvSpPr>
        <p:spPr>
          <a:xfrm>
            <a:off x="251520" y="1556792"/>
            <a:ext cx="8784976" cy="4384290"/>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buFont typeface="Wingdings 2" panose="05020102010507070707" pitchFamily="18" charset="2"/>
              <a:buNone/>
            </a:pPr>
            <a:r>
              <a:rPr lang="zh-CN" altLang="en-US" sz="1800" b="0" dirty="0">
                <a:latin typeface="华文中宋" panose="02010600040101010101" pitchFamily="2" charset="-122"/>
                <a:ea typeface="华文中宋" panose="02010600040101010101" pitchFamily="2" charset="-122"/>
              </a:rPr>
              <a:t>大学既非纯粹激发自主性的乌托邦，亦非以约束为唯一目的的训练场，而是一个“有边界的实验场”。自主性并非在真空中生长，而是在与必要约束的互动中得以锤炼：没有课程框架与评价体系提供的稳定舞台，自由选择容易滑向虚无与焦虑；但若只有约束而无探索空间，则沦为规训。理想的大学提供安全边界</a:t>
            </a:r>
            <a:r>
              <a:rPr lang="en-US" altLang="zh-CN" sz="1800" b="0" dirty="0">
                <a:latin typeface="华文中宋" panose="02010600040101010101" pitchFamily="2" charset="-122"/>
                <a:ea typeface="华文中宋" panose="02010600040101010101" pitchFamily="2" charset="-122"/>
              </a:rPr>
              <a:t>——</a:t>
            </a:r>
            <a:r>
              <a:rPr lang="zh-CN" altLang="en-US" sz="1800" b="0" dirty="0">
                <a:latin typeface="华文中宋" panose="02010600040101010101" pitchFamily="2" charset="-122"/>
                <a:ea typeface="华文中宋" panose="02010600040101010101" pitchFamily="2" charset="-122"/>
              </a:rPr>
              <a:t>学业要求、社群规范、时间节律</a:t>
            </a:r>
            <a:r>
              <a:rPr lang="en-US" altLang="zh-CN" sz="1800" b="0" dirty="0">
                <a:latin typeface="华文中宋" panose="02010600040101010101" pitchFamily="2" charset="-122"/>
                <a:ea typeface="华文中宋" panose="02010600040101010101" pitchFamily="2" charset="-122"/>
              </a:rPr>
              <a:t>——</a:t>
            </a:r>
            <a:r>
              <a:rPr lang="zh-CN" altLang="en-US" sz="1800" b="0" dirty="0">
                <a:latin typeface="华文中宋" panose="02010600040101010101" pitchFamily="2" charset="-122"/>
                <a:ea typeface="华文中宋" panose="02010600040101010101" pitchFamily="2" charset="-122"/>
              </a:rPr>
              <a:t>使学生在其中尝试、失败、反思，从而将外在规约逐步转化为自我管理的能力。</a:t>
            </a:r>
          </a:p>
          <a:p>
            <a:pPr marL="0" indent="0">
              <a:buFont typeface="Wingdings 2" panose="05020102010507070707" pitchFamily="18" charset="2"/>
              <a:buNone/>
            </a:pPr>
            <a:endParaRPr lang="zh-CN" altLang="en-US" sz="1800" b="0" dirty="0">
              <a:latin typeface="华文中宋" panose="02010600040101010101" pitchFamily="2" charset="-122"/>
              <a:ea typeface="华文中宋" panose="02010600040101010101" pitchFamily="2" charset="-122"/>
            </a:endParaRPr>
          </a:p>
          <a:p>
            <a:pPr marL="0" indent="0">
              <a:buFont typeface="Wingdings 2" panose="05020102010507070707" pitchFamily="18" charset="2"/>
              <a:buNone/>
            </a:pPr>
            <a:r>
              <a:rPr lang="zh-CN" altLang="en-US" sz="1800" b="0" dirty="0">
                <a:latin typeface="华文中宋" panose="02010600040101010101" pitchFamily="2" charset="-122"/>
                <a:ea typeface="华文中宋" panose="02010600040101010101" pitchFamily="2" charset="-122"/>
              </a:rPr>
              <a:t>对于大学生而言，真正的自主性体验既不等于完全放任的“放纵”，也不等于被焦虑驱动的内卷。它表现为：发起一件小事而非被动响应，选择一门“无用”的课满足纯粹的好奇，建立自己的评价尺度以平衡外部指标，主动承担一份责任以感受行动的分量。更重要的是，拥有“什么都不做”的权利并坦然接受</a:t>
            </a:r>
            <a:r>
              <a:rPr lang="en-US" altLang="zh-CN" sz="1800" b="0" dirty="0">
                <a:latin typeface="华文中宋" panose="02010600040101010101" pitchFamily="2" charset="-122"/>
                <a:ea typeface="华文中宋" panose="02010600040101010101" pitchFamily="2" charset="-122"/>
              </a:rPr>
              <a:t>——</a:t>
            </a:r>
            <a:r>
              <a:rPr lang="zh-CN" altLang="en-US" sz="1800" b="0" dirty="0">
                <a:latin typeface="华文中宋" panose="02010600040101010101" pitchFamily="2" charset="-122"/>
                <a:ea typeface="华文中宋" panose="02010600040101010101" pitchFamily="2" charset="-122"/>
              </a:rPr>
              <a:t>躺在草地上看云，只要是出于自身选择且感到充盈，便是高度自主的生活。区分自主与放纵的关键在于：停下来之后，是更充实还是更耗竭。大学的意义不在于二者择一，而在于学会在张力中为自己做出有意识的取舍。</a:t>
            </a:r>
            <a:endParaRPr lang="zh-CN" altLang="en-US" sz="1800" b="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927350" y="4092575"/>
            <a:ext cx="3357563" cy="164782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1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培养社会发展所需要的人</a:t>
            </a:r>
            <a:endParaRPr kumimoji="0" lang="en-US" altLang="zh-CN" sz="21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100" b="1" i="0" u="none" strike="noStrike" kern="120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n-cs"/>
              </a:rPr>
              <a:t>（社会主义建设者和接班人）</a:t>
            </a:r>
            <a:endParaRPr kumimoji="0" lang="zh-CN" altLang="en-US" sz="2100" b="1" i="0" u="none" strike="noStrike" kern="1200" cap="none" spc="0" normalizeH="0" baseline="0" noProof="0" dirty="0">
              <a:ln>
                <a:noFill/>
              </a:ln>
              <a:solidFill>
                <a:schemeClr val="bg1"/>
              </a:solidFill>
              <a:effectLst/>
              <a:uLnTx/>
              <a:uFillTx/>
              <a:latin typeface="+mn-lt"/>
              <a:ea typeface="+mn-ea"/>
              <a:cs typeface="+mn-cs"/>
            </a:endParaRPr>
          </a:p>
        </p:txBody>
      </p:sp>
      <p:sp>
        <p:nvSpPr>
          <p:cNvPr id="5" name="内容占位符 4"/>
          <p:cNvSpPr>
            <a:spLocks noGrp="1"/>
          </p:cNvSpPr>
          <p:nvPr>
            <p:ph idx="1"/>
          </p:nvPr>
        </p:nvSpPr>
        <p:spPr>
          <a:xfrm>
            <a:off x="515938" y="3621088"/>
            <a:ext cx="1774825" cy="119538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ctr" anchorCtr="0" compatLnSpc="1"/>
          <a:lstStyle/>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1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rPr>
              <a:t>社会发展</a:t>
            </a:r>
            <a:endParaRPr kumimoji="0" lang="zh-CN" altLang="en-US" sz="2100" b="0"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endParaRPr>
          </a:p>
        </p:txBody>
      </p:sp>
      <p:sp>
        <p:nvSpPr>
          <p:cNvPr id="6" name="内容占位符 4"/>
          <p:cNvSpPr txBox="1"/>
          <p:nvPr/>
        </p:nvSpPr>
        <p:spPr bwMode="auto">
          <a:xfrm>
            <a:off x="2028825" y="2720975"/>
            <a:ext cx="1800225" cy="1216025"/>
          </a:xfrm>
          <a:prstGeom prst="ellipse">
            <a:avLst/>
          </a:prstGeom>
          <a:solidFill>
            <a:srgbClr val="FFFF00"/>
          </a:solidFill>
          <a:ln w="254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1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知识积累</a:t>
            </a:r>
            <a:endParaRPr kumimoji="0" lang="zh-CN" altLang="en-US" sz="195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
        <p:nvSpPr>
          <p:cNvPr id="7" name="内容占位符 4"/>
          <p:cNvSpPr txBox="1"/>
          <p:nvPr/>
        </p:nvSpPr>
        <p:spPr bwMode="auto">
          <a:xfrm>
            <a:off x="3770313" y="2525713"/>
            <a:ext cx="1800225" cy="1198563"/>
          </a:xfrm>
          <a:prstGeom prst="ellipse">
            <a:avLst/>
          </a:prstGeom>
          <a:solidFill>
            <a:srgbClr val="FFC000"/>
          </a:solidFill>
          <a:ln w="254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1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rPr>
              <a:t>文化传承</a:t>
            </a:r>
            <a:endParaRPr kumimoji="0" lang="zh-CN" altLang="en-US" sz="195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endParaRPr>
          </a:p>
        </p:txBody>
      </p:sp>
      <p:sp>
        <p:nvSpPr>
          <p:cNvPr id="8" name="内容占位符 4"/>
          <p:cNvSpPr txBox="1"/>
          <p:nvPr/>
        </p:nvSpPr>
        <p:spPr bwMode="auto">
          <a:xfrm>
            <a:off x="6921500" y="3797300"/>
            <a:ext cx="1800225" cy="1220788"/>
          </a:xfrm>
          <a:prstGeom prst="ellipse">
            <a:avLst/>
          </a:prstGeom>
          <a:solidFill>
            <a:srgbClr val="7030A0"/>
          </a:solidFill>
          <a:ln w="254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1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rPr>
              <a:t>制度运行</a:t>
            </a:r>
          </a:p>
        </p:txBody>
      </p:sp>
      <p:sp>
        <p:nvSpPr>
          <p:cNvPr id="9" name="内容占位符 4"/>
          <p:cNvSpPr txBox="1"/>
          <p:nvPr/>
        </p:nvSpPr>
        <p:spPr bwMode="auto">
          <a:xfrm>
            <a:off x="5541963" y="2771775"/>
            <a:ext cx="1800225" cy="1179513"/>
          </a:xfrm>
          <a:prstGeom prst="ellipse">
            <a:avLst/>
          </a:prstGeom>
          <a:solidFill>
            <a:srgbClr val="00B0F0"/>
          </a:solidFill>
          <a:ln w="254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1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rPr>
              <a:t>国家存续</a:t>
            </a:r>
            <a:endParaRPr kumimoji="0" lang="zh-CN" altLang="en-US" sz="195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endParaRPr>
          </a:p>
        </p:txBody>
      </p:sp>
      <p:sp>
        <p:nvSpPr>
          <p:cNvPr id="10" name="下箭头 9"/>
          <p:cNvSpPr/>
          <p:nvPr/>
        </p:nvSpPr>
        <p:spPr>
          <a:xfrm>
            <a:off x="4319588" y="3692525"/>
            <a:ext cx="492125" cy="520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1" name="下箭头 10"/>
          <p:cNvSpPr/>
          <p:nvPr/>
        </p:nvSpPr>
        <p:spPr>
          <a:xfrm rot="19593786">
            <a:off x="3205163" y="3746500"/>
            <a:ext cx="492125" cy="520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2" name="下箭头 11"/>
          <p:cNvSpPr/>
          <p:nvPr/>
        </p:nvSpPr>
        <p:spPr>
          <a:xfrm rot="2580369">
            <a:off x="5653088" y="3779838"/>
            <a:ext cx="492125" cy="5222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3" name="下箭头 12"/>
          <p:cNvSpPr/>
          <p:nvPr/>
        </p:nvSpPr>
        <p:spPr>
          <a:xfrm rot="17497737">
            <a:off x="2253456" y="4318794"/>
            <a:ext cx="492125" cy="5222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4" name="下箭头 13"/>
          <p:cNvSpPr/>
          <p:nvPr/>
        </p:nvSpPr>
        <p:spPr>
          <a:xfrm rot="3826690">
            <a:off x="6304756" y="4420394"/>
            <a:ext cx="492125" cy="5222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8685" name="矩形 14"/>
          <p:cNvSpPr/>
          <p:nvPr/>
        </p:nvSpPr>
        <p:spPr>
          <a:xfrm>
            <a:off x="250825" y="1724025"/>
            <a:ext cx="8642350"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2800" b="1" dirty="0">
                <a:latin typeface="华文楷体" panose="02010600040101010101" pitchFamily="2" charset="-122"/>
                <a:ea typeface="华文楷体" panose="02010600040101010101" pitchFamily="2" charset="-122"/>
              </a:rPr>
              <a:t>世界一流大学都是在服务自己国家发展中成长起来的</a:t>
            </a:r>
            <a:endParaRPr lang="en-US" altLang="zh-CN" sz="2800" b="1" dirty="0">
              <a:latin typeface="华文楷体" panose="02010600040101010101" pitchFamily="2" charset="-122"/>
              <a:ea typeface="华文楷体" panose="02010600040101010101" pitchFamily="2" charset="-122"/>
            </a:endParaRPr>
          </a:p>
        </p:txBody>
      </p:sp>
      <p:sp>
        <p:nvSpPr>
          <p:cNvPr id="28686" name="Rectangle 2"/>
          <p:cNvSpPr txBox="1"/>
          <p:nvPr/>
        </p:nvSpPr>
        <p:spPr>
          <a:xfrm>
            <a:off x="161925" y="857250"/>
            <a:ext cx="3851275" cy="5286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0" lvl="0" indent="0" algn="ctr">
              <a:spcBef>
                <a:spcPct val="0"/>
              </a:spcBef>
              <a:buClrTx/>
              <a:buSzTx/>
              <a:buFontTx/>
              <a:buNone/>
            </a:pPr>
            <a:endParaRPr lang="zh-CN" altLang="en-US" sz="1500" b="1" dirty="0">
              <a:solidFill>
                <a:srgbClr val="002060"/>
              </a:solidFill>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2"/>
          <p:cNvSpPr>
            <a:spLocks noGrp="1"/>
          </p:cNvSpPr>
          <p:nvPr>
            <p:ph idx="1"/>
          </p:nvPr>
        </p:nvSpPr>
        <p:spPr>
          <a:xfrm>
            <a:off x="250825" y="1412875"/>
            <a:ext cx="8785225" cy="4873625"/>
          </a:xfrm>
        </p:spPr>
        <p:txBody>
          <a:bodyPr vert="horz" wrap="square" lIns="91440" tIns="45720" rIns="91440" bIns="45720" anchor="t" anchorCtr="0"/>
          <a:lstStyle/>
          <a:p>
            <a:pPr marL="0" indent="0">
              <a:buNone/>
            </a:pPr>
            <a:r>
              <a:rPr lang="zh-CN" altLang="en-US" dirty="0">
                <a:latin typeface="华文楷体" panose="02010600040101010101" pitchFamily="2" charset="-122"/>
                <a:ea typeface="华文楷体" panose="02010600040101010101" pitchFamily="2" charset="-122"/>
              </a:rPr>
              <a:t>“加快建设世界重要人才中心和创新高地，促进人才区域合理布局和协调发展，着力形成人才国际竞争的比较优势，加快建设国家战略人才力量，努力培养造就更多</a:t>
            </a:r>
            <a:r>
              <a:rPr lang="zh-CN" altLang="en-US" dirty="0">
                <a:solidFill>
                  <a:srgbClr val="FF0000"/>
                </a:solidFill>
                <a:latin typeface="华文楷体" panose="02010600040101010101" pitchFamily="2" charset="-122"/>
                <a:ea typeface="华文楷体" panose="02010600040101010101" pitchFamily="2" charset="-122"/>
              </a:rPr>
              <a:t>大师</a:t>
            </a:r>
            <a:r>
              <a:rPr lang="zh-CN" altLang="en-US" dirty="0">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战略科学家</a:t>
            </a:r>
            <a:r>
              <a:rPr lang="zh-CN" altLang="en-US" dirty="0">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一流科技领军人才和创新团队</a:t>
            </a:r>
            <a:r>
              <a:rPr lang="zh-CN" altLang="en-US" dirty="0">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青年科技人才</a:t>
            </a:r>
            <a:r>
              <a:rPr lang="zh-CN" altLang="en-US" dirty="0">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卓越工程师</a:t>
            </a:r>
            <a:r>
              <a:rPr lang="zh-CN" altLang="en-US" dirty="0">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大国工匠</a:t>
            </a:r>
            <a:r>
              <a:rPr lang="zh-CN" altLang="en-US" dirty="0">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高技能人才</a:t>
            </a:r>
            <a:r>
              <a:rPr lang="zh-CN" altLang="en-US" dirty="0">
                <a:latin typeface="华文楷体" panose="02010600040101010101" pitchFamily="2" charset="-122"/>
                <a:ea typeface="华文楷体" panose="02010600040101010101" pitchFamily="2" charset="-122"/>
              </a:rPr>
              <a:t>。加强人才国际交流，用好用活各类人才。”</a:t>
            </a:r>
            <a:endParaRPr lang="en-US" altLang="zh-CN" dirty="0">
              <a:latin typeface="华文楷体" panose="02010600040101010101" pitchFamily="2" charset="-122"/>
              <a:ea typeface="华文楷体" panose="02010600040101010101" pitchFamily="2" charset="-122"/>
            </a:endParaRPr>
          </a:p>
          <a:p>
            <a:pPr marL="0" indent="0">
              <a:buNone/>
            </a:pPr>
            <a:r>
              <a:rPr lang="en-US" altLang="zh-CN" dirty="0"/>
              <a:t>——</a:t>
            </a:r>
            <a:r>
              <a:rPr lang="en-US" altLang="zh-CN" sz="2800" dirty="0">
                <a:latin typeface="华文楷体" panose="02010600040101010101" pitchFamily="2" charset="-122"/>
                <a:ea typeface="华文楷体" panose="02010600040101010101" pitchFamily="2" charset="-122"/>
              </a:rPr>
              <a:t>2022</a:t>
            </a:r>
            <a:r>
              <a:rPr lang="zh-CN" altLang="en-US" sz="2800" dirty="0">
                <a:latin typeface="华文楷体" panose="02010600040101010101" pitchFamily="2" charset="-122"/>
                <a:ea typeface="华文楷体" panose="02010600040101010101" pitchFamily="2" charset="-122"/>
              </a:rPr>
              <a:t>年</a:t>
            </a:r>
            <a:r>
              <a:rPr lang="en-US" altLang="zh-CN" sz="2800" dirty="0">
                <a:latin typeface="华文楷体" panose="02010600040101010101" pitchFamily="2" charset="-122"/>
                <a:ea typeface="华文楷体" panose="02010600040101010101" pitchFamily="2" charset="-122"/>
              </a:rPr>
              <a:t>10</a:t>
            </a:r>
            <a:r>
              <a:rPr lang="zh-CN" altLang="en-US" sz="2800" dirty="0">
                <a:latin typeface="华文楷体" panose="02010600040101010101" pitchFamily="2" charset="-122"/>
                <a:ea typeface="华文楷体" panose="02010600040101010101" pitchFamily="2" charset="-122"/>
              </a:rPr>
              <a:t>月</a:t>
            </a:r>
            <a:r>
              <a:rPr lang="en-US" altLang="zh-CN" sz="2800" dirty="0">
                <a:latin typeface="华文楷体" panose="02010600040101010101" pitchFamily="2" charset="-122"/>
                <a:ea typeface="华文楷体" panose="02010600040101010101" pitchFamily="2" charset="-122"/>
              </a:rPr>
              <a:t>16</a:t>
            </a:r>
            <a:r>
              <a:rPr lang="zh-CN" altLang="en-US" sz="2800" dirty="0">
                <a:latin typeface="华文楷体" panose="02010600040101010101" pitchFamily="2" charset="-122"/>
                <a:ea typeface="华文楷体" panose="02010600040101010101" pitchFamily="2" charset="-122"/>
              </a:rPr>
              <a:t>日，习近平在中国共产党第二十次全国代表大会上的报告</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rPr>
              <a:t>如何理解现代社会？</a:t>
            </a:r>
          </a:p>
        </p:txBody>
      </p:sp>
      <p:sp>
        <p:nvSpPr>
          <p:cNvPr id="3" name="内容占位符 2"/>
          <p:cNvSpPr>
            <a:spLocks noGrp="1"/>
          </p:cNvSpPr>
          <p:nvPr>
            <p:ph idx="1"/>
          </p:nvPr>
        </p:nvSpPr>
        <p:spPr>
          <a:xfrm>
            <a:off x="35496" y="1844824"/>
            <a:ext cx="4906888" cy="3701008"/>
          </a:xfrm>
        </p:spPr>
        <p:txBody>
          <a:bodyPr/>
          <a:lstStyle/>
          <a:p>
            <a:pPr marL="457200" lvl="1" indent="0">
              <a:buNone/>
            </a:pPr>
            <a:r>
              <a:rPr lang="zh-CN" altLang="en-US" sz="1800" dirty="0">
                <a:latin typeface="华文中宋" panose="02010600040101010101" pitchFamily="2" charset="-122"/>
                <a:ea typeface="华文中宋" panose="02010600040101010101" pitchFamily="2" charset="-122"/>
                <a:cs typeface="黑体" panose="02010609060101010101" charset="-122"/>
              </a:rPr>
              <a:t>现代社会的本质是什么？</a:t>
            </a:r>
            <a:endParaRPr lang="en-US" altLang="zh-CN" sz="1800" dirty="0">
              <a:latin typeface="华文中宋" panose="02010600040101010101" pitchFamily="2" charset="-122"/>
              <a:ea typeface="华文中宋" panose="02010600040101010101" pitchFamily="2" charset="-122"/>
              <a:cs typeface="黑体" panose="02010609060101010101" charset="-122"/>
            </a:endParaRPr>
          </a:p>
          <a:p>
            <a:pPr marL="457200" lvl="1" indent="0">
              <a:buNone/>
            </a:pPr>
            <a:r>
              <a:rPr lang="zh-CN" altLang="en-US" sz="1800" dirty="0">
                <a:latin typeface="华文中宋" panose="02010600040101010101" pitchFamily="2" charset="-122"/>
                <a:ea typeface="华文中宋" panose="02010600040101010101" pitchFamily="2" charset="-122"/>
                <a:cs typeface="黑体" panose="02010609060101010101" charset="-122"/>
              </a:rPr>
              <a:t>（</a:t>
            </a:r>
            <a:r>
              <a:rPr lang="en-US" altLang="zh-CN" sz="1800" dirty="0">
                <a:latin typeface="华文中宋" panose="02010600040101010101" pitchFamily="2" charset="-122"/>
                <a:ea typeface="华文中宋" panose="02010600040101010101" pitchFamily="2" charset="-122"/>
                <a:cs typeface="黑体" panose="02010609060101010101" charset="-122"/>
              </a:rPr>
              <a:t>1</a:t>
            </a:r>
            <a:r>
              <a:rPr lang="zh-CN" altLang="en-US" sz="1800" dirty="0">
                <a:latin typeface="华文中宋" panose="02010600040101010101" pitchFamily="2" charset="-122"/>
                <a:ea typeface="华文中宋" panose="02010600040101010101" pitchFamily="2" charset="-122"/>
                <a:cs typeface="黑体" panose="02010609060101010101" charset="-122"/>
              </a:rPr>
              <a:t>）五种现象：</a:t>
            </a:r>
          </a:p>
          <a:p>
            <a:pPr marL="342900" lvl="1" indent="0">
              <a:buNone/>
            </a:pPr>
            <a:r>
              <a:rPr lang="en-US" altLang="zh-CN" sz="1800" dirty="0">
                <a:latin typeface="华文中宋" panose="02010600040101010101" pitchFamily="2" charset="-122"/>
                <a:ea typeface="华文中宋" panose="02010600040101010101" pitchFamily="2" charset="-122"/>
                <a:cs typeface="黑体" panose="02010609060101010101" charset="-122"/>
              </a:rPr>
              <a:t>A.</a:t>
            </a:r>
            <a:r>
              <a:rPr lang="zh-CN" altLang="en-US" sz="1800" dirty="0">
                <a:latin typeface="华文中宋" panose="02010600040101010101" pitchFamily="2" charset="-122"/>
                <a:ea typeface="华文中宋" panose="02010600040101010101" pitchFamily="2" charset="-122"/>
                <a:cs typeface="黑体" panose="02010609060101010101" charset="-122"/>
              </a:rPr>
              <a:t>科学是现代的根本现象；</a:t>
            </a:r>
          </a:p>
          <a:p>
            <a:pPr marL="342900" lvl="1" indent="0">
              <a:buNone/>
            </a:pPr>
            <a:r>
              <a:rPr lang="en-US" altLang="zh-CN" sz="1800" dirty="0">
                <a:latin typeface="华文中宋" panose="02010600040101010101" pitchFamily="2" charset="-122"/>
                <a:ea typeface="华文中宋" panose="02010600040101010101" pitchFamily="2" charset="-122"/>
                <a:cs typeface="黑体" panose="02010609060101010101" charset="-122"/>
              </a:rPr>
              <a:t>B.</a:t>
            </a:r>
            <a:r>
              <a:rPr lang="zh-CN" altLang="en-US" sz="1800" dirty="0">
                <a:latin typeface="华文中宋" panose="02010600040101010101" pitchFamily="2" charset="-122"/>
                <a:ea typeface="华文中宋" panose="02010600040101010101" pitchFamily="2" charset="-122"/>
                <a:cs typeface="黑体" panose="02010609060101010101" charset="-122"/>
              </a:rPr>
              <a:t>机械技术是现代技术之本质的后代。</a:t>
            </a:r>
          </a:p>
          <a:p>
            <a:pPr marL="342900" lvl="1" indent="0">
              <a:buNone/>
            </a:pPr>
            <a:r>
              <a:rPr lang="en-US" altLang="zh-CN" sz="1800" dirty="0">
                <a:latin typeface="华文中宋" panose="02010600040101010101" pitchFamily="2" charset="-122"/>
                <a:ea typeface="华文中宋" panose="02010600040101010101" pitchFamily="2" charset="-122"/>
                <a:cs typeface="黑体" panose="02010609060101010101" charset="-122"/>
              </a:rPr>
              <a:t>C.</a:t>
            </a:r>
            <a:r>
              <a:rPr lang="zh-CN" altLang="en-US" sz="1800" dirty="0">
                <a:latin typeface="华文中宋" panose="02010600040101010101" pitchFamily="2" charset="-122"/>
                <a:ea typeface="华文中宋" panose="02010600040101010101" pitchFamily="2" charset="-122"/>
                <a:cs typeface="黑体" panose="02010609060101010101" charset="-122"/>
              </a:rPr>
              <a:t>艺术进入美术的视界（艺术成为体验的对象）</a:t>
            </a:r>
            <a:r>
              <a:rPr lang="en-US" altLang="zh-CN" sz="1800" dirty="0">
                <a:latin typeface="华文中宋" panose="02010600040101010101" pitchFamily="2" charset="-122"/>
                <a:ea typeface="华文中宋" panose="02010600040101010101" pitchFamily="2" charset="-122"/>
                <a:cs typeface="黑体" panose="02010609060101010101" charset="-122"/>
              </a:rPr>
              <a:t>;</a:t>
            </a:r>
            <a:endParaRPr lang="zh-CN" altLang="en-US" sz="1800" dirty="0">
              <a:latin typeface="华文中宋" panose="02010600040101010101" pitchFamily="2" charset="-122"/>
              <a:ea typeface="华文中宋" panose="02010600040101010101" pitchFamily="2" charset="-122"/>
              <a:cs typeface="黑体" panose="02010609060101010101" charset="-122"/>
            </a:endParaRPr>
          </a:p>
          <a:p>
            <a:pPr marL="342900" lvl="1" indent="0">
              <a:buNone/>
            </a:pPr>
            <a:r>
              <a:rPr lang="en-US" altLang="zh-CN" sz="1800" dirty="0">
                <a:latin typeface="华文中宋" panose="02010600040101010101" pitchFamily="2" charset="-122"/>
                <a:ea typeface="华文中宋" panose="02010600040101010101" pitchFamily="2" charset="-122"/>
                <a:cs typeface="黑体" panose="02010609060101010101" charset="-122"/>
              </a:rPr>
              <a:t>D.</a:t>
            </a:r>
            <a:r>
              <a:rPr lang="zh-CN" altLang="en-US" sz="1800" dirty="0">
                <a:latin typeface="华文中宋" panose="02010600040101010101" pitchFamily="2" charset="-122"/>
                <a:ea typeface="华文中宋" panose="02010600040101010101" pitchFamily="2" charset="-122"/>
                <a:cs typeface="黑体" panose="02010609060101010101" charset="-122"/>
              </a:rPr>
              <a:t>人类活动被当作文化来理解。</a:t>
            </a:r>
          </a:p>
          <a:p>
            <a:pPr marL="342900" lvl="1" indent="0">
              <a:buNone/>
            </a:pPr>
            <a:r>
              <a:rPr lang="en-US" altLang="zh-CN" sz="1800" dirty="0">
                <a:latin typeface="华文中宋" panose="02010600040101010101" pitchFamily="2" charset="-122"/>
                <a:ea typeface="华文中宋" panose="02010600040101010101" pitchFamily="2" charset="-122"/>
                <a:cs typeface="黑体" panose="02010609060101010101" charset="-122"/>
              </a:rPr>
              <a:t>E.</a:t>
            </a:r>
            <a:r>
              <a:rPr lang="zh-CN" altLang="en-US" sz="1800" dirty="0">
                <a:latin typeface="华文中宋" panose="02010600040101010101" pitchFamily="2" charset="-122"/>
                <a:ea typeface="华文中宋" panose="02010600040101010101" pitchFamily="2" charset="-122"/>
                <a:cs typeface="黑体" panose="02010609060101010101" charset="-122"/>
              </a:rPr>
              <a:t>弃神（</a:t>
            </a:r>
            <a:r>
              <a:rPr lang="en-US" altLang="zh-CN" sz="1800" dirty="0" err="1">
                <a:latin typeface="华文中宋" panose="02010600040101010101" pitchFamily="2" charset="-122"/>
                <a:ea typeface="华文中宋" panose="02010600040101010101" pitchFamily="2" charset="-122"/>
                <a:cs typeface="黑体" panose="02010609060101010101" charset="-122"/>
              </a:rPr>
              <a:t>Entgotterung</a:t>
            </a:r>
            <a:r>
              <a:rPr lang="en-US" altLang="zh-CN" sz="1800" dirty="0">
                <a:latin typeface="华文中宋" panose="02010600040101010101" pitchFamily="2" charset="-122"/>
                <a:ea typeface="华文中宋" panose="02010600040101010101" pitchFamily="2" charset="-122"/>
                <a:cs typeface="黑体" panose="02010609060101010101" charset="-122"/>
              </a:rPr>
              <a:t>, loss</a:t>
            </a:r>
            <a:r>
              <a:rPr lang="zh-CN" altLang="en-US" sz="1800" dirty="0">
                <a:latin typeface="华文中宋" panose="02010600040101010101" pitchFamily="2" charset="-122"/>
                <a:ea typeface="华文中宋" panose="02010600040101010101" pitchFamily="2" charset="-122"/>
                <a:cs typeface="黑体" panose="02010609060101010101" charset="-122"/>
              </a:rPr>
              <a:t> </a:t>
            </a:r>
            <a:r>
              <a:rPr lang="en-US" altLang="zh-CN" sz="1800" dirty="0">
                <a:latin typeface="华文中宋" panose="02010600040101010101" pitchFamily="2" charset="-122"/>
                <a:ea typeface="华文中宋" panose="02010600040101010101" pitchFamily="2" charset="-122"/>
                <a:cs typeface="黑体" panose="02010609060101010101" charset="-122"/>
              </a:rPr>
              <a:t>of Gods</a:t>
            </a:r>
            <a:r>
              <a:rPr lang="zh-CN" altLang="en-US" sz="1800" dirty="0">
                <a:latin typeface="华文中宋" panose="02010600040101010101" pitchFamily="2" charset="-122"/>
                <a:ea typeface="华文中宋" panose="02010600040101010101" pitchFamily="2" charset="-122"/>
                <a:cs typeface="黑体" panose="02010609060101010101" charset="-122"/>
              </a:rPr>
              <a:t>）</a:t>
            </a:r>
          </a:p>
          <a:p>
            <a:pPr marL="342900" lvl="1" indent="0">
              <a:buNone/>
            </a:pPr>
            <a:r>
              <a:rPr lang="en-US" altLang="zh-CN" sz="1800" dirty="0">
                <a:latin typeface="华文中宋" panose="02010600040101010101" pitchFamily="2" charset="-122"/>
                <a:ea typeface="华文中宋" panose="02010600040101010101" pitchFamily="2" charset="-122"/>
                <a:cs typeface="黑体" panose="02010609060101010101" charset="-122"/>
              </a:rPr>
              <a:t>( Martin Heidegger, 《</a:t>
            </a:r>
            <a:r>
              <a:rPr lang="zh-CN" altLang="en-US" sz="1800" dirty="0">
                <a:latin typeface="华文中宋" panose="02010600040101010101" pitchFamily="2" charset="-122"/>
                <a:ea typeface="华文中宋" panose="02010600040101010101" pitchFamily="2" charset="-122"/>
                <a:cs typeface="黑体" panose="02010609060101010101" charset="-122"/>
              </a:rPr>
              <a:t>世界图像的时代</a:t>
            </a:r>
            <a:r>
              <a:rPr lang="en-US" altLang="zh-CN" sz="1800" dirty="0">
                <a:latin typeface="华文中宋" panose="02010600040101010101" pitchFamily="2" charset="-122"/>
                <a:ea typeface="华文中宋" panose="02010600040101010101" pitchFamily="2" charset="-122"/>
                <a:cs typeface="黑体" panose="02010609060101010101" charset="-122"/>
              </a:rPr>
              <a:t>》)</a:t>
            </a:r>
            <a:endParaRPr lang="zh-CN" altLang="en-US" sz="1800" dirty="0">
              <a:latin typeface="华文中宋" panose="02010600040101010101" pitchFamily="2" charset="-122"/>
              <a:ea typeface="华文中宋" panose="02010600040101010101" pitchFamily="2" charset="-122"/>
              <a:cs typeface="黑体" panose="02010609060101010101" charset="-122"/>
            </a:endParaRPr>
          </a:p>
          <a:p>
            <a:endParaRPr lang="zh-CN" altLang="en-US" dirty="0"/>
          </a:p>
        </p:txBody>
      </p:sp>
      <p:sp>
        <p:nvSpPr>
          <p:cNvPr id="4" name="内容占位符 2"/>
          <p:cNvSpPr txBox="1">
            <a:spLocks/>
          </p:cNvSpPr>
          <p:nvPr/>
        </p:nvSpPr>
        <p:spPr>
          <a:xfrm>
            <a:off x="5004048" y="1916832"/>
            <a:ext cx="3816424" cy="2808312"/>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buFont typeface="Wingdings 2" panose="05020102010507070707" pitchFamily="18" charset="2"/>
              <a:buNone/>
            </a:pPr>
            <a:r>
              <a:rPr lang="zh-CN" altLang="en-US" sz="1400" b="0" dirty="0">
                <a:latin typeface="华文中宋" panose="02010600040101010101" pitchFamily="2" charset="-122"/>
                <a:ea typeface="华文中宋" panose="02010600040101010101" pitchFamily="2" charset="-122"/>
                <a:cs typeface="华文楷体" panose="02010600040101010101" pitchFamily="2" charset="-122"/>
              </a:rPr>
              <a:t>（</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2</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）资本的时代（马克思，</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《1844-48</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年经济学哲学手稿</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》《1857-1858</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年经济学手稿</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 </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资本论</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a:t>
            </a:r>
          </a:p>
          <a:p>
            <a:pPr marL="0" indent="0">
              <a:buFont typeface="Wingdings 2" panose="05020102010507070707" pitchFamily="18" charset="2"/>
              <a:buNone/>
            </a:pP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异化的时代</a:t>
            </a:r>
          </a:p>
          <a:p>
            <a:pPr marL="0" indent="0">
              <a:buFont typeface="Wingdings 2" panose="05020102010507070707" pitchFamily="18" charset="2"/>
              <a:buNone/>
            </a:pP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(3)</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主观特殊性的时代（</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Hegel,《</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法权哲学</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 （</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4</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）虚无主义的时代（尼采，</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查拉图斯特拉如是说</a:t>
            </a: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a:t>
            </a:r>
          </a:p>
          <a:p>
            <a:pPr marL="0" indent="0">
              <a:buFont typeface="Wingdings 2" panose="05020102010507070707" pitchFamily="18" charset="2"/>
              <a:buNone/>
            </a:pPr>
            <a:r>
              <a:rPr lang="en-US" altLang="zh-CN" sz="1800" b="0" dirty="0">
                <a:latin typeface="华文中宋" panose="02010600040101010101" pitchFamily="2" charset="-122"/>
                <a:ea typeface="华文中宋" panose="02010600040101010101" pitchFamily="2" charset="-122"/>
                <a:cs typeface="华文楷体" panose="02010600040101010101" pitchFamily="2" charset="-122"/>
              </a:rPr>
              <a:t>(5)</a:t>
            </a: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后物质主义时代</a:t>
            </a:r>
          </a:p>
          <a:p>
            <a:pPr marL="0" indent="0">
              <a:buFont typeface="Wingdings 2" panose="05020102010507070707" pitchFamily="18" charset="2"/>
              <a:buNone/>
            </a:pP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生产体系</a:t>
            </a:r>
          </a:p>
          <a:p>
            <a:pPr marL="0" indent="0">
              <a:buFont typeface="Wingdings 2" panose="05020102010507070707" pitchFamily="18" charset="2"/>
              <a:buNone/>
            </a:pPr>
            <a:r>
              <a:rPr lang="zh-CN" altLang="en-US" sz="1800" b="0" dirty="0">
                <a:latin typeface="华文中宋" panose="02010600040101010101" pitchFamily="2" charset="-122"/>
                <a:ea typeface="华文中宋" panose="02010600040101010101" pitchFamily="2" charset="-122"/>
                <a:cs typeface="华文楷体" panose="02010600040101010101" pitchFamily="2" charset="-122"/>
              </a:rPr>
              <a:t>产品过剩</a:t>
            </a:r>
          </a:p>
          <a:p>
            <a:endParaRPr lang="zh-CN" altLang="en-US" sz="1400" b="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p:cNvSpPr>
            <a:spLocks noGrp="1"/>
          </p:cNvSpPr>
          <p:nvPr>
            <p:ph idx="1"/>
          </p:nvPr>
        </p:nvSpPr>
        <p:spPr>
          <a:xfrm>
            <a:off x="1763688" y="-99392"/>
            <a:ext cx="6275040" cy="936104"/>
          </a:xfrm>
        </p:spPr>
        <p:txBody>
          <a:bodyPr vert="horz" wrap="square" lIns="91440" tIns="45720" rIns="91440" bIns="45720" anchor="t" anchorCtr="0"/>
          <a:lstStyle/>
          <a:p>
            <a:pPr marL="0" indent="0">
              <a:buNone/>
            </a:pPr>
            <a:endParaRPr lang="en-US" altLang="zh-CN" dirty="0"/>
          </a:p>
          <a:p>
            <a:pPr marL="0" indent="0">
              <a:buNone/>
            </a:pPr>
            <a:r>
              <a:rPr lang="zh-CN" altLang="en-US" sz="1600" dirty="0">
                <a:latin typeface="华文中宋" panose="02010600040101010101" pitchFamily="2" charset="-122"/>
                <a:ea typeface="华文中宋" panose="02010600040101010101" pitchFamily="2" charset="-122"/>
              </a:rPr>
              <a:t>如何理解现代社会</a:t>
            </a:r>
            <a:r>
              <a:rPr lang="en-US" altLang="zh-CN" sz="1600" dirty="0">
                <a:latin typeface="华文中宋" panose="02010600040101010101" pitchFamily="2" charset="-122"/>
                <a:ea typeface="华文中宋" panose="02010600040101010101" pitchFamily="2" charset="-122"/>
              </a:rPr>
              <a:t>——</a:t>
            </a:r>
            <a:r>
              <a:rPr lang="zh-CN" altLang="en-US" sz="1600" dirty="0">
                <a:latin typeface="华文中宋" panose="02010600040101010101" pitchFamily="2" charset="-122"/>
                <a:ea typeface="华文中宋" panose="02010600040101010101" pitchFamily="2" charset="-122"/>
              </a:rPr>
              <a:t>基于</a:t>
            </a:r>
            <a:r>
              <a:rPr lang="en-US" altLang="zh-CN" sz="1600" dirty="0">
                <a:latin typeface="华文中宋" panose="02010600040101010101" pitchFamily="2" charset="-122"/>
                <a:ea typeface="华文中宋" panose="02010600040101010101" pitchFamily="2" charset="-122"/>
              </a:rPr>
              <a:t>Hartmut Rosa</a:t>
            </a:r>
            <a:r>
              <a:rPr lang="zh-CN" altLang="en-US" sz="1600" dirty="0">
                <a:latin typeface="华文中宋" panose="02010600040101010101" pitchFamily="2" charset="-122"/>
                <a:ea typeface="华文中宋" panose="02010600040101010101" pitchFamily="2" charset="-122"/>
              </a:rPr>
              <a:t>“加速社会”理论</a:t>
            </a:r>
          </a:p>
        </p:txBody>
      </p:sp>
      <p:sp>
        <p:nvSpPr>
          <p:cNvPr id="3" name="矩形 5">
            <a:extLst>
              <a:ext uri="{FF2B5EF4-FFF2-40B4-BE49-F238E27FC236}">
                <a16:creationId xmlns:a16="http://schemas.microsoft.com/office/drawing/2014/main" id="{ED809659-BDF9-E8ED-8750-5B5C16808116}"/>
              </a:ext>
            </a:extLst>
          </p:cNvPr>
          <p:cNvSpPr/>
          <p:nvPr/>
        </p:nvSpPr>
        <p:spPr>
          <a:xfrm>
            <a:off x="323528" y="1556792"/>
            <a:ext cx="5400600" cy="230832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63500" lvl="0" indent="0">
              <a:spcBef>
                <a:spcPct val="0"/>
              </a:spcBef>
              <a:buClrTx/>
              <a:buSzTx/>
              <a:buFontTx/>
              <a:buNone/>
            </a:pPr>
            <a:r>
              <a:rPr lang="zh-CN" altLang="en-US" sz="1600" dirty="0">
                <a:solidFill>
                  <a:srgbClr val="000000"/>
                </a:solidFill>
                <a:latin typeface="华文楷体" panose="02010600040101010101" pitchFamily="2" charset="-122"/>
                <a:ea typeface="华文楷体" panose="02010600040101010101" pitchFamily="2" charset="-122"/>
              </a:rPr>
              <a:t>挑战</a:t>
            </a:r>
            <a:r>
              <a:rPr lang="en-US" altLang="zh-CN" sz="1600" dirty="0">
                <a:solidFill>
                  <a:srgbClr val="000000"/>
                </a:solidFill>
                <a:latin typeface="华文楷体" panose="02010600040101010101" pitchFamily="2" charset="-122"/>
                <a:ea typeface="华文楷体" panose="02010600040101010101" pitchFamily="2" charset="-122"/>
              </a:rPr>
              <a:t>1</a:t>
            </a:r>
            <a:r>
              <a:rPr lang="zh-CN" altLang="en-US" sz="1600" dirty="0">
                <a:solidFill>
                  <a:srgbClr val="000000"/>
                </a:solidFill>
                <a:latin typeface="华文楷体" panose="02010600040101010101" pitchFamily="2" charset="-122"/>
                <a:ea typeface="华文楷体" panose="02010600040101010101" pitchFamily="2" charset="-122"/>
              </a:rPr>
              <a:t>：现代社会的核心标准：</a:t>
            </a:r>
            <a:r>
              <a:rPr lang="zh-CN" altLang="en-US" sz="1600" dirty="0">
                <a:solidFill>
                  <a:srgbClr val="FF0000"/>
                </a:solidFill>
                <a:latin typeface="华文楷体" panose="02010600040101010101" pitchFamily="2" charset="-122"/>
                <a:ea typeface="华文楷体" panose="02010600040101010101" pitchFamily="2" charset="-122"/>
              </a:rPr>
              <a:t>动态稳定</a:t>
            </a:r>
            <a:endParaRPr lang="en-US" altLang="zh-CN" sz="1600" dirty="0">
              <a:solidFill>
                <a:srgbClr val="FF0000"/>
              </a:solidFill>
              <a:latin typeface="华文楷体" panose="02010600040101010101" pitchFamily="2" charset="-122"/>
              <a:ea typeface="华文楷体" panose="02010600040101010101" pitchFamily="2" charset="-122"/>
            </a:endParaRPr>
          </a:p>
          <a:p>
            <a:pPr marL="63500" lvl="0" indent="0">
              <a:spcBef>
                <a:spcPct val="0"/>
              </a:spcBef>
              <a:buClrTx/>
              <a:buSzTx/>
              <a:buFontTx/>
              <a:buNone/>
            </a:pPr>
            <a:r>
              <a:rPr lang="zh-CN" altLang="en-US" sz="1600" dirty="0">
                <a:solidFill>
                  <a:srgbClr val="000000"/>
                </a:solidFill>
                <a:latin typeface="华文楷体" panose="02010600040101010101" pitchFamily="2" charset="-122"/>
                <a:ea typeface="华文楷体" panose="02010600040101010101" pitchFamily="2" charset="-122"/>
              </a:rPr>
              <a:t>为了保持现状，它需要持续增长（经济），加速（技术）和革新（文化），从而使得世界可用，可达，可得（即所谓</a:t>
            </a:r>
            <a:r>
              <a:rPr lang="en-US" altLang="zh-CN" sz="1600" dirty="0">
                <a:solidFill>
                  <a:srgbClr val="000000"/>
                </a:solidFill>
                <a:latin typeface="华文楷体" panose="02010600040101010101" pitchFamily="2" charset="-122"/>
                <a:ea typeface="华文楷体" panose="02010600040101010101" pitchFamily="2" charset="-122"/>
              </a:rPr>
              <a:t>3A</a:t>
            </a:r>
            <a:r>
              <a:rPr lang="zh-CN" altLang="en-US" sz="1600" dirty="0">
                <a:solidFill>
                  <a:srgbClr val="000000"/>
                </a:solidFill>
                <a:latin typeface="华文楷体" panose="02010600040101010101" pitchFamily="2" charset="-122"/>
                <a:ea typeface="华文楷体" panose="02010600040101010101" pitchFamily="2" charset="-122"/>
              </a:rPr>
              <a:t>战略，</a:t>
            </a:r>
            <a:r>
              <a:rPr lang="en-US" altLang="zh-CN" sz="1600" dirty="0">
                <a:solidFill>
                  <a:srgbClr val="000000"/>
                </a:solidFill>
                <a:latin typeface="华文楷体" panose="02010600040101010101" pitchFamily="2" charset="-122"/>
                <a:ea typeface="华文楷体" panose="02010600040101010101" pitchFamily="2" charset="-122"/>
              </a:rPr>
              <a:t>available, accessible,attainble</a:t>
            </a: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而根本的目的是可控。</a:t>
            </a:r>
            <a:endParaRPr lang="en-US" altLang="zh-CN" sz="1600" dirty="0">
              <a:solidFill>
                <a:srgbClr val="000000"/>
              </a:solidFill>
              <a:latin typeface="华文楷体" panose="02010600040101010101" pitchFamily="2" charset="-122"/>
              <a:ea typeface="华文楷体" panose="02010600040101010101" pitchFamily="2" charset="-122"/>
            </a:endParaRPr>
          </a:p>
          <a:p>
            <a:pPr marL="63500" lvl="0" indent="0">
              <a:spcBef>
                <a:spcPct val="0"/>
              </a:spcBef>
              <a:buClrTx/>
              <a:buSzTx/>
              <a:buFontTx/>
              <a:buNone/>
            </a:pPr>
            <a:endParaRPr lang="en-US" altLang="zh-CN" sz="1600" dirty="0">
              <a:solidFill>
                <a:srgbClr val="000000"/>
              </a:solidFill>
              <a:latin typeface="华文楷体" panose="02010600040101010101" pitchFamily="2" charset="-122"/>
              <a:ea typeface="华文楷体" panose="02010600040101010101" pitchFamily="2" charset="-122"/>
            </a:endParaRPr>
          </a:p>
          <a:p>
            <a:pPr marL="63500" lvl="0" indent="0">
              <a:spcBef>
                <a:spcPct val="0"/>
              </a:spcBef>
              <a:buClrTx/>
              <a:buSzTx/>
              <a:buFontTx/>
              <a:buNone/>
            </a:pPr>
            <a:endParaRPr lang="en-US" altLang="zh-CN" sz="1600" dirty="0">
              <a:solidFill>
                <a:srgbClr val="000000"/>
              </a:solidFill>
              <a:latin typeface="华文楷体" panose="02010600040101010101" pitchFamily="2" charset="-122"/>
              <a:ea typeface="华文楷体" panose="02010600040101010101" pitchFamily="2" charset="-122"/>
            </a:endParaRPr>
          </a:p>
          <a:p>
            <a:pPr marL="63500" lvl="0" indent="0">
              <a:spcBef>
                <a:spcPct val="0"/>
              </a:spcBef>
              <a:buClrTx/>
              <a:buSzTx/>
              <a:buFontTx/>
              <a:buNone/>
            </a:pPr>
            <a:endParaRPr lang="en-US" altLang="zh-CN" sz="1600" dirty="0">
              <a:latin typeface="华文楷体" panose="02010600040101010101" pitchFamily="2" charset="-122"/>
              <a:ea typeface="华文楷体" panose="02010600040101010101" pitchFamily="2" charset="-122"/>
            </a:endParaRPr>
          </a:p>
          <a:p>
            <a:pPr marL="63500" lvl="0" indent="0">
              <a:spcBef>
                <a:spcPct val="0"/>
              </a:spcBef>
              <a:buClrTx/>
              <a:buSzTx/>
              <a:buFontTx/>
              <a:buNone/>
            </a:pPr>
            <a:endParaRPr lang="en-US" altLang="zh-CN" sz="1600" b="1" dirty="0">
              <a:solidFill>
                <a:srgbClr val="000000"/>
              </a:solidFill>
              <a:latin typeface="楷体" panose="02010609060101010101" pitchFamily="49" charset="-122"/>
              <a:ea typeface="楷体" panose="02010609060101010101" pitchFamily="49" charset="-122"/>
            </a:endParaRPr>
          </a:p>
        </p:txBody>
      </p:sp>
      <p:sp>
        <p:nvSpPr>
          <p:cNvPr id="5" name="标题 1">
            <a:extLst>
              <a:ext uri="{FF2B5EF4-FFF2-40B4-BE49-F238E27FC236}">
                <a16:creationId xmlns:a16="http://schemas.microsoft.com/office/drawing/2014/main" id="{2DE0AB3C-E0A9-965E-8766-03D115CCD06F}"/>
              </a:ext>
            </a:extLst>
          </p:cNvPr>
          <p:cNvSpPr>
            <a:spLocks noGrp="1"/>
          </p:cNvSpPr>
          <p:nvPr>
            <p:ph type="title"/>
          </p:nvPr>
        </p:nvSpPr>
        <p:spPr>
          <a:xfrm>
            <a:off x="395536" y="2360206"/>
            <a:ext cx="3024336" cy="720080"/>
          </a:xfrm>
        </p:spPr>
        <p:txBody>
          <a:bodyPr anchor="ctr">
            <a:noAutofit/>
          </a:bodyPr>
          <a:lstStyle/>
          <a:p>
            <a:r>
              <a:rPr lang="zh-CN" altLang="en-US" sz="1400" dirty="0">
                <a:latin typeface="华文中宋" panose="02010600040101010101" pitchFamily="2" charset="-122"/>
                <a:ea typeface="华文中宋" panose="02010600040101010101" pitchFamily="2" charset="-122"/>
              </a:rPr>
              <a:t>挑战</a:t>
            </a:r>
            <a:r>
              <a:rPr lang="en-US" altLang="zh-CN" sz="1400" dirty="0">
                <a:latin typeface="华文中宋" panose="02010600040101010101" pitchFamily="2" charset="-122"/>
                <a:ea typeface="华文中宋" panose="02010600040101010101" pitchFamily="2" charset="-122"/>
              </a:rPr>
              <a:t>2</a:t>
            </a:r>
            <a:r>
              <a:rPr lang="zh-CN" altLang="en-US" sz="1400" dirty="0">
                <a:latin typeface="华文中宋" panose="02010600040101010101" pitchFamily="2" charset="-122"/>
                <a:ea typeface="华文中宋" panose="02010600040101010101" pitchFamily="2" charset="-122"/>
              </a:rPr>
              <a:t>：青少年心理成长的现实困境</a:t>
            </a:r>
          </a:p>
        </p:txBody>
      </p:sp>
      <p:sp>
        <p:nvSpPr>
          <p:cNvPr id="6" name="内容占位符 2">
            <a:extLst>
              <a:ext uri="{FF2B5EF4-FFF2-40B4-BE49-F238E27FC236}">
                <a16:creationId xmlns:a16="http://schemas.microsoft.com/office/drawing/2014/main" id="{BB6C29C9-6B29-FA59-0DF7-36D8B18B7DB0}"/>
              </a:ext>
            </a:extLst>
          </p:cNvPr>
          <p:cNvSpPr txBox="1">
            <a:spLocks/>
          </p:cNvSpPr>
          <p:nvPr/>
        </p:nvSpPr>
        <p:spPr>
          <a:xfrm>
            <a:off x="402838" y="2569477"/>
            <a:ext cx="4320480" cy="4031438"/>
          </a:xfrm>
          <a:prstGeom prst="rect">
            <a:avLst/>
          </a:prstGeom>
          <a:noFill/>
          <a:ln w="9525">
            <a:noFill/>
          </a:ln>
        </p:spPr>
        <p:txBody>
          <a:bodyPr anchor="ctr">
            <a:normAutofit fontScale="97500"/>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spcBef>
                <a:spcPct val="0"/>
              </a:spcBef>
              <a:buClrTx/>
              <a:buSzTx/>
              <a:buFont typeface="Wingdings 2" panose="05020102010507070707" pitchFamily="18" charset="2"/>
              <a:buNone/>
              <a:defRPr/>
            </a:pPr>
            <a:r>
              <a:rPr lang="en-US" altLang="zh-CN" sz="1800" b="0" dirty="0">
                <a:latin typeface="Times New Roman" panose="02020603050405020304" pitchFamily="18" charset="0"/>
                <a:cs typeface="Times New Roman" panose="02020603050405020304" pitchFamily="18" charset="0"/>
              </a:rPr>
              <a:t>1.Social Deprivation</a:t>
            </a:r>
          </a:p>
          <a:p>
            <a:pPr marL="0" indent="0">
              <a:spcBef>
                <a:spcPct val="0"/>
              </a:spcBef>
              <a:buClrTx/>
              <a:buSzTx/>
              <a:buFont typeface="Wingdings 2" panose="05020102010507070707" pitchFamily="18" charset="2"/>
              <a:buNone/>
              <a:defRPr/>
            </a:pPr>
            <a:endParaRPr lang="en-US" altLang="zh-CN" sz="1800" b="0" dirty="0">
              <a:latin typeface="Times New Roman" panose="02020603050405020304" pitchFamily="18" charset="0"/>
              <a:cs typeface="Times New Roman" panose="02020603050405020304" pitchFamily="18" charset="0"/>
            </a:endParaRPr>
          </a:p>
          <a:p>
            <a:pPr marL="0" indent="0">
              <a:spcBef>
                <a:spcPct val="0"/>
              </a:spcBef>
              <a:buClrTx/>
              <a:buSzTx/>
              <a:buFont typeface="Wingdings 2" panose="05020102010507070707" pitchFamily="18" charset="2"/>
              <a:buNone/>
              <a:defRPr/>
            </a:pPr>
            <a:r>
              <a:rPr lang="en-US" altLang="zh-CN" sz="1800" b="0" dirty="0">
                <a:latin typeface="Times New Roman" panose="02020603050405020304" pitchFamily="18" charset="0"/>
                <a:cs typeface="Times New Roman" panose="02020603050405020304" pitchFamily="18" charset="0"/>
              </a:rPr>
              <a:t>2.Sleep Deprivation</a:t>
            </a:r>
          </a:p>
          <a:p>
            <a:pPr marL="0" indent="0">
              <a:spcBef>
                <a:spcPct val="0"/>
              </a:spcBef>
              <a:buClrTx/>
              <a:buSzTx/>
              <a:buFont typeface="Wingdings 2" panose="05020102010507070707" pitchFamily="18" charset="2"/>
              <a:buNone/>
              <a:defRPr/>
            </a:pPr>
            <a:endParaRPr lang="en-US" altLang="zh-CN" sz="1800" b="0" dirty="0">
              <a:latin typeface="Times New Roman" panose="02020603050405020304" pitchFamily="18" charset="0"/>
              <a:cs typeface="Times New Roman" panose="02020603050405020304" pitchFamily="18" charset="0"/>
            </a:endParaRPr>
          </a:p>
          <a:p>
            <a:pPr marL="0" indent="0">
              <a:spcBef>
                <a:spcPct val="0"/>
              </a:spcBef>
              <a:buClrTx/>
              <a:buSzTx/>
              <a:buFont typeface="Wingdings 2" panose="05020102010507070707" pitchFamily="18" charset="2"/>
              <a:buNone/>
              <a:defRPr/>
            </a:pPr>
            <a:r>
              <a:rPr lang="en-US" altLang="zh-CN" sz="1800" b="0" dirty="0">
                <a:latin typeface="Times New Roman" panose="02020603050405020304" pitchFamily="18" charset="0"/>
                <a:cs typeface="Times New Roman" panose="02020603050405020304" pitchFamily="18" charset="0"/>
              </a:rPr>
              <a:t>3.Attention Deprivation</a:t>
            </a:r>
          </a:p>
          <a:p>
            <a:pPr marL="0" indent="0">
              <a:spcBef>
                <a:spcPct val="0"/>
              </a:spcBef>
              <a:buClrTx/>
              <a:buSzTx/>
              <a:buFont typeface="Wingdings 2" panose="05020102010507070707" pitchFamily="18" charset="2"/>
              <a:buNone/>
              <a:defRPr/>
            </a:pPr>
            <a:endParaRPr lang="en-US" altLang="zh-CN" sz="1800" b="0" dirty="0">
              <a:latin typeface="Times New Roman" panose="02020603050405020304" pitchFamily="18" charset="0"/>
              <a:cs typeface="Times New Roman" panose="02020603050405020304" pitchFamily="18" charset="0"/>
            </a:endParaRPr>
          </a:p>
          <a:p>
            <a:pPr marL="0" indent="0">
              <a:spcBef>
                <a:spcPct val="0"/>
              </a:spcBef>
              <a:buClrTx/>
              <a:buSzTx/>
              <a:buFont typeface="Wingdings 2" panose="05020102010507070707" pitchFamily="18" charset="2"/>
              <a:buNone/>
              <a:defRPr/>
            </a:pPr>
            <a:r>
              <a:rPr lang="en-US" altLang="zh-CN" sz="1800" b="0" dirty="0">
                <a:latin typeface="Times New Roman" panose="02020603050405020304" pitchFamily="18" charset="0"/>
                <a:cs typeface="Times New Roman" panose="02020603050405020304" pitchFamily="18" charset="0"/>
              </a:rPr>
              <a:t>4.Addiction</a:t>
            </a:r>
          </a:p>
          <a:p>
            <a:pPr marL="0" indent="0">
              <a:spcBef>
                <a:spcPct val="0"/>
              </a:spcBef>
              <a:buClrTx/>
              <a:buSzTx/>
              <a:buFont typeface="Wingdings 2" panose="05020102010507070707" pitchFamily="18" charset="2"/>
              <a:buNone/>
              <a:defRPr/>
            </a:pPr>
            <a:endParaRPr lang="en-US" altLang="zh-CN" sz="1800" b="0" dirty="0">
              <a:latin typeface="Times New Roman" panose="02020603050405020304" pitchFamily="18" charset="0"/>
              <a:cs typeface="Times New Roman" panose="02020603050405020304" pitchFamily="18" charset="0"/>
            </a:endParaRPr>
          </a:p>
          <a:p>
            <a:pPr marL="0" indent="0">
              <a:spcBef>
                <a:spcPct val="0"/>
              </a:spcBef>
              <a:buClrTx/>
              <a:buSzTx/>
              <a:buFont typeface="Wingdings 2" panose="05020102010507070707" pitchFamily="18" charset="2"/>
              <a:buNone/>
              <a:defRPr/>
            </a:pPr>
            <a:endParaRPr lang="en-US" altLang="zh-CN" sz="1800" b="0" dirty="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endParaRPr lang="zh-CN" altLang="en-US" sz="1800" b="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1"/>
          <p:cNvSpPr/>
          <p:nvPr/>
        </p:nvSpPr>
        <p:spPr>
          <a:xfrm>
            <a:off x="0" y="188913"/>
            <a:ext cx="9036050" cy="6554787"/>
          </a:xfrm>
          <a:prstGeom prst="rect">
            <a:avLst/>
          </a:prstGeom>
          <a:noFill/>
          <a:ln w="9525">
            <a:noFill/>
          </a:ln>
        </p:spPr>
        <p:txBody>
          <a:bodyPr>
            <a:spAutoFit/>
          </a:bodyPr>
          <a:lstStyle/>
          <a:p>
            <a:endParaRPr lang="en-US" altLang="zh-CN" sz="2800" b="0" dirty="0">
              <a:latin typeface="华文楷体" panose="02010600040101010101" pitchFamily="2" charset="-122"/>
              <a:ea typeface="华文楷体" panose="02010600040101010101" pitchFamily="2" charset="-122"/>
            </a:endParaRPr>
          </a:p>
          <a:p>
            <a:r>
              <a:rPr lang="zh-CN" altLang="en-US" sz="3600" b="0" dirty="0">
                <a:latin typeface="华文楷体" panose="02010600040101010101" pitchFamily="2" charset="-122"/>
                <a:ea typeface="华文楷体" panose="02010600040101010101" pitchFamily="2" charset="-122"/>
              </a:rPr>
              <a:t>生活的价值（逻辑极化）</a:t>
            </a:r>
            <a:endParaRPr lang="en-US" altLang="zh-CN" sz="3600" b="0" dirty="0">
              <a:latin typeface="华文楷体" panose="02010600040101010101" pitchFamily="2" charset="-122"/>
              <a:ea typeface="华文楷体" panose="02010600040101010101" pitchFamily="2" charset="-122"/>
            </a:endParaRPr>
          </a:p>
          <a:p>
            <a:r>
              <a:rPr lang="zh-CN" altLang="en-US" sz="2800" b="0" dirty="0">
                <a:latin typeface="华文楷体" panose="02010600040101010101" pitchFamily="2" charset="-122"/>
                <a:ea typeface="华文楷体" panose="02010600040101010101" pitchFamily="2" charset="-122"/>
              </a:rPr>
              <a:t>“如果我的目标是照顾我的孩子到成年（我们通常认为这对孩子来说是好的），那么至关重要的就是我</a:t>
            </a:r>
            <a:r>
              <a:rPr lang="en-US" altLang="zh-CN" sz="2800" b="0" dirty="0">
                <a:latin typeface="华文楷体" panose="02010600040101010101" pitchFamily="2" charset="-122"/>
                <a:ea typeface="华文楷体" panose="02010600040101010101" pitchFamily="2" charset="-122"/>
              </a:rPr>
              <a:t>——</a:t>
            </a:r>
            <a:r>
              <a:rPr lang="zh-CN" altLang="en-US" sz="2800" b="0" dirty="0">
                <a:solidFill>
                  <a:srgbClr val="FF0000"/>
                </a:solidFill>
                <a:latin typeface="华文楷体" panose="02010600040101010101" pitchFamily="2" charset="-122"/>
                <a:ea typeface="华文楷体" panose="02010600040101010101" pitchFamily="2" charset="-122"/>
              </a:rPr>
              <a:t>作为家长</a:t>
            </a:r>
            <a:r>
              <a:rPr lang="en-US" altLang="zh-CN" sz="2800" b="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要照顾他们，而不仅仅是有个人要照料他们，因此，说我的目标不是以我的生存为条件就是合理的。我的目标是活下来照顾我的孩子，而不仅仅是只要我活着就去照顾他们。但是如果我向着这个目标的努力是完全不必要的，也就是说，如果就算我在这个目标实现之前死了，这个目标打算要实现的价值还是很有可能而且有效地实现的，那么把这个目标当作无条件的就不是合理的，即便这个目标将要实现的价值本身并不依赖我的生存。”</a:t>
            </a:r>
            <a:endParaRPr lang="en-US" altLang="zh-CN" sz="2800" b="0" dirty="0">
              <a:latin typeface="华文楷体" panose="02010600040101010101" pitchFamily="2" charset="-122"/>
              <a:ea typeface="华文楷体" panose="02010600040101010101" pitchFamily="2" charset="-122"/>
            </a:endParaRPr>
          </a:p>
          <a:p>
            <a:endParaRPr lang="en-US" altLang="zh-CN" sz="2400" b="0" dirty="0">
              <a:latin typeface="华文楷体" panose="02010600040101010101" pitchFamily="2" charset="-122"/>
              <a:ea typeface="华文楷体" panose="02010600040101010101" pitchFamily="2" charset="-122"/>
            </a:endParaRPr>
          </a:p>
          <a:p>
            <a:r>
              <a:rPr lang="zh-CN" altLang="en-US" sz="2400" b="0" dirty="0">
                <a:latin typeface="华文楷体" panose="02010600040101010101" pitchFamily="2" charset="-122"/>
                <a:ea typeface="华文楷体" panose="02010600040101010101" pitchFamily="2" charset="-122"/>
              </a:rPr>
              <a:t>拉兹，继续活着的价值，</a:t>
            </a:r>
            <a:r>
              <a:rPr lang="en-US" altLang="zh-CN" sz="2400" b="0" dirty="0">
                <a:latin typeface="华文楷体" panose="02010600040101010101" pitchFamily="2" charset="-122"/>
                <a:ea typeface="华文楷体" panose="02010600040101010101" pitchFamily="2" charset="-122"/>
              </a:rPr>
              <a:t>p102</a:t>
            </a:r>
            <a:endParaRPr lang="zh-CN" altLang="en-US" sz="2400" b="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p:cNvSpPr txBox="1"/>
          <p:nvPr/>
        </p:nvSpPr>
        <p:spPr>
          <a:xfrm>
            <a:off x="1115616" y="404664"/>
            <a:ext cx="7200800" cy="1180728"/>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0" lvl="0" indent="0">
              <a:buNone/>
            </a:pPr>
            <a:r>
              <a:rPr lang="zh-CN" altLang="en-US" sz="2000" dirty="0">
                <a:latin typeface="华文楷体" panose="02010600040101010101" pitchFamily="2" charset="-122"/>
                <a:ea typeface="华文楷体" panose="02010600040101010101" pitchFamily="2" charset="-122"/>
              </a:rPr>
              <a:t>思考：</a:t>
            </a:r>
          </a:p>
          <a:p>
            <a:pPr marL="0" lvl="0" indent="0">
              <a:buNone/>
            </a:pPr>
            <a:r>
              <a:rPr lang="zh-CN" altLang="en-US" sz="2000" dirty="0">
                <a:latin typeface="华文楷体" panose="02010600040101010101" pitchFamily="2" charset="-122"/>
                <a:ea typeface="华文楷体" panose="02010600040101010101" pitchFamily="2" charset="-122"/>
              </a:rPr>
              <a:t>一种行为，如果不能获得期待的相应结果，行为的意义何在？</a:t>
            </a:r>
            <a:endParaRPr lang="en-US" altLang="zh-CN" sz="2000" dirty="0"/>
          </a:p>
        </p:txBody>
      </p:sp>
      <p:sp>
        <p:nvSpPr>
          <p:cNvPr id="3" name="文本框 2">
            <a:extLst>
              <a:ext uri="{FF2B5EF4-FFF2-40B4-BE49-F238E27FC236}">
                <a16:creationId xmlns:a16="http://schemas.microsoft.com/office/drawing/2014/main" id="{A0AD7102-3899-3913-DFE5-02DF8FD6F1BE}"/>
              </a:ext>
            </a:extLst>
          </p:cNvPr>
          <p:cNvSpPr txBox="1"/>
          <p:nvPr/>
        </p:nvSpPr>
        <p:spPr>
          <a:xfrm>
            <a:off x="409836" y="1484784"/>
            <a:ext cx="8194612" cy="4770537"/>
          </a:xfrm>
          <a:prstGeom prst="rect">
            <a:avLst/>
          </a:prstGeom>
          <a:noFill/>
        </p:spPr>
        <p:txBody>
          <a:bodyPr wrap="square">
            <a:spAutoFit/>
          </a:bodyPr>
          <a:lstStyle/>
          <a:p>
            <a:r>
              <a:rPr lang="zh-CN" altLang="en-US" sz="1600" dirty="0">
                <a:latin typeface="华文宋体" panose="02010600040101010101" pitchFamily="2" charset="-122"/>
                <a:ea typeface="华文宋体" panose="02010600040101010101" pitchFamily="2" charset="-122"/>
              </a:rPr>
              <a:t>一种行为如果未能获得期待的结果，其意义并未消失，而是发生了转化。将结果作为意义的唯一来源，本质上是工具理性的僭越——它把行为贬低为通向目标的纯手段，却遮蔽了行为本身的独立价值。</a:t>
            </a:r>
          </a:p>
          <a:p>
            <a:endParaRPr lang="zh-CN" altLang="en-US" sz="1600" dirty="0">
              <a:latin typeface="华文宋体" panose="02010600040101010101" pitchFamily="2" charset="-122"/>
              <a:ea typeface="华文宋体" panose="02010600040101010101" pitchFamily="2" charset="-122"/>
            </a:endParaRPr>
          </a:p>
          <a:p>
            <a:r>
              <a:rPr lang="zh-CN" altLang="en-US" sz="1600" dirty="0">
                <a:latin typeface="华文宋体" panose="02010600040101010101" pitchFamily="2" charset="-122"/>
                <a:ea typeface="华文宋体" panose="02010600040101010101" pitchFamily="2" charset="-122"/>
              </a:rPr>
              <a:t>首先，失败的行为提供了不可替代的认识论意义。每一次未达预期的尝试都是一次“负反馈实验”，它划定了可行域的边界，揭示了现实的结构性约束。科学史上的无数实验正是以“否定结果”推进了认知——米歇尔逊-莫雷实验没有测到以太风，却为相对论铺平了道路。</a:t>
            </a:r>
          </a:p>
          <a:p>
            <a:endParaRPr lang="zh-CN" altLang="en-US" sz="1600" dirty="0">
              <a:latin typeface="华文宋体" panose="02010600040101010101" pitchFamily="2" charset="-122"/>
              <a:ea typeface="华文宋体" panose="02010600040101010101" pitchFamily="2" charset="-122"/>
            </a:endParaRPr>
          </a:p>
          <a:p>
            <a:r>
              <a:rPr lang="zh-CN" altLang="en-US" sz="1600" dirty="0">
                <a:latin typeface="华文宋体" panose="02010600040101010101" pitchFamily="2" charset="-122"/>
                <a:ea typeface="华文宋体" panose="02010600040101010101" pitchFamily="2" charset="-122"/>
              </a:rPr>
              <a:t>其次，行为本身即构成意义的生成场域。维特根斯坦说：“善的酬报不是别的，就是善本身。”专注地做一件事、真诚地对待一个人、勇敢地表达一个观点——这些行为在发生的当下就已完成了意义的生产，其结果是否如预期，并不取消已经发生的经验与内在的完满感。</a:t>
            </a:r>
          </a:p>
          <a:p>
            <a:endParaRPr lang="zh-CN" altLang="en-US" sz="1600" dirty="0">
              <a:latin typeface="华文宋体" panose="02010600040101010101" pitchFamily="2" charset="-122"/>
              <a:ea typeface="华文宋体" panose="02010600040101010101" pitchFamily="2" charset="-122"/>
            </a:endParaRPr>
          </a:p>
          <a:p>
            <a:r>
              <a:rPr lang="zh-CN" altLang="en-US" sz="1600" dirty="0">
                <a:latin typeface="华文宋体" panose="02010600040101010101" pitchFamily="2" charset="-122"/>
                <a:ea typeface="华文宋体" panose="02010600040101010101" pitchFamily="2" charset="-122"/>
              </a:rPr>
              <a:t>再者，未被回应的行为是主体性成熟的淬炼。学会接受预期落空、学会在无反馈中坚持、学会区分“我能控制的”与“我不能控制的”——这是斯多葛传统所说的自由之源。</a:t>
            </a:r>
          </a:p>
          <a:p>
            <a:endParaRPr lang="zh-CN" altLang="en-US" sz="1600" dirty="0">
              <a:latin typeface="华文宋体" panose="02010600040101010101" pitchFamily="2" charset="-122"/>
              <a:ea typeface="华文宋体" panose="02010600040101010101" pitchFamily="2" charset="-122"/>
            </a:endParaRPr>
          </a:p>
          <a:p>
            <a:r>
              <a:rPr lang="zh-CN" altLang="en-US" sz="1600" dirty="0">
                <a:latin typeface="华文宋体" panose="02010600040101010101" pitchFamily="2" charset="-122"/>
                <a:ea typeface="华文宋体" panose="02010600040101010101" pitchFamily="2" charset="-122"/>
              </a:rPr>
              <a:t>最终，行为的意义不在于它是否征服了结果，而在于它是否忠诚于发出行为时那个真实的自己。</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1728192"/>
          </a:xfrm>
        </p:spPr>
        <p:txBody>
          <a:bodyPr/>
          <a:lstStyle/>
          <a:p>
            <a:pPr marL="0" indent="0">
              <a:buNone/>
            </a:pPr>
            <a:r>
              <a:rPr lang="zh-CN" altLang="zh-CN" sz="1400" dirty="0">
                <a:latin typeface="华文中宋" panose="02010600040101010101" pitchFamily="2" charset="-122"/>
                <a:ea typeface="华文中宋" panose="02010600040101010101" pitchFamily="2" charset="-122"/>
              </a:rPr>
              <a:t>您在课上讲到，大学的核心是研究高深学问、培养完整的人，强调精神启蒙、学术自由、通识素养与综合能力的塑造，我非常认同——这也是我们学校一直都在践行的事。学校有很多讲座和学术资源，还开设了不同方面、不同形式的课程供我们提升自身。但在现实学习与实习中，我也感受到一种落差：我们在大学里接触了很多前沿理念、学术思维与专业知识，却常常忽略了一些最基础、最实用的生存与生活能力。现代大学在追求“高深学问”的同时，似乎与落地的生活能力、基础的社会交往能力存在一定脱节。比如，如何应付难搞的领导？如何调节同事间的关系？这些为人处事上的事情，是大学理论课程里学习不到的。</a:t>
            </a:r>
          </a:p>
          <a:p>
            <a:endParaRPr lang="zh-CN" altLang="en-US" dirty="0"/>
          </a:p>
        </p:txBody>
      </p:sp>
      <p:sp>
        <p:nvSpPr>
          <p:cNvPr id="4" name="文本框 3">
            <a:extLst>
              <a:ext uri="{FF2B5EF4-FFF2-40B4-BE49-F238E27FC236}">
                <a16:creationId xmlns:a16="http://schemas.microsoft.com/office/drawing/2014/main" id="{39BC0134-067E-8094-7852-0D6CF0DC3C2B}"/>
              </a:ext>
            </a:extLst>
          </p:cNvPr>
          <p:cNvSpPr txBox="1"/>
          <p:nvPr/>
        </p:nvSpPr>
        <p:spPr>
          <a:xfrm>
            <a:off x="188640" y="1844824"/>
            <a:ext cx="8766720" cy="4524315"/>
          </a:xfrm>
          <a:prstGeom prst="rect">
            <a:avLst/>
          </a:prstGeom>
          <a:noFill/>
        </p:spPr>
        <p:txBody>
          <a:bodyPr wrap="square">
            <a:spAutoFit/>
          </a:bodyPr>
          <a:lstStyle/>
          <a:p>
            <a:r>
              <a:rPr lang="zh-CN" altLang="en-US" sz="1600" dirty="0">
                <a:latin typeface="华文仿宋" panose="02010600040101010101" pitchFamily="2" charset="-122"/>
                <a:ea typeface="华文仿宋" panose="02010600040101010101" pitchFamily="2" charset="-122"/>
              </a:rPr>
              <a:t>**首先，这种“脱节”有它的历史根源。** 现代大学自洪堡模式以来，就把“研究高深学问”作为核心使命，这一传统在精英教育时代是成立的</a:t>
            </a:r>
            <a:r>
              <a:rPr lang="en-US" altLang="zh-CN" sz="1600" dirty="0">
                <a:latin typeface="华文仿宋" panose="02010600040101010101" pitchFamily="2" charset="-122"/>
                <a:ea typeface="华文仿宋" panose="02010600040101010101" pitchFamily="2" charset="-122"/>
              </a:rPr>
              <a:t>——</a:t>
            </a:r>
            <a:r>
              <a:rPr lang="zh-CN" altLang="en-US" sz="1600" dirty="0">
                <a:latin typeface="华文仿宋" panose="02010600040101010101" pitchFamily="2" charset="-122"/>
                <a:ea typeface="华文仿宋" panose="02010600040101010101" pitchFamily="2" charset="-122"/>
              </a:rPr>
              <a:t>因为当时能进入大学的只是少数人，他们毕业后自然进入社会上层，具体的“生存技能”可以通过家庭、社交网络或工作中习得。但当高等教育普及化之后，大学开始承担更多功能，既要培养研究者，也要培养合格的职场人、公民、乃至“完整的人”。功能叠加越多，缝隙就越明显。</a:t>
            </a:r>
          </a:p>
          <a:p>
            <a:r>
              <a:rPr lang="zh-CN" altLang="en-US" sz="1600" dirty="0">
                <a:latin typeface="华文仿宋" panose="02010600040101010101" pitchFamily="2" charset="-122"/>
                <a:ea typeface="华文仿宋" panose="02010600040101010101" pitchFamily="2" charset="-122"/>
              </a:rPr>
              <a:t>**其次，大学的课程逻辑与生活逻辑有本质差异。** 课程追求可传授、可考核、可普遍化的知识，而为人处事的智慧往往是情境化的、默会的、无法标准化评测的。比如“如何应付难搞的领导”</a:t>
            </a:r>
            <a:r>
              <a:rPr lang="en-US" altLang="zh-CN" sz="1600" dirty="0">
                <a:latin typeface="华文仿宋" panose="02010600040101010101" pitchFamily="2" charset="-122"/>
                <a:ea typeface="华文仿宋" panose="02010600040101010101" pitchFamily="2" charset="-122"/>
              </a:rPr>
              <a:t>——</a:t>
            </a:r>
            <a:r>
              <a:rPr lang="zh-CN" altLang="en-US" sz="1600" dirty="0">
                <a:latin typeface="华文仿宋" panose="02010600040101010101" pitchFamily="2" charset="-122"/>
                <a:ea typeface="华文仿宋" panose="02010600040101010101" pitchFamily="2" charset="-122"/>
              </a:rPr>
              <a:t>不同行业、不同领导风格、不同团队文化下，答案千差万别。大学很难开一门“职场厚黑学”选修课，不是因为它不重要，而是因为它很难被“教”成可靠的课程。</a:t>
            </a:r>
          </a:p>
          <a:p>
            <a:r>
              <a:rPr lang="zh-CN" altLang="en-US" sz="1600" dirty="0">
                <a:latin typeface="华文仿宋" panose="02010600040101010101" pitchFamily="2" charset="-122"/>
                <a:ea typeface="华文仿宋" panose="02010600040101010101" pitchFamily="2" charset="-122"/>
              </a:rPr>
              <a:t>**但这不是说大学对此无能为力。** 真正的问题是：大学是否承认这类能力是“值得培养的”，以及是否愿意为它们留出空间。一些有效的做法包括：通过小组项目让人在协作冲突中自然学习沟通；通过实习督导和反思报告把职场经验带回课堂讨论；通过校友导师、行业沙龙等非课程形式提供场景化的经验传递。这些不是“专业课”，但它们可以成为大学教育中有机的一部分。</a:t>
            </a:r>
          </a:p>
          <a:p>
            <a:r>
              <a:rPr lang="zh-CN" altLang="en-US" sz="1600" dirty="0">
                <a:latin typeface="华文仿宋" panose="02010600040101010101" pitchFamily="2" charset="-122"/>
                <a:ea typeface="华文仿宋" panose="02010600040101010101" pitchFamily="2" charset="-122"/>
              </a:rPr>
              <a:t>**最后，对你个人而言，认识到这种落差本身就是一种成长。** 大学给不了你全部答案，但它给了你识别问题、寻找资源、自主探索的能力</a:t>
            </a:r>
            <a:r>
              <a:rPr lang="en-US" altLang="zh-CN" sz="1600" dirty="0">
                <a:latin typeface="华文仿宋" panose="02010600040101010101" pitchFamily="2" charset="-122"/>
                <a:ea typeface="华文仿宋" panose="02010600040101010101" pitchFamily="2" charset="-122"/>
              </a:rPr>
              <a:t>——</a:t>
            </a:r>
            <a:r>
              <a:rPr lang="zh-CN" altLang="en-US" sz="1600" dirty="0">
                <a:latin typeface="华文仿宋" panose="02010600040101010101" pitchFamily="2" charset="-122"/>
                <a:ea typeface="华文仿宋" panose="02010600040101010101" pitchFamily="2" charset="-122"/>
              </a:rPr>
              <a:t>这正是“培养完整的人”最核心的成果。具体的为人处事之道，可以通过实习中的观察反思、主动请教前辈、阅读相关书籍（如沟通类、组织行为学类）来补足。不要把这种脱节看作大学教育的“失败”，而把它看作一个信号：真正的完整教育，需要你自己动手填补那些缝隙。</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1180728"/>
          </a:xfrm>
        </p:spPr>
        <p:txBody>
          <a:bodyPr/>
          <a:lstStyle/>
          <a:p>
            <a:pPr marL="0" indent="0">
              <a:buNone/>
            </a:pPr>
            <a:r>
              <a:rPr lang="en-US" altLang="zh-CN" sz="1400" dirty="0">
                <a:latin typeface="华文中宋" panose="02010600040101010101" pitchFamily="2" charset="-122"/>
                <a:ea typeface="华文中宋" panose="02010600040101010101" pitchFamily="2" charset="-122"/>
              </a:rPr>
              <a:t>3. </a:t>
            </a:r>
            <a:r>
              <a:rPr lang="zh-CN" altLang="zh-CN" sz="1400" dirty="0">
                <a:latin typeface="华文中宋" panose="02010600040101010101" pitchFamily="2" charset="-122"/>
                <a:ea typeface="华文中宋" panose="02010600040101010101" pitchFamily="2" charset="-122"/>
              </a:rPr>
              <a:t>当人类在使用人工智能参与工作或进行决策时，我们应该如何理解人的主体性和责任？这种对主体性和责任的认识变化，与工业革命时期技术变革带来的变化又会有哪些不同？</a:t>
            </a:r>
          </a:p>
          <a:p>
            <a:pPr marL="0" indent="0">
              <a:buNone/>
            </a:pPr>
            <a:r>
              <a:rPr lang="en-US" altLang="zh-CN" sz="1400" dirty="0">
                <a:latin typeface="华文中宋" panose="02010600040101010101" pitchFamily="2" charset="-122"/>
                <a:ea typeface="华文中宋" panose="02010600040101010101" pitchFamily="2" charset="-122"/>
              </a:rPr>
              <a:t>4. </a:t>
            </a:r>
            <a:r>
              <a:rPr lang="zh-CN" altLang="zh-CN" sz="1400" dirty="0">
                <a:latin typeface="华文中宋" panose="02010600040101010101" pitchFamily="2" charset="-122"/>
                <a:ea typeface="华文中宋" panose="02010600040101010101" pitchFamily="2" charset="-122"/>
              </a:rPr>
              <a:t>如果程序正义的程序经过不断的优化，能不能最终达到正义的效果，什么样的正义能真正的解决实际问题？</a:t>
            </a:r>
          </a:p>
          <a:p>
            <a:endParaRPr lang="zh-CN" altLang="en-US" sz="1400" dirty="0"/>
          </a:p>
        </p:txBody>
      </p:sp>
      <p:sp>
        <p:nvSpPr>
          <p:cNvPr id="5" name="文本框 4">
            <a:extLst>
              <a:ext uri="{FF2B5EF4-FFF2-40B4-BE49-F238E27FC236}">
                <a16:creationId xmlns:a16="http://schemas.microsoft.com/office/drawing/2014/main" id="{5BDE803D-A9B6-7C0F-617F-576FA149EFE4}"/>
              </a:ext>
            </a:extLst>
          </p:cNvPr>
          <p:cNvSpPr txBox="1"/>
          <p:nvPr/>
        </p:nvSpPr>
        <p:spPr>
          <a:xfrm>
            <a:off x="451318" y="1844824"/>
            <a:ext cx="8579296" cy="4278094"/>
          </a:xfrm>
          <a:prstGeom prst="rect">
            <a:avLst/>
          </a:prstGeom>
          <a:noFill/>
        </p:spPr>
        <p:txBody>
          <a:bodyPr wrap="square">
            <a:spAutoFit/>
          </a:bodyPr>
          <a:lstStyle/>
          <a:p>
            <a:r>
              <a:rPr lang="zh-CN" altLang="en-US" sz="1600" dirty="0">
                <a:latin typeface="华文宋体" panose="02010600040101010101" pitchFamily="2" charset="-122"/>
                <a:ea typeface="华文宋体" panose="02010600040101010101" pitchFamily="2" charset="-122"/>
              </a:rPr>
              <a:t>当人类越来越多地将决策与工作委托给人工智能系统时，主体性与责任问题不再是抽象的哲学思辨，而是每个使用</a:t>
            </a:r>
            <a:r>
              <a:rPr lang="en-US" altLang="zh-CN" sz="1600" dirty="0">
                <a:latin typeface="华文宋体" panose="02010600040101010101" pitchFamily="2" charset="-122"/>
                <a:ea typeface="华文宋体" panose="02010600040101010101" pitchFamily="2" charset="-122"/>
              </a:rPr>
              <a:t>AI</a:t>
            </a:r>
            <a:r>
              <a:rPr lang="zh-CN" altLang="en-US" sz="1600" dirty="0">
                <a:latin typeface="华文宋体" panose="02010600040101010101" pitchFamily="2" charset="-122"/>
                <a:ea typeface="华文宋体" panose="02010600040101010101" pitchFamily="2" charset="-122"/>
              </a:rPr>
              <a:t>的人每天都会面对的实践困境。</a:t>
            </a:r>
          </a:p>
          <a:p>
            <a:endParaRPr lang="zh-CN" altLang="en-US" sz="1600" dirty="0">
              <a:latin typeface="华文宋体" panose="02010600040101010101" pitchFamily="2" charset="-122"/>
              <a:ea typeface="华文宋体" panose="02010600040101010101" pitchFamily="2" charset="-122"/>
            </a:endParaRPr>
          </a:p>
          <a:p>
            <a:r>
              <a:rPr lang="zh-CN" altLang="en-US" sz="1600" dirty="0">
                <a:latin typeface="华文宋体" panose="02010600040101010101" pitchFamily="2" charset="-122"/>
                <a:ea typeface="华文宋体" panose="02010600040101010101" pitchFamily="2" charset="-122"/>
              </a:rPr>
              <a:t>传统技术时代的主体性建立在清晰的因果链条之上：人发出指令，工具执行操作，结果可直接归因。</a:t>
            </a:r>
            <a:r>
              <a:rPr lang="en-US" altLang="zh-CN" sz="1600" dirty="0">
                <a:latin typeface="华文宋体" panose="02010600040101010101" pitchFamily="2" charset="-122"/>
                <a:ea typeface="华文宋体" panose="02010600040101010101" pitchFamily="2" charset="-122"/>
              </a:rPr>
              <a:t>AI</a:t>
            </a:r>
            <a:r>
              <a:rPr lang="zh-CN" altLang="en-US" sz="1600" dirty="0">
                <a:latin typeface="华文宋体" panose="02010600040101010101" pitchFamily="2" charset="-122"/>
                <a:ea typeface="华文宋体" panose="02010600040101010101" pitchFamily="2" charset="-122"/>
              </a:rPr>
              <a:t>的介入打破了这一结构。当深度学习模型在黑箱中完成推理，人类从“执行者”退居为“监督者”</a:t>
            </a:r>
            <a:r>
              <a:rPr lang="en-US" altLang="zh-CN" sz="1600" dirty="0">
                <a:latin typeface="华文宋体" panose="02010600040101010101" pitchFamily="2" charset="-122"/>
                <a:ea typeface="华文宋体" panose="02010600040101010101" pitchFamily="2" charset="-122"/>
              </a:rPr>
              <a:t>——</a:t>
            </a:r>
            <a:r>
              <a:rPr lang="zh-CN" altLang="en-US" sz="1600" dirty="0">
                <a:latin typeface="华文宋体" panose="02010600040101010101" pitchFamily="2" charset="-122"/>
                <a:ea typeface="华文宋体" panose="02010600040101010101" pitchFamily="2" charset="-122"/>
              </a:rPr>
              <a:t>主体性不再体现为亲自操作，而体现为授权、评估、干预与否决的能力。一个医生使用</a:t>
            </a:r>
            <a:r>
              <a:rPr lang="en-US" altLang="zh-CN" sz="1600" dirty="0">
                <a:latin typeface="华文宋体" panose="02010600040101010101" pitchFamily="2" charset="-122"/>
                <a:ea typeface="华文宋体" panose="02010600040101010101" pitchFamily="2" charset="-122"/>
              </a:rPr>
              <a:t>AI</a:t>
            </a:r>
            <a:r>
              <a:rPr lang="zh-CN" altLang="en-US" sz="1600" dirty="0">
                <a:latin typeface="华文宋体" panose="02010600040101010101" pitchFamily="2" charset="-122"/>
                <a:ea typeface="华文宋体" panose="02010600040101010101" pitchFamily="2" charset="-122"/>
              </a:rPr>
              <a:t>辅助诊断，他不必亲自阅读每张影像，但必须保留推翻</a:t>
            </a:r>
            <a:r>
              <a:rPr lang="en-US" altLang="zh-CN" sz="1600" dirty="0">
                <a:latin typeface="华文宋体" panose="02010600040101010101" pitchFamily="2" charset="-122"/>
                <a:ea typeface="华文宋体" panose="02010600040101010101" pitchFamily="2" charset="-122"/>
              </a:rPr>
              <a:t>AI</a:t>
            </a:r>
            <a:r>
              <a:rPr lang="zh-CN" altLang="en-US" sz="1600" dirty="0">
                <a:latin typeface="华文宋体" panose="02010600040101010101" pitchFamily="2" charset="-122"/>
                <a:ea typeface="华文宋体" panose="02010600040101010101" pitchFamily="2" charset="-122"/>
              </a:rPr>
              <a:t>建议的最终权力。权力在，主体性就在。</a:t>
            </a:r>
          </a:p>
          <a:p>
            <a:endParaRPr lang="zh-CN" altLang="en-US" sz="1600" dirty="0">
              <a:latin typeface="华文宋体" panose="02010600040101010101" pitchFamily="2" charset="-122"/>
              <a:ea typeface="华文宋体" panose="02010600040101010101" pitchFamily="2" charset="-122"/>
            </a:endParaRPr>
          </a:p>
          <a:p>
            <a:r>
              <a:rPr lang="zh-CN" altLang="en-US" sz="1600" dirty="0">
                <a:latin typeface="华文宋体" panose="02010600040101010101" pitchFamily="2" charset="-122"/>
                <a:ea typeface="华文宋体" panose="02010600040101010101" pitchFamily="2" charset="-122"/>
              </a:rPr>
              <a:t>然而，责任鸿沟随之浮现。当</a:t>
            </a:r>
            <a:r>
              <a:rPr lang="en-US" altLang="zh-CN" sz="1600" dirty="0">
                <a:latin typeface="华文宋体" panose="02010600040101010101" pitchFamily="2" charset="-122"/>
                <a:ea typeface="华文宋体" panose="02010600040101010101" pitchFamily="2" charset="-122"/>
              </a:rPr>
              <a:t>AI</a:t>
            </a:r>
            <a:r>
              <a:rPr lang="zh-CN" altLang="en-US" sz="1600" dirty="0">
                <a:latin typeface="华文宋体" panose="02010600040101010101" pitchFamily="2" charset="-122"/>
                <a:ea typeface="华文宋体" panose="02010600040101010101" pitchFamily="2" charset="-122"/>
              </a:rPr>
              <a:t>犯错，开发者、部署机构、操作员各有理由推脱，而</a:t>
            </a:r>
            <a:r>
              <a:rPr lang="en-US" altLang="zh-CN" sz="1600" dirty="0">
                <a:latin typeface="华文宋体" panose="02010600040101010101" pitchFamily="2" charset="-122"/>
                <a:ea typeface="华文宋体" panose="02010600040101010101" pitchFamily="2" charset="-122"/>
              </a:rPr>
              <a:t>AI</a:t>
            </a:r>
            <a:r>
              <a:rPr lang="zh-CN" altLang="en-US" sz="1600" dirty="0">
                <a:latin typeface="华文宋体" panose="02010600040101010101" pitchFamily="2" charset="-122"/>
                <a:ea typeface="华文宋体" panose="02010600040101010101" pitchFamily="2" charset="-122"/>
              </a:rPr>
              <a:t>本身不是法律主体。填补这一鸿沟，需要“有意义的人类控制”：人类设定目标与边界，保留实时干预能力，并承担终局责任。</a:t>
            </a:r>
          </a:p>
          <a:p>
            <a:endParaRPr lang="zh-CN" altLang="en-US" sz="1600" dirty="0">
              <a:latin typeface="华文宋体" panose="02010600040101010101" pitchFamily="2" charset="-122"/>
              <a:ea typeface="华文宋体" panose="02010600040101010101" pitchFamily="2" charset="-122"/>
            </a:endParaRPr>
          </a:p>
          <a:p>
            <a:r>
              <a:rPr lang="zh-CN" altLang="en-US" sz="1600" dirty="0">
                <a:latin typeface="华文宋体" panose="02010600040101010101" pitchFamily="2" charset="-122"/>
                <a:ea typeface="华文宋体" panose="02010600040101010101" pitchFamily="2" charset="-122"/>
              </a:rPr>
              <a:t>与工业革命相比，</a:t>
            </a:r>
            <a:r>
              <a:rPr lang="en-US" altLang="zh-CN" sz="1600" dirty="0">
                <a:latin typeface="华文宋体" panose="02010600040101010101" pitchFamily="2" charset="-122"/>
                <a:ea typeface="华文宋体" panose="02010600040101010101" pitchFamily="2" charset="-122"/>
              </a:rPr>
              <a:t>AI</a:t>
            </a:r>
            <a:r>
              <a:rPr lang="zh-CN" altLang="en-US" sz="1600" dirty="0">
                <a:latin typeface="华文宋体" panose="02010600040101010101" pitchFamily="2" charset="-122"/>
                <a:ea typeface="华文宋体" panose="02010600040101010101" pitchFamily="2" charset="-122"/>
              </a:rPr>
              <a:t>革命是认知而非体力的自动化。工业时代让人“不会做了”，培训可以补救；</a:t>
            </a:r>
            <a:r>
              <a:rPr lang="en-US" altLang="zh-CN" sz="1600" dirty="0">
                <a:latin typeface="华文宋体" panose="02010600040101010101" pitchFamily="2" charset="-122"/>
                <a:ea typeface="华文宋体" panose="02010600040101010101" pitchFamily="2" charset="-122"/>
              </a:rPr>
              <a:t>AI</a:t>
            </a:r>
            <a:r>
              <a:rPr lang="zh-CN" altLang="en-US" sz="1600" dirty="0">
                <a:latin typeface="华文宋体" panose="02010600040101010101" pitchFamily="2" charset="-122"/>
                <a:ea typeface="华文宋体" panose="02010600040101010101" pitchFamily="2" charset="-122"/>
              </a:rPr>
              <a:t>时代让人“不会想了”，判断能力的萎缩更为隐蔽且难以逆转。真正的威胁不是</a:t>
            </a:r>
            <a:r>
              <a:rPr lang="en-US" altLang="zh-CN" sz="1600" dirty="0">
                <a:latin typeface="华文宋体" panose="02010600040101010101" pitchFamily="2" charset="-122"/>
                <a:ea typeface="华文宋体" panose="02010600040101010101" pitchFamily="2" charset="-122"/>
              </a:rPr>
              <a:t>AI</a:t>
            </a:r>
            <a:r>
              <a:rPr lang="zh-CN" altLang="en-US" sz="1600" dirty="0">
                <a:latin typeface="华文宋体" panose="02010600040101010101" pitchFamily="2" charset="-122"/>
                <a:ea typeface="华文宋体" panose="02010600040101010101" pitchFamily="2" charset="-122"/>
              </a:rPr>
              <a:t>太强大，而是人类太容易放弃判断。保持质疑的权力、否决的勇气，以及为自身终局判断承担后果的责任</a:t>
            </a:r>
            <a:r>
              <a:rPr lang="en-US" altLang="zh-CN" sz="1600" dirty="0">
                <a:latin typeface="华文宋体" panose="02010600040101010101" pitchFamily="2" charset="-122"/>
                <a:ea typeface="华文宋体" panose="02010600040101010101" pitchFamily="2" charset="-122"/>
              </a:rPr>
              <a:t>——</a:t>
            </a:r>
            <a:r>
              <a:rPr lang="zh-CN" altLang="en-US" sz="1600" dirty="0">
                <a:latin typeface="华文宋体" panose="02010600040101010101" pitchFamily="2" charset="-122"/>
                <a:ea typeface="华文宋体" panose="02010600040101010101" pitchFamily="2" charset="-122"/>
              </a:rPr>
              <a:t>这正是</a:t>
            </a:r>
            <a:r>
              <a:rPr lang="en-US" altLang="zh-CN" sz="1600" dirty="0">
                <a:latin typeface="华文宋体" panose="02010600040101010101" pitchFamily="2" charset="-122"/>
                <a:ea typeface="华文宋体" panose="02010600040101010101" pitchFamily="2" charset="-122"/>
              </a:rPr>
              <a:t>AI</a:t>
            </a:r>
            <a:r>
              <a:rPr lang="zh-CN" altLang="en-US" sz="1600" dirty="0">
                <a:latin typeface="华文宋体" panose="02010600040101010101" pitchFamily="2" charset="-122"/>
                <a:ea typeface="华文宋体" panose="02010600040101010101" pitchFamily="2" charset="-122"/>
              </a:rPr>
              <a:t>时代人的主体性的最后堡垒。</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B90E2-4C64-3608-AB63-D656B97555DD}"/>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AB590AE2-6AE0-7ADA-4C87-A42EF24BC6D1}"/>
              </a:ext>
            </a:extLst>
          </p:cNvPr>
          <p:cNvSpPr>
            <a:spLocks noGrp="1"/>
          </p:cNvSpPr>
          <p:nvPr>
            <p:ph idx="1"/>
          </p:nvPr>
        </p:nvSpPr>
        <p:spPr>
          <a:xfrm>
            <a:off x="457200" y="188640"/>
            <a:ext cx="8229600" cy="1180728"/>
          </a:xfrm>
        </p:spPr>
        <p:txBody>
          <a:bodyPr/>
          <a:lstStyle/>
          <a:p>
            <a:pPr marL="0" indent="0">
              <a:buNone/>
            </a:pPr>
            <a:r>
              <a:rPr lang="en-US" altLang="zh-CN" sz="1400" dirty="0">
                <a:latin typeface="华文中宋" panose="02010600040101010101" pitchFamily="2" charset="-122"/>
                <a:ea typeface="华文中宋" panose="02010600040101010101" pitchFamily="2" charset="-122"/>
              </a:rPr>
              <a:t>3. </a:t>
            </a:r>
            <a:r>
              <a:rPr lang="zh-CN" altLang="zh-CN" sz="1400" dirty="0">
                <a:latin typeface="华文中宋" panose="02010600040101010101" pitchFamily="2" charset="-122"/>
                <a:ea typeface="华文中宋" panose="02010600040101010101" pitchFamily="2" charset="-122"/>
              </a:rPr>
              <a:t>当人类在使用人工智能参与工作或进行决策时，我们应该如何理解人的主体性和责任？这种对主体性和责任的认识变化，与工业革命时期技术变革带来的变化又会有哪些不同？</a:t>
            </a:r>
          </a:p>
          <a:p>
            <a:pPr marL="0" indent="0">
              <a:buNone/>
            </a:pPr>
            <a:r>
              <a:rPr lang="en-US" altLang="zh-CN" sz="1400" dirty="0">
                <a:latin typeface="华文中宋" panose="02010600040101010101" pitchFamily="2" charset="-122"/>
                <a:ea typeface="华文中宋" panose="02010600040101010101" pitchFamily="2" charset="-122"/>
              </a:rPr>
              <a:t>4. </a:t>
            </a:r>
            <a:r>
              <a:rPr lang="zh-CN" altLang="zh-CN" sz="1400" dirty="0">
                <a:latin typeface="华文中宋" panose="02010600040101010101" pitchFamily="2" charset="-122"/>
                <a:ea typeface="华文中宋" panose="02010600040101010101" pitchFamily="2" charset="-122"/>
              </a:rPr>
              <a:t>如果程序正义的程序经过不断的优化，能不能最终达到正义的效果，什么样的正义能真正的解决实际问题？</a:t>
            </a:r>
          </a:p>
          <a:p>
            <a:endParaRPr lang="zh-CN" altLang="en-US" sz="1400" dirty="0"/>
          </a:p>
        </p:txBody>
      </p:sp>
      <p:sp>
        <p:nvSpPr>
          <p:cNvPr id="7" name="文本框 6">
            <a:extLst>
              <a:ext uri="{FF2B5EF4-FFF2-40B4-BE49-F238E27FC236}">
                <a16:creationId xmlns:a16="http://schemas.microsoft.com/office/drawing/2014/main" id="{92ECD70B-1CEB-0403-49CC-1B7594E3F204}"/>
              </a:ext>
            </a:extLst>
          </p:cNvPr>
          <p:cNvSpPr txBox="1"/>
          <p:nvPr/>
        </p:nvSpPr>
        <p:spPr>
          <a:xfrm>
            <a:off x="251520" y="1916832"/>
            <a:ext cx="8640960" cy="4524315"/>
          </a:xfrm>
          <a:prstGeom prst="rect">
            <a:avLst/>
          </a:prstGeom>
          <a:noFill/>
        </p:spPr>
        <p:txBody>
          <a:bodyPr wrap="square">
            <a:spAutoFit/>
          </a:bodyPr>
          <a:lstStyle/>
          <a:p>
            <a:r>
              <a:rPr lang="zh-CN" altLang="en-US" sz="1600" dirty="0">
                <a:latin typeface="华文宋体" panose="02010600040101010101" pitchFamily="2" charset="-122"/>
                <a:ea typeface="华文宋体" panose="02010600040101010101" pitchFamily="2" charset="-122"/>
              </a:rPr>
              <a:t>程序不断优化能否最终达成正义？答案是否定的。程序正义与实质正义遵循不同逻辑：程序追求过程公平、规则透明、可预期，其优点在于去人格化，不依赖贤明者即可稳定运行。但程序有一个内在限度——它只能处理被程序覆盖的那部分正义，而完整的正义永远包含着程序无法捕捉的例外、情境与特殊性。</a:t>
            </a:r>
          </a:p>
          <a:p>
            <a:endParaRPr lang="zh-CN" altLang="en-US" sz="1600" dirty="0">
              <a:latin typeface="华文宋体" panose="02010600040101010101" pitchFamily="2" charset="-122"/>
              <a:ea typeface="华文宋体" panose="02010600040101010101" pitchFamily="2" charset="-122"/>
            </a:endParaRPr>
          </a:p>
          <a:p>
            <a:r>
              <a:rPr lang="zh-CN" altLang="en-US" sz="1600" dirty="0">
                <a:latin typeface="华文宋体" panose="02010600040101010101" pitchFamily="2" charset="-122"/>
                <a:ea typeface="华文宋体" panose="02010600040101010101" pitchFamily="2" charset="-122"/>
              </a:rPr>
              <a:t>不断优化的程序本质上是利用过去的经验处理未来的事件。它越优化，就越倾向于将复杂情境简化为可计算变量，将活生生的个体压缩为统计样本。当程序完美到能处理百分之九十九的常规情况时，往往也同时丧失了识别那百分之一真正需要正义的例外情境的能力。而真正的正义困境，几乎总是发生在例外之中。更关键的是，程序优化通常以效率和一致性为指标，而非以公正为目标——一个能快速给出统一判决的系统在效率意义上更“优化”，却恰恰可能造成大规模的系统性不公正。</a:t>
            </a:r>
          </a:p>
          <a:p>
            <a:endParaRPr lang="zh-CN" altLang="en-US" sz="1600" dirty="0">
              <a:latin typeface="华文宋体" panose="02010600040101010101" pitchFamily="2" charset="-122"/>
              <a:ea typeface="华文宋体" panose="02010600040101010101" pitchFamily="2" charset="-122"/>
            </a:endParaRPr>
          </a:p>
          <a:p>
            <a:r>
              <a:rPr lang="zh-CN" altLang="en-US" sz="1600" dirty="0">
                <a:latin typeface="华文宋体" panose="02010600040101010101" pitchFamily="2" charset="-122"/>
                <a:ea typeface="华文宋体" panose="02010600040101010101" pitchFamily="2" charset="-122"/>
              </a:rPr>
              <a:t>能够真正解决实际问题的正义，是“程序为底线、实质为校准”的复合型正义。程序保证基本公平、可申诉、可纠错；实质正义则回应具体情境中的特殊性，发现程序的盲区并加以优化。两者之间需要反思性平衡。一个完全由优化程序支配的社会可能非常“公平”，但未必“正义”——因为它可能系统性地忽视弱者的特殊需求、抹杀个体独特性、关闭例外与宽恕的可能性。程序正义是正义的必要条件，但不是充分条件。真正的正义，永远需要在程序之外，保留那个被称为“明智”的人类判断空间。</a:t>
            </a:r>
          </a:p>
        </p:txBody>
      </p:sp>
    </p:spTree>
    <p:extLst>
      <p:ext uri="{BB962C8B-B14F-4D97-AF65-F5344CB8AC3E}">
        <p14:creationId xmlns:p14="http://schemas.microsoft.com/office/powerpoint/2010/main" val="89736054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0" y="260648"/>
            <a:ext cx="9144000" cy="1156990"/>
          </a:xfrm>
        </p:spPr>
        <p:txBody>
          <a:bodyPr vert="horz" wrap="square" lIns="91440" tIns="45720" rIns="91440" bIns="45720" anchor="ctr" anchorCtr="0"/>
          <a:lstStyle/>
          <a:p>
            <a:pPr>
              <a:buNone/>
            </a:pPr>
            <a:r>
              <a:rPr lang="en-US" altLang="zh-CN" sz="4000" dirty="0">
                <a:latin typeface="Times New Roman" panose="02020603050405020304" pitchFamily="18" charset="0"/>
                <a:ea typeface="华文楷体" panose="02010600040101010101" pitchFamily="2" charset="-122"/>
              </a:rPr>
              <a:t>Agency, Communion</a:t>
            </a:r>
            <a:r>
              <a:rPr lang="en-US" altLang="zh-CN" sz="4000" dirty="0">
                <a:latin typeface="华文楷体" panose="02010600040101010101" pitchFamily="2" charset="-122"/>
                <a:ea typeface="华文楷体" panose="02010600040101010101" pitchFamily="2" charset="-122"/>
              </a:rPr>
              <a:t>(</a:t>
            </a:r>
            <a:r>
              <a:rPr lang="zh-CN" altLang="zh-CN" sz="4000" dirty="0">
                <a:latin typeface="华文楷体" panose="02010600040101010101" pitchFamily="2" charset="-122"/>
                <a:ea typeface="华文楷体" panose="02010600040101010101" pitchFamily="2" charset="-122"/>
              </a:rPr>
              <a:t>两套动机或目标</a:t>
            </a:r>
            <a:r>
              <a:rPr lang="en-US" altLang="zh-CN" sz="4000" dirty="0">
                <a:latin typeface="华文楷体" panose="02010600040101010101" pitchFamily="2" charset="-122"/>
                <a:ea typeface="华文楷体" panose="02010600040101010101" pitchFamily="2" charset="-122"/>
              </a:rPr>
              <a:t>)</a:t>
            </a:r>
            <a:br>
              <a:rPr lang="zh-CN" altLang="zh-CN" dirty="0">
                <a:latin typeface="华文楷体" panose="02010600040101010101" pitchFamily="2" charset="-122"/>
                <a:ea typeface="华文楷体" panose="02010600040101010101" pitchFamily="2" charset="-122"/>
              </a:rPr>
            </a:br>
            <a:endParaRPr lang="zh-CN" altLang="en-US" dirty="0">
              <a:latin typeface="华文楷体" panose="02010600040101010101" pitchFamily="2" charset="-122"/>
              <a:ea typeface="华文楷体" panose="02010600040101010101" pitchFamily="2" charset="-122"/>
            </a:endParaRPr>
          </a:p>
        </p:txBody>
      </p:sp>
      <p:sp>
        <p:nvSpPr>
          <p:cNvPr id="3" name="内容占位符 2"/>
          <p:cNvSpPr>
            <a:spLocks noGrp="1"/>
          </p:cNvSpPr>
          <p:nvPr>
            <p:ph idx="1"/>
          </p:nvPr>
        </p:nvSpPr>
        <p:spPr>
          <a:xfrm>
            <a:off x="457200" y="1600200"/>
            <a:ext cx="8229600" cy="1108720"/>
          </a:xfrm>
        </p:spPr>
        <p:txBody>
          <a:bodyPr vert="horz" wrap="square" lIns="91440" tIns="45720" rIns="91440" bIns="45720" numCol="1" anchor="t" anchorCtr="0" compatLnSpc="1">
            <a:normAutofit/>
          </a:bodyPr>
          <a:lstStyle/>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Agency arises from striving to individuate and expand the self and involves qualities such as efficiency(</a:t>
            </a:r>
            <a:r>
              <a:rPr kumimoji="0" lang="zh-CN" altLang="zh-CN" sz="16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Times New Roman" panose="02020603050405020304" pitchFamily="18" charset="0"/>
              </a:rPr>
              <a:t>效率</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competence</a:t>
            </a:r>
            <a:r>
              <a:rPr kumimoji="0" lang="zh-CN"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zh-CN" altLang="en-US" sz="16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Times New Roman" panose="02020603050405020304" pitchFamily="18" charset="0"/>
              </a:rPr>
              <a:t>权能</a:t>
            </a:r>
            <a:r>
              <a:rPr kumimoji="0" lang="zh-CN"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and assertiveness</a:t>
            </a:r>
            <a:r>
              <a:rPr kumimoji="0" lang="zh-CN"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zh-CN" altLang="zh-CN" sz="16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Times New Roman" panose="02020603050405020304" pitchFamily="18" charset="0"/>
              </a:rPr>
              <a:t>自信</a:t>
            </a:r>
            <a:r>
              <a:rPr kumimoji="0" lang="zh-CN"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Communion arises from striving to integrate the self in a larger social unit through caring for others and involves qualities such as benevolence(</a:t>
            </a:r>
            <a:r>
              <a:rPr kumimoji="0" lang="zh-CN" altLang="zh-CN" sz="16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Times New Roman" panose="02020603050405020304" pitchFamily="18" charset="0"/>
              </a:rPr>
              <a:t>仁</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cooperation</a:t>
            </a:r>
            <a:r>
              <a:rPr kumimoji="0" lang="zh-CN"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zh-CN" altLang="zh-CN" sz="16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合作</a:t>
            </a:r>
            <a:r>
              <a:rPr kumimoji="0" lang="zh-CN"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and empathy</a:t>
            </a:r>
            <a:r>
              <a:rPr kumimoji="0" lang="zh-CN"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zh-CN" altLang="zh-CN" sz="16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Times New Roman" panose="02020603050405020304" pitchFamily="18" charset="0"/>
              </a:rPr>
              <a:t>移情</a:t>
            </a:r>
            <a:r>
              <a:rPr kumimoji="0" lang="zh-CN"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zh-CN" altLang="zh-CN" sz="1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p>
        </p:txBody>
      </p:sp>
      <p:sp>
        <p:nvSpPr>
          <p:cNvPr id="35842" name="矩形 1"/>
          <p:cNvSpPr/>
          <p:nvPr/>
        </p:nvSpPr>
        <p:spPr>
          <a:xfrm>
            <a:off x="425963" y="2996952"/>
            <a:ext cx="8034469" cy="3539430"/>
          </a:xfrm>
          <a:prstGeom prst="rect">
            <a:avLst/>
          </a:prstGeom>
          <a:noFill/>
          <a:ln w="9525">
            <a:noFill/>
          </a:ln>
        </p:spPr>
        <p:txBody>
          <a:bodyPr wrap="square">
            <a:spAutoFit/>
          </a:bodyPr>
          <a:lstStyle/>
          <a:p>
            <a:endParaRPr lang="en-US" altLang="zh-CN" sz="1600" b="0" dirty="0">
              <a:latin typeface="华文楷体" panose="02010600040101010101" pitchFamily="2" charset="-122"/>
              <a:ea typeface="华文楷体" panose="02010600040101010101" pitchFamily="2" charset="-122"/>
            </a:endParaRPr>
          </a:p>
          <a:p>
            <a:r>
              <a:rPr lang="zh-CN" altLang="en-US" sz="1600" b="0" dirty="0">
                <a:latin typeface="华文楷体" panose="02010600040101010101" pitchFamily="2" charset="-122"/>
                <a:ea typeface="华文楷体" panose="02010600040101010101" pitchFamily="2" charset="-122"/>
              </a:rPr>
              <a:t>秋风已喧耳畔      白露未染林头</a:t>
            </a:r>
            <a:endParaRPr lang="en-US" altLang="zh-CN" sz="1600" b="0" dirty="0">
              <a:latin typeface="华文楷体" panose="02010600040101010101" pitchFamily="2" charset="-122"/>
              <a:ea typeface="华文楷体" panose="02010600040101010101" pitchFamily="2" charset="-122"/>
            </a:endParaRPr>
          </a:p>
          <a:p>
            <a:endParaRPr lang="en-US" altLang="zh-CN" sz="1600" b="0" dirty="0">
              <a:latin typeface="华文楷体" panose="02010600040101010101" pitchFamily="2" charset="-122"/>
              <a:ea typeface="华文楷体" panose="02010600040101010101" pitchFamily="2" charset="-122"/>
            </a:endParaRPr>
          </a:p>
          <a:p>
            <a:endParaRPr lang="en-US" altLang="zh-CN" sz="1600" b="0" dirty="0">
              <a:latin typeface="华文楷体" panose="02010600040101010101" pitchFamily="2" charset="-122"/>
              <a:ea typeface="华文楷体" panose="02010600040101010101" pitchFamily="2" charset="-122"/>
            </a:endParaRPr>
          </a:p>
          <a:p>
            <a:r>
              <a:rPr lang="zh-CN" altLang="en-US" sz="1600" b="0" dirty="0">
                <a:latin typeface="华文楷体" panose="02010600040101010101" pitchFamily="2" charset="-122"/>
                <a:ea typeface="华文楷体" panose="02010600040101010101" pitchFamily="2" charset="-122"/>
              </a:rPr>
              <a:t>主体与世界（“秋风”“白露”）之间的互动及“共鸣”，倾听彼</a:t>
            </a:r>
            <a:r>
              <a:rPr lang="en-US" altLang="zh-CN" sz="1600" b="0" dirty="0">
                <a:latin typeface="华文楷体" panose="02010600040101010101" pitchFamily="2" charset="-122"/>
                <a:ea typeface="华文楷体" panose="02010600040101010101" pitchFamily="2" charset="-122"/>
              </a:rPr>
              <a:t>-</a:t>
            </a:r>
            <a:r>
              <a:rPr lang="zh-CN" altLang="en-US" sz="1600" b="0" dirty="0">
                <a:latin typeface="华文楷体" panose="02010600040101010101" pitchFamily="2" charset="-122"/>
                <a:ea typeface="华文楷体" panose="02010600040101010101" pitchFamily="2" charset="-122"/>
              </a:rPr>
              <a:t>此的“声音”，同时发生适应性转化，</a:t>
            </a:r>
            <a:r>
              <a:rPr lang="en-US" altLang="zh-CN" sz="1600" b="0" dirty="0">
                <a:latin typeface="华文楷体" panose="02010600040101010101" pitchFamily="2" charset="-122"/>
                <a:ea typeface="华文楷体" panose="02010600040101010101" pitchFamily="2" charset="-122"/>
              </a:rPr>
              <a:t>Adaptive transformation(Rosa</a:t>
            </a:r>
            <a:r>
              <a:rPr lang="zh-CN" altLang="en-US" sz="1600" b="0" dirty="0">
                <a:latin typeface="华文楷体" panose="02010600040101010101" pitchFamily="2" charset="-122"/>
                <a:ea typeface="华文楷体" panose="02010600040101010101" pitchFamily="2" charset="-122"/>
              </a:rPr>
              <a:t>讲的第三个特点，其他三个是被触动，</a:t>
            </a:r>
            <a:r>
              <a:rPr lang="en-US" altLang="zh-CN" sz="1600" b="0" dirty="0">
                <a:latin typeface="华文楷体" panose="02010600040101010101" pitchFamily="2" charset="-122"/>
                <a:ea typeface="华文楷体" panose="02010600040101010101" pitchFamily="2" charset="-122"/>
              </a:rPr>
              <a:t>Being affected,</a:t>
            </a:r>
            <a:r>
              <a:rPr lang="zh-CN" altLang="en-US" sz="1600" b="0" dirty="0">
                <a:latin typeface="华文楷体" panose="02010600040101010101" pitchFamily="2" charset="-122"/>
                <a:ea typeface="华文楷体" panose="02010600040101010101" pitchFamily="2" charset="-122"/>
              </a:rPr>
              <a:t>自我效能，</a:t>
            </a:r>
            <a:r>
              <a:rPr lang="en-US" altLang="zh-CN" sz="1600" b="0" dirty="0">
                <a:latin typeface="华文楷体" panose="02010600040101010101" pitchFamily="2" charset="-122"/>
                <a:ea typeface="华文楷体" panose="02010600040101010101" pitchFamily="2" charset="-122"/>
              </a:rPr>
              <a:t>self-efficacy,</a:t>
            </a:r>
            <a:r>
              <a:rPr lang="zh-CN" altLang="en-US" sz="1600" b="0" dirty="0">
                <a:latin typeface="华文楷体" panose="02010600040101010101" pitchFamily="2" charset="-122"/>
                <a:ea typeface="华文楷体" panose="02010600040101010101" pitchFamily="2" charset="-122"/>
              </a:rPr>
              <a:t>不可控性，</a:t>
            </a:r>
            <a:r>
              <a:rPr lang="en-US" altLang="zh-CN" sz="1600" b="0" dirty="0">
                <a:latin typeface="华文楷体" panose="02010600040101010101" pitchFamily="2" charset="-122"/>
                <a:ea typeface="华文楷体" panose="02010600040101010101" pitchFamily="2" charset="-122"/>
              </a:rPr>
              <a:t>Uncontrollability)</a:t>
            </a:r>
          </a:p>
          <a:p>
            <a:endParaRPr lang="en-US" altLang="zh-CN" sz="1600" b="0" dirty="0">
              <a:latin typeface="华文楷体" panose="02010600040101010101" pitchFamily="2" charset="-122"/>
              <a:ea typeface="华文楷体" panose="02010600040101010101" pitchFamily="2" charset="-122"/>
            </a:endParaRPr>
          </a:p>
          <a:p>
            <a:endParaRPr lang="en-US" altLang="zh-CN" sz="1600" b="0" dirty="0">
              <a:latin typeface="华文楷体" panose="02010600040101010101" pitchFamily="2" charset="-122"/>
              <a:ea typeface="华文楷体" panose="02010600040101010101" pitchFamily="2" charset="-122"/>
            </a:endParaRPr>
          </a:p>
          <a:p>
            <a:endParaRPr lang="en-US" altLang="zh-CN" sz="1600" b="0" dirty="0">
              <a:latin typeface="华文楷体" panose="02010600040101010101" pitchFamily="2" charset="-122"/>
              <a:ea typeface="华文楷体" panose="02010600040101010101" pitchFamily="2" charset="-122"/>
            </a:endParaRPr>
          </a:p>
          <a:p>
            <a:endParaRPr lang="en-US" altLang="zh-CN" sz="1600" b="0" dirty="0">
              <a:latin typeface="华文楷体" panose="02010600040101010101" pitchFamily="2" charset="-122"/>
              <a:ea typeface="华文楷体" panose="02010600040101010101" pitchFamily="2" charset="-122"/>
            </a:endParaRPr>
          </a:p>
          <a:p>
            <a:endParaRPr lang="en-US" altLang="zh-CN" sz="1600" b="0" dirty="0">
              <a:latin typeface="华文楷体" panose="02010600040101010101" pitchFamily="2" charset="-122"/>
              <a:ea typeface="华文楷体" panose="02010600040101010101" pitchFamily="2" charset="-122"/>
            </a:endParaRPr>
          </a:p>
          <a:p>
            <a:endParaRPr lang="en-US" altLang="zh-CN" sz="1600" b="0" dirty="0">
              <a:latin typeface="华文楷体" panose="02010600040101010101" pitchFamily="2" charset="-122"/>
              <a:ea typeface="华文楷体" panose="02010600040101010101" pitchFamily="2" charset="-122"/>
            </a:endParaRPr>
          </a:p>
          <a:p>
            <a:endParaRPr lang="zh-CN" altLang="en-US" sz="1600" b="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p:nvPr/>
        </p:nvSpPr>
        <p:spPr>
          <a:xfrm>
            <a:off x="467544" y="220045"/>
            <a:ext cx="7850187" cy="12969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1800" dirty="0">
              <a:latin typeface="Arial" panose="020B0604020202020204" pitchFamily="34" charset="0"/>
              <a:ea typeface="宋体" panose="02010600030101010101" pitchFamily="2" charset="-122"/>
            </a:endParaRPr>
          </a:p>
        </p:txBody>
      </p:sp>
      <p:sp>
        <p:nvSpPr>
          <p:cNvPr id="50179" name="Text Box 6"/>
          <p:cNvSpPr txBox="1"/>
          <p:nvPr/>
        </p:nvSpPr>
        <p:spPr>
          <a:xfrm>
            <a:off x="845539" y="304182"/>
            <a:ext cx="7158037" cy="1128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3600" b="1" dirty="0">
                <a:solidFill>
                  <a:schemeClr val="bg1"/>
                </a:solidFill>
                <a:latin typeface="华文楷体" panose="02010600040101010101" pitchFamily="2" charset="-122"/>
                <a:ea typeface="华文楷体" panose="02010600040101010101" pitchFamily="2" charset="-122"/>
              </a:rPr>
              <a:t>  </a:t>
            </a:r>
            <a:r>
              <a:rPr lang="zh-CN" altLang="en-US" b="1" dirty="0">
                <a:solidFill>
                  <a:schemeClr val="bg1"/>
                </a:solidFill>
                <a:latin typeface="华文楷体" panose="02010600040101010101" pitchFamily="2" charset="-122"/>
                <a:ea typeface="华文楷体" panose="02010600040101010101" pitchFamily="2" charset="-122"/>
              </a:rPr>
              <a:t>面对激烈的社会竞争和严峻的就业形势，你在大学里能收获什么？</a:t>
            </a:r>
          </a:p>
        </p:txBody>
      </p:sp>
      <p:sp>
        <p:nvSpPr>
          <p:cNvPr id="2" name="Text Box 6">
            <a:extLst>
              <a:ext uri="{FF2B5EF4-FFF2-40B4-BE49-F238E27FC236}">
                <a16:creationId xmlns:a16="http://schemas.microsoft.com/office/drawing/2014/main" id="{4205E053-1C5A-4248-638E-EEE92E5C9252}"/>
              </a:ext>
            </a:extLst>
          </p:cNvPr>
          <p:cNvSpPr txBox="1"/>
          <p:nvPr/>
        </p:nvSpPr>
        <p:spPr>
          <a:xfrm>
            <a:off x="331386" y="1772816"/>
            <a:ext cx="8122502" cy="40011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Arial" panose="020B0604020202020204" pitchFamily="34" charset="0"/>
                <a:ea typeface="宋体" panose="02010600030101010101" pitchFamily="2" charset="-122"/>
              </a:rPr>
              <a:t> </a:t>
            </a:r>
            <a:r>
              <a:rPr lang="zh-CN" altLang="en-US" sz="2000" b="1" dirty="0">
                <a:latin typeface="Arial" panose="020B0604020202020204" pitchFamily="34" charset="0"/>
                <a:ea typeface="宋体" panose="02010600030101010101" pitchFamily="2" charset="-122"/>
              </a:rPr>
              <a:t>有人收获的是知识、能力、良好的素质、对未来生活的勇气与信心。</a:t>
            </a:r>
          </a:p>
        </p:txBody>
      </p:sp>
      <p:sp>
        <p:nvSpPr>
          <p:cNvPr id="4" name="Text Box 6">
            <a:extLst>
              <a:ext uri="{FF2B5EF4-FFF2-40B4-BE49-F238E27FC236}">
                <a16:creationId xmlns:a16="http://schemas.microsoft.com/office/drawing/2014/main" id="{80A6D093-663A-8E4F-6470-B4AA8292D07A}"/>
              </a:ext>
            </a:extLst>
          </p:cNvPr>
          <p:cNvSpPr txBox="1"/>
          <p:nvPr/>
        </p:nvSpPr>
        <p:spPr>
          <a:xfrm>
            <a:off x="278446" y="2441691"/>
            <a:ext cx="8172400" cy="707886"/>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Arial" panose="020B0604020202020204" pitchFamily="34" charset="0"/>
                <a:ea typeface="宋体" panose="02010600030101010101" pitchFamily="2" charset="-122"/>
              </a:rPr>
              <a:t>       </a:t>
            </a:r>
            <a:r>
              <a:rPr lang="zh-CN" altLang="en-US" sz="2000" b="1" dirty="0">
                <a:latin typeface="Arial" panose="020B0604020202020204" pitchFamily="34" charset="0"/>
                <a:ea typeface="宋体" panose="02010600030101010101" pitchFamily="2" charset="-122"/>
              </a:rPr>
              <a:t>有人则两手空空，拥有的只是懊悔、沮丧，和对未来生活的迷茫、恐惧。</a:t>
            </a:r>
          </a:p>
        </p:txBody>
      </p:sp>
      <p:sp>
        <p:nvSpPr>
          <p:cNvPr id="5" name="Text Box 30">
            <a:extLst>
              <a:ext uri="{FF2B5EF4-FFF2-40B4-BE49-F238E27FC236}">
                <a16:creationId xmlns:a16="http://schemas.microsoft.com/office/drawing/2014/main" id="{978B553E-19D8-3A80-E8BD-DBD50BD98B44}"/>
              </a:ext>
            </a:extLst>
          </p:cNvPr>
          <p:cNvSpPr txBox="1"/>
          <p:nvPr/>
        </p:nvSpPr>
        <p:spPr>
          <a:xfrm>
            <a:off x="845539" y="5157192"/>
            <a:ext cx="6567488" cy="70788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000" b="1" dirty="0">
                <a:latin typeface="华文楷体" panose="02010600040101010101" pitchFamily="2" charset="-122"/>
                <a:ea typeface="华文楷体" panose="02010600040101010101" pitchFamily="2" charset="-122"/>
              </a:rPr>
              <a:t>大学的宽松自由意味着大学生拥有更多自主的选择。合理的自我规划和严格的自我管理，才是大学成功的秘诀。</a:t>
            </a:r>
          </a:p>
        </p:txBody>
      </p:sp>
      <p:sp>
        <p:nvSpPr>
          <p:cNvPr id="6" name="Rectangle 2">
            <a:extLst>
              <a:ext uri="{FF2B5EF4-FFF2-40B4-BE49-F238E27FC236}">
                <a16:creationId xmlns:a16="http://schemas.microsoft.com/office/drawing/2014/main" id="{4D8EE04A-B05C-CF78-71E2-71DD3901E750}"/>
              </a:ext>
            </a:extLst>
          </p:cNvPr>
          <p:cNvSpPr txBox="1">
            <a:spLocks/>
          </p:cNvSpPr>
          <p:nvPr/>
        </p:nvSpPr>
        <p:spPr>
          <a:xfrm>
            <a:off x="1619672" y="3789040"/>
            <a:ext cx="4824412" cy="1143000"/>
          </a:xfrm>
        </p:spPr>
        <p:txBody>
          <a:bodyPr vert="horz" wrap="square" lIns="91440" tIns="45720" rIns="91440" bIns="45720" anchor="ctr" anchorCtr="0"/>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eaLnBrk="1" hangingPunct="1"/>
            <a:r>
              <a:rPr lang="zh-CN" altLang="zh-CN" b="1" dirty="0">
                <a:solidFill>
                  <a:srgbClr val="C8360E"/>
                </a:solidFill>
                <a:latin typeface="华文楷体" panose="02010600040101010101" pitchFamily="2" charset="-122"/>
                <a:ea typeface="华文楷体" panose="02010600040101010101" pitchFamily="2" charset="-122"/>
              </a:rPr>
              <a:t>大学生活的要点</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1"/>
          <p:cNvSpPr/>
          <p:nvPr/>
        </p:nvSpPr>
        <p:spPr>
          <a:xfrm>
            <a:off x="0" y="0"/>
            <a:ext cx="2664023" cy="147732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endParaRPr lang="en-US" altLang="zh-CN" sz="1800" b="1" dirty="0">
              <a:latin typeface="楷体_GB2312" pitchFamily="49" charset="-122"/>
              <a:ea typeface="楷体_GB2312" pitchFamily="49" charset="-122"/>
            </a:endParaRPr>
          </a:p>
          <a:p>
            <a:pPr marL="0" lvl="0" indent="0">
              <a:spcBef>
                <a:spcPct val="0"/>
              </a:spcBef>
              <a:buClrTx/>
              <a:buSzTx/>
              <a:buFont typeface="Arial" panose="020B0604020202020204" pitchFamily="34" charset="0"/>
              <a:buNone/>
            </a:pPr>
            <a:r>
              <a:rPr lang="en-US" altLang="zh-CN" sz="1800" b="1" dirty="0">
                <a:solidFill>
                  <a:srgbClr val="0070C0"/>
                </a:solidFill>
                <a:latin typeface="华文楷体" panose="02010600040101010101" pitchFamily="2" charset="-122"/>
                <a:ea typeface="华文楷体" panose="02010600040101010101" pitchFamily="2" charset="-122"/>
              </a:rPr>
              <a:t>1.</a:t>
            </a:r>
            <a:r>
              <a:rPr lang="zh-CN" altLang="en-US" sz="1800" b="1" dirty="0">
                <a:solidFill>
                  <a:srgbClr val="0070C0"/>
                </a:solidFill>
                <a:latin typeface="华文楷体" panose="02010600040101010101" pitchFamily="2" charset="-122"/>
                <a:ea typeface="华文楷体" panose="02010600040101010101" pitchFamily="2" charset="-122"/>
              </a:rPr>
              <a:t>学习生活中直观的变化</a:t>
            </a:r>
            <a:endParaRPr lang="en-US" altLang="zh-CN" sz="1800" b="1" dirty="0">
              <a:solidFill>
                <a:srgbClr val="0070C0"/>
              </a:solidFill>
              <a:latin typeface="华文楷体" panose="02010600040101010101" pitchFamily="2" charset="-122"/>
              <a:ea typeface="华文楷体" panose="02010600040101010101" pitchFamily="2" charset="-122"/>
            </a:endParaRPr>
          </a:p>
          <a:p>
            <a:pPr marL="0" lvl="0" indent="0">
              <a:spcBef>
                <a:spcPct val="0"/>
              </a:spcBef>
              <a:buClrTx/>
              <a:buSzTx/>
              <a:buFont typeface="Arial" panose="020B0604020202020204" pitchFamily="34" charset="0"/>
              <a:buNone/>
            </a:pPr>
            <a:r>
              <a:rPr lang="zh-CN" altLang="en-US" sz="1800" b="1" dirty="0">
                <a:latin typeface="华文楷体" panose="02010600040101010101" pitchFamily="2" charset="-122"/>
                <a:ea typeface="华文楷体" panose="02010600040101010101" pitchFamily="2" charset="-122"/>
              </a:rPr>
              <a:t>   生活：独立自理</a:t>
            </a:r>
            <a:endParaRPr lang="en-US" altLang="zh-CN" sz="1800" b="1" dirty="0">
              <a:latin typeface="华文楷体" panose="02010600040101010101" pitchFamily="2" charset="-122"/>
              <a:ea typeface="华文楷体" panose="02010600040101010101" pitchFamily="2" charset="-122"/>
            </a:endParaRPr>
          </a:p>
          <a:p>
            <a:pPr marL="0" lvl="0" indent="0">
              <a:spcBef>
                <a:spcPct val="0"/>
              </a:spcBef>
              <a:buClrTx/>
              <a:buSzTx/>
              <a:buFont typeface="Arial" panose="020B0604020202020204" pitchFamily="34" charset="0"/>
              <a:buNone/>
            </a:pPr>
            <a:r>
              <a:rPr lang="zh-CN" altLang="en-US" sz="1800" b="1" dirty="0">
                <a:latin typeface="华文楷体" panose="02010600040101010101" pitchFamily="2" charset="-122"/>
                <a:ea typeface="华文楷体" panose="02010600040101010101" pitchFamily="2" charset="-122"/>
              </a:rPr>
              <a:t>   学习：自主探究</a:t>
            </a:r>
            <a:endParaRPr lang="en-US" altLang="zh-CN" sz="1800" b="1" dirty="0">
              <a:latin typeface="华文楷体" panose="02010600040101010101" pitchFamily="2" charset="-122"/>
              <a:ea typeface="华文楷体" panose="02010600040101010101" pitchFamily="2" charset="-122"/>
            </a:endParaRPr>
          </a:p>
          <a:p>
            <a:pPr marL="0" lvl="0" indent="0">
              <a:spcBef>
                <a:spcPct val="0"/>
              </a:spcBef>
              <a:buClrTx/>
              <a:buSzTx/>
              <a:buFont typeface="Arial" panose="020B0604020202020204" pitchFamily="34" charset="0"/>
              <a:buNone/>
            </a:pPr>
            <a:r>
              <a:rPr lang="zh-CN" altLang="en-US" sz="1800" b="1" dirty="0">
                <a:latin typeface="华文楷体" panose="02010600040101010101" pitchFamily="2" charset="-122"/>
                <a:ea typeface="华文楷体" panose="02010600040101010101" pitchFamily="2" charset="-122"/>
              </a:rPr>
              <a:t>   交往：社会意识</a:t>
            </a:r>
            <a:endParaRPr lang="en-US" altLang="zh-CN" sz="1800" b="1" dirty="0">
              <a:latin typeface="华文楷体" panose="02010600040101010101" pitchFamily="2" charset="-122"/>
              <a:ea typeface="华文楷体" panose="02010600040101010101" pitchFamily="2" charset="-122"/>
            </a:endParaRPr>
          </a:p>
        </p:txBody>
      </p:sp>
      <p:sp>
        <p:nvSpPr>
          <p:cNvPr id="2" name="Rectangle 2">
            <a:extLst>
              <a:ext uri="{FF2B5EF4-FFF2-40B4-BE49-F238E27FC236}">
                <a16:creationId xmlns:a16="http://schemas.microsoft.com/office/drawing/2014/main" id="{AD9BD831-736A-492C-2E44-BA4C2ED8CC0B}"/>
              </a:ext>
            </a:extLst>
          </p:cNvPr>
          <p:cNvSpPr txBox="1">
            <a:spLocks/>
          </p:cNvSpPr>
          <p:nvPr/>
        </p:nvSpPr>
        <p:spPr>
          <a:xfrm>
            <a:off x="-1188640" y="1233964"/>
            <a:ext cx="4536628" cy="1143000"/>
          </a:xfrm>
        </p:spPr>
        <p:txBody>
          <a:bodyPr vert="horz" wrap="square" lIns="91440" tIns="45720" rIns="91440" bIns="45720" anchor="ctr" anchorCtr="0"/>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eaLnBrk="1" hangingPunct="1"/>
            <a:r>
              <a:rPr lang="en-US" altLang="zh-CN" sz="1800" b="1" dirty="0">
                <a:solidFill>
                  <a:srgbClr val="0070C0"/>
                </a:solidFill>
                <a:latin typeface="华文楷体" panose="02010600040101010101" pitchFamily="2" charset="-122"/>
                <a:ea typeface="华文楷体" panose="02010600040101010101" pitchFamily="2" charset="-122"/>
              </a:rPr>
              <a:t>2.</a:t>
            </a:r>
            <a:r>
              <a:rPr lang="zh-CN" altLang="en-US" sz="1800" b="1" dirty="0">
                <a:solidFill>
                  <a:srgbClr val="0070C0"/>
                </a:solidFill>
                <a:latin typeface="华文楷体" panose="02010600040101010101" pitchFamily="2" charset="-122"/>
                <a:ea typeface="华文楷体" panose="02010600040101010101" pitchFamily="2" charset="-122"/>
              </a:rPr>
              <a:t>评价标准的变化</a:t>
            </a:r>
          </a:p>
        </p:txBody>
      </p:sp>
      <p:sp>
        <p:nvSpPr>
          <p:cNvPr id="3" name="Rectangle 3">
            <a:extLst>
              <a:ext uri="{FF2B5EF4-FFF2-40B4-BE49-F238E27FC236}">
                <a16:creationId xmlns:a16="http://schemas.microsoft.com/office/drawing/2014/main" id="{CBC19271-B438-61F1-0E38-795F860E084F}"/>
              </a:ext>
            </a:extLst>
          </p:cNvPr>
          <p:cNvSpPr txBox="1">
            <a:spLocks noChangeArrowheads="1"/>
          </p:cNvSpPr>
          <p:nvPr/>
        </p:nvSpPr>
        <p:spPr>
          <a:xfrm>
            <a:off x="179512" y="2060848"/>
            <a:ext cx="4248596" cy="345564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eaLnBrk="1" hangingPunct="1">
              <a:lnSpc>
                <a:spcPct val="90000"/>
              </a:lnSpc>
              <a:buFont typeface="Wingdings 2" panose="05020102010507070707" pitchFamily="18" charset="2"/>
              <a:buNone/>
              <a:defRPr/>
            </a:pPr>
            <a:r>
              <a:rPr lang="zh-CN" altLang="en-US" sz="1800" b="1" dirty="0">
                <a:latin typeface="华文楷体" panose="02010600040101010101" pitchFamily="2" charset="-122"/>
                <a:ea typeface="华文楷体" panose="02010600040101010101" pitchFamily="2" charset="-122"/>
              </a:rPr>
              <a:t>中学以</a:t>
            </a:r>
            <a:r>
              <a:rPr lang="zh-CN" altLang="en-US" sz="1800" b="1" dirty="0">
                <a:solidFill>
                  <a:schemeClr val="folHlink"/>
                </a:solidFill>
                <a:latin typeface="华文楷体" panose="02010600040101010101" pitchFamily="2" charset="-122"/>
                <a:ea typeface="华文楷体" panose="02010600040101010101" pitchFamily="2" charset="-122"/>
              </a:rPr>
              <a:t>成绩</a:t>
            </a:r>
            <a:r>
              <a:rPr lang="zh-CN" altLang="en-US" sz="1800" b="1" dirty="0">
                <a:latin typeface="华文楷体" panose="02010600040101010101" pitchFamily="2" charset="-122"/>
                <a:ea typeface="华文楷体" panose="02010600040101010101" pitchFamily="2" charset="-122"/>
              </a:rPr>
              <a:t>论英雄</a:t>
            </a:r>
            <a:r>
              <a:rPr lang="zh-CN" altLang="en-US" sz="1800" b="1" noProof="1">
                <a:latin typeface="华文楷体" panose="02010600040101010101" pitchFamily="2" charset="-122"/>
                <a:ea typeface="华文楷体" panose="02010600040101010101" pitchFamily="2" charset="-122"/>
                <a:sym typeface="Wingdings" panose="05000000000000000000" pitchFamily="2" charset="2"/>
              </a:rPr>
              <a:t></a:t>
            </a:r>
            <a:r>
              <a:rPr lang="zh-CN" altLang="en-US" sz="1800" b="1" dirty="0">
                <a:latin typeface="华文楷体" panose="02010600040101010101" pitchFamily="2" charset="-122"/>
                <a:ea typeface="华文楷体" panose="02010600040101010101" pitchFamily="2" charset="-122"/>
              </a:rPr>
              <a:t>大学</a:t>
            </a:r>
            <a:r>
              <a:rPr lang="zh-CN" altLang="en-US" sz="1800" b="1" dirty="0">
                <a:solidFill>
                  <a:schemeClr val="folHlink"/>
                </a:solidFill>
                <a:latin typeface="华文楷体" panose="02010600040101010101" pitchFamily="2" charset="-122"/>
                <a:ea typeface="华文楷体" panose="02010600040101010101" pitchFamily="2" charset="-122"/>
              </a:rPr>
              <a:t>综合素质</a:t>
            </a:r>
            <a:r>
              <a:rPr lang="zh-CN" altLang="en-US" sz="1800" b="1" dirty="0">
                <a:latin typeface="华文楷体" panose="02010600040101010101" pitchFamily="2" charset="-122"/>
                <a:ea typeface="华文楷体" panose="02010600040101010101" pitchFamily="2" charset="-122"/>
              </a:rPr>
              <a:t>的较量</a:t>
            </a:r>
            <a:endParaRPr lang="en-US" altLang="zh-CN" sz="1800" b="1" dirty="0">
              <a:latin typeface="华文楷体" panose="02010600040101010101" pitchFamily="2" charset="-122"/>
              <a:ea typeface="华文楷体" panose="02010600040101010101" pitchFamily="2" charset="-122"/>
            </a:endParaRPr>
          </a:p>
          <a:p>
            <a:pPr marL="0" indent="0" eaLnBrk="1" hangingPunct="1">
              <a:lnSpc>
                <a:spcPct val="90000"/>
              </a:lnSpc>
              <a:buFont typeface="Wingdings 2" panose="05020102010507070707" pitchFamily="18" charset="2"/>
              <a:buNone/>
              <a:defRPr/>
            </a:pPr>
            <a:r>
              <a:rPr lang="zh-CN" altLang="en-US" sz="1800" b="1" dirty="0">
                <a:solidFill>
                  <a:schemeClr val="folHlink"/>
                </a:solidFill>
                <a:latin typeface="华文楷体" panose="02010600040101010101" pitchFamily="2" charset="-122"/>
                <a:ea typeface="华文楷体" panose="02010600040101010101" pitchFamily="2" charset="-122"/>
              </a:rPr>
              <a:t>学识与能力：</a:t>
            </a:r>
            <a:r>
              <a:rPr lang="zh-CN" altLang="en-US" sz="1800" b="0" dirty="0">
                <a:latin typeface="华文楷体" panose="02010600040101010101" pitchFamily="2" charset="-122"/>
                <a:ea typeface="华文楷体" panose="02010600040101010101" pitchFamily="2" charset="-122"/>
              </a:rPr>
              <a:t>专业知识，综合知识</a:t>
            </a:r>
          </a:p>
          <a:p>
            <a:pPr marL="0" indent="0" eaLnBrk="1" hangingPunct="1">
              <a:lnSpc>
                <a:spcPct val="90000"/>
              </a:lnSpc>
              <a:buFont typeface="Wingdings 2" panose="05020102010507070707" pitchFamily="18" charset="2"/>
              <a:buNone/>
              <a:defRPr/>
            </a:pPr>
            <a:r>
              <a:rPr lang="zh-CN" altLang="en-US" sz="1800" b="0" dirty="0">
                <a:latin typeface="华文楷体" panose="02010600040101010101" pitchFamily="2" charset="-122"/>
                <a:ea typeface="华文楷体" panose="02010600040101010101" pitchFamily="2" charset="-122"/>
              </a:rPr>
              <a:t>学习、交往、社会工作、实践动手，创新、表达等各种能力</a:t>
            </a:r>
          </a:p>
          <a:p>
            <a:pPr marL="0" indent="0" eaLnBrk="1" hangingPunct="1">
              <a:lnSpc>
                <a:spcPct val="90000"/>
              </a:lnSpc>
              <a:buFont typeface="Wingdings 2" panose="05020102010507070707" pitchFamily="18" charset="2"/>
              <a:buNone/>
              <a:defRPr/>
            </a:pPr>
            <a:r>
              <a:rPr lang="zh-CN" altLang="en-US" sz="1800" b="1" dirty="0">
                <a:solidFill>
                  <a:schemeClr val="folHlink"/>
                </a:solidFill>
                <a:latin typeface="华文楷体" panose="02010600040101010101" pitchFamily="2" charset="-122"/>
                <a:ea typeface="华文楷体" panose="02010600040101010101" pitchFamily="2" charset="-122"/>
                <a:sym typeface="Arial" panose="020B0604020202020204" pitchFamily="34" charset="0"/>
              </a:rPr>
              <a:t>形象、修养与品行：</a:t>
            </a:r>
            <a:r>
              <a:rPr lang="zh-CN" altLang="en-US" sz="1800" b="0" dirty="0">
                <a:latin typeface="华文楷体" panose="02010600040101010101" pitchFamily="2" charset="-122"/>
                <a:ea typeface="华文楷体" panose="02010600040101010101" pitchFamily="2" charset="-122"/>
                <a:sym typeface="Arial" panose="020B0604020202020204" pitchFamily="34" charset="0"/>
              </a:rPr>
              <a:t>容貌装扮、</a:t>
            </a:r>
            <a:r>
              <a:rPr lang="zh-CN" altLang="en-US" sz="1800" b="0" dirty="0">
                <a:latin typeface="华文楷体" panose="02010600040101010101" pitchFamily="2" charset="-122"/>
                <a:ea typeface="华文楷体" panose="02010600040101010101" pitchFamily="2" charset="-122"/>
              </a:rPr>
              <a:t>气质风度、性格、心理状态、思想道德修养、品格等</a:t>
            </a:r>
            <a:endParaRPr lang="en-US" altLang="zh-CN" sz="1800" b="0" dirty="0">
              <a:latin typeface="华文楷体" panose="02010600040101010101" pitchFamily="2" charset="-122"/>
              <a:ea typeface="华文楷体" panose="02010600040101010101" pitchFamily="2" charset="-122"/>
            </a:endParaRPr>
          </a:p>
          <a:p>
            <a:pPr marL="0" indent="0" eaLnBrk="1" hangingPunct="1">
              <a:lnSpc>
                <a:spcPct val="90000"/>
              </a:lnSpc>
              <a:buFont typeface="Wingdings 2" panose="05020102010507070707" pitchFamily="18" charset="2"/>
              <a:buNone/>
              <a:defRPr/>
            </a:pPr>
            <a:r>
              <a:rPr lang="zh-CN" altLang="en-US" sz="1800" b="1" dirty="0">
                <a:solidFill>
                  <a:schemeClr val="folHlink"/>
                </a:solidFill>
                <a:latin typeface="华文楷体" panose="02010600040101010101" pitchFamily="2" charset="-122"/>
                <a:ea typeface="华文楷体" panose="02010600040101010101" pitchFamily="2" charset="-122"/>
                <a:sym typeface="Arial" panose="020B0604020202020204" pitchFamily="34" charset="0"/>
              </a:rPr>
              <a:t>思维方式：</a:t>
            </a:r>
            <a:r>
              <a:rPr lang="zh-CN" altLang="en-US" sz="1800" b="0" dirty="0">
                <a:latin typeface="华文楷体" panose="02010600040101010101" pitchFamily="2" charset="-122"/>
                <a:ea typeface="华文楷体" panose="02010600040101010101" pitchFamily="2" charset="-122"/>
                <a:sym typeface="Arial" panose="020B0604020202020204" pitchFamily="34" charset="0"/>
              </a:rPr>
              <a:t>人们观察、分析、解决问题的模式化、程式化的“心理结构”。辩证思维、批判思维、系统思维、创新思维、全局思维等</a:t>
            </a:r>
            <a:endParaRPr lang="en-US" altLang="zh-CN" sz="1800" b="0" dirty="0">
              <a:latin typeface="华文楷体" panose="02010600040101010101" pitchFamily="2" charset="-122"/>
              <a:ea typeface="华文楷体" panose="02010600040101010101" pitchFamily="2" charset="-122"/>
              <a:sym typeface="Arial" panose="020B0604020202020204" pitchFamily="34" charset="0"/>
            </a:endParaRPr>
          </a:p>
          <a:p>
            <a:pPr eaLnBrk="1" hangingPunct="1">
              <a:lnSpc>
                <a:spcPct val="90000"/>
              </a:lnSpc>
              <a:defRPr/>
            </a:pPr>
            <a:endParaRPr lang="zh-CN" altLang="en-US" sz="1800" b="0" dirty="0"/>
          </a:p>
        </p:txBody>
      </p:sp>
      <p:sp>
        <p:nvSpPr>
          <p:cNvPr id="4" name="Rectangle 2">
            <a:extLst>
              <a:ext uri="{FF2B5EF4-FFF2-40B4-BE49-F238E27FC236}">
                <a16:creationId xmlns:a16="http://schemas.microsoft.com/office/drawing/2014/main" id="{963ED7C2-FBBC-D938-E9C9-0035F55836F2}"/>
              </a:ext>
            </a:extLst>
          </p:cNvPr>
          <p:cNvSpPr txBox="1">
            <a:spLocks/>
          </p:cNvSpPr>
          <p:nvPr/>
        </p:nvSpPr>
        <p:spPr>
          <a:xfrm>
            <a:off x="4860032" y="0"/>
            <a:ext cx="3501182" cy="964406"/>
          </a:xfrm>
        </p:spPr>
        <p:txBody>
          <a:bodyPr vert="horz" wrap="square" lIns="91440" tIns="45720" rIns="91440" bIns="45720" anchor="ctr" anchorCtr="0"/>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eaLnBrk="1" hangingPunct="1"/>
            <a:r>
              <a:rPr lang="en-US" altLang="zh-CN" sz="2000" b="1" dirty="0">
                <a:solidFill>
                  <a:srgbClr val="0070C0"/>
                </a:solidFill>
              </a:rPr>
              <a:t>3.</a:t>
            </a:r>
            <a:r>
              <a:rPr lang="zh-CN" altLang="en-US" sz="2000" b="1" dirty="0">
                <a:solidFill>
                  <a:srgbClr val="0070C0"/>
                </a:solidFill>
                <a:latin typeface="华文楷体" panose="02010600040101010101" pitchFamily="2" charset="-122"/>
                <a:ea typeface="华文楷体" panose="02010600040101010101" pitchFamily="2" charset="-122"/>
              </a:rPr>
              <a:t>育人目标的变化</a:t>
            </a:r>
          </a:p>
        </p:txBody>
      </p:sp>
      <p:sp>
        <p:nvSpPr>
          <p:cNvPr id="5" name="Rectangle 3">
            <a:extLst>
              <a:ext uri="{FF2B5EF4-FFF2-40B4-BE49-F238E27FC236}">
                <a16:creationId xmlns:a16="http://schemas.microsoft.com/office/drawing/2014/main" id="{43AF3D01-BB80-CFDD-CF45-550133DCA8FC}"/>
              </a:ext>
            </a:extLst>
          </p:cNvPr>
          <p:cNvSpPr txBox="1">
            <a:spLocks noChangeArrowheads="1"/>
          </p:cNvSpPr>
          <p:nvPr/>
        </p:nvSpPr>
        <p:spPr>
          <a:xfrm>
            <a:off x="4355976" y="964406"/>
            <a:ext cx="4680520" cy="4624834"/>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eaLnBrk="1" hangingPunct="1">
              <a:lnSpc>
                <a:spcPct val="90000"/>
              </a:lnSpc>
              <a:buFont typeface="Wingdings 2" panose="05020102010507070707" pitchFamily="18" charset="2"/>
              <a:buNone/>
              <a:defRPr/>
            </a:pPr>
            <a:r>
              <a:rPr lang="zh-CN" altLang="en-US" sz="2000" b="0" dirty="0">
                <a:latin typeface="华文楷体" panose="02010600040101010101" pitchFamily="2" charset="-122"/>
                <a:ea typeface="华文楷体" panose="02010600040101010101" pitchFamily="2" charset="-122"/>
              </a:rPr>
              <a:t>大学培养什么样的人？</a:t>
            </a:r>
            <a:endParaRPr lang="en-US" altLang="zh-CN" sz="2000" b="0" dirty="0">
              <a:latin typeface="华文楷体" panose="02010600040101010101" pitchFamily="2" charset="-122"/>
              <a:ea typeface="华文楷体" panose="02010600040101010101" pitchFamily="2" charset="-122"/>
            </a:endParaRPr>
          </a:p>
          <a:p>
            <a:pPr eaLnBrk="1" hangingPunct="1">
              <a:lnSpc>
                <a:spcPct val="90000"/>
              </a:lnSpc>
              <a:defRPr/>
            </a:pPr>
            <a:endParaRPr lang="en-US" altLang="zh-CN" sz="2000" b="0" dirty="0">
              <a:latin typeface="华文楷体" panose="02010600040101010101" pitchFamily="2" charset="-122"/>
              <a:ea typeface="华文楷体" panose="02010600040101010101" pitchFamily="2" charset="-122"/>
            </a:endParaRPr>
          </a:p>
          <a:p>
            <a:pPr marL="0" indent="0" eaLnBrk="1" hangingPunct="1">
              <a:lnSpc>
                <a:spcPct val="90000"/>
              </a:lnSpc>
              <a:buFont typeface="Wingdings 2" panose="05020102010507070707" pitchFamily="18" charset="2"/>
              <a:buNone/>
              <a:defRPr/>
            </a:pPr>
            <a:r>
              <a:rPr lang="zh-CN" altLang="en-US" sz="2000" b="0" dirty="0">
                <a:latin typeface="华文楷体" panose="02010600040101010101" pitchFamily="2" charset="-122"/>
                <a:ea typeface="华文楷体" panose="02010600040101010101" pitchFamily="2" charset="-122"/>
              </a:rPr>
              <a:t>梅贻琦（清华大学永远的校长）：大学教育之重，在于人格。</a:t>
            </a:r>
            <a:endParaRPr lang="en-US" altLang="zh-CN" sz="2000" b="0" dirty="0">
              <a:latin typeface="华文楷体" panose="02010600040101010101" pitchFamily="2" charset="-122"/>
              <a:ea typeface="华文楷体" panose="02010600040101010101" pitchFamily="2" charset="-122"/>
            </a:endParaRPr>
          </a:p>
          <a:p>
            <a:pPr marL="0" indent="0" eaLnBrk="1" hangingPunct="1">
              <a:lnSpc>
                <a:spcPct val="90000"/>
              </a:lnSpc>
              <a:buFont typeface="Wingdings 2" panose="05020102010507070707" pitchFamily="18" charset="2"/>
              <a:buNone/>
              <a:defRPr/>
            </a:pPr>
            <a:r>
              <a:rPr lang="zh-CN" altLang="en-US" sz="2000" b="0" dirty="0">
                <a:latin typeface="华文楷体" panose="02010600040101010101" pitchFamily="2" charset="-122"/>
                <a:ea typeface="华文楷体" panose="02010600040101010101" pitchFamily="2" charset="-122"/>
              </a:rPr>
              <a:t>理查德</a:t>
            </a:r>
            <a:r>
              <a:rPr lang="en-US" altLang="zh-CN" sz="2000" b="0" dirty="0">
                <a:latin typeface="华文楷体" panose="02010600040101010101" pitchFamily="2" charset="-122"/>
                <a:ea typeface="华文楷体" panose="02010600040101010101" pitchFamily="2" charset="-122"/>
              </a:rPr>
              <a:t>·</a:t>
            </a:r>
            <a:r>
              <a:rPr lang="zh-CN" altLang="en-US" sz="2000" b="0" dirty="0">
                <a:latin typeface="华文楷体" panose="02010600040101010101" pitchFamily="2" charset="-122"/>
                <a:ea typeface="华文楷体" panose="02010600040101010101" pitchFamily="2" charset="-122"/>
              </a:rPr>
              <a:t>莱文（任耶鲁大学校长</a:t>
            </a:r>
            <a:r>
              <a:rPr lang="en-US" altLang="zh-CN" sz="2000" b="0" dirty="0">
                <a:latin typeface="华文楷体" panose="02010600040101010101" pitchFamily="2" charset="-122"/>
                <a:ea typeface="华文楷体" panose="02010600040101010101" pitchFamily="2" charset="-122"/>
              </a:rPr>
              <a:t>20</a:t>
            </a:r>
            <a:r>
              <a:rPr lang="zh-CN" altLang="en-US" sz="2000" b="0" dirty="0">
                <a:latin typeface="华文楷体" panose="02010600040101010101" pitchFamily="2" charset="-122"/>
                <a:ea typeface="华文楷体" panose="02010600040101010101" pitchFamily="2" charset="-122"/>
              </a:rPr>
              <a:t>年）：本科教育的核心是通识教育（</a:t>
            </a:r>
            <a:r>
              <a:rPr lang="en-US" altLang="zh-CN" sz="2000" b="0" dirty="0">
                <a:latin typeface="Times New Roman" panose="02020603050405020304" pitchFamily="18" charset="0"/>
                <a:ea typeface="华文楷体" panose="02010600040101010101" pitchFamily="2" charset="-122"/>
                <a:cs typeface="Times New Roman" panose="02020603050405020304" pitchFamily="18" charset="0"/>
              </a:rPr>
              <a:t>liberal education</a:t>
            </a:r>
            <a:r>
              <a:rPr lang="zh-CN" altLang="en-US" sz="2000" b="0" dirty="0">
                <a:latin typeface="华文楷体" panose="02010600040101010101" pitchFamily="2" charset="-122"/>
                <a:ea typeface="华文楷体" panose="02010600040101010101" pitchFamily="2" charset="-122"/>
              </a:rPr>
              <a:t>），即自由教育，是对心灵的自由滋养，其核心是</a:t>
            </a:r>
            <a:r>
              <a:rPr lang="en-US" altLang="zh-CN" sz="2000" b="0" dirty="0">
                <a:latin typeface="华文楷体" panose="02010600040101010101" pitchFamily="2" charset="-122"/>
                <a:ea typeface="华文楷体" panose="02010600040101010101" pitchFamily="2" charset="-122"/>
              </a:rPr>
              <a:t>——</a:t>
            </a:r>
            <a:r>
              <a:rPr lang="zh-CN" altLang="en-US" sz="2000" b="0" dirty="0">
                <a:latin typeface="华文楷体" panose="02010600040101010101" pitchFamily="2" charset="-122"/>
                <a:ea typeface="华文楷体" panose="02010600040101010101" pitchFamily="2" charset="-122"/>
              </a:rPr>
              <a:t>自由的精神、公民的责任、远大的志向。</a:t>
            </a:r>
          </a:p>
          <a:p>
            <a:pPr marL="0" indent="0" eaLnBrk="1" hangingPunct="1">
              <a:lnSpc>
                <a:spcPct val="90000"/>
              </a:lnSpc>
              <a:buFont typeface="Wingdings 2" panose="05020102010507070707" pitchFamily="18" charset="2"/>
              <a:buNone/>
              <a:defRPr/>
            </a:pPr>
            <a:r>
              <a:rPr lang="zh-CN" altLang="en-US" sz="2000" b="0" dirty="0">
                <a:latin typeface="华文楷体" panose="02010600040101010101" pitchFamily="2" charset="-122"/>
                <a:ea typeface="华文楷体" panose="02010600040101010101" pitchFamily="2" charset="-122"/>
              </a:rPr>
              <a:t>爱因斯坦：学校教育的目标是“培养有独立行动和独立思考的个人”，并且“他们要把为社会服务看做是自己人生的最高目的”。</a:t>
            </a:r>
          </a:p>
        </p:txBody>
      </p:sp>
      <p:sp>
        <p:nvSpPr>
          <p:cNvPr id="6" name="Rectangle 2">
            <a:extLst>
              <a:ext uri="{FF2B5EF4-FFF2-40B4-BE49-F238E27FC236}">
                <a16:creationId xmlns:a16="http://schemas.microsoft.com/office/drawing/2014/main" id="{514C9D12-1D57-1F41-A10A-93F62D408048}"/>
              </a:ext>
            </a:extLst>
          </p:cNvPr>
          <p:cNvSpPr txBox="1">
            <a:spLocks/>
          </p:cNvSpPr>
          <p:nvPr/>
        </p:nvSpPr>
        <p:spPr>
          <a:xfrm>
            <a:off x="3095786" y="4648125"/>
            <a:ext cx="7200900" cy="868363"/>
          </a:xfrm>
        </p:spPr>
        <p:txBody>
          <a:bodyPr vert="horz" wrap="square" lIns="91440" tIns="45720" rIns="91440" bIns="45720" anchor="ctr" anchorCtr="0"/>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eaLnBrk="1" hangingPunct="1"/>
            <a:r>
              <a:rPr lang="zh-CN" altLang="zh-CN" sz="2400" b="1" dirty="0">
                <a:latin typeface="华文楷体" panose="02010600040101010101" pitchFamily="2" charset="-122"/>
                <a:ea typeface="华文楷体" panose="02010600040101010101" pitchFamily="2" charset="-122"/>
              </a:rPr>
              <a:t>大学是人生发展的战略机遇期</a:t>
            </a:r>
          </a:p>
        </p:txBody>
      </p:sp>
      <p:sp>
        <p:nvSpPr>
          <p:cNvPr id="7" name="Rectangle 3">
            <a:extLst>
              <a:ext uri="{FF2B5EF4-FFF2-40B4-BE49-F238E27FC236}">
                <a16:creationId xmlns:a16="http://schemas.microsoft.com/office/drawing/2014/main" id="{25310CAA-53E9-D84D-1F5C-AA924CE4B523}"/>
              </a:ext>
            </a:extLst>
          </p:cNvPr>
          <p:cNvSpPr txBox="1">
            <a:spLocks noChangeArrowheads="1"/>
          </p:cNvSpPr>
          <p:nvPr/>
        </p:nvSpPr>
        <p:spPr>
          <a:xfrm>
            <a:off x="4509401" y="5445224"/>
            <a:ext cx="4536628" cy="868363"/>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eaLnBrk="1" hangingPunct="1">
              <a:lnSpc>
                <a:spcPct val="90000"/>
              </a:lnSpc>
              <a:buFont typeface="Wingdings 2" panose="05020102010507070707" pitchFamily="18" charset="2"/>
              <a:buNone/>
              <a:defRPr/>
            </a:pPr>
            <a:r>
              <a:rPr lang="zh-CN" altLang="en-US" sz="2000" b="1" dirty="0">
                <a:latin typeface="华文楷体" panose="02010600040101010101" pitchFamily="2" charset="-122"/>
                <a:ea typeface="华文楷体" panose="02010600040101010101" pitchFamily="2" charset="-122"/>
              </a:rPr>
              <a:t>真正地自己把握自己的人生</a:t>
            </a:r>
          </a:p>
          <a:p>
            <a:pPr marL="0" indent="0" eaLnBrk="1" hangingPunct="1">
              <a:lnSpc>
                <a:spcPct val="90000"/>
              </a:lnSpc>
              <a:buFont typeface="Wingdings 2" panose="05020102010507070707" pitchFamily="18" charset="2"/>
              <a:buNone/>
              <a:defRPr/>
            </a:pPr>
            <a:r>
              <a:rPr lang="zh-CN" altLang="en-US" sz="2000" b="1" dirty="0">
                <a:latin typeface="华文楷体" panose="02010600040101010101" pitchFamily="2" charset="-122"/>
                <a:ea typeface="华文楷体" panose="02010600040101010101" pitchFamily="2" charset="-122"/>
              </a:rPr>
              <a:t>有很多发展的可能和无限的发展空间</a:t>
            </a:r>
          </a:p>
          <a:p>
            <a:pPr eaLnBrk="1" hangingPunct="1">
              <a:lnSpc>
                <a:spcPct val="90000"/>
              </a:lnSpc>
              <a:defRPr/>
            </a:pPr>
            <a:endParaRPr lang="en-US" altLang="zh-CN" sz="2000" b="1" dirty="0">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556792"/>
            <a:ext cx="3384376" cy="1872208"/>
          </a:xfrm>
        </p:spPr>
        <p:txBody>
          <a:bodyPr vert="horz" wrap="square" lIns="91440" tIns="45720" rIns="91440" bIns="45720" numCol="1" anchor="t" anchorCtr="0" compatLnSpc="1">
            <a:noAutofit/>
          </a:bodyPr>
          <a:lstStyle/>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中国变强大，美国走向衰落</a:t>
            </a:r>
            <a:endParaRPr kumimoji="0" lang="en-US" altLang="zh-CN" sz="1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en-US" altLang="zh-CN" sz="1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有可能导致中美矛盾加剧</a:t>
            </a:r>
            <a:endParaRPr kumimoji="0" lang="en-US" altLang="zh-CN" sz="1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endParaRPr kumimoji="0" lang="en-US" altLang="zh-CN" sz="1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国际格局必将发生根本改变</a:t>
            </a:r>
            <a:endParaRPr kumimoji="0" lang="en-US" altLang="zh-CN" sz="1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
        <p:nvSpPr>
          <p:cNvPr id="4" name="文本框 3">
            <a:extLst>
              <a:ext uri="{FF2B5EF4-FFF2-40B4-BE49-F238E27FC236}">
                <a16:creationId xmlns:a16="http://schemas.microsoft.com/office/drawing/2014/main" id="{B9B17986-4B0C-911C-C33E-2A05F0005B7B}"/>
              </a:ext>
            </a:extLst>
          </p:cNvPr>
          <p:cNvSpPr txBox="1"/>
          <p:nvPr/>
        </p:nvSpPr>
        <p:spPr>
          <a:xfrm>
            <a:off x="3419872" y="620688"/>
            <a:ext cx="216024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新时代带来的挑战</a:t>
            </a:r>
            <a:endParaRPr kumimoji="0" lang="en-US" altLang="zh-CN" sz="1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
        <p:nvSpPr>
          <p:cNvPr id="5" name="内容占位符 2">
            <a:extLst>
              <a:ext uri="{FF2B5EF4-FFF2-40B4-BE49-F238E27FC236}">
                <a16:creationId xmlns:a16="http://schemas.microsoft.com/office/drawing/2014/main" id="{2A5F10F7-4F4B-3820-6C19-B219BA41141D}"/>
              </a:ext>
            </a:extLst>
          </p:cNvPr>
          <p:cNvSpPr txBox="1">
            <a:spLocks/>
          </p:cNvSpPr>
          <p:nvPr/>
        </p:nvSpPr>
        <p:spPr>
          <a:xfrm>
            <a:off x="3347864" y="1559834"/>
            <a:ext cx="2879998" cy="2159496"/>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buFont typeface="Wingdings 2" panose="05020102010507070707" pitchFamily="18" charset="2"/>
              <a:buNone/>
              <a:defRPr/>
            </a:pPr>
            <a:r>
              <a:rPr lang="zh-CN" altLang="en-US" sz="1800" b="0" dirty="0">
                <a:latin typeface="华文楷体" panose="02010600040101010101" pitchFamily="2" charset="-122"/>
                <a:ea typeface="华文楷体" panose="02010600040101010101" pitchFamily="2" charset="-122"/>
              </a:rPr>
              <a:t>疫情可能彻底改变人类</a:t>
            </a: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defRPr/>
            </a:pPr>
            <a:r>
              <a:rPr lang="zh-CN" altLang="en-US" sz="1800" b="0" dirty="0">
                <a:latin typeface="华文楷体" panose="02010600040101010101" pitchFamily="2" charset="-122"/>
                <a:ea typeface="华文楷体" panose="02010600040101010101" pitchFamily="2" charset="-122"/>
              </a:rPr>
              <a:t>生活方式和社会结构</a:t>
            </a: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defRPr/>
            </a:pP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defRPr/>
            </a:pPr>
            <a:r>
              <a:rPr lang="zh-CN" altLang="en-US" sz="1800" b="0" dirty="0">
                <a:latin typeface="华文楷体" panose="02010600040101010101" pitchFamily="2" charset="-122"/>
                <a:ea typeface="华文楷体" panose="02010600040101010101" pitchFamily="2" charset="-122"/>
              </a:rPr>
              <a:t>人类行为泛网络化</a:t>
            </a: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defRPr/>
            </a:pPr>
            <a:r>
              <a:rPr lang="zh-CN" altLang="en-US" sz="1800" b="0" dirty="0">
                <a:latin typeface="华文楷体" panose="02010600040101010101" pitchFamily="2" charset="-122"/>
                <a:ea typeface="华文楷体" panose="02010600040101010101" pitchFamily="2" charset="-122"/>
              </a:rPr>
              <a:t>距离社交常态化</a:t>
            </a: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defRPr/>
            </a:pPr>
            <a:r>
              <a:rPr lang="zh-CN" altLang="en-US" sz="1800" b="0" dirty="0">
                <a:latin typeface="华文楷体" panose="02010600040101010101" pitchFamily="2" charset="-122"/>
                <a:ea typeface="华文楷体" panose="02010600040101010101" pitchFamily="2" charset="-122"/>
              </a:rPr>
              <a:t>国际化趋势的曲折</a:t>
            </a:r>
            <a:endParaRPr lang="en-US" altLang="zh-CN" sz="1800" b="0" dirty="0">
              <a:latin typeface="华文楷体" panose="02010600040101010101" pitchFamily="2" charset="-122"/>
              <a:ea typeface="华文楷体" panose="02010600040101010101" pitchFamily="2" charset="-122"/>
            </a:endParaRPr>
          </a:p>
          <a:p>
            <a:pPr>
              <a:defRPr/>
            </a:pPr>
            <a:endParaRPr lang="zh-CN" altLang="en-US" sz="1800" b="0" dirty="0">
              <a:latin typeface="华文中宋" panose="02010600040101010101" pitchFamily="2" charset="-122"/>
              <a:ea typeface="华文中宋" panose="02010600040101010101" pitchFamily="2" charset="-122"/>
            </a:endParaRPr>
          </a:p>
        </p:txBody>
      </p:sp>
      <p:sp>
        <p:nvSpPr>
          <p:cNvPr id="6" name="标题 1">
            <a:extLst>
              <a:ext uri="{FF2B5EF4-FFF2-40B4-BE49-F238E27FC236}">
                <a16:creationId xmlns:a16="http://schemas.microsoft.com/office/drawing/2014/main" id="{9216A024-8AFC-771A-15CF-E5C8B62B6994}"/>
              </a:ext>
            </a:extLst>
          </p:cNvPr>
          <p:cNvSpPr>
            <a:spLocks noGrp="1"/>
          </p:cNvSpPr>
          <p:nvPr>
            <p:ph type="title"/>
          </p:nvPr>
        </p:nvSpPr>
        <p:spPr>
          <a:xfrm>
            <a:off x="251520" y="3284984"/>
            <a:ext cx="8229600" cy="1143000"/>
          </a:xfrm>
        </p:spPr>
        <p:txBody>
          <a:bodyPr vert="horz" wrap="square" lIns="91440" tIns="45720" rIns="91440" bIns="45720" anchor="ctr" anchorCtr="0"/>
          <a:lstStyle/>
          <a:p>
            <a:r>
              <a:rPr lang="en-US" altLang="zh-CN" sz="2400" dirty="0"/>
              <a:t>   </a:t>
            </a:r>
            <a:r>
              <a:rPr lang="zh-CN" altLang="en-US" sz="2400" dirty="0">
                <a:latin typeface="华文楷体" panose="02010600040101010101" pitchFamily="2" charset="-122"/>
                <a:ea typeface="华文楷体" panose="02010600040101010101" pitchFamily="2" charset="-122"/>
              </a:rPr>
              <a:t>后疫情时代的机遇</a:t>
            </a:r>
          </a:p>
        </p:txBody>
      </p:sp>
      <p:sp>
        <p:nvSpPr>
          <p:cNvPr id="7" name="内容占位符 2">
            <a:extLst>
              <a:ext uri="{FF2B5EF4-FFF2-40B4-BE49-F238E27FC236}">
                <a16:creationId xmlns:a16="http://schemas.microsoft.com/office/drawing/2014/main" id="{0BC4D639-A7EF-592B-1A5C-50E781C849B7}"/>
              </a:ext>
            </a:extLst>
          </p:cNvPr>
          <p:cNvSpPr txBox="1">
            <a:spLocks/>
          </p:cNvSpPr>
          <p:nvPr/>
        </p:nvSpPr>
        <p:spPr>
          <a:xfrm>
            <a:off x="251520" y="4077072"/>
            <a:ext cx="2768600" cy="28924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烈火现真金，疾风知劲草</a:t>
            </a: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pP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经受疫情考验的</a:t>
            </a: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中国道路、中国制度</a:t>
            </a: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更加坚韧、前途光明</a:t>
            </a: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时代大转折时期</a:t>
            </a:r>
            <a:endParaRPr lang="en-US" altLang="zh-CN" sz="1800" b="0" dirty="0">
              <a:latin typeface="华文楷体" panose="02010600040101010101" pitchFamily="2" charset="-122"/>
              <a:ea typeface="华文楷体" panose="02010600040101010101" pitchFamily="2" charset="-122"/>
            </a:endParaRPr>
          </a:p>
          <a:p>
            <a:pPr marL="0" indent="0">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充满机遇与激情的大时代</a:t>
            </a:r>
            <a:endParaRPr lang="en-US" altLang="zh-CN" sz="1800" b="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a:xfrm>
            <a:off x="-756592" y="1124744"/>
            <a:ext cx="4465365" cy="864096"/>
          </a:xfrm>
        </p:spPr>
        <p:txBody>
          <a:bodyPr vert="horz" wrap="square" lIns="91440" tIns="45720" rIns="91440" bIns="45720" anchor="ctr" anchorCtr="0"/>
          <a:lstStyle/>
          <a:p>
            <a:pPr eaLnBrk="1" hangingPunct="1"/>
            <a:r>
              <a:rPr lang="en-US" altLang="zh-CN" sz="2400" b="1" dirty="0">
                <a:solidFill>
                  <a:srgbClr val="0000FF"/>
                </a:solidFill>
                <a:latin typeface="华文楷体" panose="02010600040101010101" pitchFamily="2" charset="-122"/>
                <a:ea typeface="华文楷体" panose="02010600040101010101" pitchFamily="2" charset="-122"/>
              </a:rPr>
              <a:t>1.</a:t>
            </a:r>
            <a:r>
              <a:rPr lang="zh-CN" altLang="zh-CN" sz="2400" b="1" dirty="0">
                <a:solidFill>
                  <a:srgbClr val="0000FF"/>
                </a:solidFill>
                <a:latin typeface="华文楷体" panose="02010600040101010101" pitchFamily="2" charset="-122"/>
                <a:ea typeface="华文楷体" panose="02010600040101010101" pitchFamily="2" charset="-122"/>
              </a:rPr>
              <a:t>做好自我规划</a:t>
            </a:r>
            <a:endParaRPr lang="zh-CN" altLang="zh-CN" sz="2400" dirty="0">
              <a:solidFill>
                <a:srgbClr val="0000FF"/>
              </a:solidFill>
              <a:latin typeface="华文楷体" panose="02010600040101010101" pitchFamily="2" charset="-122"/>
              <a:ea typeface="华文楷体" panose="02010600040101010101" pitchFamily="2" charset="-122"/>
            </a:endParaRPr>
          </a:p>
        </p:txBody>
      </p:sp>
      <p:sp>
        <p:nvSpPr>
          <p:cNvPr id="2" name="Rectangle 4">
            <a:extLst>
              <a:ext uri="{FF2B5EF4-FFF2-40B4-BE49-F238E27FC236}">
                <a16:creationId xmlns:a16="http://schemas.microsoft.com/office/drawing/2014/main" id="{C4DE33B6-BED4-1658-B244-815997748C07}"/>
              </a:ext>
            </a:extLst>
          </p:cNvPr>
          <p:cNvSpPr txBox="1">
            <a:spLocks/>
          </p:cNvSpPr>
          <p:nvPr/>
        </p:nvSpPr>
        <p:spPr>
          <a:xfrm>
            <a:off x="539552" y="79851"/>
            <a:ext cx="8229600" cy="1265238"/>
          </a:xfrm>
        </p:spPr>
        <p:txBody>
          <a:bodyPr vert="horz" wrap="square" lIns="91440" tIns="45720" rIns="91440" bIns="45720" anchor="ctr" anchorCtr="0"/>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eaLnBrk="1" hangingPunct="1"/>
            <a:r>
              <a:rPr lang="zh-CN" altLang="en-US" b="1" dirty="0">
                <a:solidFill>
                  <a:srgbClr val="CC3300"/>
                </a:solidFill>
                <a:latin typeface="华文楷体" panose="02010600040101010101" pitchFamily="2" charset="-122"/>
                <a:ea typeface="华文楷体" panose="02010600040101010101" pitchFamily="2" charset="-122"/>
              </a:rPr>
              <a:t>三、</a:t>
            </a:r>
            <a:r>
              <a:rPr lang="zh-CN" altLang="zh-CN" b="1" dirty="0">
                <a:solidFill>
                  <a:srgbClr val="CC3300"/>
                </a:solidFill>
                <a:latin typeface="华文楷体" panose="02010600040101010101" pitchFamily="2" charset="-122"/>
                <a:ea typeface="华文楷体" panose="02010600040101010101" pitchFamily="2" charset="-122"/>
              </a:rPr>
              <a:t>适应大学新生活</a:t>
            </a:r>
          </a:p>
        </p:txBody>
      </p:sp>
      <p:sp>
        <p:nvSpPr>
          <p:cNvPr id="3" name="Rectangle 3">
            <a:extLst>
              <a:ext uri="{FF2B5EF4-FFF2-40B4-BE49-F238E27FC236}">
                <a16:creationId xmlns:a16="http://schemas.microsoft.com/office/drawing/2014/main" id="{15C721E6-4153-CB14-3B4E-D2075EB98148}"/>
              </a:ext>
            </a:extLst>
          </p:cNvPr>
          <p:cNvSpPr txBox="1">
            <a:spLocks/>
          </p:cNvSpPr>
          <p:nvPr/>
        </p:nvSpPr>
        <p:spPr>
          <a:xfrm>
            <a:off x="395536" y="1988840"/>
            <a:ext cx="5616426" cy="1583556"/>
          </a:xfrm>
        </p:spPr>
        <p:txBody>
          <a:bodyPr vert="horz" wrap="square" lIns="91440" tIns="45720" rIns="91440" bIns="45720" anchor="t" anchorCtr="0"/>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eaLnBrk="1" hangingPunct="1">
              <a:buFont typeface="Wingdings 2" panose="05020102010507070707" pitchFamily="18" charset="2"/>
              <a:buNone/>
            </a:pPr>
            <a:r>
              <a:rPr lang="zh-CN" altLang="en-US" sz="2000" b="0" dirty="0">
                <a:latin typeface="华文楷体" panose="02010600040101010101" pitchFamily="2" charset="-122"/>
                <a:ea typeface="华文楷体" panose="02010600040101010101" pitchFamily="2" charset="-122"/>
              </a:rPr>
              <a:t>目的：</a:t>
            </a:r>
            <a:r>
              <a:rPr lang="zh-CN" altLang="zh-CN" sz="2000" b="0" dirty="0">
                <a:latin typeface="华文楷体" panose="02010600040101010101" pitchFamily="2" charset="-122"/>
                <a:ea typeface="华文楷体" panose="02010600040101010101" pitchFamily="2" charset="-122"/>
              </a:rPr>
              <a:t>帮助确立在大学期间的发展目标、发展前景、以及发展道路。</a:t>
            </a:r>
          </a:p>
          <a:p>
            <a:pPr marL="0" indent="0" eaLnBrk="1" hangingPunct="1">
              <a:buFont typeface="Wingdings 2" panose="05020102010507070707" pitchFamily="18" charset="2"/>
              <a:buNone/>
            </a:pPr>
            <a:r>
              <a:rPr lang="zh-CN" altLang="zh-CN" sz="2000" b="0" dirty="0">
                <a:latin typeface="华文楷体" panose="02010600040101010101" pitchFamily="2" charset="-122"/>
                <a:ea typeface="华文楷体" panose="02010600040101010101" pitchFamily="2" charset="-122"/>
              </a:rPr>
              <a:t>帮助管理时间和精力，使之用于最具回报率的事情上去，以获得更大的成功。 </a:t>
            </a:r>
          </a:p>
        </p:txBody>
      </p:sp>
      <p:sp>
        <p:nvSpPr>
          <p:cNvPr id="4" name="矩形 3">
            <a:extLst>
              <a:ext uri="{FF2B5EF4-FFF2-40B4-BE49-F238E27FC236}">
                <a16:creationId xmlns:a16="http://schemas.microsoft.com/office/drawing/2014/main" id="{CB91E64B-A7AB-06D7-A542-DDC098FBFDFA}"/>
              </a:ext>
            </a:extLst>
          </p:cNvPr>
          <p:cNvSpPr/>
          <p:nvPr>
            <p:custDataLst>
              <p:tags r:id="rId1"/>
            </p:custDataLst>
          </p:nvPr>
        </p:nvSpPr>
        <p:spPr>
          <a:xfrm>
            <a:off x="266130" y="3087980"/>
            <a:ext cx="5745832" cy="1128167"/>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为什么成功者大多是做事有目标、有规划的人？</a:t>
            </a:r>
          </a:p>
        </p:txBody>
      </p:sp>
      <p:grpSp>
        <p:nvGrpSpPr>
          <p:cNvPr id="9" name="组合 8">
            <a:extLst>
              <a:ext uri="{FF2B5EF4-FFF2-40B4-BE49-F238E27FC236}">
                <a16:creationId xmlns:a16="http://schemas.microsoft.com/office/drawing/2014/main" id="{A7B6E8A6-639A-BDA6-A6CD-D83120F39858}"/>
              </a:ext>
            </a:extLst>
          </p:cNvPr>
          <p:cNvGrpSpPr/>
          <p:nvPr/>
        </p:nvGrpSpPr>
        <p:grpSpPr>
          <a:xfrm>
            <a:off x="276881" y="3707942"/>
            <a:ext cx="6400800" cy="1607345"/>
            <a:chOff x="1828800" y="3336544"/>
            <a:chExt cx="6400800" cy="1607345"/>
          </a:xfrm>
        </p:grpSpPr>
        <p:sp>
          <p:nvSpPr>
            <p:cNvPr id="5" name="矩形 4">
              <a:extLst>
                <a:ext uri="{FF2B5EF4-FFF2-40B4-BE49-F238E27FC236}">
                  <a16:creationId xmlns:a16="http://schemas.microsoft.com/office/drawing/2014/main" id="{18346285-C570-307A-D55A-9AC84EE75B18}"/>
                </a:ext>
              </a:extLst>
            </p:cNvPr>
            <p:cNvSpPr/>
            <p:nvPr>
              <p:custDataLst>
                <p:tags r:id="rId2"/>
              </p:custDataLst>
            </p:nvPr>
          </p:nvSpPr>
          <p:spPr>
            <a:xfrm>
              <a:off x="1828800" y="3336544"/>
              <a:ext cx="6400800" cy="642938"/>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目标与规划让人有方向</a:t>
              </a:r>
            </a:p>
          </p:txBody>
        </p:sp>
        <p:sp>
          <p:nvSpPr>
            <p:cNvPr id="6" name="矩形 5">
              <a:extLst>
                <a:ext uri="{FF2B5EF4-FFF2-40B4-BE49-F238E27FC236}">
                  <a16:creationId xmlns:a16="http://schemas.microsoft.com/office/drawing/2014/main" id="{86897B99-5600-067F-0EF9-680C8B86AB82}"/>
                </a:ext>
              </a:extLst>
            </p:cNvPr>
            <p:cNvSpPr/>
            <p:nvPr>
              <p:custDataLst>
                <p:tags r:id="rId3"/>
              </p:custDataLst>
            </p:nvPr>
          </p:nvSpPr>
          <p:spPr>
            <a:xfrm>
              <a:off x="1828800" y="3643313"/>
              <a:ext cx="6400800" cy="642938"/>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dirty="0">
                  <a:solidFill>
                    <a:srgbClr val="000000"/>
                  </a:solidFill>
                  <a:latin typeface="华文楷体" panose="02010600040101010101" pitchFamily="2" charset="-122"/>
                  <a:ea typeface="华文楷体" panose="02010600040101010101" pitchFamily="2" charset="-122"/>
                </a:rPr>
                <a:t>目标与规划让人有动力</a:t>
              </a:r>
            </a:p>
          </p:txBody>
        </p:sp>
        <p:sp>
          <p:nvSpPr>
            <p:cNvPr id="7" name="矩形 6">
              <a:extLst>
                <a:ext uri="{FF2B5EF4-FFF2-40B4-BE49-F238E27FC236}">
                  <a16:creationId xmlns:a16="http://schemas.microsoft.com/office/drawing/2014/main" id="{DC5A0B82-B60F-1B9F-8C2A-7E03354863AF}"/>
                </a:ext>
              </a:extLst>
            </p:cNvPr>
            <p:cNvSpPr/>
            <p:nvPr>
              <p:custDataLst>
                <p:tags r:id="rId4"/>
              </p:custDataLst>
            </p:nvPr>
          </p:nvSpPr>
          <p:spPr>
            <a:xfrm>
              <a:off x="1828800" y="3964782"/>
              <a:ext cx="6400800" cy="642938"/>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目标与规划让人快乐、有信心</a:t>
              </a:r>
            </a:p>
          </p:txBody>
        </p:sp>
        <p:sp>
          <p:nvSpPr>
            <p:cNvPr id="8" name="矩形 7">
              <a:extLst>
                <a:ext uri="{FF2B5EF4-FFF2-40B4-BE49-F238E27FC236}">
                  <a16:creationId xmlns:a16="http://schemas.microsoft.com/office/drawing/2014/main" id="{391337A0-BA5B-90E2-27C2-13091FFC24CC}"/>
                </a:ext>
              </a:extLst>
            </p:cNvPr>
            <p:cNvSpPr/>
            <p:nvPr>
              <p:custDataLst>
                <p:tags r:id="rId5"/>
              </p:custDataLst>
            </p:nvPr>
          </p:nvSpPr>
          <p:spPr>
            <a:xfrm>
              <a:off x="1828800" y="4300951"/>
              <a:ext cx="6400800" cy="642938"/>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dirty="0">
                  <a:solidFill>
                    <a:srgbClr val="000000"/>
                  </a:solidFill>
                  <a:latin typeface="华文楷体" panose="02010600040101010101" pitchFamily="2" charset="-122"/>
                  <a:ea typeface="华文楷体" panose="02010600040101010101" pitchFamily="2" charset="-122"/>
                </a:rPr>
                <a:t>目标有规划让人效率</a:t>
              </a:r>
            </a:p>
          </p:txBody>
        </p:sp>
      </p:grpSp>
      <p:sp>
        <p:nvSpPr>
          <p:cNvPr id="10" name="Rectangle 3">
            <a:extLst>
              <a:ext uri="{FF2B5EF4-FFF2-40B4-BE49-F238E27FC236}">
                <a16:creationId xmlns:a16="http://schemas.microsoft.com/office/drawing/2014/main" id="{C25704D4-9109-23EE-A81A-8D0CA12B7451}"/>
              </a:ext>
            </a:extLst>
          </p:cNvPr>
          <p:cNvSpPr txBox="1">
            <a:spLocks/>
          </p:cNvSpPr>
          <p:nvPr/>
        </p:nvSpPr>
        <p:spPr>
          <a:xfrm>
            <a:off x="4699794" y="4671536"/>
            <a:ext cx="2624336" cy="1583556"/>
          </a:xfrm>
        </p:spPr>
        <p:txBody>
          <a:bodyPr vert="horz" wrap="square" lIns="91440" tIns="45720" rIns="91440" bIns="45720" anchor="t" anchorCtr="0"/>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eaLnBrk="1" hangingPunct="1">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产生规划意识</a:t>
            </a:r>
          </a:p>
          <a:p>
            <a:pPr marL="0" indent="0" eaLnBrk="1" hangingPunct="1">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进行自我评估</a:t>
            </a:r>
          </a:p>
          <a:p>
            <a:pPr marL="0" indent="0" eaLnBrk="1" hangingPunct="1">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了解大学任务</a:t>
            </a:r>
          </a:p>
          <a:p>
            <a:pPr marL="0" indent="0" eaLnBrk="1" hangingPunct="1">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确立目标</a:t>
            </a:r>
          </a:p>
          <a:p>
            <a:pPr marL="0" indent="0" eaLnBrk="1" hangingPunct="1">
              <a:buFont typeface="Wingdings 2" panose="05020102010507070707" pitchFamily="18" charset="2"/>
              <a:buNone/>
            </a:pPr>
            <a:r>
              <a:rPr lang="zh-CN" altLang="en-US" sz="1800" b="0" dirty="0">
                <a:latin typeface="华文楷体" panose="02010600040101010101" pitchFamily="2" charset="-122"/>
                <a:ea typeface="华文楷体" panose="02010600040101010101" pitchFamily="2" charset="-122"/>
              </a:rPr>
              <a:t>制定方案</a:t>
            </a:r>
          </a:p>
        </p:txBody>
      </p:sp>
      <p:sp>
        <p:nvSpPr>
          <p:cNvPr id="11" name="Rectangle 2">
            <a:extLst>
              <a:ext uri="{FF2B5EF4-FFF2-40B4-BE49-F238E27FC236}">
                <a16:creationId xmlns:a16="http://schemas.microsoft.com/office/drawing/2014/main" id="{2CF27AD4-B71E-7958-FAC4-FB7C1A293EF3}"/>
              </a:ext>
            </a:extLst>
          </p:cNvPr>
          <p:cNvSpPr txBox="1">
            <a:spLocks/>
          </p:cNvSpPr>
          <p:nvPr/>
        </p:nvSpPr>
        <p:spPr>
          <a:xfrm>
            <a:off x="3059832" y="3892678"/>
            <a:ext cx="5616426" cy="1032194"/>
          </a:xfrm>
        </p:spPr>
        <p:txBody>
          <a:bodyPr vert="horz" wrap="square" lIns="91440" tIns="45720" rIns="91440" bIns="45720" anchor="ctr" anchorCtr="0"/>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eaLnBrk="1" hangingPunct="1"/>
            <a:r>
              <a:rPr lang="zh-CN" altLang="zh-CN" sz="1800" b="1" dirty="0"/>
              <a:t>怎样进行大学生活规划</a:t>
            </a:r>
            <a:endParaRPr lang="zh-CN" altLang="zh-CN" sz="1800" b="0" dirty="0"/>
          </a:p>
        </p:txBody>
      </p:sp>
      <p:sp>
        <p:nvSpPr>
          <p:cNvPr id="12" name="矩形 11">
            <a:extLst>
              <a:ext uri="{FF2B5EF4-FFF2-40B4-BE49-F238E27FC236}">
                <a16:creationId xmlns:a16="http://schemas.microsoft.com/office/drawing/2014/main" id="{3228CFC1-F28D-AD8C-2B99-0D475EF779F2}"/>
              </a:ext>
            </a:extLst>
          </p:cNvPr>
          <p:cNvSpPr/>
          <p:nvPr/>
        </p:nvSpPr>
        <p:spPr>
          <a:xfrm>
            <a:off x="711768" y="5231641"/>
            <a:ext cx="2627784" cy="1200329"/>
          </a:xfrm>
          <a:prstGeom prst="rect">
            <a:avLst/>
          </a:prstGeom>
        </p:spPr>
        <p:txBody>
          <a:bodyPr wrap="square">
            <a:spAutoFit/>
          </a:bodyPr>
          <a:lstStyle/>
          <a:p>
            <a:r>
              <a:rPr lang="zh-CN" altLang="en-US" b="0" dirty="0">
                <a:solidFill>
                  <a:srgbClr val="FF0000"/>
                </a:solidFill>
                <a:latin typeface="华文楷体" panose="02010600040101010101" pitchFamily="2" charset="-122"/>
                <a:ea typeface="华文楷体" panose="02010600040101010101" pitchFamily="2" charset="-122"/>
              </a:rPr>
              <a:t>做好合理的规划，细致，勤勉，灵活，坚韧，做好每一个环节，不断在做事中提升自己。</a:t>
            </a:r>
            <a:endParaRPr lang="zh-CN" altLang="en-US" dirty="0">
              <a:solidFill>
                <a:srgbClr val="FF0000"/>
              </a:solidFill>
              <a:latin typeface="华文楷体" panose="02010600040101010101" pitchFamily="2" charset="-122"/>
              <a:ea typeface="华文楷体" panose="02010600040101010101" pitchFamily="2" charset="-122"/>
            </a:endParaRPr>
          </a:p>
        </p:txBody>
      </p:sp>
      <p:sp>
        <p:nvSpPr>
          <p:cNvPr id="13" name="Rectangle 4">
            <a:extLst>
              <a:ext uri="{FF2B5EF4-FFF2-40B4-BE49-F238E27FC236}">
                <a16:creationId xmlns:a16="http://schemas.microsoft.com/office/drawing/2014/main" id="{0213CC74-6A3F-F957-618C-53A60DB2A2AE}"/>
              </a:ext>
            </a:extLst>
          </p:cNvPr>
          <p:cNvSpPr txBox="1">
            <a:spLocks/>
          </p:cNvSpPr>
          <p:nvPr/>
        </p:nvSpPr>
        <p:spPr>
          <a:xfrm>
            <a:off x="4813540" y="801712"/>
            <a:ext cx="3672408" cy="1008261"/>
          </a:xfrm>
        </p:spPr>
        <p:txBody>
          <a:bodyPr vert="horz" wrap="square" lIns="91440" tIns="45720" rIns="91440" bIns="45720" anchor="ctr" anchorCtr="0"/>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eaLnBrk="1" hangingPunct="1"/>
            <a:r>
              <a:rPr lang="zh-CN" altLang="en-US" sz="2000" b="1" dirty="0">
                <a:solidFill>
                  <a:srgbClr val="0000FF"/>
                </a:solidFill>
                <a:latin typeface="华文楷体" panose="02010600040101010101" pitchFamily="2" charset="-122"/>
                <a:ea typeface="华文楷体" panose="02010600040101010101" pitchFamily="2" charset="-122"/>
              </a:rPr>
              <a:t>自控力是自我规划实现的保证</a:t>
            </a:r>
            <a:endParaRPr lang="zh-CN" altLang="zh-CN" sz="2000" b="1" dirty="0">
              <a:solidFill>
                <a:srgbClr val="0000FF"/>
              </a:solidFill>
              <a:latin typeface="华文楷体" panose="02010600040101010101" pitchFamily="2" charset="-122"/>
              <a:ea typeface="华文楷体" panose="02010600040101010101" pitchFamily="2" charset="-122"/>
            </a:endParaRPr>
          </a:p>
        </p:txBody>
      </p:sp>
      <p:sp>
        <p:nvSpPr>
          <p:cNvPr id="14" name="Rectangle 4">
            <a:extLst>
              <a:ext uri="{FF2B5EF4-FFF2-40B4-BE49-F238E27FC236}">
                <a16:creationId xmlns:a16="http://schemas.microsoft.com/office/drawing/2014/main" id="{C9814083-C3EE-DA32-8C0E-A73B922A6570}"/>
              </a:ext>
            </a:extLst>
          </p:cNvPr>
          <p:cNvSpPr txBox="1"/>
          <p:nvPr/>
        </p:nvSpPr>
        <p:spPr>
          <a:xfrm>
            <a:off x="4813540" y="1449672"/>
            <a:ext cx="4294557" cy="720601"/>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dirty="0">
                <a:solidFill>
                  <a:srgbClr val="0000FF"/>
                </a:solidFill>
                <a:latin typeface="华文楷体" panose="02010600040101010101" pitchFamily="2" charset="-122"/>
                <a:ea typeface="华文楷体" panose="02010600040101010101" pitchFamily="2" charset="-122"/>
              </a:rPr>
              <a:t>自控力强的人往往会取得更大的成就</a:t>
            </a:r>
            <a:endParaRPr lang="zh-CN" altLang="zh-CN" sz="2000" b="1" dirty="0">
              <a:solidFill>
                <a:srgbClr val="0000FF"/>
              </a:solidFill>
              <a:latin typeface="华文楷体" panose="02010600040101010101" pitchFamily="2" charset="-122"/>
              <a:ea typeface="华文楷体" panose="0201060004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body" idx="4294967295"/>
          </p:nvPr>
        </p:nvSpPr>
        <p:spPr>
          <a:xfrm>
            <a:off x="611188" y="2463800"/>
            <a:ext cx="8229600" cy="3268663"/>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pitchFamily="18" charset="2"/>
              <a:buNone/>
              <a:defRPr/>
            </a:pPr>
            <a:r>
              <a:rPr kumimoji="0" lang="zh-CN" altLang="en-US" sz="40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科学分配和管理时间、精力</a:t>
            </a:r>
            <a:endParaRPr kumimoji="0" lang="en-US" altLang="zh-CN" sz="40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auto" latinLnBrk="0" hangingPunct="1">
              <a:lnSpc>
                <a:spcPct val="100000"/>
              </a:lnSpc>
              <a:spcBef>
                <a:spcPct val="20000"/>
              </a:spcBef>
              <a:spcAft>
                <a:spcPts val="0"/>
              </a:spcAft>
              <a:buClr>
                <a:schemeClr val="tx2"/>
              </a:buClr>
              <a:buSzPct val="50000"/>
              <a:buFontTx/>
              <a:buNone/>
              <a:defRPr/>
            </a:pPr>
            <a:r>
              <a:rPr kumimoji="0" lang="zh-CN" altLang="en-US" sz="40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（二八定律）</a:t>
            </a:r>
          </a:p>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pitchFamily="18" charset="2"/>
              <a:buNone/>
              <a:defRPr/>
            </a:pPr>
            <a:r>
              <a:rPr kumimoji="0" lang="zh-CN" altLang="en-US" sz="40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形成相对稳定的生活习惯</a:t>
            </a: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2" panose="05020102010507070707"/>
              <a:buChar char="ß"/>
              <a:defRPr/>
            </a:pP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01379" name="Rectangle 4"/>
          <p:cNvSpPr>
            <a:spLocks noGrp="1"/>
          </p:cNvSpPr>
          <p:nvPr>
            <p:ph type="title"/>
          </p:nvPr>
        </p:nvSpPr>
        <p:spPr>
          <a:xfrm>
            <a:off x="611188" y="1125538"/>
            <a:ext cx="8229600" cy="1143000"/>
          </a:xfrm>
        </p:spPr>
        <p:txBody>
          <a:bodyPr vert="horz" wrap="square" lIns="91440" tIns="45720" rIns="91440" bIns="45720" anchor="ctr" anchorCtr="0"/>
          <a:lstStyle/>
          <a:p>
            <a:pPr eaLnBrk="1" hangingPunct="1"/>
            <a:r>
              <a:rPr lang="en-US" altLang="zh-CN" b="1" dirty="0">
                <a:solidFill>
                  <a:srgbClr val="0000FF"/>
                </a:solidFill>
              </a:rPr>
              <a:t>2</a:t>
            </a:r>
            <a:r>
              <a:rPr lang="en-US" altLang="zh-CN" b="1" dirty="0">
                <a:solidFill>
                  <a:srgbClr val="0000FF"/>
                </a:solidFill>
                <a:latin typeface="华文楷体" panose="02010600040101010101" pitchFamily="2" charset="-122"/>
                <a:ea typeface="华文楷体" panose="02010600040101010101" pitchFamily="2" charset="-122"/>
              </a:rPr>
              <a:t>.</a:t>
            </a:r>
            <a:r>
              <a:rPr lang="zh-CN" altLang="zh-CN" b="1" dirty="0">
                <a:solidFill>
                  <a:srgbClr val="0000FF"/>
                </a:solidFill>
                <a:latin typeface="华文楷体" panose="02010600040101010101" pitchFamily="2" charset="-122"/>
                <a:ea typeface="华文楷体" panose="02010600040101010101" pitchFamily="2" charset="-122"/>
              </a:rPr>
              <a:t>严格自我管理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jNkZjdmZjcwM2I5YzRhMjg5YmE5M2I1OWVkMzcyMjUifQ=="/>
</p:tagLst>
</file>

<file path=ppt/tags/tag2.xml><?xml version="1.0" encoding="utf-8"?>
<p:tagLst xmlns:a="http://schemas.openxmlformats.org/drawingml/2006/main" xmlns:r="http://schemas.openxmlformats.org/officeDocument/2006/relationships" xmlns:p="http://schemas.openxmlformats.org/presentationml/2006/main">
  <p:tag name="REFSHAPE" val="452377140"/>
</p:tagLst>
</file>

<file path=ppt/tags/tag3.xml><?xml version="1.0" encoding="utf-8"?>
<p:tagLst xmlns:a="http://schemas.openxmlformats.org/drawingml/2006/main" xmlns:r="http://schemas.openxmlformats.org/officeDocument/2006/relationships" xmlns:p="http://schemas.openxmlformats.org/presentationml/2006/main">
  <p:tag name="REFSHAPE" val="452377004"/>
</p:tagLst>
</file>

<file path=ppt/tags/tag4.xml><?xml version="1.0" encoding="utf-8"?>
<p:tagLst xmlns:a="http://schemas.openxmlformats.org/drawingml/2006/main" xmlns:r="http://schemas.openxmlformats.org/officeDocument/2006/relationships" xmlns:p="http://schemas.openxmlformats.org/presentationml/2006/main">
  <p:tag name="REFSHAPE" val="452376052"/>
</p:tagLst>
</file>

<file path=ppt/tags/tag5.xml><?xml version="1.0" encoding="utf-8"?>
<p:tagLst xmlns:a="http://schemas.openxmlformats.org/drawingml/2006/main" xmlns:r="http://schemas.openxmlformats.org/officeDocument/2006/relationships" xmlns:p="http://schemas.openxmlformats.org/presentationml/2006/main">
  <p:tag name="REFSHAPE" val="452375644"/>
</p:tagLst>
</file>

<file path=ppt/tags/tag6.xml><?xml version="1.0" encoding="utf-8"?>
<p:tagLst xmlns:a="http://schemas.openxmlformats.org/drawingml/2006/main" xmlns:r="http://schemas.openxmlformats.org/officeDocument/2006/relationships" xmlns:p="http://schemas.openxmlformats.org/presentationml/2006/main">
  <p:tag name="REFSHAPE" val="452376188"/>
</p:tagLst>
</file>

<file path=ppt/tags/tag7.xml><?xml version="1.0" encoding="utf-8"?>
<p:tagLst xmlns:a="http://schemas.openxmlformats.org/drawingml/2006/main" xmlns:r="http://schemas.openxmlformats.org/officeDocument/2006/relationships" xmlns:p="http://schemas.openxmlformats.org/presentationml/2006/main">
  <p:tag name="REFSHAPE" val="452374284"/>
</p:tagLst>
</file>

<file path=ppt/tags/tag8.xml><?xml version="1.0" encoding="utf-8"?>
<p:tagLst xmlns:a="http://schemas.openxmlformats.org/drawingml/2006/main" xmlns:r="http://schemas.openxmlformats.org/officeDocument/2006/relationships" xmlns:p="http://schemas.openxmlformats.org/presentationml/2006/main">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6-01T12:25:51&quot;,&#10;    &quot;maxSize&quot;: {&#10;        &quot;size1&quot;: 21.611876908055059&#10;    },&#10;    &quot;minSize&quot;: {&#10;        &quot;size1&quot;: 21.611876908055059&#10;    },&#10;    &quot;normalSize&quot;: {&#10;        &quot;size1&quot;: 21.611876908055059&#10;    },&#10;    &quot;subLayout&quot;: [&#10;        {&#10;            &quot;id&quot;: &quot;2020-06-01T12:25:51&quot;,&#10;            &quot;margin&quot;: {&#10;                &quot;bottom&quot;: -5.0132735538165355e-16,&#10;                &quot;left&quot;: 2.5399999618530273,&#10;                &quot;right&quot;: 2.5399999618530273,&#10;                &quot;top&quot;: 2.1170001029968262&#10;            },&#10;            &quot;type&quot;: 0&#10;        },&#10;        {&#10;            &quot;direction&quot;: 1,&#10;            &quot;id&quot;: &quot;2020-06-01T12:25:51&quot;,&#10;            &quot;maxSize&quot;: {&#10;                &quot;size1&quot;: 60.846592109566821&#10;            },&#10;            &quot;minSize&quot;: {&#10;                &quot;size1&quot;: 48.346592109566821&#10;            },&#10;            &quot;normalSize&quot;: {&#10;                &quot;size1&quot;: 58.400758776233488&#10;            },&#10;            &quot;subLayout&quot;: [&#10;                {&#10;                    &quot;id&quot;: &quot;2020-06-01T12:25:51&quot;,&#10;                    &quot;margin&quot;: {&#10;                        &quot;bottom&quot;: 2.1170001029968262,&#10;                        &quot;left&quot;: 2.5399999618530273,&#10;                        &quot;right&quot;: 0,&#10;                        &quot;top&quot;: 1.2699999809265137&#10;                    },&#10;                    &quot;type&quot;: 0&#10;                },&#10;                {&#10;                    &quot;id&quot;: &quot;2020-06-01T12:25:51&quot;,&#10;                    &quot;margin&quot;: {&#10;                        &quot;bottom&quot;: 2.1170001029968262,&#10;                        &quot;left&quot;: 0.84700000286102295,&#10;                        &quot;right&quot;: 2.5399999618530273,&#10;                        &quot;top&quot;: 1.2699999809265137&#10;                    },&#10;                    &quot;type&quot;: 0&#10;                }&#10;            ],&#10;            &quot;type&quot;: 0&#10;        }&#10;    ],&#10;    &quot;type&quot;: 0&#10;}&#10;"/>
  <p:tag name="KSO_WM_SLIDE_BACKGROUND" val="[&quot;general&quot;]"/>
  <p:tag name="KSO_WM_SLIDE_RATIO" val="1.777778"/>
  <p:tag name="KSO_WM_CHIP_INFOS" val="{&quot;layout_type&quot;:&quot;topbottom&quot;,&quot;tags&quot;:{&quot;style&quot;:[&quot;商务&quot;,&quot;简约&quot;,&quot;文艺清新&quot;,&quot;中国风&quot;,&quot;卡通&quot;,&quot;欧美风&quot;,&quot;黑板风&quot;,&quot;渐变风&quot;,&quot;党政风&quot;]},&quot;slide_type&quot;:[&quot;text&quot;],&quot;aspect_ratio&quot;:&quot;16:9&quot;}"/>
  <p:tag name="KSO_WM_CHIP_XID" val="5e7f29ed24b822ad86e0202d"/>
  <p:tag name="KSO_WM_CHIP_FILLPROP" val="[[{&quot;fill_id&quot;:&quot;722accd572074b41a2d4cf8c733c9957&quot;,&quot;fill_align&quot;:&quot;cb&quot;,&quot;text_align&quot;:&quot;cb&quot;,&quot;text_direction&quot;:&quot;horizontal&quot;,&quot;chip_types&quot;:[&quot;header&quot;]},{&quot;fill_id&quot;:&quot;e836bed5e59843b5bc0179a1591ebf37&quot;,&quot;fill_align&quot;:&quot;rm&quot;,&quot;text_align&quot;:&quot;lm&quot;,&quot;text_direction&quot;:&quot;horizontal&quot;,&quot;chip_types&quot;:[&quot;text&quot;]},{&quot;fill_id&quot;:&quot;164c300f690d423ab1b6e3b65edb0bf9&quot;,&quot;fill_align&quot;:&quot;lm&quot;,&quot;text_align&quot;:&quot;lm&quot;,&quot;text_direction&quot;:&quot;horizontal&quot;,&quot;chip_types&quot;:[&quot;pictext&quot;,&quot;text&quot;,&quot;picture&quot;,&quot;chart&quot;,&quot;table&quot;,&quot;video&quot;]}],[{&quot;fill_id&quot;:&quot;722accd572074b41a2d4cf8c733c9957&quot;,&quot;fill_align&quot;:&quot;cb&quot;,&quot;text_align&quot;:&quot;cb&quot;,&quot;text_direction&quot;:&quot;horizontal&quot;,&quot;chip_types&quot;:[&quot;header&quot;]},{&quot;fill_id&quot;:&quot;e836bed5e59843b5bc0179a1591ebf37&quot;,&quot;fill_align&quot;:&quot;rm&quot;,&quot;text_align&quot;:&quot;lm&quot;,&quot;text_direction&quot;:&quot;horizontal&quot;,&quot;chip_types&quot;:[&quot;diagram&quot;,&quot;pictext&quot;,&quot;picture&quot;,&quot;chart&quot;,&quot;table&quot;,&quot;video&quot;]},{&quot;fill_id&quot;:&quot;164c300f690d423ab1b6e3b65edb0bf9&quot;,&quot;fill_align&quot;:&quot;lm&quot;,&quot;text_align&quot;:&quot;lm&quot;,&quot;text_direction&quot;:&quot;horizontal&quot;,&quot;chip_types&quot;:[&quot;text&quot;]}],[{&quot;fill_id&quot;:&quot;722accd572074b41a2d4cf8c733c9957&quot;,&quot;fill_align&quot;:&quot;cb&quot;,&quot;text_align&quot;:&quot;cb&quot;,&quot;text_direction&quot;:&quot;horizontal&quot;,&quot;chip_types&quot;:[&quot;text&quot;]},{&quot;fill_id&quot;:&quot;e836bed5e59843b5bc0179a1591ebf37&quot;,&quot;fill_align&quot;:&quot;rm&quot;,&quot;text_align&quot;:&quot;lm&quot;,&quot;text_direction&quot;:&quot;horizontal&quot;,&quot;chip_types&quot;:[&quot;pictext&quot;,&quot;picture&quot;,&quot;chart&quot;,&quot;table&quot;,&quot;video&quot;]},{&quot;fill_id&quot;:&quot;164c300f690d423ab1b6e3b65edb0bf9&quot;,&quot;fill_align&quot;:&quot;lm&quot;,&quot;text_align&quot;:&quot;lm&quot;,&quot;text_direction&quot;:&quot;horizontal&quot;,&quot;chip_types&quot;:[&quot;diagram&quot;,&quot;pictext&quot;,&quot;picture&quot;,&quot;chart&quot;,&quot;table&quot;,&quot;video&quot;]}],[{&quot;fill_id&quot;:&quot;722accd572074b41a2d4cf8c733c9957&quot;,&quot;fill_align&quot;:&quot;cb&quot;,&quot;text_align&quot;:&quot;cb&quot;,&quot;text_direction&quot;:&quot;horizontal&quot;,&quot;chip_types&quot;:[&quot;text&quot;]},{&quot;fill_id&quot;:&quot;e836bed5e59843b5bc0179a1591ebf37&quot;,&quot;fill_align&quot;:&quot;rm&quot;,&quot;text_align&quot;:&quot;lm&quot;,&quot;text_direction&quot;:&quot;horizontal&quot;,&quot;chip_types&quot;:[&quot;diagram&quot;]},{&quot;fill_id&quot;:&quot;164c300f690d423ab1b6e3b65edb0bf9&quot;,&quot;fill_align&quot;:&quot;lm&quot;,&quot;text_align&quot;:&quot;lm&quot;,&quot;text_direction&quot;:&quot;horizontal&quot;,&quot;chip_types&quot;:[&quot;pictext&quot;,&quot;picture&quot;,&quot;chart&quot;,&quot;table&quot;,&quot;video&quot;]}]]"/>
  <p:tag name="KSO_WM_SLIDE_ID" val="diagram20207004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16*420"/>
  <p:tag name="KSO_WM_SLIDE_POSITION" val="71*60"/>
  <p:tag name="KSO_WM_TAG_VERSION" val="1.0"/>
  <p:tag name="KSO_WM_BEAUTIFY_FLAG" val="#wm#"/>
  <p:tag name="KSO_WM_TEMPLATE_CATEGORY" val="diagram"/>
  <p:tag name="KSO_WM_TEMPLATE_INDEX" val="20207004"/>
  <p:tag name="KSO_WM_SLIDE_LAYOUT" val="a_d_f"/>
  <p:tag name="KSO_WM_SLIDE_LAYOUT_CNT" val="1_1_1"/>
  <p:tag name="KSO_WM_CHIP_GROUPID" val="5e7f29ed24b822ad86e0202c"/>
  <p:tag name="KSO_WM_SLIDE_BK_DARK_LIGHT" val="2"/>
  <p:tag name="KSO_WM_SLIDE_BACKGROUND_TYPE" val="general"/>
  <p:tag name="KSO_WM_TEMPLATE_ASSEMBLE_XID" val="5ed482c234f4fab75e345b57"/>
  <p:tag name="KSO_WM_TEMPLATE_ASSEMBLE_GROUPID" val="5ed482c234f4fab75e345b57"/>
</p:tagLst>
</file>

<file path=ppt/tags/tag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2"/>
  <p:tag name="KSO_WM_UNIT_HIGHLIGHT" val="0"/>
  <p:tag name="KSO_WM_UNIT_COMPATIBLE" val="0"/>
  <p:tag name="KSO_WM_UNIT_DIAGRAM_ISNUMVISUAL" val="0"/>
  <p:tag name="KSO_WM_UNIT_DIAGRAM_ISREFERUNIT" val="0"/>
  <p:tag name="KSO_WM_UNIT_TYPE" val="a"/>
  <p:tag name="KSO_WM_UNIT_INDEX" val="1"/>
  <p:tag name="KSO_WM_UNIT_ID" val="diagram20207004_1*a*1"/>
  <p:tag name="KSO_WM_TEMPLATE_CATEGORY" val="diagram"/>
  <p:tag name="KSO_WM_TEMPLATE_INDEX" val="20207004"/>
  <p:tag name="KSO_WM_UNIT_LAYERLEVEL" val="1"/>
  <p:tag name="KSO_WM_TAG_VERSION" val="1.0"/>
  <p:tag name="KSO_WM_BEAUTIFY_FLAG" val="#wm#"/>
  <p:tag name="KSO_WM_UNIT_PRESET_TEXT" val="单击此处添加大标题内容"/>
  <p:tag name="KSO_WM_UNIT_DEFAULT_FONT" val="24;44;4"/>
  <p:tag name="KSO_WM_UNIT_BLOCK" val="0"/>
  <p:tag name="KSO_WM_CHIP_GROUPID" val="5e7881253197e252a37019b5"/>
  <p:tag name="KSO_WM_CHIP_XID" val="5e7881253197e252a37019b6"/>
  <p:tag name="KSO_WM_ASSEMBLE_CHIP_INDEX" val="8c3586ec37ef4f0a8550e23c8b3eb25f"/>
  <p:tag name="KSO_WM_UNIT_TEXT_FILL_FORE_SCHEMECOLOR_INDEX_BRIGHTNESS" val="0"/>
  <p:tag name="KSO_WM_UNIT_TEXT_FILL_FORE_SCHEMECOLOR_INDEX" val="13"/>
  <p:tag name="KSO_WM_UNIT_TEXT_FILL_TYPE" val="1"/>
  <p:tag name="KSO_WM_TEMPLATE_ASSEMBLE_XID" val="5ed482c234f4fab75e345b57"/>
  <p:tag name="KSO_WM_TEMPLATE_ASSEMBLE_GROUPID" val="5ed482c234f4fab75e345b57"/>
</p:tagLst>
</file>

<file path=ppt/tags/tag1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点击此处添加正文，文字是您思想的提炼，为了演示发布的良好效果，请言简意赅的阐述您的观点。您的正文已经经简明扼要，字字珠玑，但信息却千丝万缕、错综复杂，需要用更多的文字来表述；但请您尽可能提炼思想的精髓，否则容易造成观者的阅读压力，适得其反。正如我们都希望改变世界，希望给别人带去光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004_1*f*1"/>
  <p:tag name="KSO_WM_TEMPLATE_CATEGORY" val="diagram"/>
  <p:tag name="KSO_WM_TEMPLATE_INDEX" val="20207004"/>
  <p:tag name="KSO_WM_UNIT_LAYERLEVEL" val="1"/>
  <p:tag name="KSO_WM_TAG_VERSION" val="1.0"/>
  <p:tag name="KSO_WM_BEAUTIFY_FLAG" val="#wm#"/>
  <p:tag name="KSO_WM_UNIT_DEFAULT_FONT" val="14;20;2"/>
  <p:tag name="KSO_WM_UNIT_BLOCK" val="0"/>
  <p:tag name="KSO_WM_CHIP_GROUPID" val="5e6b05596848fb12bee65ac8"/>
  <p:tag name="KSO_WM_CHIP_XID" val="5e6b05596848fb12bee65aca"/>
  <p:tag name="KSO_WM_ASSEMBLE_CHIP_INDEX" val="33de6eaab67d4dbcbfd2bc500c775b57"/>
  <p:tag name="KSO_WM_UNIT_TEXT_FILL_FORE_SCHEMECOLOR_INDEX_BRIGHTNESS" val="0.25"/>
  <p:tag name="KSO_WM_UNIT_TEXT_FILL_FORE_SCHEMECOLOR_INDEX" val="13"/>
  <p:tag name="KSO_WM_UNIT_TEXT_FILL_TYPE" val="1"/>
  <p:tag name="KSO_WM_UNIT_VALUE" val="165"/>
  <p:tag name="KSO_WM_TEMPLATE_ASSEMBLE_XID" val="5ed482c234f4fab75e345b57"/>
  <p:tag name="KSO_WM_TEMPLATE_ASSEMBLE_GROUPID" val="5ed482c234f4fab75e345b57"/>
</p:tagLst>
</file>

<file path=ppt/tags/tag1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点击此处添加正文，文字是您思想的提炼，为了演示发布的良好效果，请言简意赅的阐述您的观点。您的正文已经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6540_1*f*1"/>
  <p:tag name="KSO_WM_TEMPLATE_CATEGORY" val="diagram"/>
  <p:tag name="KSO_WM_TEMPLATE_INDEX" val="20206540"/>
  <p:tag name="KSO_WM_UNIT_LAYERLEVEL" val="1"/>
  <p:tag name="KSO_WM_TAG_VERSION" val="1.0"/>
  <p:tag name="KSO_WM_BEAUTIFY_FLAG" val="#wm#"/>
  <p:tag name="KSO_WM_UNIT_DEFAULT_FONT" val="14;20;2"/>
  <p:tag name="KSO_WM_UNIT_BLOCK" val="0"/>
  <p:tag name="KSO_WM_CHIP_GROUPID" val="5e6b05596848fb12bee65ac8"/>
  <p:tag name="KSO_WM_CHIP_XID" val="5e6b05596848fb12bee65aca"/>
  <p:tag name="KSO_WM_ASSEMBLE_CHIP_INDEX" val="48e1a8d284134d3381dac856adbf4372"/>
  <p:tag name="KSO_WM_UNIT_TEXT_FILL_FORE_SCHEMECOLOR_INDEX_BRIGHTNESS" val="0.25"/>
  <p:tag name="KSO_WM_UNIT_TEXT_FILL_FORE_SCHEMECOLOR_INDEX" val="13"/>
  <p:tag name="KSO_WM_UNIT_TEXT_FILL_TYPE" val="1"/>
  <p:tag name="KSO_WM_UNIT_VALUE" val="60"/>
  <p:tag name="KSO_WM_TEMPLATE_ASSEMBLE_XID" val="5ebd0298ddc3daf3fef3f443"/>
  <p:tag name="KSO_WM_TEMPLATE_ASSEMBLE_GROUPID" val="5ebd0298ddc3daf3fef3f443"/>
</p:tagLst>
</file>

<file path=ppt/tags/tag1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点击此处添加正文，文字是您思想的提炼，为了演示发布的良好效果，请言简意赅的阐述您的观点。您的正文已经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6540_1*f*1"/>
  <p:tag name="KSO_WM_TEMPLATE_CATEGORY" val="diagram"/>
  <p:tag name="KSO_WM_TEMPLATE_INDEX" val="20206540"/>
  <p:tag name="KSO_WM_UNIT_LAYERLEVEL" val="1"/>
  <p:tag name="KSO_WM_TAG_VERSION" val="1.0"/>
  <p:tag name="KSO_WM_BEAUTIFY_FLAG" val="#wm#"/>
  <p:tag name="KSO_WM_UNIT_DEFAULT_FONT" val="14;20;2"/>
  <p:tag name="KSO_WM_UNIT_BLOCK" val="0"/>
  <p:tag name="KSO_WM_CHIP_GROUPID" val="5e6b05596848fb12bee65ac8"/>
  <p:tag name="KSO_WM_CHIP_XID" val="5e6b05596848fb12bee65aca"/>
  <p:tag name="KSO_WM_ASSEMBLE_CHIP_INDEX" val="48e1a8d284134d3381dac856adbf4372"/>
  <p:tag name="KSO_WM_UNIT_TEXT_FILL_FORE_SCHEMECOLOR_INDEX_BRIGHTNESS" val="0.25"/>
  <p:tag name="KSO_WM_UNIT_TEXT_FILL_FORE_SCHEMECOLOR_INDEX" val="13"/>
  <p:tag name="KSO_WM_UNIT_TEXT_FILL_TYPE" val="1"/>
  <p:tag name="KSO_WM_UNIT_VALUE" val="60"/>
  <p:tag name="KSO_WM_TEMPLATE_ASSEMBLE_XID" val="5ebd0298ddc3daf3fef3f443"/>
  <p:tag name="KSO_WM_TEMPLATE_ASSEMBLE_GROUPID" val="5ebd0298ddc3daf3fef3f443"/>
</p:tagLst>
</file>

<file path=ppt/tags/tag1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点击此处添加正文，文字是您思想的提炼，为了演示发布的良好效果，请言简意赅的阐述您的观点。您的正文已经经简明扼要，字字珠玑，但信息却千丝万缕、错综复杂，需要用更多的文字来表述；但请您尽可能提炼思想的精髓，否则容易造成观者的阅读压力，适得其反。正如我们都希望改变世界，希望给别人带去光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004_1*f*1"/>
  <p:tag name="KSO_WM_TEMPLATE_CATEGORY" val="diagram"/>
  <p:tag name="KSO_WM_TEMPLATE_INDEX" val="20207004"/>
  <p:tag name="KSO_WM_UNIT_LAYERLEVEL" val="1"/>
  <p:tag name="KSO_WM_TAG_VERSION" val="1.0"/>
  <p:tag name="KSO_WM_BEAUTIFY_FLAG" val="#wm#"/>
  <p:tag name="KSO_WM_UNIT_DEFAULT_FONT" val="14;20;2"/>
  <p:tag name="KSO_WM_UNIT_BLOCK" val="0"/>
  <p:tag name="KSO_WM_CHIP_GROUPID" val="5e6b05596848fb12bee65ac8"/>
  <p:tag name="KSO_WM_CHIP_XID" val="5e6b05596848fb12bee65aca"/>
  <p:tag name="KSO_WM_ASSEMBLE_CHIP_INDEX" val="33de6eaab67d4dbcbfd2bc500c775b57"/>
  <p:tag name="KSO_WM_UNIT_TEXT_FILL_FORE_SCHEMECOLOR_INDEX_BRIGHTNESS" val="0.25"/>
  <p:tag name="KSO_WM_UNIT_TEXT_FILL_FORE_SCHEMECOLOR_INDEX" val="13"/>
  <p:tag name="KSO_WM_UNIT_TEXT_FILL_TYPE" val="1"/>
  <p:tag name="KSO_WM_UNIT_VALUE" val="165"/>
  <p:tag name="KSO_WM_TEMPLATE_ASSEMBLE_XID" val="5ed482c234f4fab75e345b57"/>
  <p:tag name="KSO_WM_TEMPLATE_ASSEMBLE_GROUPID" val="5ed482c234f4fab75e345b57"/>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Fan</Template>
  <TotalTime>782</TotalTime>
  <Words>4440</Words>
  <Application>Microsoft Office PowerPoint</Application>
  <PresentationFormat>全屏显示(4:3)</PresentationFormat>
  <Paragraphs>209</Paragraphs>
  <Slides>23</Slides>
  <Notes>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23</vt:i4>
      </vt:variant>
    </vt:vector>
  </HeadingPairs>
  <TitlesOfParts>
    <vt:vector size="37" baseType="lpstr">
      <vt:lpstr>等线</vt:lpstr>
      <vt:lpstr>华文仿宋</vt:lpstr>
      <vt:lpstr>华文楷体</vt:lpstr>
      <vt:lpstr>华文宋体</vt:lpstr>
      <vt:lpstr>华文中宋</vt:lpstr>
      <vt:lpstr>楷体</vt:lpstr>
      <vt:lpstr>楷体_GB2312</vt:lpstr>
      <vt:lpstr>宋体</vt:lpstr>
      <vt:lpstr>Arial</vt:lpstr>
      <vt:lpstr>Franklin Gothic Book</vt:lpstr>
      <vt:lpstr>Franklin Gothic Medium</vt:lpstr>
      <vt:lpstr>Times New Roman</vt:lpstr>
      <vt:lpstr>Wingdings 2</vt:lpstr>
      <vt:lpstr>暗香扑面</vt:lpstr>
      <vt:lpstr>PowerPoint 演示文稿</vt:lpstr>
      <vt:lpstr>PowerPoint 演示文稿</vt:lpstr>
      <vt:lpstr>PowerPoint 演示文稿</vt:lpstr>
      <vt:lpstr>现代大学的四个特征 </vt:lpstr>
      <vt:lpstr>PowerPoint 演示文稿</vt:lpstr>
      <vt:lpstr>大学精神要义</vt:lpstr>
      <vt:lpstr>能力清单（纳斯鲍姆，《正义的前沿》，p53-55。）</vt:lpstr>
      <vt:lpstr>PowerPoint 演示文稿</vt:lpstr>
      <vt:lpstr>PowerPoint 演示文稿</vt:lpstr>
      <vt:lpstr>PowerPoint 演示文稿</vt:lpstr>
      <vt:lpstr>如何理解现代社会？</vt:lpstr>
      <vt:lpstr>挑战2：青少年心理成长的现实困境</vt:lpstr>
      <vt:lpstr>PowerPoint 演示文稿</vt:lpstr>
      <vt:lpstr>PowerPoint 演示文稿</vt:lpstr>
      <vt:lpstr>PowerPoint 演示文稿</vt:lpstr>
      <vt:lpstr>PowerPoint 演示文稿</vt:lpstr>
      <vt:lpstr>PowerPoint 演示文稿</vt:lpstr>
      <vt:lpstr>Agency, Communion(两套动机或目标) </vt:lpstr>
      <vt:lpstr>PowerPoint 演示文稿</vt:lpstr>
      <vt:lpstr>PowerPoint 演示文稿</vt:lpstr>
      <vt:lpstr>   后疫情时代的机遇</vt:lpstr>
      <vt:lpstr>1.做好自我规划</vt:lpstr>
      <vt:lpstr>2.严格自我管理</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一样的大学，不一样的收获。</dc:title>
  <dc:creator>微软用户</dc:creator>
  <cp:lastModifiedBy>Ruiyang Xu</cp:lastModifiedBy>
  <cp:revision>282</cp:revision>
  <dcterms:created xsi:type="dcterms:W3CDTF">2009-01-22T02:01:00Z</dcterms:created>
  <dcterms:modified xsi:type="dcterms:W3CDTF">2026-06-09T05:54:40Z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E2DF57A8B9344D2D9615ECF07FBA2295_13</vt:lpwstr>
  </property>
</Properties>
</file>