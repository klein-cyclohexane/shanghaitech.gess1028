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41" r:id="rId2"/>
    <p:sldId id="260" r:id="rId3"/>
    <p:sldId id="446" r:id="rId4"/>
    <p:sldId id="444" r:id="rId5"/>
    <p:sldId id="388" r:id="rId6"/>
    <p:sldId id="437" r:id="rId7"/>
    <p:sldId id="447" r:id="rId8"/>
    <p:sldId id="276" r:id="rId9"/>
    <p:sldId id="302" r:id="rId10"/>
    <p:sldId id="440" r:id="rId11"/>
    <p:sldId id="282" r:id="rId12"/>
    <p:sldId id="279" r:id="rId13"/>
    <p:sldId id="327" r:id="rId14"/>
    <p:sldId id="303" r:id="rId15"/>
    <p:sldId id="393" r:id="rId16"/>
    <p:sldId id="257" r:id="rId17"/>
    <p:sldId id="448" r:id="rId18"/>
    <p:sldId id="256" r:id="rId19"/>
    <p:sldId id="264" r:id="rId20"/>
    <p:sldId id="271" r:id="rId21"/>
    <p:sldId id="267" r:id="rId22"/>
    <p:sldId id="449" r:id="rId23"/>
  </p:sldIdLst>
  <p:sldSz cx="9144000" cy="6858000" type="screen4x3"/>
  <p:notesSz cx="10234613" cy="7102475"/>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353918D-9D20-46F0-8B34-F0D15C15672D}">
          <p14:sldIdLst>
            <p14:sldId id="441"/>
            <p14:sldId id="260"/>
            <p14:sldId id="446"/>
            <p14:sldId id="444"/>
            <p14:sldId id="388"/>
            <p14:sldId id="437"/>
            <p14:sldId id="447"/>
            <p14:sldId id="276"/>
            <p14:sldId id="302"/>
            <p14:sldId id="440"/>
            <p14:sldId id="282"/>
            <p14:sldId id="279"/>
            <p14:sldId id="327"/>
            <p14:sldId id="303"/>
            <p14:sldId id="393"/>
            <p14:sldId id="257"/>
            <p14:sldId id="448"/>
            <p14:sldId id="256"/>
            <p14:sldId id="264"/>
            <p14:sldId id="271"/>
            <p14:sldId id="267"/>
            <p14:sldId id="44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ghaitech"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9" d="100"/>
          <a:sy n="79" d="100"/>
        </p:scale>
        <p:origin x="735"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1#3">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80E4F54-60B3-4D4F-AF34-8DE890B58F96}" type="doc">
      <dgm:prSet loTypeId="urn:microsoft.com/office/officeart/2005/8/layout/list1#3" loCatId="list" qsTypeId="urn:microsoft.com/office/officeart/2005/8/quickstyle/simple1#3" qsCatId="simple" csTypeId="urn:microsoft.com/office/officeart/2005/8/colors/accent2_1#3" csCatId="accent2" phldr="1"/>
      <dgm:spPr/>
      <dgm:t>
        <a:bodyPr/>
        <a:lstStyle/>
        <a:p>
          <a:endParaRPr lang="zh-CN" altLang="en-US"/>
        </a:p>
      </dgm:t>
    </dgm:pt>
    <dgm:pt modelId="{3602C92D-7647-4F6F-BCBD-3A3E08CDBA2C}">
      <dgm:prSet phldrT="[文本]" custT="1"/>
      <dgm:spPr/>
      <dgm:t>
        <a:bodyPr/>
        <a:lstStyle/>
        <a:p>
          <a:r>
            <a:rPr lang="zh-CN" sz="1800" b="1" dirty="0"/>
            <a:t>坚持爱国主义和社会主义相统一</a:t>
          </a:r>
          <a:endParaRPr lang="zh-CN" altLang="en-US" sz="1800" b="1" dirty="0">
            <a:solidFill>
              <a:schemeClr val="tx1"/>
            </a:solidFill>
          </a:endParaRPr>
        </a:p>
      </dgm:t>
    </dgm:pt>
    <dgm:pt modelId="{AA0AD5D9-7BDD-46BA-BD60-CDFDEBBF1C9F}" type="parTrans" cxnId="{23211907-1FD7-4C48-B2D6-FA301F44D056}">
      <dgm:prSet/>
      <dgm:spPr/>
      <dgm:t>
        <a:bodyPr/>
        <a:lstStyle/>
        <a:p>
          <a:endParaRPr lang="zh-CN" altLang="en-US"/>
        </a:p>
      </dgm:t>
    </dgm:pt>
    <dgm:pt modelId="{AACD2FE1-6D08-4FF9-B533-37CB9BBC786A}" type="sibTrans" cxnId="{23211907-1FD7-4C48-B2D6-FA301F44D056}">
      <dgm:prSet/>
      <dgm:spPr/>
      <dgm:t>
        <a:bodyPr/>
        <a:lstStyle/>
        <a:p>
          <a:endParaRPr lang="zh-CN" altLang="en-US"/>
        </a:p>
      </dgm:t>
    </dgm:pt>
    <dgm:pt modelId="{D4416F8A-5172-427E-9831-51C8F6ADBD5B}">
      <dgm:prSet phldrT="[文本]" custT="1"/>
      <dgm:spPr/>
      <dgm:t>
        <a:bodyPr/>
        <a:lstStyle/>
        <a:p>
          <a:r>
            <a:rPr lang="zh-CN" sz="1800" b="1" dirty="0"/>
            <a:t>尊重和传承中华民族历史和文化</a:t>
          </a:r>
          <a:endParaRPr lang="zh-CN" altLang="en-US" sz="1800" b="1" dirty="0">
            <a:solidFill>
              <a:schemeClr val="tx1"/>
            </a:solidFill>
          </a:endParaRPr>
        </a:p>
      </dgm:t>
    </dgm:pt>
    <dgm:pt modelId="{24E43273-A750-42BA-8E49-B4FAE59CCE97}" type="parTrans" cxnId="{1E1A4A55-2747-4B2F-909E-12BC4875E4E6}">
      <dgm:prSet/>
      <dgm:spPr/>
      <dgm:t>
        <a:bodyPr/>
        <a:lstStyle/>
        <a:p>
          <a:endParaRPr lang="zh-CN" altLang="en-US"/>
        </a:p>
      </dgm:t>
    </dgm:pt>
    <dgm:pt modelId="{1DC65BF9-65A7-4B28-A998-442F1246B496}" type="sibTrans" cxnId="{1E1A4A55-2747-4B2F-909E-12BC4875E4E6}">
      <dgm:prSet/>
      <dgm:spPr/>
      <dgm:t>
        <a:bodyPr/>
        <a:lstStyle/>
        <a:p>
          <a:endParaRPr lang="zh-CN" altLang="en-US"/>
        </a:p>
      </dgm:t>
    </dgm:pt>
    <dgm:pt modelId="{EF291CFE-37E1-4A3D-AEC6-519CFD5AE93B}">
      <dgm:prSet phldrT="[文本]" custT="1"/>
      <dgm:spPr/>
      <dgm:t>
        <a:bodyPr/>
        <a:lstStyle/>
        <a:p>
          <a:r>
            <a:rPr lang="zh-CN" sz="1800" b="1" dirty="0"/>
            <a:t>必须坚持立足民族又面向世界</a:t>
          </a:r>
          <a:endParaRPr lang="zh-CN" altLang="en-US" sz="1800" b="1" dirty="0">
            <a:solidFill>
              <a:schemeClr val="tx1"/>
            </a:solidFill>
          </a:endParaRPr>
        </a:p>
      </dgm:t>
    </dgm:pt>
    <dgm:pt modelId="{5A7E2556-0131-40EA-A7AC-D50181AB8EEC}" type="parTrans" cxnId="{DAE19D3E-AFBC-4CFF-8856-0ED1B919A81E}">
      <dgm:prSet/>
      <dgm:spPr/>
      <dgm:t>
        <a:bodyPr/>
        <a:lstStyle/>
        <a:p>
          <a:endParaRPr lang="zh-CN" altLang="en-US"/>
        </a:p>
      </dgm:t>
    </dgm:pt>
    <dgm:pt modelId="{DC5F0B41-3FBB-4F88-88A0-948D64016991}" type="sibTrans" cxnId="{DAE19D3E-AFBC-4CFF-8856-0ED1B919A81E}">
      <dgm:prSet/>
      <dgm:spPr/>
      <dgm:t>
        <a:bodyPr/>
        <a:lstStyle/>
        <a:p>
          <a:endParaRPr lang="zh-CN" altLang="en-US"/>
        </a:p>
      </dgm:t>
    </dgm:pt>
    <dgm:pt modelId="{81C4D24B-6AEF-40DD-A774-9BCE8A4FB637}">
      <dgm:prSet custT="1"/>
      <dgm:spPr/>
      <dgm:t>
        <a:bodyPr/>
        <a:lstStyle/>
        <a:p>
          <a:r>
            <a:rPr lang="zh-CN" sz="1800" b="1" dirty="0"/>
            <a:t>维护祖国统一和民族团结</a:t>
          </a:r>
          <a:endParaRPr lang="zh-CN" altLang="en-US" sz="1800" b="1" dirty="0">
            <a:solidFill>
              <a:schemeClr val="tx1"/>
            </a:solidFill>
          </a:endParaRPr>
        </a:p>
      </dgm:t>
    </dgm:pt>
    <dgm:pt modelId="{0E400D67-2A30-4FD6-A5D6-821F208C5028}" type="parTrans" cxnId="{82BBBC93-51B8-4D5E-9B2D-81C0093B04FD}">
      <dgm:prSet/>
      <dgm:spPr/>
      <dgm:t>
        <a:bodyPr/>
        <a:lstStyle/>
        <a:p>
          <a:endParaRPr lang="zh-CN" altLang="en-US"/>
        </a:p>
      </dgm:t>
    </dgm:pt>
    <dgm:pt modelId="{F0CCF728-7DC0-46E0-A9C0-8AE7F00DEB06}" type="sibTrans" cxnId="{82BBBC93-51B8-4D5E-9B2D-81C0093B04FD}">
      <dgm:prSet/>
      <dgm:spPr/>
      <dgm:t>
        <a:bodyPr/>
        <a:lstStyle/>
        <a:p>
          <a:endParaRPr lang="zh-CN" altLang="en-US"/>
        </a:p>
      </dgm:t>
    </dgm:pt>
    <dgm:pt modelId="{75AD4687-18A7-4D59-B7EE-7F09F0D92470}" type="pres">
      <dgm:prSet presAssocID="{980E4F54-60B3-4D4F-AF34-8DE890B58F96}" presName="linear" presStyleCnt="0">
        <dgm:presLayoutVars>
          <dgm:dir/>
          <dgm:animLvl val="lvl"/>
          <dgm:resizeHandles val="exact"/>
        </dgm:presLayoutVars>
      </dgm:prSet>
      <dgm:spPr/>
    </dgm:pt>
    <dgm:pt modelId="{7076AB44-23B2-4A3E-A093-B2A82D7C0EC5}" type="pres">
      <dgm:prSet presAssocID="{3602C92D-7647-4F6F-BCBD-3A3E08CDBA2C}" presName="parentLin" presStyleCnt="0"/>
      <dgm:spPr/>
    </dgm:pt>
    <dgm:pt modelId="{1D23C843-48D3-4ECF-95D1-F11B44FC4FCC}" type="pres">
      <dgm:prSet presAssocID="{3602C92D-7647-4F6F-BCBD-3A3E08CDBA2C}" presName="parentLeftMargin" presStyleLbl="node1" presStyleIdx="0" presStyleCnt="4"/>
      <dgm:spPr/>
    </dgm:pt>
    <dgm:pt modelId="{774872F4-6FAF-4DD9-8E71-F1F8B862CE01}" type="pres">
      <dgm:prSet presAssocID="{3602C92D-7647-4F6F-BCBD-3A3E08CDBA2C}" presName="parentText" presStyleLbl="node1" presStyleIdx="0" presStyleCnt="4" custScaleX="128572" custScaleY="153041" custLinFactNeighborX="-693" custLinFactNeighborY="40846">
        <dgm:presLayoutVars>
          <dgm:chMax val="0"/>
          <dgm:bulletEnabled val="1"/>
        </dgm:presLayoutVars>
      </dgm:prSet>
      <dgm:spPr/>
    </dgm:pt>
    <dgm:pt modelId="{1E595EB9-EC92-4580-9771-8A8A51D83018}" type="pres">
      <dgm:prSet presAssocID="{3602C92D-7647-4F6F-BCBD-3A3E08CDBA2C}" presName="negativeSpace" presStyleCnt="0"/>
      <dgm:spPr/>
    </dgm:pt>
    <dgm:pt modelId="{78F11921-0614-442C-BB2D-B57359DB667A}" type="pres">
      <dgm:prSet presAssocID="{3602C92D-7647-4F6F-BCBD-3A3E08CDBA2C}" presName="childText" presStyleLbl="conFgAcc1" presStyleIdx="0" presStyleCnt="4" custLinFactY="10028" custLinFactNeighborX="1266" custLinFactNeighborY="100000">
        <dgm:presLayoutVars>
          <dgm:bulletEnabled val="1"/>
        </dgm:presLayoutVars>
      </dgm:prSet>
      <dgm:spPr/>
    </dgm:pt>
    <dgm:pt modelId="{61419130-8734-4640-B3C8-D66FBE6F64A5}" type="pres">
      <dgm:prSet presAssocID="{AACD2FE1-6D08-4FF9-B533-37CB9BBC786A}" presName="spaceBetweenRectangles" presStyleCnt="0"/>
      <dgm:spPr/>
    </dgm:pt>
    <dgm:pt modelId="{F8DC3AA8-FED2-4148-A5C5-09328FEE1EDC}" type="pres">
      <dgm:prSet presAssocID="{81C4D24B-6AEF-40DD-A774-9BCE8A4FB637}" presName="parentLin" presStyleCnt="0"/>
      <dgm:spPr/>
    </dgm:pt>
    <dgm:pt modelId="{1607FDCD-85FF-4C6B-9918-251AE2E3ADD9}" type="pres">
      <dgm:prSet presAssocID="{81C4D24B-6AEF-40DD-A774-9BCE8A4FB637}" presName="parentLeftMargin" presStyleLbl="node1" presStyleIdx="0" presStyleCnt="4"/>
      <dgm:spPr/>
    </dgm:pt>
    <dgm:pt modelId="{C67B9C2A-80EC-4FC3-9310-E88DA0B3F169}" type="pres">
      <dgm:prSet presAssocID="{81C4D24B-6AEF-40DD-A774-9BCE8A4FB637}" presName="parentText" presStyleLbl="node1" presStyleIdx="1" presStyleCnt="4" custScaleX="128572">
        <dgm:presLayoutVars>
          <dgm:chMax val="0"/>
          <dgm:bulletEnabled val="1"/>
        </dgm:presLayoutVars>
      </dgm:prSet>
      <dgm:spPr/>
    </dgm:pt>
    <dgm:pt modelId="{016C6D5B-533E-49D5-836B-5DE408783296}" type="pres">
      <dgm:prSet presAssocID="{81C4D24B-6AEF-40DD-A774-9BCE8A4FB637}" presName="negativeSpace" presStyleCnt="0"/>
      <dgm:spPr/>
    </dgm:pt>
    <dgm:pt modelId="{0C84D868-53B5-4950-A48B-463D66070DCC}" type="pres">
      <dgm:prSet presAssocID="{81C4D24B-6AEF-40DD-A774-9BCE8A4FB637}" presName="childText" presStyleLbl="conFgAcc1" presStyleIdx="1" presStyleCnt="4" custScaleY="103507">
        <dgm:presLayoutVars>
          <dgm:bulletEnabled val="1"/>
        </dgm:presLayoutVars>
      </dgm:prSet>
      <dgm:spPr/>
    </dgm:pt>
    <dgm:pt modelId="{C29EA8C8-995E-4B1C-9DA3-541E1C56B62A}" type="pres">
      <dgm:prSet presAssocID="{F0CCF728-7DC0-46E0-A9C0-8AE7F00DEB06}" presName="spaceBetweenRectangles" presStyleCnt="0"/>
      <dgm:spPr/>
    </dgm:pt>
    <dgm:pt modelId="{B74ECF5D-26CC-44D1-80FA-E3A9649A8EF5}" type="pres">
      <dgm:prSet presAssocID="{D4416F8A-5172-427E-9831-51C8F6ADBD5B}" presName="parentLin" presStyleCnt="0"/>
      <dgm:spPr/>
    </dgm:pt>
    <dgm:pt modelId="{0080885F-3B2D-443D-AE14-823CB4DBD04F}" type="pres">
      <dgm:prSet presAssocID="{D4416F8A-5172-427E-9831-51C8F6ADBD5B}" presName="parentLeftMargin" presStyleLbl="node1" presStyleIdx="1" presStyleCnt="4"/>
      <dgm:spPr/>
    </dgm:pt>
    <dgm:pt modelId="{71054DF9-69A5-4154-8563-8F6068CCD9F6}" type="pres">
      <dgm:prSet presAssocID="{D4416F8A-5172-427E-9831-51C8F6ADBD5B}" presName="parentText" presStyleLbl="node1" presStyleIdx="2" presStyleCnt="4" custScaleX="128572" custScaleY="166154" custLinFactNeighborX="-693" custLinFactNeighborY="26722">
        <dgm:presLayoutVars>
          <dgm:chMax val="0"/>
          <dgm:bulletEnabled val="1"/>
        </dgm:presLayoutVars>
      </dgm:prSet>
      <dgm:spPr/>
    </dgm:pt>
    <dgm:pt modelId="{389A4669-0ECD-4E4E-9CC2-A2AD4A672AA5}" type="pres">
      <dgm:prSet presAssocID="{D4416F8A-5172-427E-9831-51C8F6ADBD5B}" presName="negativeSpace" presStyleCnt="0"/>
      <dgm:spPr/>
    </dgm:pt>
    <dgm:pt modelId="{F517FE68-2F69-411B-A6CC-0415B9DC7814}" type="pres">
      <dgm:prSet presAssocID="{D4416F8A-5172-427E-9831-51C8F6ADBD5B}" presName="childText" presStyleLbl="conFgAcc1" presStyleIdx="2" presStyleCnt="4">
        <dgm:presLayoutVars>
          <dgm:bulletEnabled val="1"/>
        </dgm:presLayoutVars>
      </dgm:prSet>
      <dgm:spPr/>
    </dgm:pt>
    <dgm:pt modelId="{40F90ABE-AB87-41CA-A64D-5360F92AE79E}" type="pres">
      <dgm:prSet presAssocID="{1DC65BF9-65A7-4B28-A998-442F1246B496}" presName="spaceBetweenRectangles" presStyleCnt="0"/>
      <dgm:spPr/>
    </dgm:pt>
    <dgm:pt modelId="{B24B9FE2-F7BE-4791-911D-69D319CB490D}" type="pres">
      <dgm:prSet presAssocID="{EF291CFE-37E1-4A3D-AEC6-519CFD5AE93B}" presName="parentLin" presStyleCnt="0"/>
      <dgm:spPr/>
    </dgm:pt>
    <dgm:pt modelId="{16C7EB4A-E2F3-4D7A-8139-547BE2B38D11}" type="pres">
      <dgm:prSet presAssocID="{EF291CFE-37E1-4A3D-AEC6-519CFD5AE93B}" presName="parentLeftMargin" presStyleLbl="node1" presStyleIdx="2" presStyleCnt="4"/>
      <dgm:spPr/>
    </dgm:pt>
    <dgm:pt modelId="{8BFB561D-2F88-49B6-AECF-D1960C60CD01}" type="pres">
      <dgm:prSet presAssocID="{EF291CFE-37E1-4A3D-AEC6-519CFD5AE93B}" presName="parentText" presStyleLbl="node1" presStyleIdx="3" presStyleCnt="4" custScaleX="128572">
        <dgm:presLayoutVars>
          <dgm:chMax val="0"/>
          <dgm:bulletEnabled val="1"/>
        </dgm:presLayoutVars>
      </dgm:prSet>
      <dgm:spPr/>
    </dgm:pt>
    <dgm:pt modelId="{B42A50DE-E12B-4917-ABB9-D6EAC0A7082B}" type="pres">
      <dgm:prSet presAssocID="{EF291CFE-37E1-4A3D-AEC6-519CFD5AE93B}" presName="negativeSpace" presStyleCnt="0"/>
      <dgm:spPr/>
    </dgm:pt>
    <dgm:pt modelId="{AA531781-30B9-47EE-9E78-E8D26EBE540B}" type="pres">
      <dgm:prSet presAssocID="{EF291CFE-37E1-4A3D-AEC6-519CFD5AE93B}" presName="childText" presStyleLbl="conFgAcc1" presStyleIdx="3" presStyleCnt="4">
        <dgm:presLayoutVars>
          <dgm:bulletEnabled val="1"/>
        </dgm:presLayoutVars>
      </dgm:prSet>
      <dgm:spPr/>
    </dgm:pt>
  </dgm:ptLst>
  <dgm:cxnLst>
    <dgm:cxn modelId="{23211907-1FD7-4C48-B2D6-FA301F44D056}" srcId="{980E4F54-60B3-4D4F-AF34-8DE890B58F96}" destId="{3602C92D-7647-4F6F-BCBD-3A3E08CDBA2C}" srcOrd="0" destOrd="0" parTransId="{AA0AD5D9-7BDD-46BA-BD60-CDFDEBBF1C9F}" sibTransId="{AACD2FE1-6D08-4FF9-B533-37CB9BBC786A}"/>
    <dgm:cxn modelId="{0A296132-C73F-46BE-9C9B-4CE1C43AE2F0}" type="presOf" srcId="{D4416F8A-5172-427E-9831-51C8F6ADBD5B}" destId="{71054DF9-69A5-4154-8563-8F6068CCD9F6}" srcOrd="1" destOrd="0" presId="urn:microsoft.com/office/officeart/2005/8/layout/list1#3"/>
    <dgm:cxn modelId="{DAE19D3E-AFBC-4CFF-8856-0ED1B919A81E}" srcId="{980E4F54-60B3-4D4F-AF34-8DE890B58F96}" destId="{EF291CFE-37E1-4A3D-AEC6-519CFD5AE93B}" srcOrd="3" destOrd="0" parTransId="{5A7E2556-0131-40EA-A7AC-D50181AB8EEC}" sibTransId="{DC5F0B41-3FBB-4F88-88A0-948D64016991}"/>
    <dgm:cxn modelId="{A698F06F-8130-4911-AD05-410AAE509C6B}" type="presOf" srcId="{3602C92D-7647-4F6F-BCBD-3A3E08CDBA2C}" destId="{1D23C843-48D3-4ECF-95D1-F11B44FC4FCC}" srcOrd="0" destOrd="0" presId="urn:microsoft.com/office/officeart/2005/8/layout/list1#3"/>
    <dgm:cxn modelId="{D6AB9C73-BD28-4FF9-ABF5-B260EA54CCF1}" type="presOf" srcId="{980E4F54-60B3-4D4F-AF34-8DE890B58F96}" destId="{75AD4687-18A7-4D59-B7EE-7F09F0D92470}" srcOrd="0" destOrd="0" presId="urn:microsoft.com/office/officeart/2005/8/layout/list1#3"/>
    <dgm:cxn modelId="{87699F74-3500-4E85-9E15-45C6E09E90FB}" type="presOf" srcId="{81C4D24B-6AEF-40DD-A774-9BCE8A4FB637}" destId="{C67B9C2A-80EC-4FC3-9310-E88DA0B3F169}" srcOrd="1" destOrd="0" presId="urn:microsoft.com/office/officeart/2005/8/layout/list1#3"/>
    <dgm:cxn modelId="{1E1A4A55-2747-4B2F-909E-12BC4875E4E6}" srcId="{980E4F54-60B3-4D4F-AF34-8DE890B58F96}" destId="{D4416F8A-5172-427E-9831-51C8F6ADBD5B}" srcOrd="2" destOrd="0" parTransId="{24E43273-A750-42BA-8E49-B4FAE59CCE97}" sibTransId="{1DC65BF9-65A7-4B28-A998-442F1246B496}"/>
    <dgm:cxn modelId="{CD5E807D-41EB-473F-A0E3-1A5AC9786563}" type="presOf" srcId="{81C4D24B-6AEF-40DD-A774-9BCE8A4FB637}" destId="{1607FDCD-85FF-4C6B-9918-251AE2E3ADD9}" srcOrd="0" destOrd="0" presId="urn:microsoft.com/office/officeart/2005/8/layout/list1#3"/>
    <dgm:cxn modelId="{82BBBC93-51B8-4D5E-9B2D-81C0093B04FD}" srcId="{980E4F54-60B3-4D4F-AF34-8DE890B58F96}" destId="{81C4D24B-6AEF-40DD-A774-9BCE8A4FB637}" srcOrd="1" destOrd="0" parTransId="{0E400D67-2A30-4FD6-A5D6-821F208C5028}" sibTransId="{F0CCF728-7DC0-46E0-A9C0-8AE7F00DEB06}"/>
    <dgm:cxn modelId="{BB812AC1-A93E-4FA2-9AF7-B9206C2C7B02}" type="presOf" srcId="{EF291CFE-37E1-4A3D-AEC6-519CFD5AE93B}" destId="{16C7EB4A-E2F3-4D7A-8139-547BE2B38D11}" srcOrd="0" destOrd="0" presId="urn:microsoft.com/office/officeart/2005/8/layout/list1#3"/>
    <dgm:cxn modelId="{6DD7D3C2-761F-42EF-A1FB-19EEB7CDC2C1}" type="presOf" srcId="{D4416F8A-5172-427E-9831-51C8F6ADBD5B}" destId="{0080885F-3B2D-443D-AE14-823CB4DBD04F}" srcOrd="0" destOrd="0" presId="urn:microsoft.com/office/officeart/2005/8/layout/list1#3"/>
    <dgm:cxn modelId="{5A1F40DF-655D-47E5-AD63-3741D60D1903}" type="presOf" srcId="{EF291CFE-37E1-4A3D-AEC6-519CFD5AE93B}" destId="{8BFB561D-2F88-49B6-AECF-D1960C60CD01}" srcOrd="1" destOrd="0" presId="urn:microsoft.com/office/officeart/2005/8/layout/list1#3"/>
    <dgm:cxn modelId="{9FE3B5E4-9282-4A1F-AB42-B3A217899A79}" type="presOf" srcId="{3602C92D-7647-4F6F-BCBD-3A3E08CDBA2C}" destId="{774872F4-6FAF-4DD9-8E71-F1F8B862CE01}" srcOrd="1" destOrd="0" presId="urn:microsoft.com/office/officeart/2005/8/layout/list1#3"/>
    <dgm:cxn modelId="{5D6525DB-B2F4-4995-A9E8-EBF738893D8B}" type="presParOf" srcId="{75AD4687-18A7-4D59-B7EE-7F09F0D92470}" destId="{7076AB44-23B2-4A3E-A093-B2A82D7C0EC5}" srcOrd="0" destOrd="0" presId="urn:microsoft.com/office/officeart/2005/8/layout/list1#3"/>
    <dgm:cxn modelId="{A82F5024-1B77-4352-8495-90ECF7E5C1E1}" type="presParOf" srcId="{7076AB44-23B2-4A3E-A093-B2A82D7C0EC5}" destId="{1D23C843-48D3-4ECF-95D1-F11B44FC4FCC}" srcOrd="0" destOrd="0" presId="urn:microsoft.com/office/officeart/2005/8/layout/list1#3"/>
    <dgm:cxn modelId="{695A2F3A-FFB1-4189-8BB6-6EBDE9521AD6}" type="presParOf" srcId="{7076AB44-23B2-4A3E-A093-B2A82D7C0EC5}" destId="{774872F4-6FAF-4DD9-8E71-F1F8B862CE01}" srcOrd="1" destOrd="0" presId="urn:microsoft.com/office/officeart/2005/8/layout/list1#3"/>
    <dgm:cxn modelId="{53AB0340-A141-4C87-A3D0-A6225369B298}" type="presParOf" srcId="{75AD4687-18A7-4D59-B7EE-7F09F0D92470}" destId="{1E595EB9-EC92-4580-9771-8A8A51D83018}" srcOrd="1" destOrd="0" presId="urn:microsoft.com/office/officeart/2005/8/layout/list1#3"/>
    <dgm:cxn modelId="{0B54F675-2C73-45A2-9931-85F2EBC5C6EB}" type="presParOf" srcId="{75AD4687-18A7-4D59-B7EE-7F09F0D92470}" destId="{78F11921-0614-442C-BB2D-B57359DB667A}" srcOrd="2" destOrd="0" presId="urn:microsoft.com/office/officeart/2005/8/layout/list1#3"/>
    <dgm:cxn modelId="{C524ED15-0AF6-41EF-8AFC-A65236793A58}" type="presParOf" srcId="{75AD4687-18A7-4D59-B7EE-7F09F0D92470}" destId="{61419130-8734-4640-B3C8-D66FBE6F64A5}" srcOrd="3" destOrd="0" presId="urn:microsoft.com/office/officeart/2005/8/layout/list1#3"/>
    <dgm:cxn modelId="{05D9AC51-A60F-4E63-A329-CC7F00C532A8}" type="presParOf" srcId="{75AD4687-18A7-4D59-B7EE-7F09F0D92470}" destId="{F8DC3AA8-FED2-4148-A5C5-09328FEE1EDC}" srcOrd="4" destOrd="0" presId="urn:microsoft.com/office/officeart/2005/8/layout/list1#3"/>
    <dgm:cxn modelId="{AF0D489F-8772-4D13-BE5E-DA08B1398446}" type="presParOf" srcId="{F8DC3AA8-FED2-4148-A5C5-09328FEE1EDC}" destId="{1607FDCD-85FF-4C6B-9918-251AE2E3ADD9}" srcOrd="0" destOrd="0" presId="urn:microsoft.com/office/officeart/2005/8/layout/list1#3"/>
    <dgm:cxn modelId="{C274F68D-453F-4B61-839E-9EC3066F40B5}" type="presParOf" srcId="{F8DC3AA8-FED2-4148-A5C5-09328FEE1EDC}" destId="{C67B9C2A-80EC-4FC3-9310-E88DA0B3F169}" srcOrd="1" destOrd="0" presId="urn:microsoft.com/office/officeart/2005/8/layout/list1#3"/>
    <dgm:cxn modelId="{8FD474C2-B7D1-4E79-A3ED-E8FF24881265}" type="presParOf" srcId="{75AD4687-18A7-4D59-B7EE-7F09F0D92470}" destId="{016C6D5B-533E-49D5-836B-5DE408783296}" srcOrd="5" destOrd="0" presId="urn:microsoft.com/office/officeart/2005/8/layout/list1#3"/>
    <dgm:cxn modelId="{9C50C270-68CF-4AD7-8411-E3B720471E25}" type="presParOf" srcId="{75AD4687-18A7-4D59-B7EE-7F09F0D92470}" destId="{0C84D868-53B5-4950-A48B-463D66070DCC}" srcOrd="6" destOrd="0" presId="urn:microsoft.com/office/officeart/2005/8/layout/list1#3"/>
    <dgm:cxn modelId="{39773B5A-A56D-443A-9777-C69D1E09FAA7}" type="presParOf" srcId="{75AD4687-18A7-4D59-B7EE-7F09F0D92470}" destId="{C29EA8C8-995E-4B1C-9DA3-541E1C56B62A}" srcOrd="7" destOrd="0" presId="urn:microsoft.com/office/officeart/2005/8/layout/list1#3"/>
    <dgm:cxn modelId="{26319C06-0D5E-4544-9E03-56EE8680F87A}" type="presParOf" srcId="{75AD4687-18A7-4D59-B7EE-7F09F0D92470}" destId="{B74ECF5D-26CC-44D1-80FA-E3A9649A8EF5}" srcOrd="8" destOrd="0" presId="urn:microsoft.com/office/officeart/2005/8/layout/list1#3"/>
    <dgm:cxn modelId="{4DCBE0FE-6D90-4F6B-9635-F0FD728C9E3D}" type="presParOf" srcId="{B74ECF5D-26CC-44D1-80FA-E3A9649A8EF5}" destId="{0080885F-3B2D-443D-AE14-823CB4DBD04F}" srcOrd="0" destOrd="0" presId="urn:microsoft.com/office/officeart/2005/8/layout/list1#3"/>
    <dgm:cxn modelId="{8CD90CCF-F447-444B-8F75-704449CEBA09}" type="presParOf" srcId="{B74ECF5D-26CC-44D1-80FA-E3A9649A8EF5}" destId="{71054DF9-69A5-4154-8563-8F6068CCD9F6}" srcOrd="1" destOrd="0" presId="urn:microsoft.com/office/officeart/2005/8/layout/list1#3"/>
    <dgm:cxn modelId="{F9022194-1985-4BDD-BA5C-085CA7BC1458}" type="presParOf" srcId="{75AD4687-18A7-4D59-B7EE-7F09F0D92470}" destId="{389A4669-0ECD-4E4E-9CC2-A2AD4A672AA5}" srcOrd="9" destOrd="0" presId="urn:microsoft.com/office/officeart/2005/8/layout/list1#3"/>
    <dgm:cxn modelId="{2046FF20-28B0-4A4D-A676-AA71D887B8AC}" type="presParOf" srcId="{75AD4687-18A7-4D59-B7EE-7F09F0D92470}" destId="{F517FE68-2F69-411B-A6CC-0415B9DC7814}" srcOrd="10" destOrd="0" presId="urn:microsoft.com/office/officeart/2005/8/layout/list1#3"/>
    <dgm:cxn modelId="{33DA4595-2516-4A29-BB3E-F07EAF30FD7D}" type="presParOf" srcId="{75AD4687-18A7-4D59-B7EE-7F09F0D92470}" destId="{40F90ABE-AB87-41CA-A64D-5360F92AE79E}" srcOrd="11" destOrd="0" presId="urn:microsoft.com/office/officeart/2005/8/layout/list1#3"/>
    <dgm:cxn modelId="{88D6AD51-598A-42E9-85E6-BFB960938191}" type="presParOf" srcId="{75AD4687-18A7-4D59-B7EE-7F09F0D92470}" destId="{B24B9FE2-F7BE-4791-911D-69D319CB490D}" srcOrd="12" destOrd="0" presId="urn:microsoft.com/office/officeart/2005/8/layout/list1#3"/>
    <dgm:cxn modelId="{56401369-EBA8-4C0F-8F26-9233BB3EB40E}" type="presParOf" srcId="{B24B9FE2-F7BE-4791-911D-69D319CB490D}" destId="{16C7EB4A-E2F3-4D7A-8139-547BE2B38D11}" srcOrd="0" destOrd="0" presId="urn:microsoft.com/office/officeart/2005/8/layout/list1#3"/>
    <dgm:cxn modelId="{38601590-DF5A-4686-B769-4C38AC5BE46B}" type="presParOf" srcId="{B24B9FE2-F7BE-4791-911D-69D319CB490D}" destId="{8BFB561D-2F88-49B6-AECF-D1960C60CD01}" srcOrd="1" destOrd="0" presId="urn:microsoft.com/office/officeart/2005/8/layout/list1#3"/>
    <dgm:cxn modelId="{2B00BEAE-8157-42D4-867E-282A43EDB427}" type="presParOf" srcId="{75AD4687-18A7-4D59-B7EE-7F09F0D92470}" destId="{B42A50DE-E12B-4917-ABB9-D6EAC0A7082B}" srcOrd="13" destOrd="0" presId="urn:microsoft.com/office/officeart/2005/8/layout/list1#3"/>
    <dgm:cxn modelId="{6F7E170F-1FAA-4B5F-B749-B85598ADE9E0}" type="presParOf" srcId="{75AD4687-18A7-4D59-B7EE-7F09F0D92470}" destId="{AA531781-30B9-47EE-9E78-E8D26EBE540B}" srcOrd="14" destOrd="0" presId="urn:microsoft.com/office/officeart/2005/8/layout/list1#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F11921-0614-442C-BB2D-B57359DB667A}">
      <dsp:nvSpPr>
        <dsp:cNvPr id="0" name=""/>
        <dsp:cNvSpPr/>
      </dsp:nvSpPr>
      <dsp:spPr>
        <a:xfrm>
          <a:off x="0" y="598532"/>
          <a:ext cx="3532410" cy="378000"/>
        </a:xfrm>
        <a:prstGeom prst="rect">
          <a:avLst/>
        </a:prstGeom>
        <a:solidFill>
          <a:schemeClr val="accent2">
            <a:alpha val="90000"/>
            <a:tint val="4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4872F4-6FAF-4DD9-8E71-F1F8B862CE01}">
      <dsp:nvSpPr>
        <dsp:cNvPr id="0" name=""/>
        <dsp:cNvSpPr/>
      </dsp:nvSpPr>
      <dsp:spPr>
        <a:xfrm>
          <a:off x="175396" y="204227"/>
          <a:ext cx="3179183" cy="677665"/>
        </a:xfrm>
        <a:prstGeom prst="round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3462" tIns="0" rIns="93462"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t>坚持爱国主义和社会主义相统一</a:t>
          </a:r>
          <a:endParaRPr lang="zh-CN" altLang="en-US" sz="1800" b="1" kern="1200" dirty="0">
            <a:solidFill>
              <a:schemeClr val="tx1"/>
            </a:solidFill>
          </a:endParaRPr>
        </a:p>
      </dsp:txBody>
      <dsp:txXfrm>
        <a:off x="208477" y="237308"/>
        <a:ext cx="3113021" cy="611503"/>
      </dsp:txXfrm>
    </dsp:sp>
    <dsp:sp modelId="{0C84D868-53B5-4950-A48B-463D66070DCC}">
      <dsp:nvSpPr>
        <dsp:cNvPr id="0" name=""/>
        <dsp:cNvSpPr/>
      </dsp:nvSpPr>
      <dsp:spPr>
        <a:xfrm>
          <a:off x="0" y="1160026"/>
          <a:ext cx="3532410" cy="391256"/>
        </a:xfrm>
        <a:prstGeom prst="rect">
          <a:avLst/>
        </a:prstGeom>
        <a:solidFill>
          <a:schemeClr val="accent2">
            <a:alpha val="90000"/>
            <a:tint val="4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7B9C2A-80EC-4FC3-9310-E88DA0B3F169}">
      <dsp:nvSpPr>
        <dsp:cNvPr id="0" name=""/>
        <dsp:cNvSpPr/>
      </dsp:nvSpPr>
      <dsp:spPr>
        <a:xfrm>
          <a:off x="176620" y="938626"/>
          <a:ext cx="3179183" cy="442800"/>
        </a:xfrm>
        <a:prstGeom prst="round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3462" tIns="0" rIns="93462"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t>维护祖国统一和民族团结</a:t>
          </a:r>
          <a:endParaRPr lang="zh-CN" altLang="en-US" sz="1800" b="1" kern="1200" dirty="0">
            <a:solidFill>
              <a:schemeClr val="tx1"/>
            </a:solidFill>
          </a:endParaRPr>
        </a:p>
      </dsp:txBody>
      <dsp:txXfrm>
        <a:off x="198236" y="960242"/>
        <a:ext cx="3135951" cy="399568"/>
      </dsp:txXfrm>
    </dsp:sp>
    <dsp:sp modelId="{F517FE68-2F69-411B-A6CC-0415B9DC7814}">
      <dsp:nvSpPr>
        <dsp:cNvPr id="0" name=""/>
        <dsp:cNvSpPr/>
      </dsp:nvSpPr>
      <dsp:spPr>
        <a:xfrm>
          <a:off x="0" y="2146612"/>
          <a:ext cx="3532410" cy="378000"/>
        </a:xfrm>
        <a:prstGeom prst="rect">
          <a:avLst/>
        </a:prstGeom>
        <a:solidFill>
          <a:schemeClr val="accent2">
            <a:alpha val="90000"/>
            <a:tint val="4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054DF9-69A5-4154-8563-8F6068CCD9F6}">
      <dsp:nvSpPr>
        <dsp:cNvPr id="0" name=""/>
        <dsp:cNvSpPr/>
      </dsp:nvSpPr>
      <dsp:spPr>
        <a:xfrm>
          <a:off x="175396" y="1750608"/>
          <a:ext cx="3179183" cy="735729"/>
        </a:xfrm>
        <a:prstGeom prst="round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3462" tIns="0" rIns="93462"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t>尊重和传承中华民族历史和文化</a:t>
          </a:r>
          <a:endParaRPr lang="zh-CN" altLang="en-US" sz="1800" b="1" kern="1200" dirty="0">
            <a:solidFill>
              <a:schemeClr val="tx1"/>
            </a:solidFill>
          </a:endParaRPr>
        </a:p>
      </dsp:txBody>
      <dsp:txXfrm>
        <a:off x="211311" y="1786523"/>
        <a:ext cx="3107353" cy="663899"/>
      </dsp:txXfrm>
    </dsp:sp>
    <dsp:sp modelId="{AA531781-30B9-47EE-9E78-E8D26EBE540B}">
      <dsp:nvSpPr>
        <dsp:cNvPr id="0" name=""/>
        <dsp:cNvSpPr/>
      </dsp:nvSpPr>
      <dsp:spPr>
        <a:xfrm>
          <a:off x="0" y="2827012"/>
          <a:ext cx="3532410" cy="378000"/>
        </a:xfrm>
        <a:prstGeom prst="rect">
          <a:avLst/>
        </a:prstGeom>
        <a:solidFill>
          <a:schemeClr val="accent2">
            <a:alpha val="90000"/>
            <a:tint val="40000"/>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FB561D-2F88-49B6-AECF-D1960C60CD01}">
      <dsp:nvSpPr>
        <dsp:cNvPr id="0" name=""/>
        <dsp:cNvSpPr/>
      </dsp:nvSpPr>
      <dsp:spPr>
        <a:xfrm>
          <a:off x="176620" y="2605612"/>
          <a:ext cx="3179183" cy="442800"/>
        </a:xfrm>
        <a:prstGeom prst="roundRect">
          <a:avLst/>
        </a:prstGeom>
        <a:solidFill>
          <a:schemeClr val="lt1">
            <a:hueOff val="0"/>
            <a:satOff val="0"/>
            <a:lumOff val="0"/>
            <a:alphaOff val="0"/>
          </a:schemeClr>
        </a:solidFill>
        <a:ln w="19050"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3462" tIns="0" rIns="93462" bIns="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t>必须坚持立足民族又面向世界</a:t>
          </a:r>
          <a:endParaRPr lang="zh-CN" altLang="en-US" sz="1800" b="1" kern="1200" dirty="0">
            <a:solidFill>
              <a:schemeClr val="tx1"/>
            </a:solidFill>
          </a:endParaRPr>
        </a:p>
      </dsp:txBody>
      <dsp:txXfrm>
        <a:off x="198236" y="2627228"/>
        <a:ext cx="3135951"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3">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7" name="Date Placeholder 4"/>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hasCustomPrompt="1"/>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hasCustomPrompt="1"/>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编辑母版文本样式</a:t>
            </a:r>
          </a:p>
        </p:txBody>
      </p:sp>
      <p:sp>
        <p:nvSpPr>
          <p:cNvPr id="10" name="Text Placeholder 3"/>
          <p:cNvSpPr>
            <a:spLocks noGrp="1"/>
          </p:cNvSpPr>
          <p:nvPr>
            <p:ph type="body" sz="half" idx="2" hasCustomPrompt="1"/>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sz="12200"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6" name="Text Placeholder 3"/>
          <p:cNvSpPr>
            <a:spLocks noGrp="1"/>
          </p:cNvSpPr>
          <p:nvPr>
            <p:ph type="body" sz="half" idx="15" hasCustomPrompt="1"/>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Text Placeholder 4"/>
          <p:cNvSpPr>
            <a:spLocks noGrp="1"/>
          </p:cNvSpPr>
          <p:nvPr>
            <p:ph type="body" sz="quarter" idx="3" hasCustomPrompt="1"/>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9" name="Text Placeholder 3"/>
          <p:cNvSpPr>
            <a:spLocks noGrp="1"/>
          </p:cNvSpPr>
          <p:nvPr>
            <p:ph type="body" sz="half" idx="16" hasCustomPrompt="1"/>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4" name="Text Placeholder 4"/>
          <p:cNvSpPr>
            <a:spLocks noGrp="1"/>
          </p:cNvSpPr>
          <p:nvPr>
            <p:ph type="body" sz="quarter" idx="13" hasCustomPrompt="1"/>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0" name="Text Placeholder 3"/>
          <p:cNvSpPr>
            <a:spLocks noGrp="1"/>
          </p:cNvSpPr>
          <p:nvPr>
            <p:ph type="body" sz="half" idx="17" hasCustomPrompt="1"/>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hasCustomPrompt="1"/>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Text Placeholder 4"/>
          <p:cNvSpPr>
            <a:spLocks noGrp="1"/>
          </p:cNvSpPr>
          <p:nvPr>
            <p:ph type="body" sz="quarter" idx="3" hasCustomPrompt="1"/>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hasCustomPrompt="1"/>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4" name="Text Placeholder 4"/>
          <p:cNvSpPr>
            <a:spLocks noGrp="1"/>
          </p:cNvSpPr>
          <p:nvPr>
            <p:ph type="body" sz="quarter" idx="13" hasCustomPrompt="1"/>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hasCustomPrompt="1"/>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nchorCtr="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89475" y="773205"/>
            <a:ext cx="5568812" cy="548313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4D10A33-0D8F-480E-ACB4-464B15C9472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6101C71-7EFA-465C-A952-FA688B80437D}" type="datetimeFigureOut">
              <a:rPr lang="zh-CN" altLang="en-US" smtClean="0"/>
              <a:t>2026/6/15</a:t>
            </a:fld>
            <a:endParaRPr lang="zh-CN" alt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4D10A33-0D8F-480E-ACB4-464B15C94726}"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A31C0E9-0C10-458F-9508-57BE88922F94}"/>
              </a:ext>
            </a:extLst>
          </p:cNvPr>
          <p:cNvSpPr>
            <a:spLocks noGrp="1"/>
          </p:cNvSpPr>
          <p:nvPr>
            <p:ph idx="1"/>
          </p:nvPr>
        </p:nvSpPr>
        <p:spPr>
          <a:xfrm>
            <a:off x="35496" y="116632"/>
            <a:ext cx="9145016" cy="3824347"/>
          </a:xfrm>
        </p:spPr>
        <p:txBody>
          <a:bodyPr>
            <a:normAutofit/>
          </a:bodyPr>
          <a:lstStyle/>
          <a:p>
            <a:pPr marL="0" indent="0">
              <a:buNone/>
            </a:pPr>
            <a:r>
              <a:rPr lang="zh-CN" altLang="en-US" sz="1800" dirty="0">
                <a:latin typeface="仿宋" panose="02010609060101010101" pitchFamily="49" charset="-122"/>
                <a:ea typeface="仿宋" panose="02010609060101010101" pitchFamily="49" charset="-122"/>
              </a:rPr>
              <a:t>定理：对于任何他人而言，任何一个人都有</a:t>
            </a:r>
            <a:r>
              <a:rPr lang="zh-CN" altLang="en-US" sz="1800" dirty="0">
                <a:solidFill>
                  <a:srgbClr val="FF0000"/>
                </a:solidFill>
                <a:latin typeface="仿宋" panose="02010609060101010101" pitchFamily="49" charset="-122"/>
                <a:ea typeface="仿宋" panose="02010609060101010101" pitchFamily="49" charset="-122"/>
              </a:rPr>
              <a:t>生命权</a:t>
            </a:r>
            <a:r>
              <a:rPr lang="zh-CN" altLang="en-US" sz="1800" dirty="0">
                <a:latin typeface="仿宋" panose="02010609060101010101" pitchFamily="49" charset="-122"/>
                <a:ea typeface="仿宋" panose="02010609060101010101" pitchFamily="49" charset="-122"/>
              </a:rPr>
              <a:t>这种与生俱来的</a:t>
            </a:r>
            <a:r>
              <a:rPr lang="zh-CN" altLang="en-US" sz="1800" dirty="0">
                <a:solidFill>
                  <a:srgbClr val="FF0000"/>
                </a:solidFill>
                <a:latin typeface="仿宋" panose="02010609060101010101" pitchFamily="49" charset="-122"/>
                <a:ea typeface="仿宋" panose="02010609060101010101" pitchFamily="49" charset="-122"/>
              </a:rPr>
              <a:t>自然权利</a:t>
            </a:r>
            <a:r>
              <a:rPr lang="zh-CN" altLang="en-US" sz="1800" dirty="0">
                <a:latin typeface="仿宋" panose="02010609060101010101" pitchFamily="49" charset="-122"/>
                <a:ea typeface="仿宋" panose="02010609060101010101" pitchFamily="49" charset="-122"/>
              </a:rPr>
              <a:t>。</a:t>
            </a:r>
            <a:endParaRPr lang="en-US" altLang="zh-CN" sz="1800" dirty="0">
              <a:latin typeface="仿宋" panose="02010609060101010101" pitchFamily="49" charset="-122"/>
              <a:ea typeface="仿宋" panose="02010609060101010101" pitchFamily="49" charset="-122"/>
            </a:endParaRPr>
          </a:p>
          <a:p>
            <a:pPr marL="0" indent="0">
              <a:buNone/>
            </a:pPr>
            <a:r>
              <a:rPr lang="zh-CN" altLang="en-US" sz="1800" dirty="0">
                <a:latin typeface="仿宋" panose="02010609060101010101" pitchFamily="49" charset="-122"/>
                <a:ea typeface="仿宋" panose="02010609060101010101" pitchFamily="49" charset="-122"/>
              </a:rPr>
              <a:t>定义：生命权是指任何一个人的生命都自然而然地具有</a:t>
            </a:r>
            <a:r>
              <a:rPr lang="zh-CN" altLang="en-US" sz="1800" dirty="0">
                <a:solidFill>
                  <a:srgbClr val="FF0000"/>
                </a:solidFill>
                <a:latin typeface="仿宋" panose="02010609060101010101" pitchFamily="49" charset="-122"/>
                <a:ea typeface="仿宋" panose="02010609060101010101" pitchFamily="49" charset="-122"/>
              </a:rPr>
              <a:t>不应受任何他人无辜伤害或杀害的与生俱来的自然权利</a:t>
            </a:r>
            <a:r>
              <a:rPr lang="zh-CN" altLang="en-US" sz="1800" dirty="0">
                <a:latin typeface="仿宋" panose="02010609060101010101" pitchFamily="49" charset="-122"/>
                <a:ea typeface="仿宋" panose="02010609060101010101" pitchFamily="49" charset="-122"/>
              </a:rPr>
              <a:t>；这种自然权利是一种道德权利，只要一个人具有必要的认知能力且其所处的社会具有必要的文明水准，就可以认识到这种作为自然权利的生命权。</a:t>
            </a:r>
            <a:endParaRPr lang="en-US" altLang="zh-CN" sz="1800" dirty="0">
              <a:latin typeface="仿宋" panose="02010609060101010101" pitchFamily="49" charset="-122"/>
              <a:ea typeface="仿宋" panose="02010609060101010101" pitchFamily="49" charset="-122"/>
            </a:endParaRPr>
          </a:p>
          <a:p>
            <a:pPr marL="0" indent="0">
              <a:buNone/>
            </a:pPr>
            <a:r>
              <a:rPr lang="zh-CN" altLang="en-US" sz="1800" dirty="0">
                <a:latin typeface="仿宋" panose="02010609060101010101" pitchFamily="49" charset="-122"/>
                <a:ea typeface="仿宋" panose="02010609060101010101" pitchFamily="49" charset="-122"/>
              </a:rPr>
              <a:t>证明</a:t>
            </a:r>
            <a:endParaRPr lang="en-US" altLang="zh-CN" sz="1800" dirty="0">
              <a:latin typeface="仿宋" panose="02010609060101010101" pitchFamily="49" charset="-122"/>
              <a:ea typeface="仿宋" panose="02010609060101010101" pitchFamily="49" charset="-122"/>
            </a:endParaRPr>
          </a:p>
          <a:p>
            <a:pPr marL="0" indent="0">
              <a:buNone/>
            </a:pPr>
            <a:r>
              <a:rPr lang="zh-CN" altLang="en-US" sz="1800" dirty="0">
                <a:latin typeface="仿宋" panose="02010609060101010101" pitchFamily="49" charset="-122"/>
                <a:ea typeface="仿宋" panose="02010609060101010101" pitchFamily="49" charset="-122"/>
              </a:rPr>
              <a:t>前提</a:t>
            </a:r>
            <a:r>
              <a:rPr lang="en-US" altLang="zh-CN" sz="1800" dirty="0">
                <a:latin typeface="仿宋" panose="02010609060101010101" pitchFamily="49" charset="-122"/>
                <a:ea typeface="仿宋" panose="02010609060101010101" pitchFamily="49" charset="-122"/>
              </a:rPr>
              <a:t>1</a:t>
            </a:r>
            <a:r>
              <a:rPr lang="zh-CN" altLang="en-US" sz="1800" dirty="0">
                <a:latin typeface="仿宋" panose="02010609060101010101" pitchFamily="49" charset="-122"/>
                <a:ea typeface="仿宋" panose="02010609060101010101" pitchFamily="49" charset="-122"/>
              </a:rPr>
              <a:t>：自古以来，几乎没有正常人不主张人不该无辜伤害或杀害自己的生命而且几乎没有正常人在正常情况下不践行这一主张。</a:t>
            </a:r>
            <a:endParaRPr lang="en-US" altLang="zh-CN" sz="1800" dirty="0">
              <a:latin typeface="仿宋" panose="02010609060101010101" pitchFamily="49" charset="-122"/>
              <a:ea typeface="仿宋" panose="02010609060101010101" pitchFamily="49" charset="-122"/>
            </a:endParaRPr>
          </a:p>
          <a:p>
            <a:pPr marL="0" indent="0">
              <a:buNone/>
            </a:pPr>
            <a:r>
              <a:rPr lang="zh-CN" altLang="en-US" sz="1800" dirty="0">
                <a:latin typeface="仿宋" panose="02010609060101010101" pitchFamily="49" charset="-122"/>
                <a:ea typeface="仿宋" panose="02010609060101010101" pitchFamily="49" charset="-122"/>
              </a:rPr>
              <a:t>前提</a:t>
            </a:r>
            <a:r>
              <a:rPr lang="en-US" altLang="zh-CN" sz="1800" dirty="0">
                <a:latin typeface="仿宋" panose="02010609060101010101" pitchFamily="49" charset="-122"/>
                <a:ea typeface="仿宋" panose="02010609060101010101" pitchFamily="49" charset="-122"/>
              </a:rPr>
              <a:t>2</a:t>
            </a:r>
            <a:r>
              <a:rPr lang="zh-CN" altLang="en-US" sz="1800" dirty="0">
                <a:latin typeface="仿宋" panose="02010609060101010101" pitchFamily="49" charset="-122"/>
                <a:ea typeface="仿宋" panose="02010609060101010101" pitchFamily="49" charset="-122"/>
              </a:rPr>
              <a:t>：</a:t>
            </a:r>
            <a:r>
              <a:rPr lang="zh-CN" altLang="en-US" sz="1800" dirty="0">
                <a:solidFill>
                  <a:srgbClr val="FF0000"/>
                </a:solidFill>
                <a:latin typeface="仿宋" panose="02010609060101010101" pitchFamily="49" charset="-122"/>
                <a:ea typeface="仿宋" panose="02010609060101010101" pitchFamily="49" charset="-122"/>
              </a:rPr>
              <a:t>任何一个正常人只要认识到他人的生命与他自己的生命一样是人的生命，他就应该像不无辜伤害或杀害他自己的生命那样不无辜伤害或杀害任何他人的生命</a:t>
            </a:r>
            <a:r>
              <a:rPr lang="zh-CN" altLang="en-US" sz="1800" dirty="0">
                <a:latin typeface="仿宋" panose="02010609060101010101" pitchFamily="49" charset="-122"/>
                <a:ea typeface="仿宋" panose="02010609060101010101" pitchFamily="49" charset="-122"/>
              </a:rPr>
              <a:t>。</a:t>
            </a:r>
            <a:endParaRPr lang="en-US" altLang="zh-CN" sz="1800" dirty="0">
              <a:latin typeface="仿宋" panose="02010609060101010101" pitchFamily="49" charset="-122"/>
              <a:ea typeface="仿宋" panose="02010609060101010101" pitchFamily="49" charset="-122"/>
            </a:endParaRPr>
          </a:p>
          <a:p>
            <a:pPr marL="0" indent="0">
              <a:buNone/>
            </a:pPr>
            <a:r>
              <a:rPr lang="zh-CN" altLang="en-US" sz="1800" dirty="0">
                <a:latin typeface="仿宋" panose="02010609060101010101" pitchFamily="49" charset="-122"/>
                <a:ea typeface="仿宋" panose="02010609060101010101" pitchFamily="49" charset="-122"/>
              </a:rPr>
              <a:t>结论：任何正常人都不该无辜伤害或杀害任何他人的生命。换言之，对于任何他人而言，任何一个人都有生命权这种与生俱来的自然权利。</a:t>
            </a:r>
          </a:p>
        </p:txBody>
      </p:sp>
      <p:sp>
        <p:nvSpPr>
          <p:cNvPr id="6" name="内容占位符 2"/>
          <p:cNvSpPr txBox="1">
            <a:spLocks/>
          </p:cNvSpPr>
          <p:nvPr/>
        </p:nvSpPr>
        <p:spPr>
          <a:xfrm>
            <a:off x="251520" y="3940979"/>
            <a:ext cx="4464496" cy="21681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cs typeface="华文行楷" panose="02010800040101010101" charset="-122"/>
              </a:rPr>
              <a:t>“</a:t>
            </a:r>
            <a:r>
              <a:rPr lang="zh-CN" altLang="en-US" sz="1800">
                <a:latin typeface="华文中宋" panose="02010600040101010101" pitchFamily="2" charset="-122"/>
                <a:ea typeface="华文中宋" panose="02010600040101010101" pitchFamily="2" charset="-122"/>
                <a:cs typeface="华文行楷" panose="02010800040101010101" charset="-122"/>
              </a:rPr>
              <a:t>国家是大地上的神。</a:t>
            </a:r>
            <a:r>
              <a:rPr lang="en-US" altLang="zh-CN" sz="1800">
                <a:latin typeface="华文中宋" panose="02010600040101010101" pitchFamily="2" charset="-122"/>
                <a:ea typeface="华文中宋" panose="02010600040101010101" pitchFamily="2" charset="-122"/>
                <a:cs typeface="华文行楷" panose="02010800040101010101" charset="-122"/>
              </a:rPr>
              <a:t>”</a:t>
            </a:r>
          </a:p>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cs typeface="华文行楷" panose="02010800040101010101" charset="-122"/>
              </a:rPr>
              <a:t>单一的最高权威</a:t>
            </a:r>
            <a:endParaRPr lang="en-US" altLang="zh-CN" sz="1800">
              <a:latin typeface="华文中宋" panose="02010600040101010101" pitchFamily="2" charset="-122"/>
              <a:ea typeface="华文中宋" panose="02010600040101010101" pitchFamily="2" charset="-122"/>
              <a:cs typeface="华文行楷" panose="02010800040101010101" charset="-122"/>
            </a:endParaRPr>
          </a:p>
          <a:p>
            <a:endParaRPr lang="en-US" altLang="zh-CN" sz="1800">
              <a:latin typeface="华文中宋" panose="02010600040101010101" pitchFamily="2" charset="-122"/>
              <a:ea typeface="华文中宋" panose="02010600040101010101" pitchFamily="2" charset="-122"/>
              <a:cs typeface="华文行楷" panose="02010800040101010101" charset="-122"/>
            </a:endParaRPr>
          </a:p>
          <a:p>
            <a:endParaRPr lang="en-US" altLang="zh-CN" sz="1800">
              <a:latin typeface="华文中宋" panose="02010600040101010101" pitchFamily="2" charset="-122"/>
              <a:ea typeface="华文中宋" panose="02010600040101010101" pitchFamily="2" charset="-122"/>
              <a:cs typeface="华文行楷" panose="02010800040101010101" charset="-122"/>
            </a:endParaRP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cs typeface="华文行楷" panose="02010800040101010101" charset="-122"/>
              </a:rPr>
              <a:t>“</a:t>
            </a:r>
            <a:r>
              <a:rPr lang="zh-CN" altLang="en-US" sz="1800">
                <a:latin typeface="华文中宋" panose="02010600040101010101" pitchFamily="2" charset="-122"/>
                <a:ea typeface="华文中宋" panose="02010600040101010101" pitchFamily="2" charset="-122"/>
                <a:cs typeface="华文行楷" panose="02010800040101010101" charset="-122"/>
              </a:rPr>
              <a:t>国家是市民社会的基础。</a:t>
            </a:r>
            <a:r>
              <a:rPr lang="en-US" altLang="zh-CN" sz="1800">
                <a:latin typeface="华文中宋" panose="02010600040101010101" pitchFamily="2" charset="-122"/>
                <a:ea typeface="华文中宋" panose="02010600040101010101" pitchFamily="2" charset="-122"/>
                <a:cs typeface="华文行楷" panose="02010800040101010101" charset="-122"/>
              </a:rPr>
              <a:t>”</a:t>
            </a:r>
            <a:endParaRPr lang="en-US" altLang="zh-CN" sz="1800" dirty="0">
              <a:latin typeface="华文中宋" panose="02010600040101010101" pitchFamily="2" charset="-122"/>
              <a:ea typeface="华文中宋" panose="02010600040101010101" pitchFamily="2" charset="-122"/>
              <a:cs typeface="华文行楷" panose="02010800040101010101" charset="-122"/>
            </a:endParaRPr>
          </a:p>
        </p:txBody>
      </p:sp>
    </p:spTree>
    <p:extLst>
      <p:ext uri="{BB962C8B-B14F-4D97-AF65-F5344CB8AC3E}">
        <p14:creationId xmlns:p14="http://schemas.microsoft.com/office/powerpoint/2010/main" val="1991722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529243"/>
            <a:ext cx="2016108" cy="2744227"/>
          </a:xfrm>
        </p:spPr>
        <p:txBody>
          <a:bodyPr>
            <a:normAutofit lnSpcReduction="10000"/>
          </a:bodyPr>
          <a:lstStyle/>
          <a:p>
            <a:pPr marL="0" indent="0">
              <a:buNone/>
            </a:pPr>
            <a:r>
              <a:rPr lang="en-US" altLang="zh-CN" sz="1800" dirty="0">
                <a:latin typeface="华文中宋" panose="02010600040101010101" pitchFamily="2" charset="-122"/>
                <a:ea typeface="华文中宋" panose="02010600040101010101" pitchFamily="2" charset="-122"/>
                <a:cs typeface="华文楷体" panose="02010600040101010101" charset="-122"/>
              </a:rPr>
              <a:t>1.</a:t>
            </a:r>
            <a:r>
              <a:rPr lang="zh-CN" altLang="en-US" sz="1800" dirty="0">
                <a:latin typeface="华文中宋" panose="02010600040101010101" pitchFamily="2" charset="-122"/>
                <a:ea typeface="华文中宋" panose="02010600040101010101" pitchFamily="2" charset="-122"/>
                <a:cs typeface="华文楷体" panose="02010600040101010101" charset="-122"/>
              </a:rPr>
              <a:t>国家的本质</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a:t>
            </a:r>
            <a:r>
              <a:rPr lang="en-US" altLang="zh-CN" sz="1800" dirty="0">
                <a:latin typeface="华文中宋" panose="02010600040101010101" pitchFamily="2" charset="-122"/>
                <a:ea typeface="华文中宋" panose="02010600040101010101" pitchFamily="2" charset="-122"/>
                <a:cs typeface="华文楷体" panose="02010600040101010101" charset="-122"/>
              </a:rPr>
              <a:t>1</a:t>
            </a:r>
            <a:r>
              <a:rPr lang="zh-CN" altLang="en-US" sz="1800" dirty="0">
                <a:latin typeface="华文中宋" panose="02010600040101010101" pitchFamily="2" charset="-122"/>
                <a:ea typeface="华文中宋" panose="02010600040101010101" pitchFamily="2" charset="-122"/>
                <a:cs typeface="华文楷体" panose="02010600040101010101" charset="-122"/>
              </a:rPr>
              <a:t>）演化论</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a:t>
            </a:r>
            <a:r>
              <a:rPr lang="en-US" altLang="zh-CN" sz="1800" dirty="0">
                <a:latin typeface="华文中宋" panose="02010600040101010101" pitchFamily="2" charset="-122"/>
                <a:ea typeface="华文中宋" panose="02010600040101010101" pitchFamily="2" charset="-122"/>
                <a:cs typeface="华文楷体" panose="02010600040101010101" charset="-122"/>
              </a:rPr>
              <a:t>2</a:t>
            </a:r>
            <a:r>
              <a:rPr lang="zh-CN" altLang="en-US" sz="1800" dirty="0">
                <a:latin typeface="华文中宋" panose="02010600040101010101" pitchFamily="2" charset="-122"/>
                <a:ea typeface="华文中宋" panose="02010600040101010101" pitchFamily="2" charset="-122"/>
                <a:cs typeface="华文楷体" panose="02010600040101010101" charset="-122"/>
              </a:rPr>
              <a:t>）契约论</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a:t>
            </a:r>
            <a:r>
              <a:rPr lang="en-US" altLang="zh-CN" sz="1800" dirty="0">
                <a:latin typeface="华文中宋" panose="02010600040101010101" pitchFamily="2" charset="-122"/>
                <a:ea typeface="华文中宋" panose="02010600040101010101" pitchFamily="2" charset="-122"/>
                <a:cs typeface="华文楷体" panose="02010600040101010101" charset="-122"/>
              </a:rPr>
              <a:t>3</a:t>
            </a:r>
            <a:r>
              <a:rPr lang="zh-CN" altLang="en-US" sz="1800" dirty="0">
                <a:latin typeface="华文中宋" panose="02010600040101010101" pitchFamily="2" charset="-122"/>
                <a:ea typeface="华文中宋" panose="02010600040101010101" pitchFamily="2" charset="-122"/>
                <a:cs typeface="华文楷体" panose="02010600040101010101" charset="-122"/>
              </a:rPr>
              <a:t>）唯物史观</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国家于个人的意义</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个人于国家的态度</a:t>
            </a: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国家的功能</a:t>
            </a:r>
          </a:p>
        </p:txBody>
      </p:sp>
      <p:sp>
        <p:nvSpPr>
          <p:cNvPr id="2" name="文本框 1"/>
          <p:cNvSpPr txBox="1"/>
          <p:nvPr/>
        </p:nvSpPr>
        <p:spPr>
          <a:xfrm>
            <a:off x="107504" y="116632"/>
            <a:ext cx="2492990" cy="400110"/>
          </a:xfrm>
          <a:prstGeom prst="rect">
            <a:avLst/>
          </a:prstGeom>
          <a:noFill/>
        </p:spPr>
        <p:txBody>
          <a:bodyPr wrap="none" rtlCol="0">
            <a:spAutoFit/>
          </a:bodyPr>
          <a:lstStyle/>
          <a:p>
            <a:pPr marL="0" indent="0" algn="l">
              <a:buNone/>
            </a:pPr>
            <a:r>
              <a:rPr lang="zh-CN" altLang="en-US" sz="2000" dirty="0">
                <a:latin typeface="华文中宋" panose="02010600040101010101" pitchFamily="2" charset="-122"/>
                <a:ea typeface="华文中宋" panose="02010600040101010101" pitchFamily="2" charset="-122"/>
                <a:cs typeface="华文楷体" panose="02010600040101010101" charset="-122"/>
                <a:sym typeface="+mn-ea"/>
              </a:rPr>
              <a:t>一、如何理解国家？</a:t>
            </a:r>
            <a:endParaRPr lang="en-US" altLang="zh-CN" sz="2000" dirty="0">
              <a:latin typeface="华文中宋" panose="02010600040101010101" pitchFamily="2" charset="-122"/>
              <a:ea typeface="华文中宋" panose="02010600040101010101" pitchFamily="2" charset="-122"/>
              <a:cs typeface="华文楷体" panose="02010600040101010101" charset="-122"/>
            </a:endParaRPr>
          </a:p>
        </p:txBody>
      </p:sp>
      <p:sp>
        <p:nvSpPr>
          <p:cNvPr id="4" name="标题 1"/>
          <p:cNvSpPr>
            <a:spLocks noGrp="1"/>
          </p:cNvSpPr>
          <p:nvPr>
            <p:ph type="title"/>
          </p:nvPr>
        </p:nvSpPr>
        <p:spPr>
          <a:xfrm>
            <a:off x="179512" y="3128529"/>
            <a:ext cx="2503114" cy="456002"/>
          </a:xfrm>
        </p:spPr>
        <p:txBody>
          <a:bodyPr/>
          <a:lstStyle/>
          <a:p>
            <a:r>
              <a:rPr lang="zh-CN" altLang="en-US" sz="2000" b="0" dirty="0">
                <a:latin typeface="华文中宋" panose="02010600040101010101" pitchFamily="2" charset="-122"/>
                <a:ea typeface="华文中宋" panose="02010600040101010101" pitchFamily="2" charset="-122"/>
              </a:rPr>
              <a:t>国家涉及的几个问题</a:t>
            </a:r>
          </a:p>
        </p:txBody>
      </p:sp>
      <p:sp>
        <p:nvSpPr>
          <p:cNvPr id="5" name="内容占位符 2"/>
          <p:cNvSpPr txBox="1">
            <a:spLocks/>
          </p:cNvSpPr>
          <p:nvPr/>
        </p:nvSpPr>
        <p:spPr>
          <a:xfrm>
            <a:off x="35496" y="3598536"/>
            <a:ext cx="4248356" cy="159209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cs typeface="华文行楷" panose="02010800040101010101" charset="-122"/>
              </a:rPr>
              <a:t>1.</a:t>
            </a:r>
            <a:r>
              <a:rPr lang="zh-CN" altLang="en-US" sz="1800">
                <a:latin typeface="华文中宋" panose="02010600040101010101" pitchFamily="2" charset="-122"/>
                <a:ea typeface="华文中宋" panose="02010600040101010101" pitchFamily="2" charset="-122"/>
                <a:cs typeface="华文行楷" panose="02010800040101010101" charset="-122"/>
              </a:rPr>
              <a:t>国家本身（国家的本质和国家的起源）</a:t>
            </a: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cs typeface="华文行楷" panose="02010800040101010101" charset="-122"/>
              </a:rPr>
              <a:t>2.</a:t>
            </a:r>
            <a:r>
              <a:rPr lang="zh-CN" altLang="en-US" sz="1800">
                <a:latin typeface="华文中宋" panose="02010600040101010101" pitchFamily="2" charset="-122"/>
                <a:ea typeface="华文中宋" panose="02010600040101010101" pitchFamily="2" charset="-122"/>
                <a:cs typeface="华文行楷" panose="02010800040101010101" charset="-122"/>
              </a:rPr>
              <a:t>政治（国家）的权威</a:t>
            </a: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cs typeface="华文行楷" panose="02010800040101010101" charset="-122"/>
              </a:rPr>
              <a:t>3.</a:t>
            </a:r>
            <a:r>
              <a:rPr lang="zh-CN" altLang="en-US" sz="1800">
                <a:latin typeface="华文中宋" panose="02010600040101010101" pitchFamily="2" charset="-122"/>
                <a:ea typeface="华文中宋" panose="02010600040101010101" pitchFamily="2" charset="-122"/>
                <a:cs typeface="华文行楷" panose="02010800040101010101" charset="-122"/>
              </a:rPr>
              <a:t>国家与政治体的最主要目标；</a:t>
            </a: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cs typeface="华文行楷" panose="02010800040101010101" charset="-122"/>
              </a:rPr>
              <a:t>4.</a:t>
            </a:r>
            <a:r>
              <a:rPr lang="zh-CN" altLang="en-US" sz="1800">
                <a:latin typeface="华文中宋" panose="02010600040101010101" pitchFamily="2" charset="-122"/>
                <a:ea typeface="华文中宋" panose="02010600040101010101" pitchFamily="2" charset="-122"/>
                <a:cs typeface="华文行楷" panose="02010800040101010101" charset="-122"/>
              </a:rPr>
              <a:t>诸国家构成的整个世界秩序。</a:t>
            </a:r>
            <a:endParaRPr lang="zh-CN" altLang="en-US" sz="1800" dirty="0">
              <a:latin typeface="华文中宋" panose="02010600040101010101" pitchFamily="2" charset="-122"/>
              <a:ea typeface="华文中宋" panose="02010600040101010101" pitchFamily="2" charset="-122"/>
              <a:cs typeface="华文行楷" panose="02010800040101010101" charset="-122"/>
            </a:endParaRPr>
          </a:p>
        </p:txBody>
      </p:sp>
      <p:sp>
        <p:nvSpPr>
          <p:cNvPr id="6" name="标题 1"/>
          <p:cNvSpPr txBox="1">
            <a:spLocks/>
          </p:cNvSpPr>
          <p:nvPr/>
        </p:nvSpPr>
        <p:spPr>
          <a:xfrm>
            <a:off x="-36512" y="5126611"/>
            <a:ext cx="3583234" cy="38909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2000" dirty="0">
                <a:latin typeface="华文中宋" panose="02010600040101010101" pitchFamily="2" charset="-122"/>
                <a:ea typeface="华文中宋" panose="02010600040101010101" pitchFamily="2" charset="-122"/>
                <a:sym typeface="+mn-ea"/>
              </a:rPr>
              <a:t>政治权威（立法、司法、执法）</a:t>
            </a:r>
            <a:br>
              <a:rPr lang="zh-CN" altLang="en-US" sz="2000" dirty="0"/>
            </a:br>
            <a:endParaRPr lang="zh-CN" altLang="en-US" sz="2000" dirty="0"/>
          </a:p>
        </p:txBody>
      </p:sp>
      <p:sp>
        <p:nvSpPr>
          <p:cNvPr id="7" name="内容占位符 2"/>
          <p:cNvSpPr txBox="1">
            <a:spLocks/>
          </p:cNvSpPr>
          <p:nvPr/>
        </p:nvSpPr>
        <p:spPr>
          <a:xfrm>
            <a:off x="107504" y="5448857"/>
            <a:ext cx="4320364" cy="123205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rPr>
              <a:t>A.</a:t>
            </a:r>
            <a:r>
              <a:rPr lang="zh-CN" altLang="en-US" sz="1800">
                <a:latin typeface="华文中宋" panose="02010600040101010101" pitchFamily="2" charset="-122"/>
                <a:ea typeface="华文中宋" panose="02010600040101010101" pitchFamily="2" charset="-122"/>
              </a:rPr>
              <a:t>约束性权威：惩罚权、强制权</a:t>
            </a: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rPr>
              <a:t>B.</a:t>
            </a:r>
            <a:r>
              <a:rPr lang="zh-CN" altLang="en-US" sz="1800">
                <a:latin typeface="华文中宋" panose="02010600040101010101" pitchFamily="2" charset="-122"/>
                <a:ea typeface="华文中宋" panose="02010600040101010101" pitchFamily="2" charset="-122"/>
              </a:rPr>
              <a:t>界定性权威：对其自身之身份的界定；</a:t>
            </a: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rPr>
              <a:t>C.</a:t>
            </a:r>
            <a:r>
              <a:rPr lang="zh-CN" altLang="en-US" sz="1800">
                <a:latin typeface="华文中宋" panose="02010600040101010101" pitchFamily="2" charset="-122"/>
                <a:ea typeface="华文中宋" panose="02010600040101010101" pitchFamily="2" charset="-122"/>
              </a:rPr>
              <a:t>帮扶性权威</a:t>
            </a:r>
            <a:endParaRPr lang="zh-CN" altLang="en-US" sz="1800" dirty="0">
              <a:latin typeface="华文中宋" panose="02010600040101010101" pitchFamily="2" charset="-122"/>
              <a:ea typeface="华文中宋" panose="02010600040101010101" pitchFamily="2" charset="-122"/>
            </a:endParaRPr>
          </a:p>
        </p:txBody>
      </p:sp>
      <p:sp>
        <p:nvSpPr>
          <p:cNvPr id="8" name="标题 1"/>
          <p:cNvSpPr txBox="1">
            <a:spLocks/>
          </p:cNvSpPr>
          <p:nvPr/>
        </p:nvSpPr>
        <p:spPr>
          <a:xfrm>
            <a:off x="3131840" y="116632"/>
            <a:ext cx="1566975" cy="45600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2000">
                <a:latin typeface="华文中宋" panose="02010600040101010101" pitchFamily="2" charset="-122"/>
                <a:ea typeface="华文中宋" panose="02010600040101010101" pitchFamily="2" charset="-122"/>
              </a:rPr>
              <a:t>政治共同善</a:t>
            </a:r>
            <a:endParaRPr lang="zh-CN" altLang="en-US" sz="2000" dirty="0">
              <a:latin typeface="华文中宋" panose="02010600040101010101" pitchFamily="2" charset="-122"/>
              <a:ea typeface="华文中宋" panose="02010600040101010101" pitchFamily="2" charset="-122"/>
            </a:endParaRPr>
          </a:p>
        </p:txBody>
      </p:sp>
      <p:sp>
        <p:nvSpPr>
          <p:cNvPr id="9" name="内容占位符 2"/>
          <p:cNvSpPr txBox="1">
            <a:spLocks/>
          </p:cNvSpPr>
          <p:nvPr/>
        </p:nvSpPr>
        <p:spPr>
          <a:xfrm>
            <a:off x="3131840" y="606064"/>
            <a:ext cx="6711654"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和平</a:t>
            </a:r>
            <a:endParaRPr lang="en-US" altLang="zh-CN" sz="180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繁荣</a:t>
            </a:r>
          </a:p>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正义</a:t>
            </a:r>
          </a:p>
          <a:p>
            <a:endParaRPr lang="zh-CN" altLang="en-US" dirty="0"/>
          </a:p>
        </p:txBody>
      </p:sp>
      <p:sp>
        <p:nvSpPr>
          <p:cNvPr id="10" name="椭圆 9"/>
          <p:cNvSpPr/>
          <p:nvPr/>
        </p:nvSpPr>
        <p:spPr>
          <a:xfrm>
            <a:off x="4329985" y="1396122"/>
            <a:ext cx="1147337" cy="50038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dirty="0">
                <a:latin typeface="华文中宋" panose="02010600040101010101" pitchFamily="2" charset="-122"/>
                <a:ea typeface="华文中宋" panose="02010600040101010101" pitchFamily="2" charset="-122"/>
              </a:rPr>
              <a:t>个人</a:t>
            </a:r>
          </a:p>
        </p:txBody>
      </p:sp>
      <p:sp>
        <p:nvSpPr>
          <p:cNvPr id="11" name="椭圆 10"/>
          <p:cNvSpPr/>
          <p:nvPr/>
        </p:nvSpPr>
        <p:spPr>
          <a:xfrm>
            <a:off x="5580112" y="593108"/>
            <a:ext cx="948055" cy="565457"/>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latin typeface="华文中宋" panose="02010600040101010101" pitchFamily="2" charset="-122"/>
                <a:ea typeface="华文中宋" panose="02010600040101010101" pitchFamily="2" charset="-122"/>
              </a:rPr>
              <a:t>整体</a:t>
            </a:r>
          </a:p>
        </p:txBody>
      </p:sp>
      <p:sp>
        <p:nvSpPr>
          <p:cNvPr id="12" name="椭圆 11"/>
          <p:cNvSpPr/>
          <p:nvPr/>
        </p:nvSpPr>
        <p:spPr>
          <a:xfrm>
            <a:off x="6632044" y="1353550"/>
            <a:ext cx="956300" cy="585739"/>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latin typeface="华文中宋" panose="02010600040101010101" pitchFamily="2" charset="-122"/>
                <a:ea typeface="华文中宋" panose="02010600040101010101" pitchFamily="2" charset="-122"/>
              </a:rPr>
              <a:t>个人</a:t>
            </a:r>
          </a:p>
        </p:txBody>
      </p:sp>
      <p:cxnSp>
        <p:nvCxnSpPr>
          <p:cNvPr id="13" name="直接箭头连接符 12"/>
          <p:cNvCxnSpPr>
            <a:cxnSpLocks/>
          </p:cNvCxnSpPr>
          <p:nvPr/>
        </p:nvCxnSpPr>
        <p:spPr>
          <a:xfrm flipH="1">
            <a:off x="5106831" y="1025533"/>
            <a:ext cx="537415" cy="40322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cxnSpLocks/>
          </p:cNvCxnSpPr>
          <p:nvPr/>
        </p:nvCxnSpPr>
        <p:spPr>
          <a:xfrm flipH="1" flipV="1">
            <a:off x="6449261" y="1064585"/>
            <a:ext cx="446570" cy="40322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cxnSpLocks/>
            <a:stCxn id="10" idx="6"/>
            <a:endCxn id="12" idx="2"/>
          </p:cNvCxnSpPr>
          <p:nvPr/>
        </p:nvCxnSpPr>
        <p:spPr>
          <a:xfrm>
            <a:off x="5477322" y="1646312"/>
            <a:ext cx="1154722" cy="108"/>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3776712" y="951873"/>
            <a:ext cx="1147336" cy="289307"/>
          </a:xfrm>
          <a:prstGeom prst="rect">
            <a:avLst/>
          </a:prstGeom>
          <a:noFill/>
        </p:spPr>
        <p:txBody>
          <a:bodyPr wrap="square" rtlCol="0" anchor="t">
            <a:noAutofit/>
          </a:bodyPr>
          <a:lstStyle/>
          <a:p>
            <a:r>
              <a:rPr lang="zh-CN" altLang="en-US" dirty="0">
                <a:latin typeface="华文中宋" panose="02010600040101010101" pitchFamily="2" charset="-122"/>
                <a:ea typeface="华文中宋" panose="02010600040101010101" pitchFamily="2" charset="-122"/>
              </a:rPr>
              <a:t>分配正义</a:t>
            </a:r>
          </a:p>
        </p:txBody>
      </p:sp>
      <p:sp>
        <p:nvSpPr>
          <p:cNvPr id="17" name="文本框 16"/>
          <p:cNvSpPr txBox="1"/>
          <p:nvPr>
            <p:custDataLst>
              <p:tags r:id="rId1"/>
            </p:custDataLst>
          </p:nvPr>
        </p:nvSpPr>
        <p:spPr>
          <a:xfrm>
            <a:off x="5551111" y="1795829"/>
            <a:ext cx="1129149" cy="381636"/>
          </a:xfrm>
          <a:prstGeom prst="rect">
            <a:avLst/>
          </a:prstGeom>
          <a:noFill/>
        </p:spPr>
        <p:txBody>
          <a:bodyPr wrap="square" rtlCol="0" anchor="t">
            <a:noAutofit/>
          </a:bodyPr>
          <a:lstStyle/>
          <a:p>
            <a:r>
              <a:rPr lang="zh-CN" altLang="en-US" dirty="0">
                <a:latin typeface="华文中宋" panose="02010600040101010101" pitchFamily="2" charset="-122"/>
                <a:ea typeface="华文中宋" panose="02010600040101010101" pitchFamily="2" charset="-122"/>
              </a:rPr>
              <a:t>交换正义</a:t>
            </a:r>
          </a:p>
        </p:txBody>
      </p:sp>
      <p:sp>
        <p:nvSpPr>
          <p:cNvPr id="18" name="文本框 17"/>
          <p:cNvSpPr txBox="1"/>
          <p:nvPr/>
        </p:nvSpPr>
        <p:spPr>
          <a:xfrm>
            <a:off x="7321281" y="1025533"/>
            <a:ext cx="1107996" cy="369332"/>
          </a:xfrm>
          <a:prstGeom prst="rect">
            <a:avLst/>
          </a:prstGeom>
          <a:noFill/>
        </p:spPr>
        <p:txBody>
          <a:bodyPr wrap="none" rtlCol="0" anchor="t">
            <a:spAutoFit/>
          </a:bodyPr>
          <a:lstStyle/>
          <a:p>
            <a:r>
              <a:rPr lang="zh-CN" altLang="en-US" dirty="0">
                <a:latin typeface="华文中宋" panose="02010600040101010101" pitchFamily="2" charset="-122"/>
                <a:ea typeface="华文中宋" panose="02010600040101010101" pitchFamily="2" charset="-122"/>
              </a:rPr>
              <a:t>法律正义</a:t>
            </a:r>
          </a:p>
        </p:txBody>
      </p:sp>
      <p:sp>
        <p:nvSpPr>
          <p:cNvPr id="20" name="内容占位符 2">
            <a:extLst>
              <a:ext uri="{FF2B5EF4-FFF2-40B4-BE49-F238E27FC236}">
                <a16:creationId xmlns:a16="http://schemas.microsoft.com/office/drawing/2014/main" id="{1FC433F2-DB32-8C98-6E73-FF785E30CF1D}"/>
              </a:ext>
            </a:extLst>
          </p:cNvPr>
          <p:cNvSpPr txBox="1">
            <a:spLocks/>
          </p:cNvSpPr>
          <p:nvPr/>
        </p:nvSpPr>
        <p:spPr>
          <a:xfrm>
            <a:off x="4423555" y="2469585"/>
            <a:ext cx="3384260" cy="173611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共同善：</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有助于、方便并且促进（该群体中）</a:t>
            </a:r>
            <a:r>
              <a:rPr lang="zh-CN" altLang="en-US" sz="1800" dirty="0">
                <a:solidFill>
                  <a:srgbClr val="FF0000"/>
                </a:solidFill>
                <a:latin typeface="华文中宋" panose="02010600040101010101" pitchFamily="2" charset="-122"/>
                <a:ea typeface="华文中宋" panose="02010600040101010101" pitchFamily="2" charset="-122"/>
              </a:rPr>
              <a:t>每个个体自身发展的物质性和其他条件的全部整体</a:t>
            </a:r>
            <a:r>
              <a:rPr lang="zh-CN" altLang="en-US" sz="1800" dirty="0">
                <a:latin typeface="华文中宋" panose="02010600040101010101" pitchFamily="2" charset="-122"/>
                <a:ea typeface="华文中宋" panose="02010600040101010101" pitchFamily="2" charset="-122"/>
              </a:rPr>
              <a:t>，包括合作形式。</a:t>
            </a:r>
            <a:r>
              <a:rPr lang="en-US" altLang="zh-CN" sz="1800" dirty="0">
                <a:latin typeface="华文中宋" panose="02010600040101010101" pitchFamily="2" charset="-122"/>
                <a:ea typeface="华文中宋" panose="02010600040101010101" pitchFamily="2"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075" y="116632"/>
            <a:ext cx="2888544" cy="1014500"/>
          </a:xfrm>
        </p:spPr>
        <p:txBody>
          <a:bodyPr>
            <a:noAutofit/>
          </a:bodyPr>
          <a:lstStyle/>
          <a:p>
            <a:pPr algn="ctr">
              <a:lnSpc>
                <a:spcPts val="3450"/>
              </a:lnSpc>
            </a:pP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二论</a:t>
            </a:r>
            <a:r>
              <a:rPr lang="en-US" altLang="zh-CN" sz="2000" dirty="0">
                <a:latin typeface="华文中宋" panose="02010600040101010101" pitchFamily="2" charset="-122"/>
                <a:ea typeface="华文中宋" panose="02010600040101010101" pitchFamily="2" charset="-122"/>
              </a:rPr>
              <a:t>》</a:t>
            </a:r>
            <a:r>
              <a:rPr lang="zh-CN" altLang="en-US" sz="2000" dirty="0">
                <a:latin typeface="华文中宋" panose="02010600040101010101" pitchFamily="2" charset="-122"/>
                <a:ea typeface="华文中宋" panose="02010600040101010101" pitchFamily="2" charset="-122"/>
              </a:rPr>
              <a:t>中的不平等</a:t>
            </a:r>
            <a:br>
              <a:rPr lang="en-US" altLang="zh-CN" sz="2000" dirty="0">
                <a:latin typeface="华文中宋" panose="02010600040101010101" pitchFamily="2" charset="-122"/>
                <a:ea typeface="华文中宋" panose="02010600040101010101" pitchFamily="2" charset="-122"/>
              </a:rPr>
            </a:br>
            <a:r>
              <a:rPr lang="en-US" altLang="zh-CN" sz="2000" dirty="0">
                <a:latin typeface="华文中宋" panose="02010600040101010101" pitchFamily="2" charset="-122"/>
                <a:ea typeface="华文中宋" panose="02010600040101010101" pitchFamily="2" charset="-122"/>
              </a:rPr>
              <a:t>1.</a:t>
            </a:r>
            <a:r>
              <a:rPr lang="zh-CN" altLang="en-US" sz="2000" dirty="0">
                <a:latin typeface="华文中宋" panose="02010600040101010101" pitchFamily="2" charset="-122"/>
                <a:ea typeface="华文中宋" panose="02010600040101010101" pitchFamily="2" charset="-122"/>
              </a:rPr>
              <a:t>自然状态中的不平等</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269761761"/>
              </p:ext>
            </p:extLst>
          </p:nvPr>
        </p:nvGraphicFramePr>
        <p:xfrm>
          <a:off x="179512" y="1052736"/>
          <a:ext cx="7344815" cy="2903220"/>
        </p:xfrm>
        <a:graphic>
          <a:graphicData uri="http://schemas.openxmlformats.org/drawingml/2006/table">
            <a:tbl>
              <a:tblPr firstRow="1" bandRow="1">
                <a:tableStyleId>{5C22544A-7EE6-4342-B048-85BDC9FD1C3A}</a:tableStyleId>
              </a:tblPr>
              <a:tblGrid>
                <a:gridCol w="3667561">
                  <a:extLst>
                    <a:ext uri="{9D8B030D-6E8A-4147-A177-3AD203B41FA5}">
                      <a16:colId xmlns:a16="http://schemas.microsoft.com/office/drawing/2014/main" val="20000"/>
                    </a:ext>
                  </a:extLst>
                </a:gridCol>
                <a:gridCol w="3677254">
                  <a:extLst>
                    <a:ext uri="{9D8B030D-6E8A-4147-A177-3AD203B41FA5}">
                      <a16:colId xmlns:a16="http://schemas.microsoft.com/office/drawing/2014/main" val="20001"/>
                    </a:ext>
                  </a:extLst>
                </a:gridCol>
              </a:tblGrid>
              <a:tr h="250611">
                <a:tc>
                  <a:txBody>
                    <a:bodyPr/>
                    <a:lstStyle/>
                    <a:p>
                      <a:r>
                        <a:rPr lang="zh-CN" altLang="en-US" sz="2100" dirty="0">
                          <a:latin typeface="华文中宋" panose="02010600040101010101" pitchFamily="2" charset="-122"/>
                          <a:ea typeface="华文中宋" panose="02010600040101010101" pitchFamily="2" charset="-122"/>
                        </a:rPr>
                        <a:t>“自然的不平等”</a:t>
                      </a:r>
                    </a:p>
                  </a:txBody>
                  <a:tcPr marL="68580" marR="68580" marT="34290" marB="34290"/>
                </a:tc>
                <a:tc>
                  <a:txBody>
                    <a:bodyPr/>
                    <a:lstStyle/>
                    <a:p>
                      <a:pPr marL="0" algn="l" defTabSz="914400" rtl="0" eaLnBrk="1" latinLnBrk="0" hangingPunct="1"/>
                      <a:r>
                        <a:rPr lang="zh-CN" altLang="en-US" sz="2100" b="1" kern="1200" dirty="0">
                          <a:solidFill>
                            <a:schemeClr val="lt1"/>
                          </a:solidFill>
                          <a:latin typeface="华文中宋" panose="02010600040101010101" pitchFamily="2" charset="-122"/>
                          <a:ea typeface="华文中宋" panose="02010600040101010101" pitchFamily="2" charset="-122"/>
                          <a:cs typeface="+mn-cs"/>
                        </a:rPr>
                        <a:t>“道德的、政治的不平等”</a:t>
                      </a:r>
                    </a:p>
                  </a:txBody>
                  <a:tcPr marL="68580" marR="68580" marT="34290" marB="34290"/>
                </a:tc>
                <a:extLst>
                  <a:ext uri="{0D108BD9-81ED-4DB2-BD59-A6C34878D82A}">
                    <a16:rowId xmlns:a16="http://schemas.microsoft.com/office/drawing/2014/main" val="10000"/>
                  </a:ext>
                </a:extLst>
              </a:tr>
              <a:tr h="250611">
                <a:tc>
                  <a:txBody>
                    <a:bodyPr/>
                    <a:lstStyle/>
                    <a:p>
                      <a:r>
                        <a:rPr lang="zh-CN" altLang="en-US" sz="2100" dirty="0">
                          <a:latin typeface="华文中宋" panose="02010600040101010101" pitchFamily="2" charset="-122"/>
                          <a:ea typeface="华文中宋" panose="02010600040101010101" pitchFamily="2" charset="-122"/>
                        </a:rPr>
                        <a:t>年龄、健康、身体力量</a:t>
                      </a:r>
                    </a:p>
                  </a:txBody>
                  <a:tcPr marL="68580" marR="68580" marT="34290" marB="34290"/>
                </a:tc>
                <a:tc>
                  <a:txBody>
                    <a:bodyPr/>
                    <a:lstStyle/>
                    <a:p>
                      <a:r>
                        <a:rPr lang="zh-CN" altLang="en-US" sz="2100" dirty="0">
                          <a:solidFill>
                            <a:srgbClr val="FF0000"/>
                          </a:solidFill>
                          <a:latin typeface="华文中宋" panose="02010600040101010101" pitchFamily="2" charset="-122"/>
                          <a:ea typeface="华文中宋" panose="02010600040101010101" pitchFamily="2" charset="-122"/>
                        </a:rPr>
                        <a:t>财富</a:t>
                      </a:r>
                    </a:p>
                  </a:txBody>
                  <a:tcPr marL="68580" marR="68580" marT="34290" marB="34290"/>
                </a:tc>
                <a:extLst>
                  <a:ext uri="{0D108BD9-81ED-4DB2-BD59-A6C34878D82A}">
                    <a16:rowId xmlns:a16="http://schemas.microsoft.com/office/drawing/2014/main" val="10001"/>
                  </a:ext>
                </a:extLst>
              </a:tr>
              <a:tr h="250611">
                <a:tc>
                  <a:txBody>
                    <a:bodyPr/>
                    <a:lstStyle/>
                    <a:p>
                      <a:pPr marL="0" algn="l" defTabSz="914400" rtl="0" eaLnBrk="1" latinLnBrk="0" hangingPunct="1"/>
                      <a:r>
                        <a:rPr lang="zh-CN" altLang="en-US" sz="2100" kern="1200" dirty="0">
                          <a:solidFill>
                            <a:schemeClr val="dk1"/>
                          </a:solidFill>
                          <a:latin typeface="华文中宋" panose="02010600040101010101" pitchFamily="2" charset="-122"/>
                          <a:ea typeface="华文中宋" panose="02010600040101010101" pitchFamily="2" charset="-122"/>
                          <a:cs typeface="+mn-cs"/>
                        </a:rPr>
                        <a:t>心灵或灵魂的品质（</a:t>
                      </a:r>
                      <a:r>
                        <a:rPr lang="en-US" altLang="zh-CN" sz="2100" kern="1200" dirty="0">
                          <a:solidFill>
                            <a:schemeClr val="dk1"/>
                          </a:solidFill>
                          <a:latin typeface="华文中宋" panose="02010600040101010101" pitchFamily="2" charset="-122"/>
                          <a:ea typeface="华文中宋" panose="02010600040101010101" pitchFamily="2" charset="-122"/>
                          <a:cs typeface="+mn-cs"/>
                        </a:rPr>
                        <a:t>p132</a:t>
                      </a:r>
                      <a:r>
                        <a:rPr lang="zh-CN" altLang="en-US" sz="2100" kern="1200" dirty="0">
                          <a:solidFill>
                            <a:schemeClr val="dk1"/>
                          </a:solidFill>
                          <a:latin typeface="华文中宋" panose="02010600040101010101" pitchFamily="2" charset="-122"/>
                          <a:ea typeface="华文中宋" panose="02010600040101010101" pitchFamily="2" charset="-122"/>
                          <a:cs typeface="+mn-cs"/>
                        </a:rPr>
                        <a:t>）</a:t>
                      </a:r>
                    </a:p>
                  </a:txBody>
                  <a:tcPr marL="68580" marR="68580" marT="34290" marB="34290"/>
                </a:tc>
                <a:tc>
                  <a:txBody>
                    <a:bodyPr/>
                    <a:lstStyle/>
                    <a:p>
                      <a:pPr marL="0" algn="l" defTabSz="914400" rtl="0" eaLnBrk="1" latinLnBrk="0" hangingPunct="1"/>
                      <a:r>
                        <a:rPr lang="zh-CN" altLang="en-US" sz="2100" kern="1200" dirty="0">
                          <a:solidFill>
                            <a:schemeClr val="dk1"/>
                          </a:solidFill>
                          <a:latin typeface="华文中宋" panose="02010600040101010101" pitchFamily="2" charset="-122"/>
                          <a:ea typeface="华文中宋" panose="02010600040101010101" pitchFamily="2" charset="-122"/>
                          <a:cs typeface="+mn-cs"/>
                        </a:rPr>
                        <a:t>荣誉</a:t>
                      </a:r>
                    </a:p>
                  </a:txBody>
                  <a:tcPr marL="68580" marR="68580" marT="34290" marB="34290"/>
                </a:tc>
                <a:extLst>
                  <a:ext uri="{0D108BD9-81ED-4DB2-BD59-A6C34878D82A}">
                    <a16:rowId xmlns:a16="http://schemas.microsoft.com/office/drawing/2014/main" val="10002"/>
                  </a:ext>
                </a:extLst>
              </a:tr>
              <a:tr h="456996">
                <a:tc>
                  <a:txBody>
                    <a:bodyPr/>
                    <a:lstStyle/>
                    <a:p>
                      <a:pPr marL="0" algn="l" defTabSz="914400" rtl="0" eaLnBrk="1" latinLnBrk="0" hangingPunct="1"/>
                      <a:r>
                        <a:rPr lang="zh-CN" altLang="en-US" sz="2100" kern="1200" dirty="0">
                          <a:solidFill>
                            <a:schemeClr val="dk1"/>
                          </a:solidFill>
                          <a:latin typeface="华文中宋" panose="02010600040101010101" pitchFamily="2" charset="-122"/>
                          <a:ea typeface="华文中宋" panose="02010600040101010101" pitchFamily="2" charset="-122"/>
                          <a:cs typeface="+mn-cs"/>
                        </a:rPr>
                        <a:t>（自然缺陷：幼年、老年、各种疾病）（</a:t>
                      </a:r>
                      <a:r>
                        <a:rPr lang="en-US" altLang="zh-CN" sz="2100" kern="1200" dirty="0">
                          <a:solidFill>
                            <a:schemeClr val="dk1"/>
                          </a:solidFill>
                          <a:latin typeface="华文中宋" panose="02010600040101010101" pitchFamily="2" charset="-122"/>
                          <a:ea typeface="华文中宋" panose="02010600040101010101" pitchFamily="2" charset="-122"/>
                          <a:cs typeface="+mn-cs"/>
                        </a:rPr>
                        <a:t>p143</a:t>
                      </a:r>
                      <a:r>
                        <a:rPr lang="zh-CN" altLang="en-US" sz="2100" kern="1200" dirty="0">
                          <a:solidFill>
                            <a:schemeClr val="dk1"/>
                          </a:solidFill>
                          <a:latin typeface="华文中宋" panose="02010600040101010101" pitchFamily="2" charset="-122"/>
                          <a:ea typeface="华文中宋" panose="02010600040101010101" pitchFamily="2" charset="-122"/>
                          <a:cs typeface="+mn-cs"/>
                        </a:rPr>
                        <a:t>）</a:t>
                      </a:r>
                    </a:p>
                  </a:txBody>
                  <a:tcPr marL="68580" marR="68580" marT="34290" marB="34290"/>
                </a:tc>
                <a:tc>
                  <a:txBody>
                    <a:bodyPr/>
                    <a:lstStyle/>
                    <a:p>
                      <a:r>
                        <a:rPr lang="zh-CN" altLang="en-US" sz="2100" kern="1200" dirty="0">
                          <a:solidFill>
                            <a:srgbClr val="FF0000"/>
                          </a:solidFill>
                          <a:latin typeface="华文中宋" panose="02010600040101010101" pitchFamily="2" charset="-122"/>
                          <a:ea typeface="华文中宋" panose="02010600040101010101" pitchFamily="2" charset="-122"/>
                          <a:cs typeface="+mn-cs"/>
                        </a:rPr>
                        <a:t>权力</a:t>
                      </a:r>
                      <a:r>
                        <a:rPr lang="zh-CN" altLang="en-US" sz="2100" dirty="0">
                          <a:latin typeface="华文中宋" panose="02010600040101010101" pitchFamily="2" charset="-122"/>
                          <a:ea typeface="华文中宋" panose="02010600040101010101" pitchFamily="2" charset="-122"/>
                        </a:rPr>
                        <a:t>（</a:t>
                      </a:r>
                      <a:r>
                        <a:rPr lang="en-US" altLang="zh-CN" sz="2100" dirty="0">
                          <a:latin typeface="华文中宋" panose="02010600040101010101" pitchFamily="2" charset="-122"/>
                          <a:ea typeface="华文中宋" panose="02010600040101010101" pitchFamily="2" charset="-122"/>
                        </a:rPr>
                        <a:t>p132</a:t>
                      </a:r>
                      <a:r>
                        <a:rPr lang="zh-CN" altLang="en-US" sz="2100" dirty="0">
                          <a:latin typeface="华文中宋" panose="02010600040101010101" pitchFamily="2" charset="-122"/>
                          <a:ea typeface="华文中宋" panose="02010600040101010101" pitchFamily="2" charset="-122"/>
                        </a:rPr>
                        <a:t>）</a:t>
                      </a:r>
                    </a:p>
                  </a:txBody>
                  <a:tcPr marL="68580" marR="68580" marT="34290" marB="34290"/>
                </a:tc>
                <a:extLst>
                  <a:ext uri="{0D108BD9-81ED-4DB2-BD59-A6C34878D82A}">
                    <a16:rowId xmlns:a16="http://schemas.microsoft.com/office/drawing/2014/main" val="10003"/>
                  </a:ext>
                </a:extLst>
              </a:tr>
              <a:tr h="663381">
                <a:tc>
                  <a:txBody>
                    <a:bodyPr/>
                    <a:lstStyle/>
                    <a:p>
                      <a:pPr marL="0" algn="l" defTabSz="914400" rtl="0" eaLnBrk="1" latinLnBrk="0" hangingPunct="1"/>
                      <a:r>
                        <a:rPr lang="zh-CN" altLang="en-US" sz="2100" kern="1200" dirty="0">
                          <a:solidFill>
                            <a:schemeClr val="dk1"/>
                          </a:solidFill>
                          <a:latin typeface="华文中宋" panose="02010600040101010101" pitchFamily="2" charset="-122"/>
                          <a:ea typeface="华文中宋" panose="02010600040101010101" pitchFamily="2" charset="-122"/>
                          <a:cs typeface="+mn-cs"/>
                        </a:rPr>
                        <a:t>“忧虑迹象”（作为“社会性的人类”被排除）（</a:t>
                      </a:r>
                      <a:r>
                        <a:rPr lang="en-US" altLang="zh-CN" sz="2100" kern="1200" dirty="0">
                          <a:solidFill>
                            <a:schemeClr val="dk1"/>
                          </a:solidFill>
                          <a:latin typeface="华文中宋" panose="02010600040101010101" pitchFamily="2" charset="-122"/>
                          <a:ea typeface="华文中宋" panose="02010600040101010101" pitchFamily="2" charset="-122"/>
                          <a:cs typeface="+mn-cs"/>
                        </a:rPr>
                        <a:t>p132</a:t>
                      </a:r>
                      <a:r>
                        <a:rPr lang="zh-CN" altLang="en-US" sz="2100" kern="1200" dirty="0">
                          <a:solidFill>
                            <a:schemeClr val="dk1"/>
                          </a:solidFill>
                          <a:latin typeface="华文中宋" panose="02010600040101010101" pitchFamily="2" charset="-122"/>
                          <a:ea typeface="华文中宋" panose="02010600040101010101" pitchFamily="2" charset="-122"/>
                          <a:cs typeface="+mn-cs"/>
                        </a:rPr>
                        <a:t>、</a:t>
                      </a:r>
                      <a:r>
                        <a:rPr lang="en-US" altLang="zh-CN" sz="2100" kern="1200" dirty="0">
                          <a:solidFill>
                            <a:schemeClr val="dk1"/>
                          </a:solidFill>
                          <a:latin typeface="华文中宋" panose="02010600040101010101" pitchFamily="2" charset="-122"/>
                          <a:ea typeface="华文中宋" panose="02010600040101010101" pitchFamily="2" charset="-122"/>
                          <a:cs typeface="+mn-cs"/>
                        </a:rPr>
                        <a:t>143</a:t>
                      </a:r>
                      <a:r>
                        <a:rPr lang="zh-CN" altLang="en-US" sz="2100" kern="1200" dirty="0">
                          <a:solidFill>
                            <a:schemeClr val="dk1"/>
                          </a:solidFill>
                          <a:latin typeface="华文中宋" panose="02010600040101010101" pitchFamily="2" charset="-122"/>
                          <a:ea typeface="华文中宋" panose="02010600040101010101" pitchFamily="2" charset="-122"/>
                          <a:cs typeface="+mn-cs"/>
                        </a:rPr>
                        <a:t>）</a:t>
                      </a:r>
                    </a:p>
                  </a:txBody>
                  <a:tcPr marL="68580" marR="68580" marT="34290" marB="34290"/>
                </a:tc>
                <a:tc>
                  <a:txBody>
                    <a:bodyPr/>
                    <a:lstStyle/>
                    <a:p>
                      <a:pPr marL="0" algn="l" defTabSz="914400" rtl="0" eaLnBrk="1" latinLnBrk="0" hangingPunct="1"/>
                      <a:r>
                        <a:rPr lang="zh-CN" altLang="en-US" sz="2100" kern="1200" dirty="0">
                          <a:solidFill>
                            <a:schemeClr val="dk1"/>
                          </a:solidFill>
                          <a:latin typeface="华文中宋" panose="02010600040101010101" pitchFamily="2" charset="-122"/>
                          <a:ea typeface="华文中宋" panose="02010600040101010101" pitchFamily="2" charset="-122"/>
                          <a:cs typeface="+mn-cs"/>
                        </a:rPr>
                        <a:t>生活方式的极端不平等</a:t>
                      </a:r>
                      <a:r>
                        <a:rPr lang="en-US" altLang="zh-CN" sz="2100" kern="1200" dirty="0">
                          <a:solidFill>
                            <a:schemeClr val="dk1"/>
                          </a:solidFill>
                          <a:latin typeface="华文中宋" panose="02010600040101010101" pitchFamily="2" charset="-122"/>
                          <a:ea typeface="华文中宋" panose="02010600040101010101" pitchFamily="2" charset="-122"/>
                          <a:cs typeface="+mn-cs"/>
                        </a:rPr>
                        <a:t>(p145)</a:t>
                      </a:r>
                      <a:endParaRPr lang="zh-CN" altLang="en-US" sz="2100" kern="1200" dirty="0">
                        <a:solidFill>
                          <a:schemeClr val="dk1"/>
                        </a:solidFill>
                        <a:latin typeface="华文中宋" panose="02010600040101010101" pitchFamily="2" charset="-122"/>
                        <a:ea typeface="华文中宋" panose="02010600040101010101" pitchFamily="2" charset="-122"/>
                        <a:cs typeface="+mn-cs"/>
                      </a:endParaRPr>
                    </a:p>
                  </a:txBody>
                  <a:tcPr marL="68580" marR="68580" marT="34290" marB="34290"/>
                </a:tc>
                <a:extLst>
                  <a:ext uri="{0D108BD9-81ED-4DB2-BD59-A6C34878D82A}">
                    <a16:rowId xmlns:a16="http://schemas.microsoft.com/office/drawing/2014/main" val="10004"/>
                  </a:ext>
                </a:extLst>
              </a:tr>
            </a:tbl>
          </a:graphicData>
        </a:graphic>
      </p:graphicFrame>
      <p:sp>
        <p:nvSpPr>
          <p:cNvPr id="3" name="标题 1"/>
          <p:cNvSpPr txBox="1">
            <a:spLocks/>
          </p:cNvSpPr>
          <p:nvPr/>
        </p:nvSpPr>
        <p:spPr>
          <a:xfrm>
            <a:off x="107504" y="3966738"/>
            <a:ext cx="3888432" cy="432048"/>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000" dirty="0">
                <a:latin typeface="华文中宋" panose="02010600040101010101" pitchFamily="2" charset="-122"/>
                <a:ea typeface="华文中宋" panose="02010600040101010101" pitchFamily="2" charset="-122"/>
              </a:rPr>
              <a:t>2.</a:t>
            </a:r>
            <a:r>
              <a:rPr lang="zh-CN" altLang="en-US" sz="2000" dirty="0">
                <a:latin typeface="华文中宋" panose="02010600040101010101" pitchFamily="2" charset="-122"/>
                <a:ea typeface="华文中宋" panose="02010600040101010101" pitchFamily="2" charset="-122"/>
              </a:rPr>
              <a:t>讨论“政府形式”时的不平等</a:t>
            </a:r>
            <a:endParaRPr lang="zh-CN" altLang="en-US" sz="2000" dirty="0"/>
          </a:p>
        </p:txBody>
      </p:sp>
      <p:graphicFrame>
        <p:nvGraphicFramePr>
          <p:cNvPr id="5" name="内容占位符 4"/>
          <p:cNvGraphicFramePr>
            <a:graphicFrameLocks/>
          </p:cNvGraphicFramePr>
          <p:nvPr>
            <p:extLst>
              <p:ext uri="{D42A27DB-BD31-4B8C-83A1-F6EECF244321}">
                <p14:modId xmlns:p14="http://schemas.microsoft.com/office/powerpoint/2010/main" val="1091711756"/>
              </p:ext>
            </p:extLst>
          </p:nvPr>
        </p:nvGraphicFramePr>
        <p:xfrm>
          <a:off x="3923928" y="3573016"/>
          <a:ext cx="4951462" cy="2815900"/>
        </p:xfrm>
        <a:graphic>
          <a:graphicData uri="http://schemas.openxmlformats.org/drawingml/2006/table">
            <a:tbl>
              <a:tblPr firstRow="1" bandRow="1">
                <a:tableStyleId>{5C22544A-7EE6-4342-B048-85BDC9FD1C3A}</a:tableStyleId>
              </a:tblPr>
              <a:tblGrid>
                <a:gridCol w="4951462">
                  <a:extLst>
                    <a:ext uri="{9D8B030D-6E8A-4147-A177-3AD203B41FA5}">
                      <a16:colId xmlns:a16="http://schemas.microsoft.com/office/drawing/2014/main" val="20000"/>
                    </a:ext>
                  </a:extLst>
                </a:gridCol>
              </a:tblGrid>
              <a:tr h="5631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kern="100" dirty="0">
                          <a:effectLst/>
                          <a:latin typeface="华文中宋" panose="02010600040101010101" pitchFamily="2" charset="-122"/>
                          <a:ea typeface="华文中宋" panose="02010600040101010101" pitchFamily="2" charset="-122"/>
                        </a:rPr>
                        <a:t>1.</a:t>
                      </a:r>
                      <a:r>
                        <a:rPr lang="zh-CN" altLang="en-US" sz="1800" kern="100" dirty="0">
                          <a:solidFill>
                            <a:srgbClr val="FF0000"/>
                          </a:solidFill>
                          <a:effectLst/>
                          <a:latin typeface="华文中宋" panose="02010600040101010101" pitchFamily="2" charset="-122"/>
                          <a:ea typeface="华文中宋" panose="02010600040101010101" pitchFamily="2" charset="-122"/>
                        </a:rPr>
                        <a:t>财富</a:t>
                      </a:r>
                      <a:r>
                        <a:rPr lang="zh-CN" altLang="en-US" sz="1800" kern="100" dirty="0">
                          <a:effectLst/>
                          <a:latin typeface="华文中宋" panose="02010600040101010101" pitchFamily="2" charset="-122"/>
                          <a:ea typeface="华文中宋" panose="02010600040101010101" pitchFamily="2" charset="-122"/>
                        </a:rPr>
                        <a:t>；</a:t>
                      </a:r>
                      <a:endParaRPr lang="zh-CN" altLang="en-US" sz="1800" kern="100" dirty="0">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34290" marB="34290"/>
                </a:tc>
                <a:extLst>
                  <a:ext uri="{0D108BD9-81ED-4DB2-BD59-A6C34878D82A}">
                    <a16:rowId xmlns:a16="http://schemas.microsoft.com/office/drawing/2014/main" val="10000"/>
                  </a:ext>
                </a:extLst>
              </a:tr>
              <a:tr h="5631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kern="100" dirty="0">
                          <a:effectLst/>
                          <a:latin typeface="华文中宋" panose="02010600040101010101" pitchFamily="2" charset="-122"/>
                          <a:ea typeface="华文中宋" panose="02010600040101010101" pitchFamily="2" charset="-122"/>
                        </a:rPr>
                        <a:t>2.</a:t>
                      </a:r>
                      <a:r>
                        <a:rPr lang="zh-CN" altLang="en-US" sz="1800" kern="100" dirty="0">
                          <a:effectLst/>
                          <a:latin typeface="华文中宋" panose="02010600040101010101" pitchFamily="2" charset="-122"/>
                          <a:ea typeface="华文中宋" panose="02010600040101010101" pitchFamily="2" charset="-122"/>
                        </a:rPr>
                        <a:t>贵族或地位；</a:t>
                      </a:r>
                      <a:endParaRPr lang="zh-CN" altLang="en-US" sz="1800" kern="100" dirty="0">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34290" marB="34290"/>
                </a:tc>
                <a:extLst>
                  <a:ext uri="{0D108BD9-81ED-4DB2-BD59-A6C34878D82A}">
                    <a16:rowId xmlns:a16="http://schemas.microsoft.com/office/drawing/2014/main" val="10001"/>
                  </a:ext>
                </a:extLst>
              </a:tr>
              <a:tr h="5631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kern="100" dirty="0">
                          <a:effectLst/>
                          <a:latin typeface="华文中宋" panose="02010600040101010101" pitchFamily="2" charset="-122"/>
                          <a:ea typeface="华文中宋" panose="02010600040101010101" pitchFamily="2" charset="-122"/>
                        </a:rPr>
                        <a:t>3.</a:t>
                      </a:r>
                      <a:r>
                        <a:rPr lang="zh-CN" altLang="en-US" sz="1800" kern="100" dirty="0">
                          <a:solidFill>
                            <a:srgbClr val="FF0000"/>
                          </a:solidFill>
                          <a:effectLst/>
                          <a:latin typeface="华文中宋" panose="02010600040101010101" pitchFamily="2" charset="-122"/>
                          <a:ea typeface="华文中宋" panose="02010600040101010101" pitchFamily="2" charset="-122"/>
                        </a:rPr>
                        <a:t>权力</a:t>
                      </a:r>
                      <a:r>
                        <a:rPr lang="zh-CN" altLang="en-US" sz="1800" kern="100" dirty="0">
                          <a:effectLst/>
                          <a:latin typeface="华文中宋" panose="02010600040101010101" pitchFamily="2" charset="-122"/>
                          <a:ea typeface="华文中宋" panose="02010600040101010101" pitchFamily="2" charset="-122"/>
                        </a:rPr>
                        <a:t>；</a:t>
                      </a:r>
                      <a:endParaRPr lang="zh-CN" altLang="en-US" sz="1800" kern="100" dirty="0">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34290" marB="34290"/>
                </a:tc>
                <a:extLst>
                  <a:ext uri="{0D108BD9-81ED-4DB2-BD59-A6C34878D82A}">
                    <a16:rowId xmlns:a16="http://schemas.microsoft.com/office/drawing/2014/main" val="10002"/>
                  </a:ext>
                </a:extLst>
              </a:tr>
              <a:tr h="5631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kern="100" dirty="0">
                          <a:effectLst/>
                          <a:latin typeface="华文中宋" panose="02010600040101010101" pitchFamily="2" charset="-122"/>
                          <a:ea typeface="华文中宋" panose="02010600040101010101" pitchFamily="2" charset="-122"/>
                        </a:rPr>
                        <a:t>4.</a:t>
                      </a:r>
                      <a:r>
                        <a:rPr lang="zh-CN" altLang="en-US" sz="1800" kern="100" dirty="0">
                          <a:effectLst/>
                          <a:latin typeface="华文中宋" panose="02010600040101010101" pitchFamily="2" charset="-122"/>
                          <a:ea typeface="华文中宋" panose="02010600040101010101" pitchFamily="2" charset="-122"/>
                        </a:rPr>
                        <a:t>个人美德；</a:t>
                      </a:r>
                      <a:r>
                        <a:rPr lang="en-US" altLang="zh-CN" sz="1800" kern="100" dirty="0">
                          <a:effectLst/>
                          <a:latin typeface="华文中宋" panose="02010600040101010101" pitchFamily="2" charset="-122"/>
                          <a:ea typeface="华文中宋" panose="02010600040101010101" pitchFamily="2" charset="-122"/>
                        </a:rPr>
                        <a:t>(p193)</a:t>
                      </a:r>
                      <a:endParaRPr lang="zh-CN" altLang="en-US" sz="1800" kern="100" dirty="0">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34290" marB="34290"/>
                </a:tc>
                <a:extLst>
                  <a:ext uri="{0D108BD9-81ED-4DB2-BD59-A6C34878D82A}">
                    <a16:rowId xmlns:a16="http://schemas.microsoft.com/office/drawing/2014/main" val="10003"/>
                  </a:ext>
                </a:extLst>
              </a:tr>
              <a:tr h="56318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kern="100" dirty="0">
                          <a:solidFill>
                            <a:srgbClr val="FF0000"/>
                          </a:solidFill>
                          <a:effectLst/>
                          <a:latin typeface="华文中宋" panose="02010600040101010101" pitchFamily="2" charset="-122"/>
                          <a:ea typeface="华文中宋" panose="02010600040101010101" pitchFamily="2" charset="-122"/>
                        </a:rPr>
                        <a:t>5.“</a:t>
                      </a:r>
                      <a:r>
                        <a:rPr lang="zh-CN" altLang="en-US" sz="1800" kern="100" dirty="0">
                          <a:solidFill>
                            <a:srgbClr val="FF0000"/>
                          </a:solidFill>
                          <a:effectLst/>
                          <a:latin typeface="华文中宋" panose="02010600040101010101" pitchFamily="2" charset="-122"/>
                          <a:ea typeface="华文中宋" panose="02010600040101010101" pitchFamily="2" charset="-122"/>
                        </a:rPr>
                        <a:t>信用与权威的不平等”（</a:t>
                      </a:r>
                      <a:r>
                        <a:rPr lang="en-US" altLang="zh-CN" sz="1800" kern="100" dirty="0">
                          <a:solidFill>
                            <a:srgbClr val="FF0000"/>
                          </a:solidFill>
                          <a:effectLst/>
                          <a:latin typeface="华文中宋" panose="02010600040101010101" pitchFamily="2" charset="-122"/>
                          <a:ea typeface="华文中宋" panose="02010600040101010101" pitchFamily="2" charset="-122"/>
                        </a:rPr>
                        <a:t>p194</a:t>
                      </a:r>
                      <a:r>
                        <a:rPr lang="zh-CN" altLang="en-US" sz="1800" kern="100" dirty="0">
                          <a:solidFill>
                            <a:srgbClr val="FF0000"/>
                          </a:solidFill>
                          <a:effectLst/>
                          <a:latin typeface="华文中宋" panose="02010600040101010101" pitchFamily="2" charset="-122"/>
                          <a:ea typeface="华文中宋" panose="02010600040101010101" pitchFamily="2" charset="-122"/>
                        </a:rPr>
                        <a:t>）</a:t>
                      </a:r>
                      <a:endParaRPr lang="zh-CN" altLang="en-US" sz="1800" kern="100" dirty="0">
                        <a:solidFill>
                          <a:srgbClr val="FF0000"/>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34290" marB="34290"/>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34B61-526F-4E55-A108-AB2BA4E4932A}"/>
              </a:ext>
            </a:extLst>
          </p:cNvPr>
          <p:cNvSpPr>
            <a:spLocks noGrp="1"/>
          </p:cNvSpPr>
          <p:nvPr>
            <p:ph type="title"/>
          </p:nvPr>
        </p:nvSpPr>
        <p:spPr>
          <a:xfrm>
            <a:off x="-36512" y="153592"/>
            <a:ext cx="2647130" cy="456002"/>
          </a:xfrm>
        </p:spPr>
        <p:txBody>
          <a:bodyPr/>
          <a:lstStyle/>
          <a:p>
            <a:r>
              <a:rPr lang="zh-CN" altLang="en-US" sz="2000" dirty="0">
                <a:latin typeface="华文中宋" panose="02010600040101010101" pitchFamily="2" charset="-122"/>
                <a:ea typeface="华文中宋" panose="02010600040101010101" pitchFamily="2" charset="-122"/>
              </a:rPr>
              <a:t>“基本善”（罗尔斯）</a:t>
            </a:r>
          </a:p>
        </p:txBody>
      </p:sp>
      <p:sp>
        <p:nvSpPr>
          <p:cNvPr id="3" name="内容占位符 2">
            <a:extLst>
              <a:ext uri="{FF2B5EF4-FFF2-40B4-BE49-F238E27FC236}">
                <a16:creationId xmlns:a16="http://schemas.microsoft.com/office/drawing/2014/main" id="{99A8DEFD-C93B-441F-A95A-800EC4561671}"/>
              </a:ext>
            </a:extLst>
          </p:cNvPr>
          <p:cNvSpPr>
            <a:spLocks noGrp="1"/>
          </p:cNvSpPr>
          <p:nvPr>
            <p:ph idx="1"/>
          </p:nvPr>
        </p:nvSpPr>
        <p:spPr>
          <a:xfrm>
            <a:off x="179512" y="575943"/>
            <a:ext cx="2232248" cy="2853057"/>
          </a:xfrm>
        </p:spPr>
        <p:txBody>
          <a:bodyPr>
            <a:normAutofit fontScale="92500" lnSpcReduction="10000"/>
          </a:bodyPr>
          <a:lstStyle/>
          <a:p>
            <a:pPr marL="0" indent="0">
              <a:buNone/>
            </a:pPr>
            <a:r>
              <a:rPr lang="zh-CN" altLang="zh-CN" b="1" dirty="0"/>
              <a:t>实践合理性的条件或结果</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1.</a:t>
            </a:r>
            <a:r>
              <a:rPr lang="zh-CN" altLang="en-US" sz="1800" dirty="0">
                <a:solidFill>
                  <a:srgbClr val="FF0000"/>
                </a:solidFill>
                <a:latin typeface="华文中宋" panose="02010600040101010101" pitchFamily="2" charset="-122"/>
                <a:ea typeface="华文中宋" panose="02010600040101010101" pitchFamily="2" charset="-122"/>
              </a:rPr>
              <a:t>自由</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2.</a:t>
            </a:r>
            <a:r>
              <a:rPr lang="zh-CN" altLang="en-US" sz="1800" dirty="0">
                <a:latin typeface="华文中宋" panose="02010600040101010101" pitchFamily="2" charset="-122"/>
                <a:ea typeface="华文中宋" panose="02010600040101010101" pitchFamily="2" charset="-122"/>
              </a:rPr>
              <a:t>机会；</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3.</a:t>
            </a:r>
            <a:r>
              <a:rPr lang="zh-CN" altLang="en-US" sz="1800" dirty="0">
                <a:solidFill>
                  <a:srgbClr val="FF0000"/>
                </a:solidFill>
                <a:latin typeface="华文中宋" panose="02010600040101010101" pitchFamily="2" charset="-122"/>
                <a:ea typeface="华文中宋" panose="02010600040101010101" pitchFamily="2" charset="-122"/>
              </a:rPr>
              <a:t>财富</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4.</a:t>
            </a:r>
            <a:r>
              <a:rPr lang="zh-CN" altLang="en-US" sz="1800" dirty="0">
                <a:latin typeface="华文中宋" panose="02010600040101010101" pitchFamily="2" charset="-122"/>
                <a:ea typeface="华文中宋" panose="02010600040101010101" pitchFamily="2" charset="-122"/>
              </a:rPr>
              <a:t>自尊。</a:t>
            </a:r>
            <a:endParaRPr lang="en-US" altLang="zh-CN" sz="1800" dirty="0">
              <a:latin typeface="华文中宋" panose="02010600040101010101" pitchFamily="2" charset="-122"/>
              <a:ea typeface="华文中宋" panose="02010600040101010101" pitchFamily="2" charset="-122"/>
            </a:endParaRPr>
          </a:p>
          <a:p>
            <a:pPr marL="0" indent="0">
              <a:buNone/>
            </a:pPr>
            <a:r>
              <a:rPr lang="zh-CN" altLang="zh-CN" b="1" dirty="0"/>
              <a:t>本体论意义上真正不可再分的基本善</a:t>
            </a:r>
            <a:endParaRPr lang="zh-CN" altLang="en-US" sz="1800" dirty="0">
              <a:latin typeface="华文中宋" panose="02010600040101010101" pitchFamily="2" charset="-122"/>
              <a:ea typeface="华文中宋" panose="02010600040101010101" pitchFamily="2" charset="-122"/>
            </a:endParaRPr>
          </a:p>
        </p:txBody>
      </p:sp>
      <p:sp>
        <p:nvSpPr>
          <p:cNvPr id="4" name="内容占位符 2">
            <a:extLst>
              <a:ext uri="{FF2B5EF4-FFF2-40B4-BE49-F238E27FC236}">
                <a16:creationId xmlns:a16="http://schemas.microsoft.com/office/drawing/2014/main" id="{7E7C0933-A44A-44B5-914E-BD913F355C7C}"/>
              </a:ext>
            </a:extLst>
          </p:cNvPr>
          <p:cNvSpPr txBox="1">
            <a:spLocks/>
          </p:cNvSpPr>
          <p:nvPr/>
        </p:nvSpPr>
        <p:spPr>
          <a:xfrm>
            <a:off x="164152" y="3212976"/>
            <a:ext cx="3816424" cy="3312367"/>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1.</a:t>
            </a:r>
            <a:r>
              <a:rPr lang="zh-CN" altLang="en-US" sz="1800" dirty="0">
                <a:solidFill>
                  <a:srgbClr val="FF0000"/>
                </a:solidFill>
                <a:latin typeface="华文中宋" panose="02010600040101010101" pitchFamily="2" charset="-122"/>
                <a:ea typeface="华文中宋" panose="02010600040101010101" pitchFamily="2" charset="-122"/>
              </a:rPr>
              <a:t>生命</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2.</a:t>
            </a:r>
            <a:r>
              <a:rPr lang="zh-CN" altLang="en-US" sz="1800" dirty="0">
                <a:latin typeface="华文中宋" panose="02010600040101010101" pitchFamily="2" charset="-122"/>
                <a:ea typeface="华文中宋" panose="02010600040101010101" pitchFamily="2" charset="-122"/>
              </a:rPr>
              <a:t>知识；</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3.</a:t>
            </a:r>
            <a:r>
              <a:rPr lang="zh-CN" altLang="en-US" sz="1800" dirty="0">
                <a:latin typeface="华文中宋" panose="02010600040101010101" pitchFamily="2" charset="-122"/>
                <a:ea typeface="华文中宋" panose="02010600040101010101" pitchFamily="2" charset="-122"/>
              </a:rPr>
              <a:t>游戏</a:t>
            </a:r>
            <a:r>
              <a:rPr lang="en-US" altLang="zh-CN" sz="1800" dirty="0">
                <a:latin typeface="华文中宋" panose="02010600040101010101" pitchFamily="2" charset="-122"/>
                <a:ea typeface="华文中宋" panose="02010600040101010101" pitchFamily="2" charset="-122"/>
              </a:rPr>
              <a:t>(</a:t>
            </a:r>
            <a:r>
              <a:rPr lang="zh-CN" altLang="en-US" sz="1800" dirty="0">
                <a:solidFill>
                  <a:srgbClr val="FF0000"/>
                </a:solidFill>
                <a:latin typeface="华文中宋" panose="02010600040101010101" pitchFamily="2" charset="-122"/>
                <a:ea typeface="华文中宋" panose="02010600040101010101" pitchFamily="2" charset="-122"/>
              </a:rPr>
              <a:t>后来包括工作中的娴熟表现</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4.</a:t>
            </a:r>
            <a:r>
              <a:rPr lang="zh-CN" altLang="en-US" sz="1800" dirty="0">
                <a:latin typeface="华文中宋" panose="02010600040101010101" pitchFamily="2" charset="-122"/>
                <a:ea typeface="华文中宋" panose="02010600040101010101" pitchFamily="2" charset="-122"/>
              </a:rPr>
              <a:t>审美体验；</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5.</a:t>
            </a:r>
            <a:r>
              <a:rPr lang="zh-CN" altLang="en-US" sz="1800" dirty="0">
                <a:latin typeface="华文中宋" panose="02010600040101010101" pitchFamily="2" charset="-122"/>
                <a:ea typeface="华文中宋" panose="02010600040101010101" pitchFamily="2" charset="-122"/>
              </a:rPr>
              <a:t>友谊；</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6.</a:t>
            </a:r>
            <a:r>
              <a:rPr lang="zh-CN" altLang="en-US" sz="1800" dirty="0">
                <a:latin typeface="华文中宋" panose="02010600040101010101" pitchFamily="2" charset="-122"/>
                <a:ea typeface="华文中宋" panose="02010600040101010101" pitchFamily="2" charset="-122"/>
              </a:rPr>
              <a:t>宗教；</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latin typeface="华文中宋" panose="02010600040101010101" pitchFamily="2" charset="-122"/>
                <a:ea typeface="华文中宋" panose="02010600040101010101" pitchFamily="2" charset="-122"/>
              </a:rPr>
              <a:t>7.</a:t>
            </a:r>
            <a:r>
              <a:rPr lang="zh-CN" altLang="en-US" sz="1800" dirty="0">
                <a:solidFill>
                  <a:srgbClr val="FF0000"/>
                </a:solidFill>
                <a:latin typeface="华文中宋" panose="02010600040101010101" pitchFamily="2" charset="-122"/>
                <a:ea typeface="华文中宋" panose="02010600040101010101" pitchFamily="2" charset="-122"/>
              </a:rPr>
              <a:t>实践合理性中的自由</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dirty="0">
                <a:solidFill>
                  <a:srgbClr val="FF0000"/>
                </a:solidFill>
                <a:latin typeface="华文中宋" panose="02010600040101010101" pitchFamily="2" charset="-122"/>
                <a:ea typeface="华文中宋" panose="02010600040101010101" pitchFamily="2" charset="-122"/>
              </a:rPr>
              <a:t>8.</a:t>
            </a:r>
            <a:r>
              <a:rPr lang="zh-CN" altLang="en-US" sz="1800" dirty="0">
                <a:solidFill>
                  <a:srgbClr val="FF0000"/>
                </a:solidFill>
                <a:latin typeface="华文中宋" panose="02010600040101010101" pitchFamily="2" charset="-122"/>
                <a:ea typeface="华文中宋" panose="02010600040101010101" pitchFamily="2" charset="-122"/>
              </a:rPr>
              <a:t>特定形式的人际交往的善之独特形式：“婚姻善”。</a:t>
            </a:r>
            <a:endParaRPr lang="en-US" altLang="zh-CN" sz="1800" dirty="0">
              <a:solidFill>
                <a:srgbClr val="FF0000"/>
              </a:solidFill>
              <a:latin typeface="华文中宋" panose="02010600040101010101" pitchFamily="2" charset="-122"/>
              <a:ea typeface="华文中宋" panose="02010600040101010101" pitchFamily="2" charset="-122"/>
            </a:endParaRPr>
          </a:p>
          <a:p>
            <a:endParaRPr lang="zh-CN" altLang="en-US" sz="1800" dirty="0"/>
          </a:p>
        </p:txBody>
      </p:sp>
      <p:sp>
        <p:nvSpPr>
          <p:cNvPr id="5" name="内容占位符 2">
            <a:extLst>
              <a:ext uri="{FF2B5EF4-FFF2-40B4-BE49-F238E27FC236}">
                <a16:creationId xmlns:a16="http://schemas.microsoft.com/office/drawing/2014/main" id="{DFCC82A1-3675-44E8-B365-61515827F154}"/>
              </a:ext>
            </a:extLst>
          </p:cNvPr>
          <p:cNvSpPr txBox="1">
            <a:spLocks/>
          </p:cNvSpPr>
          <p:nvPr/>
        </p:nvSpPr>
        <p:spPr>
          <a:xfrm>
            <a:off x="2610618" y="167673"/>
            <a:ext cx="6264696" cy="31762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a:solidFill>
                  <a:srgbClr val="FF0000"/>
                </a:solidFill>
                <a:latin typeface="华文中宋" panose="02010600040101010101" pitchFamily="2" charset="-122"/>
                <a:ea typeface="华文中宋" panose="02010600040101010101" pitchFamily="2" charset="-122"/>
              </a:rPr>
              <a:t>实践合理性原则</a:t>
            </a:r>
            <a:r>
              <a:rPr lang="zh-CN" altLang="en-US" sz="1800">
                <a:latin typeface="华文中宋" panose="02010600040101010101" pitchFamily="2" charset="-122"/>
                <a:ea typeface="华文中宋" panose="02010600040101010101" pitchFamily="2" charset="-122"/>
              </a:rPr>
              <a:t>调整人们的选择、承诺的东西：</a:t>
            </a:r>
            <a:endParaRPr lang="en-US" altLang="zh-CN" sz="180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形成融贯的生活计划，对该计划展现适当的投入和超脱，在基本善之间不展现恣意的偏好，在那些能够参与基本善的人之间不展现恣意的偏好，在由其他原则所设定的限制之下有效地行动，在每一个行动中尊重每一种基本善，促进所在群体的共同善以及遵循自己的良知</a:t>
            </a:r>
            <a:endParaRPr lang="en-US" altLang="zh-CN" sz="1800" dirty="0">
              <a:latin typeface="华文中宋" panose="02010600040101010101" pitchFamily="2" charset="-122"/>
              <a:ea typeface="华文中宋" panose="02010600040101010101" pitchFamily="2" charset="-122"/>
            </a:endParaRPr>
          </a:p>
        </p:txBody>
      </p:sp>
      <p:sp>
        <p:nvSpPr>
          <p:cNvPr id="6" name="内容占位符 2">
            <a:extLst>
              <a:ext uri="{FF2B5EF4-FFF2-40B4-BE49-F238E27FC236}">
                <a16:creationId xmlns:a16="http://schemas.microsoft.com/office/drawing/2014/main" id="{C0650FCD-306D-4DD6-9171-C3F60DBD6D3A}"/>
              </a:ext>
            </a:extLst>
          </p:cNvPr>
          <p:cNvSpPr txBox="1">
            <a:spLocks/>
          </p:cNvSpPr>
          <p:nvPr/>
        </p:nvSpPr>
        <p:spPr>
          <a:xfrm>
            <a:off x="2607796" y="2052925"/>
            <a:ext cx="6212675" cy="146112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“共同善是某些事态（可能极为复杂的事态！），其所以是善，因为其是有理由被以</a:t>
            </a:r>
            <a:r>
              <a:rPr lang="zh-CN" altLang="en-US" sz="1800">
                <a:solidFill>
                  <a:srgbClr val="FF0000"/>
                </a:solidFill>
                <a:latin typeface="华文中宋" panose="02010600040101010101" pitchFamily="2" charset="-122"/>
                <a:ea typeface="华文中宋" panose="02010600040101010101" pitchFamily="2" charset="-122"/>
              </a:rPr>
              <a:t>促进、荣耀、尊重</a:t>
            </a:r>
            <a:r>
              <a:rPr lang="zh-CN" altLang="en-US" sz="1800">
                <a:latin typeface="华文中宋" panose="02010600040101010101" pitchFamily="2" charset="-122"/>
                <a:ea typeface="华文中宋" panose="02010600040101010101" pitchFamily="2" charset="-122"/>
              </a:rPr>
              <a:t>等诸如此类方式被对待的东西；其所以是共同的，因为其具有</a:t>
            </a:r>
            <a:r>
              <a:rPr lang="zh-CN" altLang="en-US" sz="1800">
                <a:solidFill>
                  <a:srgbClr val="FF0000"/>
                </a:solidFill>
                <a:latin typeface="华文中宋" panose="02010600040101010101" pitchFamily="2" charset="-122"/>
                <a:ea typeface="华文中宋" panose="02010600040101010101" pitchFamily="2" charset="-122"/>
              </a:rPr>
              <a:t>对于政治社群的所有成员而言的价值</a:t>
            </a:r>
            <a:r>
              <a:rPr lang="zh-CN" altLang="en-US" sz="180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247272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144605"/>
            <a:ext cx="1855042" cy="456002"/>
          </a:xfrm>
        </p:spPr>
        <p:txBody>
          <a:bodyPr/>
          <a:lstStyle/>
          <a:p>
            <a:r>
              <a:rPr lang="zh-CN" altLang="en-US" sz="2000" dirty="0"/>
              <a:t>演化论的国家</a:t>
            </a:r>
          </a:p>
        </p:txBody>
      </p:sp>
      <p:sp>
        <p:nvSpPr>
          <p:cNvPr id="4" name="椭圆 3"/>
          <p:cNvSpPr/>
          <p:nvPr/>
        </p:nvSpPr>
        <p:spPr>
          <a:xfrm>
            <a:off x="342718" y="627627"/>
            <a:ext cx="750542" cy="536114"/>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个人</a:t>
            </a:r>
          </a:p>
        </p:txBody>
      </p:sp>
      <p:sp>
        <p:nvSpPr>
          <p:cNvPr id="6" name="椭圆 5"/>
          <p:cNvSpPr/>
          <p:nvPr/>
        </p:nvSpPr>
        <p:spPr>
          <a:xfrm>
            <a:off x="2142943" y="627627"/>
            <a:ext cx="750542" cy="536114"/>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家庭</a:t>
            </a:r>
          </a:p>
        </p:txBody>
      </p:sp>
      <p:sp>
        <p:nvSpPr>
          <p:cNvPr id="7" name="椭圆 6"/>
          <p:cNvSpPr/>
          <p:nvPr/>
        </p:nvSpPr>
        <p:spPr>
          <a:xfrm>
            <a:off x="4015558" y="699382"/>
            <a:ext cx="750542" cy="536114"/>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村落</a:t>
            </a:r>
          </a:p>
        </p:txBody>
      </p:sp>
      <p:sp>
        <p:nvSpPr>
          <p:cNvPr id="9" name="椭圆 8"/>
          <p:cNvSpPr/>
          <p:nvPr/>
        </p:nvSpPr>
        <p:spPr>
          <a:xfrm>
            <a:off x="5909128" y="771137"/>
            <a:ext cx="750542" cy="536114"/>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城邦</a:t>
            </a:r>
          </a:p>
        </p:txBody>
      </p:sp>
      <p:sp>
        <p:nvSpPr>
          <p:cNvPr id="10" name="右箭头 9"/>
          <p:cNvSpPr/>
          <p:nvPr/>
        </p:nvSpPr>
        <p:spPr>
          <a:xfrm>
            <a:off x="1196158" y="843528"/>
            <a:ext cx="803706" cy="28481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右箭头 10"/>
          <p:cNvSpPr/>
          <p:nvPr/>
        </p:nvSpPr>
        <p:spPr>
          <a:xfrm>
            <a:off x="3063058" y="843528"/>
            <a:ext cx="803706" cy="28481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右箭头 11"/>
          <p:cNvSpPr/>
          <p:nvPr/>
        </p:nvSpPr>
        <p:spPr>
          <a:xfrm>
            <a:off x="4929958" y="913378"/>
            <a:ext cx="803706" cy="28481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矩形 12"/>
          <p:cNvSpPr/>
          <p:nvPr/>
        </p:nvSpPr>
        <p:spPr>
          <a:xfrm>
            <a:off x="1907704" y="1491217"/>
            <a:ext cx="3096508" cy="359643"/>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dirty="0"/>
              <a:t>亚里士多德模式</a:t>
            </a:r>
          </a:p>
        </p:txBody>
      </p:sp>
      <p:sp>
        <p:nvSpPr>
          <p:cNvPr id="14" name="内容占位符 2"/>
          <p:cNvSpPr>
            <a:spLocks noGrp="1"/>
          </p:cNvSpPr>
          <p:nvPr>
            <p:ph idx="1"/>
          </p:nvPr>
        </p:nvSpPr>
        <p:spPr>
          <a:xfrm>
            <a:off x="827700" y="2052925"/>
            <a:ext cx="6711654" cy="4195481"/>
          </a:xfrm>
        </p:spPr>
        <p:txBody>
          <a:bodyPr>
            <a:normAutofit/>
          </a:bodyPr>
          <a:lstStyle/>
          <a:p>
            <a:pPr marL="0" indent="0">
              <a:buNone/>
            </a:pPr>
            <a:r>
              <a:rPr lang="en-US" altLang="zh-CN" sz="1800" dirty="0">
                <a:latin typeface="华文中宋" panose="02010600040101010101" pitchFamily="2" charset="-122"/>
                <a:ea typeface="华文中宋" panose="02010600040101010101" pitchFamily="2" charset="-122"/>
              </a:rPr>
              <a:t>1.</a:t>
            </a:r>
            <a:r>
              <a:rPr lang="zh-CN" altLang="en-US" sz="1800" dirty="0">
                <a:latin typeface="华文中宋" panose="02010600040101010101" pitchFamily="2" charset="-122"/>
                <a:ea typeface="华文中宋" panose="02010600040101010101" pitchFamily="2" charset="-122"/>
              </a:rPr>
              <a:t>国家并不像契约论设想的那样是集体同意的结果，它不是人们有意创制的结果，而是自然形成的，根植于人的政治本性；</a:t>
            </a:r>
          </a:p>
          <a:p>
            <a:pPr marL="0" indent="0">
              <a:buNone/>
            </a:pPr>
            <a:r>
              <a:rPr lang="zh-CN" altLang="en-US" sz="1800" dirty="0">
                <a:latin typeface="华文中宋" panose="02010600040101010101" pitchFamily="2" charset="-122"/>
                <a:ea typeface="华文中宋" panose="02010600040101010101" pitchFamily="2" charset="-122"/>
              </a:rPr>
              <a:t>（政治自然主义，</a:t>
            </a:r>
            <a:r>
              <a:rPr lang="en-US" altLang="zh-CN" sz="1800" dirty="0">
                <a:latin typeface="华文中宋" panose="02010600040101010101" pitchFamily="2" charset="-122"/>
                <a:ea typeface="华文中宋" panose="02010600040101010101" pitchFamily="2" charset="-122"/>
              </a:rPr>
              <a:t>political naturalism)</a:t>
            </a:r>
          </a:p>
          <a:p>
            <a:pPr marL="0" indent="0">
              <a:buNone/>
            </a:pPr>
            <a:r>
              <a:rPr lang="zh-CN" altLang="en-US" sz="1800" dirty="0">
                <a:latin typeface="华文中宋" panose="02010600040101010101" pitchFamily="2" charset="-122"/>
                <a:ea typeface="华文中宋" panose="02010600040101010101" pitchFamily="2" charset="-122"/>
              </a:rPr>
              <a:t>无法区分国家和其它联合（如家庭）之间的本质性差异。</a:t>
            </a:r>
          </a:p>
          <a:p>
            <a:pPr marL="0" indent="0">
              <a:buNone/>
            </a:pPr>
            <a:r>
              <a:rPr lang="en-US" altLang="zh-CN" sz="1800" dirty="0">
                <a:latin typeface="华文中宋" panose="02010600040101010101" pitchFamily="2" charset="-122"/>
                <a:ea typeface="华文中宋" panose="02010600040101010101" pitchFamily="2" charset="-122"/>
              </a:rPr>
              <a:t>2.</a:t>
            </a:r>
            <a:r>
              <a:rPr lang="zh-CN" altLang="en-US" sz="1800" dirty="0">
                <a:latin typeface="华文中宋" panose="02010600040101010101" pitchFamily="2" charset="-122"/>
                <a:ea typeface="华文中宋" panose="02010600040101010101" pitchFamily="2" charset="-122"/>
              </a:rPr>
              <a:t>城邦是一个有特定大小的国家。</a:t>
            </a:r>
          </a:p>
          <a:p>
            <a:pPr marL="0" indent="0">
              <a:buNone/>
            </a:pPr>
            <a:r>
              <a:rPr lang="zh-CN" altLang="en-US" sz="1800" dirty="0">
                <a:latin typeface="华文中宋" panose="02010600040101010101" pitchFamily="2" charset="-122"/>
                <a:ea typeface="华文中宋" panose="02010600040101010101" pitchFamily="2" charset="-122"/>
              </a:rPr>
              <a:t>边界性，</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自给自足</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，国家的最初形态</a:t>
            </a:r>
          </a:p>
        </p:txBody>
      </p:sp>
      <p:sp>
        <p:nvSpPr>
          <p:cNvPr id="15" name="标题 1"/>
          <p:cNvSpPr txBox="1">
            <a:spLocks/>
          </p:cNvSpPr>
          <p:nvPr/>
        </p:nvSpPr>
        <p:spPr>
          <a:xfrm>
            <a:off x="68224" y="4216555"/>
            <a:ext cx="1783034" cy="45600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2000" dirty="0">
                <a:sym typeface="+mn-ea"/>
              </a:rPr>
              <a:t>契约论的国家</a:t>
            </a:r>
            <a:br>
              <a:rPr lang="zh-CN" altLang="en-US" sz="2000" dirty="0"/>
            </a:br>
            <a:endParaRPr lang="zh-CN" altLang="en-US" sz="2000" dirty="0"/>
          </a:p>
        </p:txBody>
      </p:sp>
      <p:sp>
        <p:nvSpPr>
          <p:cNvPr id="16" name="内容占位符 2"/>
          <p:cNvSpPr txBox="1">
            <a:spLocks/>
          </p:cNvSpPr>
          <p:nvPr/>
        </p:nvSpPr>
        <p:spPr>
          <a:xfrm>
            <a:off x="68224" y="4462722"/>
            <a:ext cx="6552612" cy="18081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endParaRPr lang="zh-CN" altLang="en-US" sz="1800" dirty="0"/>
          </a:p>
          <a:p>
            <a:pPr marL="0" indent="0">
              <a:buFont typeface="Wingdings 3" panose="05040102010807070707" charset="2"/>
              <a:buNone/>
            </a:pPr>
            <a:r>
              <a:rPr lang="zh-CN" altLang="en-US" sz="1800" dirty="0"/>
              <a:t>自然状态</a:t>
            </a:r>
            <a:r>
              <a:rPr lang="en-US" altLang="zh-CN" sz="1800" dirty="0"/>
              <a:t>                         </a:t>
            </a:r>
            <a:r>
              <a:rPr lang="zh-CN" altLang="en-US" sz="1800" dirty="0"/>
              <a:t>国家</a:t>
            </a:r>
          </a:p>
          <a:p>
            <a:pPr marL="0" indent="0">
              <a:buFont typeface="Wingdings 3" panose="05040102010807070707" charset="2"/>
              <a:buNone/>
            </a:pPr>
            <a:r>
              <a:rPr lang="zh-CN" altLang="en-US" sz="1800" dirty="0"/>
              <a:t>国家存在的唯一目的就是克服无政府状态，克服冲突和战争，创造和平的环境。</a:t>
            </a:r>
          </a:p>
        </p:txBody>
      </p:sp>
      <p:sp>
        <p:nvSpPr>
          <p:cNvPr id="17" name="矩形 16"/>
          <p:cNvSpPr/>
          <p:nvPr/>
        </p:nvSpPr>
        <p:spPr>
          <a:xfrm>
            <a:off x="1581059" y="4592161"/>
            <a:ext cx="762974" cy="378977"/>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t>同意</a:t>
            </a:r>
          </a:p>
        </p:txBody>
      </p:sp>
      <p:sp>
        <p:nvSpPr>
          <p:cNvPr id="18" name="右箭头 4"/>
          <p:cNvSpPr/>
          <p:nvPr/>
        </p:nvSpPr>
        <p:spPr>
          <a:xfrm>
            <a:off x="1161896" y="4954338"/>
            <a:ext cx="1491615" cy="26479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内容占位符 2"/>
          <p:cNvSpPr txBox="1">
            <a:spLocks/>
          </p:cNvSpPr>
          <p:nvPr/>
        </p:nvSpPr>
        <p:spPr>
          <a:xfrm>
            <a:off x="0" y="5878925"/>
            <a:ext cx="9127638" cy="9790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“每一个人与每一个人订立契约，其方式就像是每一个人都向每一个其他的人说：我赋予这个人或这个集体以权威，并</a:t>
            </a:r>
            <a:r>
              <a:rPr lang="zh-CN" altLang="en-US" sz="1800" dirty="0">
                <a:solidFill>
                  <a:srgbClr val="FF0000"/>
                </a:solidFill>
                <a:latin typeface="华文中宋" panose="02010600040101010101" pitchFamily="2" charset="-122"/>
                <a:ea typeface="华文中宋" panose="02010600040101010101" pitchFamily="2" charset="-122"/>
              </a:rPr>
              <a:t>放弃我管理自己的权利</a:t>
            </a:r>
            <a:r>
              <a:rPr lang="zh-CN" altLang="en-US" sz="1800" dirty="0">
                <a:latin typeface="华文中宋" panose="02010600040101010101" pitchFamily="2" charset="-122"/>
                <a:ea typeface="华文中宋" panose="02010600040101010101" pitchFamily="2" charset="-122"/>
              </a:rPr>
              <a:t>，条件是，你也对他放弃你的权利，并以同样的方式赋予他的一切行动以权威。”</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利维坦</a:t>
            </a:r>
            <a:r>
              <a:rPr lang="en-US" altLang="zh-CN" sz="1800" dirty="0">
                <a:latin typeface="华文中宋" panose="02010600040101010101" pitchFamily="2" charset="-122"/>
                <a:ea typeface="华文中宋" panose="02010600040101010101" pitchFamily="2"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310" y="116632"/>
            <a:ext cx="3406570" cy="360040"/>
          </a:xfrm>
        </p:spPr>
        <p:txBody>
          <a:bodyPr/>
          <a:lstStyle/>
          <a:p>
            <a:r>
              <a:rPr lang="zh-CN" altLang="en-US" sz="2000" dirty="0">
                <a:latin typeface="华文中宋" panose="02010600040101010101" pitchFamily="2" charset="-122"/>
                <a:ea typeface="华文中宋" panose="02010600040101010101" pitchFamily="2" charset="-122"/>
              </a:rPr>
              <a:t>公民联合体（国家）的主题</a:t>
            </a:r>
          </a:p>
        </p:txBody>
      </p:sp>
      <p:sp>
        <p:nvSpPr>
          <p:cNvPr id="3" name="内容占位符 2"/>
          <p:cNvSpPr>
            <a:spLocks noGrp="1"/>
          </p:cNvSpPr>
          <p:nvPr>
            <p:ph idx="1"/>
          </p:nvPr>
        </p:nvSpPr>
        <p:spPr>
          <a:xfrm>
            <a:off x="60403" y="445878"/>
            <a:ext cx="9023194" cy="4486808"/>
          </a:xfrm>
        </p:spPr>
        <p:txBody>
          <a:bodyPr>
            <a:normAutofit/>
          </a:bodyPr>
          <a:lstStyle/>
          <a:p>
            <a:pPr marL="0" indent="0">
              <a:buNone/>
            </a:pPr>
            <a:r>
              <a:rPr lang="en-US" altLang="zh-CN" sz="1800" dirty="0">
                <a:latin typeface="华文中宋" panose="02010600040101010101" pitchFamily="2" charset="-122"/>
                <a:ea typeface="华文中宋" panose="02010600040101010101" pitchFamily="2" charset="-122"/>
              </a:rPr>
              <a:t>1.</a:t>
            </a:r>
            <a:r>
              <a:rPr lang="zh-CN" altLang="en-US" sz="1800" dirty="0">
                <a:latin typeface="华文中宋" panose="02010600040101010101" pitchFamily="2" charset="-122"/>
                <a:ea typeface="华文中宋" panose="02010600040101010101" pitchFamily="2" charset="-122"/>
              </a:rPr>
              <a:t>主权权威的体制</a:t>
            </a:r>
            <a:r>
              <a:rPr lang="en-US" altLang="zh-CN" sz="1800" dirty="0">
                <a:latin typeface="华文中宋" panose="02010600040101010101" pitchFamily="2" charset="-122"/>
                <a:ea typeface="华文中宋" panose="02010600040101010101" pitchFamily="2" charset="-122"/>
              </a:rPr>
              <a:t>;</a:t>
            </a:r>
          </a:p>
          <a:p>
            <a:pPr marL="0" indent="0">
              <a:buNone/>
            </a:pPr>
            <a:r>
              <a:rPr lang="zh-CN" altLang="en-US" sz="1800" dirty="0">
                <a:latin typeface="华文中宋" panose="02010600040101010101" pitchFamily="2" charset="-122"/>
                <a:ea typeface="华文中宋" panose="02010600040101010101" pitchFamily="2" charset="-122"/>
              </a:rPr>
              <a:t>君主制、贵族制（寡头制）、民主制</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2.</a:t>
            </a:r>
            <a:r>
              <a:rPr lang="zh-CN" altLang="en-US" sz="1800" dirty="0">
                <a:latin typeface="华文中宋" panose="02010600040101010101" pitchFamily="2" charset="-122"/>
                <a:ea typeface="华文中宋" panose="02010600040101010101" pitchFamily="2" charset="-122"/>
              </a:rPr>
              <a:t>主权权威的权利和“功能”；</a:t>
            </a:r>
            <a:endParaRPr lang="en-US" altLang="zh-CN" sz="1800" dirty="0">
              <a:latin typeface="华文中宋" panose="02010600040101010101" pitchFamily="2" charset="-122"/>
              <a:ea typeface="华文中宋" panose="02010600040101010101" pitchFamily="2" charset="-122"/>
            </a:endParaRPr>
          </a:p>
          <a:p>
            <a:pPr marL="0" indent="0">
              <a:buNone/>
            </a:pPr>
            <a:r>
              <a:rPr lang="zh-CN" altLang="en-US" sz="1800" dirty="0">
                <a:latin typeface="华文中宋" panose="02010600040101010101" pitchFamily="2" charset="-122"/>
                <a:ea typeface="华文中宋" panose="02010600040101010101" pitchFamily="2" charset="-122"/>
              </a:rPr>
              <a:t>统治权和享有那些通过协议使自己成为臣民的人的支持的权利：制定、废除、解释、执行法律；谈判、开战、缔结和约、征税、审查和支配臣民与团体和平相关的意见或学说。</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3.</a:t>
            </a:r>
            <a:r>
              <a:rPr lang="zh-CN" altLang="en-US" sz="1800" dirty="0">
                <a:latin typeface="华文中宋" panose="02010600040101010101" pitchFamily="2" charset="-122"/>
                <a:ea typeface="华文中宋" panose="02010600040101010101" pitchFamily="2" charset="-122"/>
              </a:rPr>
              <a:t>臣民的义务和自由；</a:t>
            </a:r>
            <a:endParaRPr lang="en-US" altLang="zh-CN" sz="1800" dirty="0">
              <a:latin typeface="华文中宋" panose="02010600040101010101" pitchFamily="2" charset="-122"/>
              <a:ea typeface="华文中宋" panose="02010600040101010101" pitchFamily="2" charset="-122"/>
            </a:endParaRPr>
          </a:p>
          <a:p>
            <a:pPr marL="0" indent="0">
              <a:buNone/>
            </a:pPr>
            <a:r>
              <a:rPr lang="zh-CN" altLang="en-US" sz="1800" dirty="0">
                <a:latin typeface="华文中宋" panose="02010600040101010101" pitchFamily="2" charset="-122"/>
                <a:ea typeface="华文中宋" panose="02010600040101010101" pitchFamily="2" charset="-122"/>
              </a:rPr>
              <a:t>服从主权者的判断和意志、“在通过他的力量和智力能够去做的事情上，不受阻碍地去做他想做的事情”。自由被压缩。法律不能规定任何人的所有行为。法律的沉默。</a:t>
            </a:r>
            <a:endParaRPr lang="en-US" altLang="zh-CN" sz="1800" dirty="0">
              <a:latin typeface="华文中宋" panose="02010600040101010101" pitchFamily="2" charset="-122"/>
              <a:ea typeface="华文中宋" panose="02010600040101010101" pitchFamily="2" charset="-122"/>
            </a:endParaRPr>
          </a:p>
          <a:p>
            <a:pPr marL="0" indent="0">
              <a:buNone/>
            </a:pPr>
            <a:r>
              <a:rPr lang="en-US" altLang="zh-CN" sz="1800" dirty="0">
                <a:latin typeface="华文中宋" panose="02010600040101010101" pitchFamily="2" charset="-122"/>
                <a:ea typeface="华文中宋" panose="02010600040101010101" pitchFamily="2" charset="-122"/>
              </a:rPr>
              <a:t>4.</a:t>
            </a:r>
            <a:r>
              <a:rPr lang="zh-CN" altLang="en-US" sz="1800" dirty="0">
                <a:latin typeface="华文中宋" panose="02010600040101010101" pitchFamily="2" charset="-122"/>
                <a:ea typeface="华文中宋" panose="02010600040101010101" pitchFamily="2" charset="-122"/>
              </a:rPr>
              <a:t>公民社会状态（</a:t>
            </a:r>
            <a:r>
              <a:rPr lang="en-US" altLang="zh-CN" sz="1800" dirty="0">
                <a:latin typeface="华文中宋" panose="02010600040101010101" pitchFamily="2" charset="-122"/>
                <a:ea typeface="华文中宋" panose="02010600040101010101" pitchFamily="2" charset="-122"/>
              </a:rPr>
              <a:t>the civil condition</a:t>
            </a:r>
            <a:r>
              <a:rPr lang="zh-CN" altLang="en-US" sz="1800" dirty="0">
                <a:latin typeface="华文中宋" panose="02010600040101010101" pitchFamily="2" charset="-122"/>
                <a:ea typeface="华文中宋" panose="02010600040101010101" pitchFamily="2" charset="-122"/>
              </a:rPr>
              <a:t>）</a:t>
            </a:r>
            <a:endParaRPr lang="en-US" altLang="zh-CN" sz="1800" dirty="0">
              <a:latin typeface="华文中宋" panose="02010600040101010101" pitchFamily="2" charset="-122"/>
              <a:ea typeface="华文中宋" panose="02010600040101010101" pitchFamily="2" charset="-122"/>
            </a:endParaRPr>
          </a:p>
          <a:p>
            <a:pPr marL="0" indent="0">
              <a:buNone/>
            </a:pPr>
            <a:r>
              <a:rPr lang="zh-CN" altLang="en-US" sz="1800" dirty="0">
                <a:latin typeface="华文中宋" panose="02010600040101010101" pitchFamily="2" charset="-122"/>
                <a:ea typeface="华文中宋" panose="02010600040101010101" pitchFamily="2" charset="-122"/>
              </a:rPr>
              <a:t>正义：违背就要受罚的规则</a:t>
            </a:r>
            <a:endParaRPr lang="en-US" altLang="zh-CN" sz="1800" dirty="0">
              <a:latin typeface="华文中宋" panose="02010600040101010101" pitchFamily="2" charset="-122"/>
              <a:ea typeface="华文中宋" panose="02010600040101010101" pitchFamily="2" charset="-122"/>
            </a:endParaRPr>
          </a:p>
          <a:p>
            <a:pPr marL="0" indent="0">
              <a:buNone/>
            </a:pPr>
            <a:r>
              <a:rPr lang="zh-CN" altLang="en-US" sz="1800" dirty="0">
                <a:latin typeface="华文中宋" panose="02010600040101010101" pitchFamily="2" charset="-122"/>
                <a:ea typeface="华文中宋" panose="02010600040101010101" pitchFamily="2" charset="-122"/>
              </a:rPr>
              <a:t>和平：无条件竞争导致的失败和焦虑得到缓解（国家和平）；上帝赐予的和平是国家和平的内在组成部分；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二论</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三种政府形式、区分标准及后果</a:t>
            </a:r>
          </a:p>
        </p:txBody>
      </p:sp>
      <p:graphicFrame>
        <p:nvGraphicFramePr>
          <p:cNvPr id="4" name="内容占位符 3"/>
          <p:cNvGraphicFramePr>
            <a:graphicFrameLocks noGrp="1"/>
          </p:cNvGraphicFramePr>
          <p:nvPr>
            <p:ph idx="1"/>
          </p:nvPr>
        </p:nvGraphicFramePr>
        <p:xfrm>
          <a:off x="738052" y="2242832"/>
          <a:ext cx="8157755" cy="2566800"/>
        </p:xfrm>
        <a:graphic>
          <a:graphicData uri="http://schemas.openxmlformats.org/drawingml/2006/table">
            <a:tbl>
              <a:tblPr firstRow="1" bandRow="1">
                <a:tableStyleId>{5C22544A-7EE6-4342-B048-85BDC9FD1C3A}</a:tableStyleId>
              </a:tblPr>
              <a:tblGrid>
                <a:gridCol w="1672046">
                  <a:extLst>
                    <a:ext uri="{9D8B030D-6E8A-4147-A177-3AD203B41FA5}">
                      <a16:colId xmlns:a16="http://schemas.microsoft.com/office/drawing/2014/main" val="20000"/>
                    </a:ext>
                  </a:extLst>
                </a:gridCol>
                <a:gridCol w="2063931">
                  <a:extLst>
                    <a:ext uri="{9D8B030D-6E8A-4147-A177-3AD203B41FA5}">
                      <a16:colId xmlns:a16="http://schemas.microsoft.com/office/drawing/2014/main" val="20001"/>
                    </a:ext>
                  </a:extLst>
                </a:gridCol>
                <a:gridCol w="2259875">
                  <a:extLst>
                    <a:ext uri="{9D8B030D-6E8A-4147-A177-3AD203B41FA5}">
                      <a16:colId xmlns:a16="http://schemas.microsoft.com/office/drawing/2014/main" val="20002"/>
                    </a:ext>
                  </a:extLst>
                </a:gridCol>
                <a:gridCol w="2161903">
                  <a:extLst>
                    <a:ext uri="{9D8B030D-6E8A-4147-A177-3AD203B41FA5}">
                      <a16:colId xmlns:a16="http://schemas.microsoft.com/office/drawing/2014/main" val="20003"/>
                    </a:ext>
                  </a:extLst>
                </a:gridCol>
              </a:tblGrid>
              <a:tr h="515064">
                <a:tc>
                  <a:txBody>
                    <a:bodyPr/>
                    <a:lstStyle/>
                    <a:p>
                      <a:pPr algn="ctr"/>
                      <a:endParaRPr lang="zh-CN" altLang="en-US" sz="2100" dirty="0">
                        <a:latin typeface="华文中宋" panose="02010600040101010101" pitchFamily="2" charset="-122"/>
                        <a:ea typeface="华文中宋" panose="02010600040101010101" pitchFamily="2" charset="-122"/>
                      </a:endParaRP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君主制</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贵族制</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民主制</a:t>
                      </a:r>
                    </a:p>
                  </a:txBody>
                  <a:tcPr marL="68580" marR="68580" marT="34290" marB="34290"/>
                </a:tc>
                <a:extLst>
                  <a:ext uri="{0D108BD9-81ED-4DB2-BD59-A6C34878D82A}">
                    <a16:rowId xmlns:a16="http://schemas.microsoft.com/office/drawing/2014/main" val="10000"/>
                  </a:ext>
                </a:extLst>
              </a:tr>
              <a:tr h="600874">
                <a:tc>
                  <a:txBody>
                    <a:bodyPr/>
                    <a:lstStyle/>
                    <a:p>
                      <a:pPr algn="ctr"/>
                      <a:r>
                        <a:rPr lang="zh-CN" altLang="en-US" sz="2100" dirty="0">
                          <a:latin typeface="华文中宋" panose="02010600040101010101" pitchFamily="2" charset="-122"/>
                          <a:ea typeface="华文中宋" panose="02010600040101010101" pitchFamily="2" charset="-122"/>
                        </a:rPr>
                        <a:t>标准</a:t>
                      </a:r>
                      <a:r>
                        <a:rPr lang="en-US" altLang="zh-CN" sz="2100" dirty="0">
                          <a:latin typeface="华文中宋" panose="02010600040101010101" pitchFamily="2" charset="-122"/>
                          <a:ea typeface="华文中宋" panose="02010600040101010101" pitchFamily="2" charset="-122"/>
                        </a:rPr>
                        <a:t>A</a:t>
                      </a:r>
                      <a:endParaRPr lang="zh-CN" altLang="en-US" sz="2100" dirty="0">
                        <a:latin typeface="华文中宋" panose="02010600040101010101" pitchFamily="2" charset="-122"/>
                        <a:ea typeface="华文中宋" panose="02010600040101010101" pitchFamily="2" charset="-122"/>
                      </a:endParaRP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权力</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财富</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声望</a:t>
                      </a:r>
                    </a:p>
                  </a:txBody>
                  <a:tcPr marL="68580" marR="68580" marT="34290" marB="34290"/>
                </a:tc>
                <a:extLst>
                  <a:ext uri="{0D108BD9-81ED-4DB2-BD59-A6C34878D82A}">
                    <a16:rowId xmlns:a16="http://schemas.microsoft.com/office/drawing/2014/main" val="10001"/>
                  </a:ext>
                </a:extLst>
              </a:tr>
              <a:tr h="60889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100" dirty="0">
                          <a:latin typeface="华文中宋" panose="02010600040101010101" pitchFamily="2" charset="-122"/>
                          <a:ea typeface="华文中宋" panose="02010600040101010101" pitchFamily="2" charset="-122"/>
                        </a:rPr>
                        <a:t>标准</a:t>
                      </a:r>
                      <a:r>
                        <a:rPr lang="en-US" altLang="zh-CN" sz="2100" dirty="0">
                          <a:latin typeface="华文中宋" panose="02010600040101010101" pitchFamily="2" charset="-122"/>
                          <a:ea typeface="华文中宋" panose="02010600040101010101" pitchFamily="2" charset="-122"/>
                        </a:rPr>
                        <a:t>B</a:t>
                      </a:r>
                      <a:endParaRPr lang="zh-CN" altLang="en-US" sz="2100" dirty="0">
                        <a:latin typeface="华文中宋" panose="02010600040101010101" pitchFamily="2" charset="-122"/>
                        <a:ea typeface="华文中宋" panose="02010600040101010101" pitchFamily="2" charset="-122"/>
                      </a:endParaRP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功绩</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财富</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年龄</a:t>
                      </a:r>
                    </a:p>
                  </a:txBody>
                  <a:tcPr marL="68580" marR="68580" marT="34290" marB="34290"/>
                </a:tc>
                <a:extLst>
                  <a:ext uri="{0D108BD9-81ED-4DB2-BD59-A6C34878D82A}">
                    <a16:rowId xmlns:a16="http://schemas.microsoft.com/office/drawing/2014/main" val="10002"/>
                  </a:ext>
                </a:extLst>
              </a:tr>
              <a:tr h="841965">
                <a:tc>
                  <a:txBody>
                    <a:bodyPr/>
                    <a:lstStyle/>
                    <a:p>
                      <a:pPr algn="ctr"/>
                      <a:r>
                        <a:rPr lang="zh-CN" altLang="en-US" sz="2100" dirty="0">
                          <a:latin typeface="华文中宋" panose="02010600040101010101" pitchFamily="2" charset="-122"/>
                          <a:ea typeface="华文中宋" panose="02010600040101010101" pitchFamily="2" charset="-122"/>
                        </a:rPr>
                        <a:t>后果</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臣民：征服</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“一些人财富、才能差距极小”</a:t>
                      </a:r>
                    </a:p>
                  </a:txBody>
                  <a:tcPr marL="68580" marR="68580" marT="34290" marB="34290"/>
                </a:tc>
                <a:tc>
                  <a:txBody>
                    <a:bodyPr/>
                    <a:lstStyle/>
                    <a:p>
                      <a:pPr algn="ctr"/>
                      <a:r>
                        <a:rPr lang="zh-CN" altLang="en-US" sz="2100" dirty="0">
                          <a:latin typeface="华文中宋" panose="02010600040101010101" pitchFamily="2" charset="-122"/>
                          <a:ea typeface="华文中宋" panose="02010600040101010101" pitchFamily="2" charset="-122"/>
                        </a:rPr>
                        <a:t>公民：幸福、美德</a:t>
                      </a:r>
                    </a:p>
                  </a:txBody>
                  <a:tcPr marL="68580" marR="68580" marT="34290" marB="34290"/>
                </a:tc>
                <a:extLst>
                  <a:ext uri="{0D108BD9-81ED-4DB2-BD59-A6C34878D82A}">
                    <a16:rowId xmlns:a16="http://schemas.microsoft.com/office/drawing/2014/main" val="10003"/>
                  </a:ext>
                </a:extLst>
              </a:tr>
            </a:tbl>
          </a:graphicData>
        </a:graphic>
      </p:graphicFrame>
      <p:sp>
        <p:nvSpPr>
          <p:cNvPr id="5" name="文本框 4">
            <a:extLst>
              <a:ext uri="{FF2B5EF4-FFF2-40B4-BE49-F238E27FC236}">
                <a16:creationId xmlns:a16="http://schemas.microsoft.com/office/drawing/2014/main" id="{B6C9E164-C406-13E1-0553-3F04E6CF8F03}"/>
              </a:ext>
            </a:extLst>
          </p:cNvPr>
          <p:cNvSpPr txBox="1"/>
          <p:nvPr/>
        </p:nvSpPr>
        <p:spPr>
          <a:xfrm>
            <a:off x="1835696" y="5085184"/>
            <a:ext cx="4991986" cy="1200329"/>
          </a:xfrm>
          <a:prstGeom prst="rect">
            <a:avLst/>
          </a:prstGeom>
          <a:noFill/>
        </p:spPr>
        <p:txBody>
          <a:bodyPr wrap="square">
            <a:spAutoFit/>
          </a:bodyPr>
          <a:lstStyle/>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所有人同意——通过立约（covenant）——建立一个主权者来代表（represent）我们，以我们的名义行动，使他有足够的力量保证安全与和平。</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8211" y="225600"/>
            <a:ext cx="1278978" cy="383994"/>
          </a:xfrm>
        </p:spPr>
        <p:txBody>
          <a:bodyPr/>
          <a:lstStyle/>
          <a:p>
            <a:r>
              <a:rPr lang="zh-CN" altLang="en-US" sz="2000" dirty="0">
                <a:latin typeface="华文中宋" panose="02010600040101010101" pitchFamily="2" charset="-122"/>
                <a:ea typeface="华文中宋" panose="02010600040101010101" pitchFamily="2" charset="-122"/>
              </a:rPr>
              <a:t>三个变化</a:t>
            </a:r>
          </a:p>
        </p:txBody>
      </p:sp>
      <p:sp>
        <p:nvSpPr>
          <p:cNvPr id="3" name="内容占位符 2"/>
          <p:cNvSpPr>
            <a:spLocks noGrp="1"/>
          </p:cNvSpPr>
          <p:nvPr>
            <p:ph idx="1"/>
          </p:nvPr>
        </p:nvSpPr>
        <p:spPr>
          <a:xfrm>
            <a:off x="188211" y="692696"/>
            <a:ext cx="8208796" cy="1736115"/>
          </a:xfrm>
        </p:spPr>
        <p:txBody>
          <a:bodyPr>
            <a:normAutofit fontScale="97500" lnSpcReduction="10000"/>
          </a:bodyPr>
          <a:lstStyle/>
          <a:p>
            <a:pPr marL="0" indent="0">
              <a:buNone/>
            </a:pPr>
            <a:r>
              <a:rPr lang="zh-CN" altLang="en-US" sz="1800" dirty="0">
                <a:latin typeface="华文中宋" panose="02010600040101010101" pitchFamily="2" charset="-122"/>
                <a:ea typeface="华文中宋" panose="02010600040101010101" pitchFamily="2" charset="-122"/>
              </a:rPr>
              <a:t>第一，诸众（</a:t>
            </a:r>
            <a:r>
              <a:rPr lang="en-US" altLang="zh-CN" sz="1800" dirty="0">
                <a:latin typeface="华文中宋" panose="02010600040101010101" pitchFamily="2" charset="-122"/>
                <a:ea typeface="华文中宋" panose="02010600040101010101" pitchFamily="2" charset="-122"/>
              </a:rPr>
              <a:t>multitudes</a:t>
            </a:r>
            <a:r>
              <a:rPr lang="zh-CN" altLang="en-US" sz="1800" dirty="0">
                <a:latin typeface="华文中宋" panose="02010600040101010101" pitchFamily="2" charset="-122"/>
                <a:ea typeface="华文中宋" panose="02010600040101010101" pitchFamily="2" charset="-122"/>
              </a:rPr>
              <a:t>）的性质改变了。当我们同意立约时，我们一起授权一个主权者来代表我们，我们也就获得了一个</a:t>
            </a:r>
            <a:r>
              <a:rPr lang="zh-CN" altLang="en-US" sz="1800" dirty="0">
                <a:solidFill>
                  <a:srgbClr val="FF0000"/>
                </a:solidFill>
                <a:latin typeface="华文中宋" panose="02010600040101010101" pitchFamily="2" charset="-122"/>
                <a:ea typeface="华文中宋" panose="02010600040101010101" pitchFamily="2" charset="-122"/>
              </a:rPr>
              <a:t>单一主权者的意志与声音</a:t>
            </a:r>
            <a:r>
              <a:rPr lang="zh-CN" altLang="en-US" sz="1800" dirty="0">
                <a:latin typeface="华文中宋" panose="02010600040101010101" pitchFamily="2" charset="-122"/>
                <a:ea typeface="华文中宋" panose="02010600040101010101" pitchFamily="2" charset="-122"/>
              </a:rPr>
              <a:t>，他的意志如今就是我们的意志，而我们则授权他以我们的名义言说与行动（speak</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and</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act）。但这就意味着，因为诸众如今可以经由代表来言说与行动，诸众现在就转变为“一个人格”（One</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Person）。这当然不是一个真实的人，而是如霍布斯所言由诸众的联合所组成的拟制人（person</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by</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ﬁction）。</a:t>
            </a:r>
          </a:p>
        </p:txBody>
      </p:sp>
      <p:sp>
        <p:nvSpPr>
          <p:cNvPr id="5" name="文本框 4">
            <a:extLst>
              <a:ext uri="{FF2B5EF4-FFF2-40B4-BE49-F238E27FC236}">
                <a16:creationId xmlns:a16="http://schemas.microsoft.com/office/drawing/2014/main" id="{820E40DC-EEB1-0DF9-75BE-77D5E65F5ED6}"/>
              </a:ext>
            </a:extLst>
          </p:cNvPr>
          <p:cNvSpPr txBox="1"/>
          <p:nvPr/>
        </p:nvSpPr>
        <p:spPr>
          <a:xfrm>
            <a:off x="172450" y="2276872"/>
            <a:ext cx="8172563" cy="1754326"/>
          </a:xfrm>
          <a:prstGeom prst="rect">
            <a:avLst/>
          </a:prstGeom>
          <a:noFill/>
        </p:spPr>
        <p:txBody>
          <a:bodyPr wrap="square">
            <a:spAutoFit/>
          </a:bodyPr>
          <a:lstStyle/>
          <a:p>
            <a:pPr marL="0" indent="0">
              <a:buNone/>
            </a:pPr>
            <a:r>
              <a:rPr lang="zh-CN" altLang="en-US" dirty="0">
                <a:latin typeface="华文中宋" panose="02010600040101010101" pitchFamily="2" charset="-122"/>
                <a:ea typeface="华文中宋" panose="02010600040101010101" pitchFamily="2" charset="-122"/>
                <a:sym typeface="+mn-ea"/>
              </a:rPr>
              <a:t>第二，霍布斯说，当大众转变为一个人格之后，主权者则成为这个拟制人代表。</a:t>
            </a:r>
            <a:endParaRPr lang="zh-CN" altLang="en-US" dirty="0">
              <a:latin typeface="华文中宋" panose="02010600040101010101" pitchFamily="2" charset="-122"/>
              <a:ea typeface="华文中宋" panose="02010600040101010101" pitchFamily="2" charset="-122"/>
            </a:endParaRPr>
          </a:p>
          <a:p>
            <a:pPr marL="0" indent="0">
              <a:buNone/>
            </a:pPr>
            <a:r>
              <a:rPr lang="zh-CN" altLang="en-US" dirty="0">
                <a:latin typeface="华文中宋" panose="02010600040101010101" pitchFamily="2" charset="-122"/>
                <a:ea typeface="华文中宋" panose="02010600040101010101" pitchFamily="2" charset="-122"/>
                <a:sym typeface="+mn-ea"/>
              </a:rPr>
              <a:t>最后也是最为关键的是，拟制人——这个在大众同意被主权者代表之时产生的人格——霍布斯称作“国家”（State），霍布斯还给了他一个名字，“利维坦”。因此，国家是一个人，只是一个“虚拟的”人。但尽管如此，主权者——当一个人（无论男女）成为主权者时——又作为国家的首领（head</a:t>
            </a:r>
            <a:r>
              <a:rPr lang="en-US" altLang="zh-CN" dirty="0">
                <a:latin typeface="华文中宋" panose="02010600040101010101" pitchFamily="2" charset="-122"/>
                <a:ea typeface="华文中宋" panose="02010600040101010101" pitchFamily="2" charset="-122"/>
                <a:sym typeface="+mn-ea"/>
              </a:rPr>
              <a:t> </a:t>
            </a:r>
            <a:r>
              <a:rPr lang="zh-CN" altLang="en-US" dirty="0">
                <a:latin typeface="华文中宋" panose="02010600040101010101" pitchFamily="2" charset="-122"/>
                <a:ea typeface="华文中宋" panose="02010600040101010101" pitchFamily="2" charset="-122"/>
                <a:sym typeface="+mn-ea"/>
              </a:rPr>
              <a:t>of</a:t>
            </a:r>
            <a:r>
              <a:rPr lang="en-US" altLang="zh-CN" dirty="0">
                <a:latin typeface="华文中宋" panose="02010600040101010101" pitchFamily="2" charset="-122"/>
                <a:ea typeface="华文中宋" panose="02010600040101010101" pitchFamily="2" charset="-122"/>
                <a:sym typeface="+mn-ea"/>
              </a:rPr>
              <a:t> </a:t>
            </a:r>
            <a:r>
              <a:rPr lang="zh-CN" altLang="en-US" dirty="0">
                <a:latin typeface="华文中宋" panose="02010600040101010101" pitchFamily="2" charset="-122"/>
                <a:ea typeface="华文中宋" panose="02010600040101010101" pitchFamily="2" charset="-122"/>
                <a:sym typeface="+mn-ea"/>
              </a:rPr>
              <a:t>state）行事。</a:t>
            </a:r>
            <a:endParaRPr lang="zh-CN" altLang="en-US" dirty="0">
              <a:latin typeface="华文中宋" panose="02010600040101010101" pitchFamily="2" charset="-122"/>
              <a:ea typeface="华文中宋" panose="02010600040101010101" pitchFamily="2" charset="-122"/>
            </a:endParaRPr>
          </a:p>
        </p:txBody>
      </p:sp>
      <p:sp>
        <p:nvSpPr>
          <p:cNvPr id="7" name="内容占位符 2">
            <a:extLst>
              <a:ext uri="{FF2B5EF4-FFF2-40B4-BE49-F238E27FC236}">
                <a16:creationId xmlns:a16="http://schemas.microsoft.com/office/drawing/2014/main" id="{A0EB793D-95E7-2844-1634-825A69E6EEC5}"/>
              </a:ext>
            </a:extLst>
          </p:cNvPr>
          <p:cNvSpPr>
            <a:spLocks noGrp="1"/>
          </p:cNvSpPr>
          <p:nvPr/>
        </p:nvSpPr>
        <p:spPr>
          <a:xfrm>
            <a:off x="323528" y="4429190"/>
            <a:ext cx="8435280" cy="1684784"/>
          </a:xfrm>
          <a:prstGeom prst="rect">
            <a:avLst/>
          </a:prstGeom>
        </p:spPr>
        <p:txBody>
          <a:bodyPr vert="horz" rtlCol="0">
            <a:normAutofit/>
          </a:bodyPr>
          <a:lstStyle>
            <a:lvl1pPr marL="342900" indent="-342900" algn="l" rtl="0" eaLnBrk="1" latinLnBrk="0" hangingPunct="1">
              <a:spcBef>
                <a:spcPct val="20000"/>
              </a:spcBef>
              <a:buClr>
                <a:schemeClr val="tx2"/>
              </a:buClr>
              <a:buSzPct val="90000"/>
              <a:buFont typeface="Cambria" panose="02040503050406030204"/>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panose="02040503050406030204"/>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panose="05020102010507070707"/>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panose="020F0502020204030204"/>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panose="02040503050406030204"/>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None/>
            </a:pP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要寻找出一种结合的形式，使它能以全部共同的力量来护卫和保障每个结合者的</a:t>
            </a:r>
            <a:r>
              <a:rPr lang="zh-CN" altLang="en-US" sz="1800" dirty="0">
                <a:solidFill>
                  <a:srgbClr val="FF0000"/>
                </a:solidFill>
                <a:latin typeface="华文中宋" panose="02010600040101010101" pitchFamily="2" charset="-122"/>
                <a:ea typeface="华文中宋" panose="02010600040101010101" pitchFamily="2" charset="-122"/>
              </a:rPr>
              <a:t>人身和财富</a:t>
            </a:r>
            <a:r>
              <a:rPr lang="zh-CN" altLang="en-US" sz="1800" dirty="0">
                <a:latin typeface="华文中宋" panose="02010600040101010101" pitchFamily="2" charset="-122"/>
                <a:ea typeface="华文中宋" panose="02010600040101010101" pitchFamily="2" charset="-122"/>
              </a:rPr>
              <a:t>，并且由于这一结合而使得每一个与全体相联合的个人又只不过是在服从其本人，并且像以往一样地</a:t>
            </a:r>
            <a:r>
              <a:rPr lang="zh-CN" altLang="en-US" sz="1800" dirty="0">
                <a:solidFill>
                  <a:srgbClr val="FF0000"/>
                </a:solidFill>
                <a:latin typeface="华文中宋" panose="02010600040101010101" pitchFamily="2" charset="-122"/>
                <a:ea typeface="华文中宋" panose="02010600040101010101" pitchFamily="2" charset="-122"/>
              </a:rPr>
              <a:t>自由</a:t>
            </a:r>
            <a:r>
              <a:rPr lang="zh-CN" altLang="en-US" sz="1800" dirty="0">
                <a:latin typeface="华文中宋" panose="02010600040101010101" pitchFamily="2" charset="-122"/>
                <a:ea typeface="华文中宋" panose="02010600040101010101" pitchFamily="2" charset="-122"/>
              </a:rPr>
              <a:t>。</a:t>
            </a:r>
            <a:r>
              <a:rPr lang="en-US" altLang="zh-CN" sz="1800" dirty="0"/>
              <a:t>”《</a:t>
            </a:r>
            <a:r>
              <a:rPr lang="zh-CN" altLang="en-US" sz="1800" dirty="0"/>
              <a:t>社会契约论</a:t>
            </a:r>
            <a:r>
              <a:rPr lang="en-US" altLang="zh-CN" sz="18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88640"/>
            <a:ext cx="7776748" cy="1448083"/>
          </a:xfrm>
        </p:spPr>
        <p:txBody>
          <a:bodyPr>
            <a:normAutofit lnSpcReduction="10000"/>
          </a:bodyPr>
          <a:lstStyle/>
          <a:p>
            <a:pPr marL="0" indent="0">
              <a:buNone/>
            </a:pPr>
            <a:r>
              <a:rPr lang="zh-CN" altLang="en-US" sz="1800" dirty="0">
                <a:latin typeface="华文中宋" panose="02010600040101010101" pitchFamily="2" charset="-122"/>
                <a:ea typeface="华文中宋" panose="02010600040101010101" pitchFamily="2" charset="-122"/>
                <a:sym typeface="+mn-ea"/>
              </a:rPr>
              <a:t>这一由全体个人的结合所形成的</a:t>
            </a:r>
            <a:r>
              <a:rPr lang="zh-CN" altLang="en-US" sz="1800" dirty="0">
                <a:solidFill>
                  <a:srgbClr val="FF0000"/>
                </a:solidFill>
                <a:latin typeface="华文中宋" panose="02010600040101010101" pitchFamily="2" charset="-122"/>
                <a:ea typeface="华文中宋" panose="02010600040101010101" pitchFamily="2" charset="-122"/>
                <a:sym typeface="+mn-ea"/>
              </a:rPr>
              <a:t>公共人格</a:t>
            </a:r>
            <a:r>
              <a:rPr lang="zh-CN" altLang="en-US" sz="1800" dirty="0">
                <a:latin typeface="华文中宋" panose="02010600040101010101" pitchFamily="2" charset="-122"/>
                <a:ea typeface="华文中宋" panose="02010600040101010101" pitchFamily="2" charset="-122"/>
                <a:sym typeface="+mn-ea"/>
              </a:rPr>
              <a:t>，以前称为</a:t>
            </a:r>
            <a:r>
              <a:rPr lang="zh-CN" altLang="en-US" sz="1800" dirty="0">
                <a:solidFill>
                  <a:srgbClr val="FF0000"/>
                </a:solidFill>
                <a:latin typeface="华文中宋" panose="02010600040101010101" pitchFamily="2" charset="-122"/>
                <a:ea typeface="华文中宋" panose="02010600040101010101" pitchFamily="2" charset="-122"/>
                <a:sym typeface="+mn-ea"/>
              </a:rPr>
              <a:t>城邦</a:t>
            </a:r>
            <a:r>
              <a:rPr lang="zh-CN" altLang="en-US" sz="1800" dirty="0">
                <a:latin typeface="华文中宋" panose="02010600040101010101" pitchFamily="2" charset="-122"/>
                <a:ea typeface="华文中宋" panose="02010600040101010101" pitchFamily="2" charset="-122"/>
                <a:sym typeface="+mn-ea"/>
              </a:rPr>
              <a:t>，现在则称为</a:t>
            </a:r>
            <a:r>
              <a:rPr lang="zh-CN" altLang="en-US" sz="1800" dirty="0">
                <a:solidFill>
                  <a:srgbClr val="FF0000"/>
                </a:solidFill>
                <a:latin typeface="华文中宋" panose="02010600040101010101" pitchFamily="2" charset="-122"/>
                <a:ea typeface="华文中宋" panose="02010600040101010101" pitchFamily="2" charset="-122"/>
                <a:sym typeface="+mn-ea"/>
              </a:rPr>
              <a:t>共和国</a:t>
            </a:r>
            <a:r>
              <a:rPr lang="zh-CN" altLang="en-US" sz="1800" dirty="0">
                <a:latin typeface="华文中宋" panose="02010600040101010101" pitchFamily="2" charset="-122"/>
                <a:ea typeface="华文中宋" panose="02010600040101010101" pitchFamily="2" charset="-122"/>
                <a:sym typeface="+mn-ea"/>
              </a:rPr>
              <a:t>或</a:t>
            </a:r>
            <a:r>
              <a:rPr lang="zh-CN" altLang="en-US" sz="1800" dirty="0">
                <a:solidFill>
                  <a:srgbClr val="FF0000"/>
                </a:solidFill>
                <a:latin typeface="华文中宋" panose="02010600040101010101" pitchFamily="2" charset="-122"/>
                <a:ea typeface="华文中宋" panose="02010600040101010101" pitchFamily="2" charset="-122"/>
                <a:sym typeface="+mn-ea"/>
              </a:rPr>
              <a:t>政治体</a:t>
            </a:r>
            <a:r>
              <a:rPr lang="zh-CN" altLang="en-US" sz="1800" dirty="0">
                <a:latin typeface="华文中宋" panose="02010600040101010101" pitchFamily="2" charset="-122"/>
                <a:ea typeface="华文中宋" panose="02010600040101010101" pitchFamily="2" charset="-122"/>
                <a:sym typeface="+mn-ea"/>
              </a:rPr>
              <a:t>；当它是</a:t>
            </a:r>
            <a:r>
              <a:rPr lang="zh-CN" altLang="en-US" sz="1800" dirty="0">
                <a:solidFill>
                  <a:srgbClr val="FF0000"/>
                </a:solidFill>
                <a:latin typeface="华文中宋" panose="02010600040101010101" pitchFamily="2" charset="-122"/>
                <a:ea typeface="华文中宋" panose="02010600040101010101" pitchFamily="2" charset="-122"/>
                <a:sym typeface="+mn-ea"/>
              </a:rPr>
              <a:t>被动</a:t>
            </a:r>
            <a:r>
              <a:rPr lang="zh-CN" altLang="en-US" sz="1800" dirty="0">
                <a:latin typeface="华文中宋" panose="02010600040101010101" pitchFamily="2" charset="-122"/>
                <a:ea typeface="华文中宋" panose="02010600040101010101" pitchFamily="2" charset="-122"/>
                <a:sym typeface="+mn-ea"/>
              </a:rPr>
              <a:t>时，它的成员就称它为</a:t>
            </a:r>
            <a:r>
              <a:rPr lang="zh-CN" altLang="en-US" sz="1800" dirty="0">
                <a:solidFill>
                  <a:srgbClr val="FF0000"/>
                </a:solidFill>
                <a:latin typeface="华文中宋" panose="02010600040101010101" pitchFamily="2" charset="-122"/>
                <a:ea typeface="华文中宋" panose="02010600040101010101" pitchFamily="2" charset="-122"/>
                <a:sym typeface="+mn-ea"/>
              </a:rPr>
              <a:t>国家</a:t>
            </a:r>
            <a:r>
              <a:rPr lang="zh-CN" altLang="en-US" sz="1800" dirty="0">
                <a:latin typeface="华文中宋" panose="02010600040101010101" pitchFamily="2" charset="-122"/>
                <a:ea typeface="华文中宋" panose="02010600040101010101" pitchFamily="2" charset="-122"/>
                <a:sym typeface="+mn-ea"/>
              </a:rPr>
              <a:t>；当它是</a:t>
            </a:r>
            <a:r>
              <a:rPr lang="zh-CN" altLang="en-US" sz="1800" dirty="0">
                <a:solidFill>
                  <a:srgbClr val="FF0000"/>
                </a:solidFill>
                <a:latin typeface="华文中宋" panose="02010600040101010101" pitchFamily="2" charset="-122"/>
                <a:ea typeface="华文中宋" panose="02010600040101010101" pitchFamily="2" charset="-122"/>
                <a:sym typeface="+mn-ea"/>
              </a:rPr>
              <a:t>主动</a:t>
            </a:r>
            <a:r>
              <a:rPr lang="zh-CN" altLang="en-US" sz="1800" dirty="0">
                <a:latin typeface="华文中宋" panose="02010600040101010101" pitchFamily="2" charset="-122"/>
                <a:ea typeface="华文中宋" panose="02010600040101010101" pitchFamily="2" charset="-122"/>
                <a:sym typeface="+mn-ea"/>
              </a:rPr>
              <a:t>时，就称它为</a:t>
            </a:r>
            <a:r>
              <a:rPr lang="zh-CN" altLang="en-US" sz="1800" dirty="0">
                <a:solidFill>
                  <a:srgbClr val="FF0000"/>
                </a:solidFill>
                <a:latin typeface="华文中宋" panose="02010600040101010101" pitchFamily="2" charset="-122"/>
                <a:ea typeface="华文中宋" panose="02010600040101010101" pitchFamily="2" charset="-122"/>
                <a:sym typeface="+mn-ea"/>
              </a:rPr>
              <a:t>主权者</a:t>
            </a:r>
            <a:r>
              <a:rPr lang="zh-CN" altLang="en-US" sz="1800" dirty="0">
                <a:latin typeface="华文中宋" panose="02010600040101010101" pitchFamily="2" charset="-122"/>
                <a:ea typeface="华文中宋" panose="02010600040101010101" pitchFamily="2" charset="-122"/>
                <a:sym typeface="+mn-ea"/>
              </a:rPr>
              <a:t>；而以之和它的同类相比较时，则称它为</a:t>
            </a:r>
            <a:r>
              <a:rPr lang="zh-CN" altLang="en-US" sz="1800" dirty="0">
                <a:solidFill>
                  <a:srgbClr val="FF0000"/>
                </a:solidFill>
                <a:latin typeface="华文中宋" panose="02010600040101010101" pitchFamily="2" charset="-122"/>
                <a:ea typeface="华文中宋" panose="02010600040101010101" pitchFamily="2" charset="-122"/>
                <a:sym typeface="+mn-ea"/>
              </a:rPr>
              <a:t>政权</a:t>
            </a:r>
            <a:r>
              <a:rPr lang="zh-CN" altLang="en-US" sz="1800" dirty="0">
                <a:latin typeface="华文中宋" panose="02010600040101010101" pitchFamily="2" charset="-122"/>
                <a:ea typeface="华文中宋" panose="02010600040101010101" pitchFamily="2" charset="-122"/>
                <a:sym typeface="+mn-ea"/>
              </a:rPr>
              <a:t>。至于结合者，他们</a:t>
            </a:r>
            <a:r>
              <a:rPr lang="zh-CN" altLang="en-US" sz="1800" dirty="0">
                <a:solidFill>
                  <a:srgbClr val="FF0000"/>
                </a:solidFill>
                <a:latin typeface="华文中宋" panose="02010600040101010101" pitchFamily="2" charset="-122"/>
                <a:ea typeface="华文中宋" panose="02010600040101010101" pitchFamily="2" charset="-122"/>
                <a:sym typeface="+mn-ea"/>
              </a:rPr>
              <a:t>集体地</a:t>
            </a:r>
            <a:r>
              <a:rPr lang="zh-CN" altLang="en-US" sz="1800" dirty="0">
                <a:latin typeface="华文中宋" panose="02010600040101010101" pitchFamily="2" charset="-122"/>
                <a:ea typeface="华文中宋" panose="02010600040101010101" pitchFamily="2" charset="-122"/>
                <a:sym typeface="+mn-ea"/>
              </a:rPr>
              <a:t>就称为</a:t>
            </a:r>
            <a:r>
              <a:rPr lang="zh-CN" altLang="en-US" sz="1800" dirty="0">
                <a:solidFill>
                  <a:srgbClr val="FF0000"/>
                </a:solidFill>
                <a:latin typeface="华文中宋" panose="02010600040101010101" pitchFamily="2" charset="-122"/>
                <a:ea typeface="华文中宋" panose="02010600040101010101" pitchFamily="2" charset="-122"/>
                <a:sym typeface="+mn-ea"/>
              </a:rPr>
              <a:t>人民</a:t>
            </a:r>
            <a:r>
              <a:rPr lang="zh-CN" altLang="en-US" sz="1800" dirty="0">
                <a:latin typeface="华文中宋" panose="02010600040101010101" pitchFamily="2" charset="-122"/>
                <a:ea typeface="华文中宋" panose="02010600040101010101" pitchFamily="2" charset="-122"/>
                <a:sym typeface="+mn-ea"/>
              </a:rPr>
              <a:t>；个别地，作为主权权威的参与者，就叫做</a:t>
            </a:r>
            <a:r>
              <a:rPr lang="zh-CN" altLang="en-US" sz="1800" dirty="0">
                <a:solidFill>
                  <a:srgbClr val="FF0000"/>
                </a:solidFill>
                <a:latin typeface="华文中宋" panose="02010600040101010101" pitchFamily="2" charset="-122"/>
                <a:ea typeface="华文中宋" panose="02010600040101010101" pitchFamily="2" charset="-122"/>
                <a:sym typeface="+mn-ea"/>
              </a:rPr>
              <a:t>公民</a:t>
            </a:r>
            <a:r>
              <a:rPr lang="zh-CN" altLang="en-US" sz="1800" dirty="0">
                <a:latin typeface="华文中宋" panose="02010600040101010101" pitchFamily="2" charset="-122"/>
                <a:ea typeface="华文中宋" panose="02010600040101010101" pitchFamily="2" charset="-122"/>
                <a:sym typeface="+mn-ea"/>
              </a:rPr>
              <a:t>，作为国家法律的服从者，就叫做臣民。</a:t>
            </a:r>
            <a:endParaRPr lang="zh-CN" altLang="en-US" sz="1800" dirty="0">
              <a:latin typeface="华文中宋" panose="02010600040101010101" pitchFamily="2" charset="-122"/>
              <a:ea typeface="华文中宋" panose="02010600040101010101" pitchFamily="2" charset="-122"/>
            </a:endParaRPr>
          </a:p>
        </p:txBody>
      </p:sp>
      <p:sp>
        <p:nvSpPr>
          <p:cNvPr id="2" name="内容占位符 2"/>
          <p:cNvSpPr txBox="1">
            <a:spLocks/>
          </p:cNvSpPr>
          <p:nvPr/>
        </p:nvSpPr>
        <p:spPr>
          <a:xfrm>
            <a:off x="117472" y="1412777"/>
            <a:ext cx="8136788" cy="144808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每个结合者及其自身的一切权利全部转让给整个集体。</a:t>
            </a: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每个人既然是向全体奉献自己，他就并没有向任何人奉献出自己。而且既然从任何一个结合者那里，人们都可以获得自己本身所渡让给他的同样的权利，所以人们就得到了自己所丧失的东西的等价物以及更大的力量来保全自己的所有。</a:t>
            </a:r>
          </a:p>
        </p:txBody>
      </p:sp>
      <p:sp>
        <p:nvSpPr>
          <p:cNvPr id="4" name="内容占位符 2"/>
          <p:cNvSpPr txBox="1">
            <a:spLocks/>
          </p:cNvSpPr>
          <p:nvPr/>
        </p:nvSpPr>
        <p:spPr>
          <a:xfrm>
            <a:off x="251520" y="2909097"/>
            <a:ext cx="7848872" cy="167203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dirty="0">
                <a:latin typeface="华文中宋" panose="02010600040101010101" pitchFamily="2" charset="-122"/>
                <a:ea typeface="华文中宋" panose="02010600040101010101" pitchFamily="2" charset="-122"/>
              </a:rPr>
              <a:t>问题</a:t>
            </a:r>
            <a:endParaRPr lang="en-US" altLang="zh-CN"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国家总是以特定国家形态存在，它论证一般意义上的国家为何要存在，无法证明</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特定国家</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为何要存在？</a:t>
            </a: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无法解释为何不取消所有的国家，而建立一种世界性的政府。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BB2FDA0-175D-D58D-C586-908618B979CF}"/>
              </a:ext>
            </a:extLst>
          </p:cNvPr>
          <p:cNvSpPr txBox="1"/>
          <p:nvPr/>
        </p:nvSpPr>
        <p:spPr>
          <a:xfrm>
            <a:off x="35496" y="332656"/>
            <a:ext cx="8928991" cy="5632311"/>
          </a:xfrm>
          <a:prstGeom prst="rect">
            <a:avLst/>
          </a:prstGeom>
          <a:noFill/>
        </p:spPr>
        <p:txBody>
          <a:bodyPr wrap="square">
            <a:spAutoFit/>
          </a:bodyPr>
          <a:lstStyle/>
          <a:p>
            <a:r>
              <a:rPr lang="zh-CN" altLang="en-US" dirty="0"/>
              <a:t>**第一，它只能论证“一般国家”的必要性，无法证成“这个特定国家”。**</a:t>
            </a:r>
          </a:p>
          <a:p>
            <a:r>
              <a:rPr lang="zh-CN" altLang="en-US" dirty="0"/>
              <a:t>霍布斯的逻辑是：自然状态是“一切人对一切人的战争”，因此任何能提供安全与和平的主权者</a:t>
            </a:r>
            <a:r>
              <a:rPr lang="en-US" altLang="zh-CN" dirty="0"/>
              <a:t>——</a:t>
            </a:r>
            <a:r>
              <a:rPr lang="zh-CN" altLang="en-US" dirty="0"/>
              <a:t>无论其形式、法律、疆域如何</a:t>
            </a:r>
            <a:r>
              <a:rPr lang="en-US" altLang="zh-CN" dirty="0"/>
              <a:t>——</a:t>
            </a:r>
            <a:r>
              <a:rPr lang="zh-CN" altLang="en-US" dirty="0"/>
              <a:t>都具有正当性。这意味着，如果你已经生活在某个能维持基本秩序的国家（即便是暴政），推翻它以回到自然状态就是非理性的。但这无法回答：为什么你应该忠诚于“这个”国家，而不是它旁边的另一个？为什么它的法律、边界、统治者值得你服从？霍布斯只有“任何主权者优于无主权者”的论证，没有“这个主权者优于那个主权者”的论证。因此，他的理论可以证成“国家一般”，却无法证成任何一个具体国家的特殊权威。</a:t>
            </a:r>
          </a:p>
          <a:p>
            <a:endParaRPr lang="zh-CN" altLang="en-US" dirty="0"/>
          </a:p>
          <a:p>
            <a:r>
              <a:rPr lang="zh-CN" altLang="en-US" dirty="0"/>
              <a:t>**第二，它无法解释为何不取消所有国家，建立世界政府。**</a:t>
            </a:r>
          </a:p>
          <a:p>
            <a:endParaRPr lang="zh-CN" altLang="en-US" dirty="0"/>
          </a:p>
          <a:p>
            <a:r>
              <a:rPr lang="zh-CN" altLang="en-US" dirty="0"/>
              <a:t>如果自然状态是战争状态，而主权者是为了终结战争而存在的，那么逻辑上最彻底的解决方案应当是：全人类订立契约，建立一个全球主权者。霍布斯本人承认这一点，但他认为世界政府不可行</a:t>
            </a:r>
            <a:r>
              <a:rPr lang="en-US" altLang="zh-CN" dirty="0"/>
              <a:t>——</a:t>
            </a:r>
            <a:r>
              <a:rPr lang="zh-CN" altLang="en-US" dirty="0"/>
              <a:t>不是因为理论上错误，而是因为“信任与利益难以协调”。但这是一个经验上的困难，不是原则上的反驳。因此，霍布斯的理论实际上为世界政府留下了逻辑空间：只要世界政府是可能的，它的正当性就不亚于任何民族国家。这削弱了他为国族国家提供的辩护力度。</a:t>
            </a:r>
          </a:p>
          <a:p>
            <a:endParaRPr lang="zh-CN" altLang="en-US" dirty="0"/>
          </a:p>
          <a:p>
            <a:r>
              <a:rPr lang="zh-CN" altLang="en-US" dirty="0"/>
              <a:t>综上，霍布斯回答了“为什么要有国家”，却未能回答“为什么要这个国家”以及“为什么不只有一个国家”。</a:t>
            </a:r>
          </a:p>
        </p:txBody>
      </p:sp>
    </p:spTree>
    <p:extLst>
      <p:ext uri="{BB962C8B-B14F-4D97-AF65-F5344CB8AC3E}">
        <p14:creationId xmlns:p14="http://schemas.microsoft.com/office/powerpoint/2010/main" val="124874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6394" y="477363"/>
            <a:ext cx="5485725" cy="935413"/>
          </a:xfrm>
        </p:spPr>
        <p:txBody>
          <a:bodyPr/>
          <a:lstStyle/>
          <a:p>
            <a:r>
              <a:rPr lang="zh-CN" altLang="en-US" sz="1800" dirty="0">
                <a:solidFill>
                  <a:schemeClr val="tx1"/>
                </a:solidFill>
                <a:latin typeface="华文中宋" panose="02010600040101010101" pitchFamily="2" charset="-122"/>
                <a:ea typeface="华文中宋" panose="02010600040101010101" pitchFamily="2" charset="-122"/>
              </a:rPr>
              <a:t>“国家是</a:t>
            </a:r>
            <a:r>
              <a:rPr lang="zh-CN" altLang="en-US" sz="1800" dirty="0">
                <a:solidFill>
                  <a:srgbClr val="FF0000"/>
                </a:solidFill>
                <a:latin typeface="华文中宋" panose="02010600040101010101" pitchFamily="2" charset="-122"/>
                <a:ea typeface="华文中宋" panose="02010600040101010101" pitchFamily="2" charset="-122"/>
              </a:rPr>
              <a:t>属于统治阶级</a:t>
            </a:r>
            <a:r>
              <a:rPr lang="zh-CN" altLang="en-US" sz="1800" dirty="0">
                <a:solidFill>
                  <a:schemeClr val="tx1"/>
                </a:solidFill>
                <a:latin typeface="华文中宋" panose="02010600040101010101" pitchFamily="2" charset="-122"/>
                <a:ea typeface="华文中宋" panose="02010600040101010101" pitchFamily="2" charset="-122"/>
              </a:rPr>
              <a:t>的各个个人借以实现其</a:t>
            </a:r>
            <a:r>
              <a:rPr lang="zh-CN" altLang="en-US" sz="1800" dirty="0">
                <a:solidFill>
                  <a:srgbClr val="FF0000"/>
                </a:solidFill>
                <a:latin typeface="华文中宋" panose="02010600040101010101" pitchFamily="2" charset="-122"/>
                <a:ea typeface="华文中宋" panose="02010600040101010101" pitchFamily="2" charset="-122"/>
              </a:rPr>
              <a:t>共同利益</a:t>
            </a:r>
            <a:r>
              <a:rPr lang="zh-CN" altLang="en-US" sz="1800" dirty="0">
                <a:solidFill>
                  <a:schemeClr val="tx1"/>
                </a:solidFill>
                <a:latin typeface="华文中宋" panose="02010600040101010101" pitchFamily="2" charset="-122"/>
                <a:ea typeface="华文中宋" panose="02010600040101010101" pitchFamily="2" charset="-122"/>
              </a:rPr>
              <a:t>的形式，是该时代的</a:t>
            </a:r>
            <a:r>
              <a:rPr lang="zh-CN" altLang="en-US" sz="1800" dirty="0">
                <a:solidFill>
                  <a:srgbClr val="FF0000"/>
                </a:solidFill>
                <a:latin typeface="华文中宋" panose="02010600040101010101" pitchFamily="2" charset="-122"/>
                <a:ea typeface="华文中宋" panose="02010600040101010101" pitchFamily="2" charset="-122"/>
              </a:rPr>
              <a:t>整个市民社会</a:t>
            </a:r>
            <a:r>
              <a:rPr lang="zh-CN" altLang="en-US" sz="1800" dirty="0">
                <a:solidFill>
                  <a:schemeClr val="tx1"/>
                </a:solidFill>
                <a:latin typeface="华文中宋" panose="02010600040101010101" pitchFamily="2" charset="-122"/>
                <a:ea typeface="华文中宋" panose="02010600040101010101" pitchFamily="2" charset="-122"/>
              </a:rPr>
              <a:t>获得</a:t>
            </a:r>
            <a:r>
              <a:rPr lang="zh-CN" altLang="en-US" sz="1800" dirty="0">
                <a:solidFill>
                  <a:srgbClr val="FF0000"/>
                </a:solidFill>
                <a:latin typeface="华文中宋" panose="02010600040101010101" pitchFamily="2" charset="-122"/>
                <a:ea typeface="华文中宋" panose="02010600040101010101" pitchFamily="2" charset="-122"/>
              </a:rPr>
              <a:t>集中表现</a:t>
            </a:r>
            <a:r>
              <a:rPr lang="zh-CN" altLang="en-US" sz="1800" dirty="0">
                <a:solidFill>
                  <a:schemeClr val="tx1"/>
                </a:solidFill>
                <a:latin typeface="华文中宋" panose="02010600040101010101" pitchFamily="2" charset="-122"/>
                <a:ea typeface="华文中宋" panose="02010600040101010101" pitchFamily="2" charset="-122"/>
              </a:rPr>
              <a:t>的形式。</a:t>
            </a:r>
            <a:r>
              <a:rPr lang="en-US" altLang="zh-CN" sz="1800" dirty="0">
                <a:solidFill>
                  <a:schemeClr val="tx1"/>
                </a:solidFill>
                <a:latin typeface="华文中宋" panose="02010600040101010101" pitchFamily="2" charset="-122"/>
                <a:ea typeface="华文中宋" panose="02010600040101010101" pitchFamily="2" charset="-122"/>
              </a:rPr>
              <a:t>”</a:t>
            </a:r>
            <a:r>
              <a:rPr lang="zh-CN" altLang="en-US" sz="1800" dirty="0">
                <a:solidFill>
                  <a:schemeClr val="tx1"/>
                </a:solidFill>
                <a:latin typeface="华文中宋" panose="02010600040101010101" pitchFamily="2" charset="-122"/>
                <a:ea typeface="华文中宋" panose="02010600040101010101" pitchFamily="2" charset="-122"/>
              </a:rPr>
              <a:t>《德意志意识形态》</a:t>
            </a:r>
          </a:p>
        </p:txBody>
      </p:sp>
      <p:sp>
        <p:nvSpPr>
          <p:cNvPr id="3" name="标题 1"/>
          <p:cNvSpPr>
            <a:spLocks noGrp="1"/>
          </p:cNvSpPr>
          <p:nvPr>
            <p:custDataLst>
              <p:tags r:id="rId1"/>
            </p:custDataLst>
          </p:nvPr>
        </p:nvSpPr>
        <p:spPr>
          <a:xfrm>
            <a:off x="251460" y="65405"/>
            <a:ext cx="2520340" cy="339259"/>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r>
              <a:rPr lang="zh-CN" altLang="en-US" sz="2000" b="0" dirty="0">
                <a:latin typeface="等线" panose="02010600030101010101" pitchFamily="2" charset="-122"/>
                <a:ea typeface="等线" panose="02010600030101010101" pitchFamily="2" charset="-122"/>
              </a:rPr>
              <a:t>唯物史观的国家观</a:t>
            </a:r>
          </a:p>
        </p:txBody>
      </p:sp>
      <p:sp>
        <p:nvSpPr>
          <p:cNvPr id="7" name="标题 1"/>
          <p:cNvSpPr txBox="1">
            <a:spLocks/>
          </p:cNvSpPr>
          <p:nvPr/>
        </p:nvSpPr>
        <p:spPr>
          <a:xfrm>
            <a:off x="143261" y="1340768"/>
            <a:ext cx="3295202" cy="38399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2000">
                <a:latin typeface="华文中宋" panose="02010600040101010101" pitchFamily="2" charset="-122"/>
                <a:ea typeface="华文中宋" panose="02010600040101010101" pitchFamily="2" charset="-122"/>
              </a:rPr>
              <a:t>《黑格尔法哲学批判》导言</a:t>
            </a:r>
            <a:endParaRPr lang="zh-CN" altLang="en-US" sz="2000" dirty="0">
              <a:latin typeface="华文中宋" panose="02010600040101010101" pitchFamily="2" charset="-122"/>
              <a:ea typeface="华文中宋" panose="02010600040101010101" pitchFamily="2" charset="-122"/>
            </a:endParaRPr>
          </a:p>
        </p:txBody>
      </p:sp>
      <p:sp>
        <p:nvSpPr>
          <p:cNvPr id="8" name="内容占位符 2"/>
          <p:cNvSpPr>
            <a:spLocks noGrp="1"/>
          </p:cNvSpPr>
          <p:nvPr>
            <p:ph idx="1"/>
          </p:nvPr>
        </p:nvSpPr>
        <p:spPr>
          <a:xfrm>
            <a:off x="8062" y="1724762"/>
            <a:ext cx="9180512" cy="2138427"/>
          </a:xfrm>
        </p:spPr>
        <p:txBody>
          <a:bodyPr>
            <a:noAutofit/>
          </a:bodyPr>
          <a:lstStyle/>
          <a:p>
            <a:pPr marL="0" indent="0">
              <a:buNone/>
            </a:pPr>
            <a:r>
              <a:rPr lang="zh-CN" altLang="en-US" sz="1800" dirty="0">
                <a:latin typeface="华文中宋" panose="02010600040101010101" pitchFamily="2" charset="-122"/>
                <a:ea typeface="华文中宋" panose="02010600040101010101" pitchFamily="2" charset="-122"/>
              </a:rPr>
              <a:t>对家庭和市民社会的领域来说，国家一方面是</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外在必然性</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，是一种</a:t>
            </a:r>
            <a:r>
              <a:rPr lang="zh-CN" altLang="en-US" sz="1800" dirty="0">
                <a:solidFill>
                  <a:srgbClr val="FF0000"/>
                </a:solidFill>
                <a:latin typeface="华文中宋" panose="02010600040101010101" pitchFamily="2" charset="-122"/>
                <a:ea typeface="华文中宋" panose="02010600040101010101" pitchFamily="2" charset="-122"/>
              </a:rPr>
              <a:t>权力</a:t>
            </a:r>
            <a:r>
              <a:rPr lang="zh-CN" altLang="en-US" sz="1800" dirty="0">
                <a:latin typeface="华文中宋" panose="02010600040101010101" pitchFamily="2" charset="-122"/>
                <a:ea typeface="华文中宋" panose="02010600040101010101" pitchFamily="2" charset="-122"/>
              </a:rPr>
              <a:t>，由于这种权力，</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法规</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和</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利益</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都</a:t>
            </a:r>
            <a:r>
              <a:rPr lang="en-US" altLang="zh-CN" sz="1800" dirty="0">
                <a:latin typeface="华文中宋" panose="02010600040101010101" pitchFamily="2" charset="-122"/>
                <a:ea typeface="华文中宋" panose="02010600040101010101" pitchFamily="2" charset="-122"/>
              </a:rPr>
              <a:t>“</a:t>
            </a:r>
            <a:r>
              <a:rPr lang="zh-CN" altLang="en-US" sz="1800" dirty="0">
                <a:solidFill>
                  <a:srgbClr val="FF0000"/>
                </a:solidFill>
                <a:latin typeface="华文中宋" panose="02010600040101010101" pitchFamily="2" charset="-122"/>
                <a:ea typeface="华文中宋" panose="02010600040101010101" pitchFamily="2" charset="-122"/>
              </a:rPr>
              <a:t>从属并依存于</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国家。国家对家庭和市民社会来说，是</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外在必然性</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这一方面已经部分地包含在</a:t>
            </a:r>
            <a:r>
              <a:rPr lang="zh-CN" altLang="en-US" sz="1800" dirty="0">
                <a:solidFill>
                  <a:srgbClr val="FF0000"/>
                </a:solidFill>
                <a:latin typeface="华文中宋" panose="02010600040101010101" pitchFamily="2" charset="-122"/>
                <a:ea typeface="华文中宋" panose="02010600040101010101" pitchFamily="2" charset="-122"/>
              </a:rPr>
              <a:t>家庭和市民社会对国家的有意识的关系</a:t>
            </a:r>
            <a:r>
              <a:rPr lang="zh-CN" altLang="en-US" sz="1800" dirty="0">
                <a:latin typeface="华文中宋" panose="02010600040101010101" pitchFamily="2" charset="-122"/>
                <a:ea typeface="华文中宋" panose="02010600040101010101" pitchFamily="2" charset="-122"/>
              </a:rPr>
              <a:t>中。</a:t>
            </a:r>
          </a:p>
          <a:p>
            <a:pPr marL="0" indent="0">
              <a:buNone/>
            </a:pPr>
            <a:r>
              <a:rPr lang="zh-CN" altLang="en-US" sz="1800" dirty="0">
                <a:latin typeface="华文中宋" panose="02010600040101010101" pitchFamily="2" charset="-122"/>
                <a:ea typeface="华文中宋" panose="02010600040101010101" pitchFamily="2" charset="-122"/>
              </a:rPr>
              <a:t>家庭和市民社会是国家的真正构成部分。是国家的存在方式。</a:t>
            </a:r>
            <a:r>
              <a:rPr lang="zh-CN" altLang="en-US" sz="1800" dirty="0">
                <a:solidFill>
                  <a:srgbClr val="FF0000"/>
                </a:solidFill>
                <a:latin typeface="华文中宋" panose="02010600040101010101" pitchFamily="2" charset="-122"/>
                <a:ea typeface="华文中宋" panose="02010600040101010101" pitchFamily="2" charset="-122"/>
              </a:rPr>
              <a:t>家庭和市民社会本身把自己变成国家。它们才是真正的原动力。</a:t>
            </a:r>
            <a:r>
              <a:rPr lang="zh-CN" altLang="en-US" sz="1800" dirty="0">
                <a:latin typeface="华文中宋" panose="02010600040101010101" pitchFamily="2" charset="-122"/>
                <a:ea typeface="华文中宋" panose="02010600040101010101" pitchFamily="2" charset="-122"/>
              </a:rPr>
              <a:t>政治国家没有家庭的天然基础和市民社会的人为基础就不可能存在。他们是国家的必要条件</a:t>
            </a:r>
          </a:p>
        </p:txBody>
      </p:sp>
      <p:sp>
        <p:nvSpPr>
          <p:cNvPr id="10" name="标题 1"/>
          <p:cNvSpPr txBox="1">
            <a:spLocks/>
          </p:cNvSpPr>
          <p:nvPr/>
        </p:nvSpPr>
        <p:spPr>
          <a:xfrm>
            <a:off x="107504" y="3501008"/>
            <a:ext cx="5184512" cy="94872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1800">
                <a:latin typeface="华文中宋" panose="02010600040101010101" pitchFamily="2" charset="-122"/>
                <a:ea typeface="华文中宋" panose="02010600040101010101" pitchFamily="2" charset="-122"/>
              </a:rPr>
              <a:t>《论国家》</a:t>
            </a:r>
            <a:r>
              <a:rPr lang="zh-CN" altLang="en-US" sz="1800">
                <a:latin typeface="华文宋体" panose="02010600040101010101" pitchFamily="2" charset="-122"/>
                <a:ea typeface="华文宋体" panose="02010600040101010101" pitchFamily="2" charset="-122"/>
              </a:rPr>
              <a:t>（</a:t>
            </a:r>
            <a:r>
              <a:rPr lang="en-US" altLang="zh-CN" sz="1800">
                <a:latin typeface="华文宋体" panose="02010600040101010101" pitchFamily="2" charset="-122"/>
                <a:ea typeface="华文宋体" panose="02010600040101010101" pitchFamily="2" charset="-122"/>
              </a:rPr>
              <a:t>1919</a:t>
            </a:r>
            <a:r>
              <a:rPr lang="zh-CN" altLang="en-US" sz="1800">
                <a:latin typeface="华文宋体" panose="02010600040101010101" pitchFamily="2" charset="-122"/>
                <a:ea typeface="华文宋体" panose="02010600040101010101" pitchFamily="2" charset="-122"/>
              </a:rPr>
              <a:t>）</a:t>
            </a:r>
            <a:br>
              <a:rPr lang="zh-CN" altLang="en-US" sz="1800">
                <a:latin typeface="华文宋体" panose="02010600040101010101" pitchFamily="2" charset="-122"/>
                <a:ea typeface="华文宋体" panose="02010600040101010101" pitchFamily="2" charset="-122"/>
              </a:rPr>
            </a:br>
            <a:r>
              <a:rPr lang="zh-CN" altLang="en-US" sz="1800">
                <a:latin typeface="华文中宋" panose="02010600040101010101" pitchFamily="2" charset="-122"/>
                <a:ea typeface="华文中宋" panose="02010600040101010101" pitchFamily="2" charset="-122"/>
              </a:rPr>
              <a:t>国家问题是</a:t>
            </a:r>
            <a:r>
              <a:rPr lang="en-US" altLang="zh-CN" sz="1800">
                <a:latin typeface="华文中宋" panose="02010600040101010101" pitchFamily="2" charset="-122"/>
                <a:ea typeface="华文中宋" panose="02010600040101010101" pitchFamily="2" charset="-122"/>
              </a:rPr>
              <a:t>“</a:t>
            </a:r>
            <a:r>
              <a:rPr lang="zh-CN" altLang="en-US" sz="1800">
                <a:latin typeface="华文中宋" panose="02010600040101010101" pitchFamily="2" charset="-122"/>
                <a:ea typeface="华文中宋" panose="02010600040101010101" pitchFamily="2" charset="-122"/>
              </a:rPr>
              <a:t>全部政治的根本问题</a:t>
            </a:r>
            <a:r>
              <a:rPr lang="en-US" altLang="zh-CN" sz="1800">
                <a:latin typeface="华文中宋" panose="02010600040101010101" pitchFamily="2" charset="-122"/>
                <a:ea typeface="华文中宋" panose="02010600040101010101" pitchFamily="2" charset="-122"/>
              </a:rPr>
              <a:t>”</a:t>
            </a:r>
            <a:r>
              <a:rPr lang="zh-CN" altLang="en-US" sz="1800">
                <a:latin typeface="华文中宋" panose="02010600040101010101" pitchFamily="2" charset="-122"/>
                <a:ea typeface="华文中宋" panose="02010600040101010101" pitchFamily="2" charset="-122"/>
              </a:rPr>
              <a:t>。国家的实质是维护阶级统治的机器。</a:t>
            </a:r>
            <a:endParaRPr lang="zh-CN" altLang="en-US" sz="1800" dirty="0"/>
          </a:p>
        </p:txBody>
      </p:sp>
      <p:sp>
        <p:nvSpPr>
          <p:cNvPr id="11" name="内容占位符 2"/>
          <p:cNvSpPr txBox="1">
            <a:spLocks/>
          </p:cNvSpPr>
          <p:nvPr/>
        </p:nvSpPr>
        <p:spPr>
          <a:xfrm>
            <a:off x="395536" y="4509120"/>
            <a:ext cx="7992772" cy="159209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“国家不是从来就有的。曾经有过一个时候是没有国家的。国家是在社会划分为</a:t>
            </a:r>
            <a:r>
              <a:rPr lang="zh-CN" altLang="en-US" sz="1800">
                <a:solidFill>
                  <a:srgbClr val="FF0000"/>
                </a:solidFill>
                <a:latin typeface="华文中宋" panose="02010600040101010101" pitchFamily="2" charset="-122"/>
                <a:ea typeface="华文中宋" panose="02010600040101010101" pitchFamily="2" charset="-122"/>
              </a:rPr>
              <a:t>阶级</a:t>
            </a:r>
            <a:r>
              <a:rPr lang="zh-CN" altLang="en-US" sz="1800">
                <a:latin typeface="华文中宋" panose="02010600040101010101" pitchFamily="2" charset="-122"/>
                <a:ea typeface="华文中宋" panose="02010600040101010101" pitchFamily="2" charset="-122"/>
              </a:rPr>
              <a:t>的地方和时候、在</a:t>
            </a:r>
            <a:r>
              <a:rPr lang="zh-CN" altLang="en-US" sz="1800">
                <a:solidFill>
                  <a:srgbClr val="FF0000"/>
                </a:solidFill>
                <a:latin typeface="华文中宋" panose="02010600040101010101" pitchFamily="2" charset="-122"/>
                <a:ea typeface="华文中宋" panose="02010600040101010101" pitchFamily="2" charset="-122"/>
              </a:rPr>
              <a:t>剥削者和被剥削</a:t>
            </a:r>
            <a:r>
              <a:rPr lang="zh-CN" altLang="en-US" sz="1800">
                <a:latin typeface="华文中宋" panose="02010600040101010101" pitchFamily="2" charset="-122"/>
                <a:ea typeface="华文中宋" panose="02010600040101010101" pitchFamily="2" charset="-122"/>
              </a:rPr>
              <a:t>者出现的时候才出现的。”</a:t>
            </a:r>
          </a:p>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“历史告诉我们， 国家这种</a:t>
            </a:r>
            <a:r>
              <a:rPr lang="zh-CN" altLang="en-US" sz="1800">
                <a:solidFill>
                  <a:srgbClr val="FF0000"/>
                </a:solidFill>
                <a:latin typeface="华文中宋" panose="02010600040101010101" pitchFamily="2" charset="-122"/>
                <a:ea typeface="华文中宋" panose="02010600040101010101" pitchFamily="2" charset="-122"/>
              </a:rPr>
              <a:t>强制人</a:t>
            </a:r>
            <a:r>
              <a:rPr lang="zh-CN" altLang="en-US" sz="1800">
                <a:latin typeface="华文中宋" panose="02010600040101010101" pitchFamily="2" charset="-122"/>
                <a:ea typeface="华文中宋" panose="02010600040101010101" pitchFamily="2" charset="-122"/>
              </a:rPr>
              <a:t>的</a:t>
            </a:r>
            <a:r>
              <a:rPr lang="zh-CN" altLang="en-US" sz="1800">
                <a:solidFill>
                  <a:srgbClr val="FF0000"/>
                </a:solidFill>
                <a:latin typeface="华文中宋" panose="02010600040101010101" pitchFamily="2" charset="-122"/>
                <a:ea typeface="华文中宋" panose="02010600040101010101" pitchFamily="2" charset="-122"/>
              </a:rPr>
              <a:t>特殊机构</a:t>
            </a:r>
            <a:r>
              <a:rPr lang="zh-CN" altLang="en-US" sz="1800">
                <a:latin typeface="华文中宋" panose="02010600040101010101" pitchFamily="2" charset="-122"/>
                <a:ea typeface="华文中宋" panose="02010600040101010101" pitchFamily="2" charset="-122"/>
              </a:rPr>
              <a:t>，只是在</a:t>
            </a:r>
            <a:r>
              <a:rPr lang="zh-CN" altLang="en-US" sz="1800">
                <a:solidFill>
                  <a:srgbClr val="FF0000"/>
                </a:solidFill>
                <a:latin typeface="华文中宋" panose="02010600040101010101" pitchFamily="2" charset="-122"/>
                <a:ea typeface="华文中宋" panose="02010600040101010101" pitchFamily="2" charset="-122"/>
              </a:rPr>
              <a:t>社会划分为阶级</a:t>
            </a:r>
            <a:r>
              <a:rPr lang="zh-CN" altLang="en-US" sz="1800">
                <a:latin typeface="华文中宋" panose="02010600040101010101" pitchFamily="2" charset="-122"/>
                <a:ea typeface="华文中宋" panose="02010600040101010101" pitchFamily="2" charset="-122"/>
              </a:rPr>
              <a:t>，即划分为这样一些集团， 其中一些集团能够经常占有另一些集团的劳动的地方和时候， 只是在</a:t>
            </a:r>
            <a:r>
              <a:rPr lang="zh-CN" altLang="en-US" sz="1800">
                <a:solidFill>
                  <a:srgbClr val="FF0000"/>
                </a:solidFill>
                <a:latin typeface="华文中宋" panose="02010600040101010101" pitchFamily="2" charset="-122"/>
                <a:ea typeface="华文中宋" panose="02010600040101010101" pitchFamily="2" charset="-122"/>
              </a:rPr>
              <a:t>人剥削人的地方</a:t>
            </a:r>
            <a:r>
              <a:rPr lang="zh-CN" altLang="en-US" sz="1800">
                <a:latin typeface="华文中宋" panose="02010600040101010101" pitchFamily="2" charset="-122"/>
                <a:ea typeface="华文中宋" panose="02010600040101010101" pitchFamily="2" charset="-122"/>
              </a:rPr>
              <a:t>，才产生出来的。”</a:t>
            </a:r>
            <a:endParaRPr lang="zh-CN" altLang="en-US" sz="1800" dirty="0">
              <a:latin typeface="华文中宋" panose="02010600040101010101" pitchFamily="2" charset="-122"/>
              <a:ea typeface="华文中宋" panose="020106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715" y="156490"/>
            <a:ext cx="2307045" cy="420090"/>
          </a:xfrm>
        </p:spPr>
        <p:txBody>
          <a:bodyPr/>
          <a:lstStyle/>
          <a:p>
            <a:r>
              <a:rPr lang="zh-CN" altLang="en-US" sz="2000" dirty="0">
                <a:latin typeface="华文中宋" panose="02010600040101010101" pitchFamily="2" charset="-122"/>
                <a:ea typeface="华文中宋" panose="02010600040101010101" pitchFamily="2" charset="-122"/>
              </a:rPr>
              <a:t>罗伯特·诺齐克</a:t>
            </a:r>
          </a:p>
        </p:txBody>
      </p:sp>
      <p:sp>
        <p:nvSpPr>
          <p:cNvPr id="5" name="内容占位符 2">
            <a:extLst>
              <a:ext uri="{FF2B5EF4-FFF2-40B4-BE49-F238E27FC236}">
                <a16:creationId xmlns:a16="http://schemas.microsoft.com/office/drawing/2014/main" id="{F5B5B179-8F4D-14BB-FDC4-A15B3865C53B}"/>
              </a:ext>
            </a:extLst>
          </p:cNvPr>
          <p:cNvSpPr>
            <a:spLocks noGrp="1"/>
          </p:cNvSpPr>
          <p:nvPr/>
        </p:nvSpPr>
        <p:spPr>
          <a:xfrm>
            <a:off x="0" y="548680"/>
            <a:ext cx="7812360" cy="864096"/>
          </a:xfrm>
          <a:prstGeom prst="rect">
            <a:avLst/>
          </a:prstGeom>
        </p:spPr>
        <p:txBody>
          <a:bodyPr vert="horz" rtlCol="0">
            <a:normAutofit/>
          </a:bodyPr>
          <a:lstStyle>
            <a:lvl1pPr marL="342900" indent="-342900" algn="l" rtl="0" eaLnBrk="1" latinLnBrk="0" hangingPunct="1">
              <a:spcBef>
                <a:spcPct val="20000"/>
              </a:spcBef>
              <a:buClr>
                <a:schemeClr val="tx2"/>
              </a:buClr>
              <a:buSzPct val="90000"/>
              <a:buFont typeface="Cambria" panose="02040503050406030204"/>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panose="02040503050406030204"/>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panose="05020102010507070707"/>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panose="020F0502020204030204"/>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panose="02040503050406030204"/>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None/>
            </a:pP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最低限度的国家</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弱国家</a:t>
            </a:r>
            <a:r>
              <a:rPr lang="en-US" altLang="zh-CN" sz="1800" dirty="0">
                <a:latin typeface="华文中宋" panose="02010600040101010101" pitchFamily="2" charset="-122"/>
                <a:ea typeface="华文中宋" panose="02010600040101010101" pitchFamily="2" charset="-122"/>
              </a:rPr>
              <a:t>”</a:t>
            </a:r>
          </a:p>
          <a:p>
            <a:pPr marL="0" indent="0">
              <a:buNone/>
            </a:pPr>
            <a:r>
              <a:rPr lang="zh-CN" altLang="en-US" sz="1800" dirty="0">
                <a:latin typeface="华文中宋" panose="02010600040101010101" pitchFamily="2" charset="-122"/>
                <a:ea typeface="华文中宋" panose="02010600040101010101" pitchFamily="2" charset="-122"/>
              </a:rPr>
              <a:t>国家的</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功能仅仅限于保护人们免于暴力、偷窃、欺诈以及强制履行契约。</a:t>
            </a:r>
            <a:r>
              <a:rPr lang="en-US" altLang="zh-CN" sz="1800" dirty="0">
                <a:latin typeface="华文中宋" panose="02010600040101010101" pitchFamily="2" charset="-122"/>
                <a:ea typeface="华文中宋" panose="02010600040101010101" pitchFamily="2" charset="-122"/>
              </a:rPr>
              <a:t>”</a:t>
            </a:r>
          </a:p>
        </p:txBody>
      </p:sp>
      <p:sp>
        <p:nvSpPr>
          <p:cNvPr id="9" name="内容占位符 2"/>
          <p:cNvSpPr>
            <a:spLocks noGrp="1"/>
          </p:cNvSpPr>
          <p:nvPr>
            <p:ph idx="1"/>
          </p:nvPr>
        </p:nvSpPr>
        <p:spPr>
          <a:xfrm>
            <a:off x="179512" y="1412776"/>
            <a:ext cx="8247202" cy="719852"/>
          </a:xfrm>
        </p:spPr>
        <p:txBody>
          <a:bodyPr>
            <a:normAutofit lnSpcReduction="10000"/>
          </a:bodyPr>
          <a:lstStyle/>
          <a:p>
            <a:pPr marL="0" indent="0">
              <a:buNone/>
            </a:pPr>
            <a:r>
              <a:rPr lang="zh-CN" altLang="en-US" sz="1800" dirty="0">
                <a:latin typeface="华文中宋" panose="02010600040101010101" pitchFamily="2" charset="-122"/>
                <a:ea typeface="华文中宋" panose="02010600040101010101" pitchFamily="2" charset="-122"/>
              </a:rPr>
              <a:t>民族实际上只不过是一个由群体想象的、有限的、具有主权的共同体。</a:t>
            </a:r>
          </a:p>
          <a:p>
            <a:pPr marL="0" indent="0">
              <a:buNone/>
            </a:pPr>
            <a:r>
              <a:rPr lang="en-US" altLang="zh-CN" sz="1800" dirty="0" err="1">
                <a:latin typeface="华文中宋" panose="02010600040101010101" pitchFamily="2" charset="-122"/>
                <a:ea typeface="华文中宋" panose="02010600040101010101" pitchFamily="2" charset="-122"/>
              </a:rPr>
              <a:t>本尼迪克特·安德森</a:t>
            </a:r>
            <a:endParaRPr lang="en-US" altLang="zh-CN" sz="1800" dirty="0">
              <a:latin typeface="华文中宋" panose="02010600040101010101" pitchFamily="2" charset="-122"/>
              <a:ea typeface="华文中宋" panose="02010600040101010101" pitchFamily="2" charset="-122"/>
            </a:endParaRPr>
          </a:p>
        </p:txBody>
      </p:sp>
      <p:sp>
        <p:nvSpPr>
          <p:cNvPr id="10" name="内容占位符 2"/>
          <p:cNvSpPr txBox="1">
            <a:spLocks/>
          </p:cNvSpPr>
          <p:nvPr/>
        </p:nvSpPr>
        <p:spPr>
          <a:xfrm>
            <a:off x="179512" y="2492896"/>
            <a:ext cx="8687435" cy="582295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lnSpc>
                <a:spcPct val="80000"/>
              </a:lnSpc>
              <a:buFont typeface="Wingdings 3" panose="05040102010807070707" charset="2"/>
              <a:buNone/>
            </a:pPr>
            <a:r>
              <a:rPr lang="zh-CN" altLang="en-US" sz="1800">
                <a:latin typeface="宋体" panose="02010600030101010101" pitchFamily="2" charset="-122"/>
                <a:ea typeface="宋体" panose="02010600030101010101" pitchFamily="2" charset="-122"/>
                <a:cs typeface="华文楷体" panose="02010600040101010101" charset="-122"/>
              </a:rPr>
              <a:t>政治动物</a:t>
            </a:r>
            <a:r>
              <a:rPr lang="en-US" altLang="zh-CN" sz="1800">
                <a:latin typeface="宋体" panose="02010600030101010101" pitchFamily="2" charset="-122"/>
                <a:ea typeface="宋体" panose="02010600030101010101" pitchFamily="2" charset="-122"/>
                <a:cs typeface="华文楷体" panose="02010600040101010101" charset="-122"/>
              </a:rPr>
              <a:t>(zōon politikon)→</a:t>
            </a:r>
            <a:r>
              <a:rPr lang="zh-CN" altLang="en-US" sz="1800">
                <a:latin typeface="宋体" panose="02010600030101010101" pitchFamily="2" charset="-122"/>
                <a:ea typeface="宋体" panose="02010600030101010101" pitchFamily="2" charset="-122"/>
                <a:cs typeface="华文楷体" panose="02010600040101010101" charset="-122"/>
              </a:rPr>
              <a:t>社会动物</a:t>
            </a:r>
            <a:r>
              <a:rPr lang="en-US" altLang="zh-CN" sz="1800">
                <a:latin typeface="宋体" panose="02010600030101010101" pitchFamily="2" charset="-122"/>
                <a:ea typeface="宋体" panose="02010600030101010101" pitchFamily="2" charset="-122"/>
                <a:cs typeface="华文楷体" panose="02010600040101010101" charset="-122"/>
              </a:rPr>
              <a:t>(animal socialis,societas:</a:t>
            </a:r>
          </a:p>
          <a:p>
            <a:pPr marL="0" indent="0">
              <a:lnSpc>
                <a:spcPct val="80000"/>
              </a:lnSpc>
              <a:buFont typeface="Wingdings 3" panose="05040102010807070707" charset="2"/>
              <a:buNone/>
            </a:pPr>
            <a:r>
              <a:rPr lang="en-US" altLang="zh-CN" sz="1800">
                <a:latin typeface="仿宋" panose="02010609060101010101" charset="-122"/>
                <a:ea typeface="仿宋" panose="02010609060101010101" charset="-122"/>
                <a:cs typeface="仿宋" panose="02010609060101010101" charset="-122"/>
              </a:rPr>
              <a:t>“</a:t>
            </a:r>
            <a:r>
              <a:rPr lang="zh-CN" altLang="en-US" sz="1800">
                <a:latin typeface="仿宋" panose="02010609060101010101" charset="-122"/>
                <a:ea typeface="仿宋" panose="02010609060101010101" charset="-122"/>
                <a:cs typeface="仿宋" panose="02010609060101010101" charset="-122"/>
              </a:rPr>
              <a:t>人民之间为了一个特定目标而结成的联盟，比如一群人为了统治另一群人而组织起来，甚至为了犯一桩罪行而组织起来”，后来随着</a:t>
            </a:r>
            <a:r>
              <a:rPr lang="en-US" altLang="zh-CN" sz="1800">
                <a:latin typeface="仿宋" panose="02010609060101010101" charset="-122"/>
                <a:ea typeface="仿宋" panose="02010609060101010101" charset="-122"/>
                <a:cs typeface="仿宋" panose="02010609060101010101" charset="-122"/>
              </a:rPr>
              <a:t>societas generis humani[</a:t>
            </a:r>
            <a:r>
              <a:rPr lang="zh-CN" altLang="en-US" sz="1800">
                <a:latin typeface="仿宋" panose="02010609060101010101" charset="-122"/>
                <a:ea typeface="仿宋" panose="02010609060101010101" charset="-122"/>
                <a:cs typeface="仿宋" panose="02010609060101010101" charset="-122"/>
              </a:rPr>
              <a:t>人</a:t>
            </a:r>
            <a:r>
              <a:rPr lang="en-US" altLang="zh-CN" sz="1800">
                <a:latin typeface="仿宋" panose="02010609060101010101" charset="-122"/>
                <a:ea typeface="仿宋" panose="02010609060101010101" charset="-122"/>
                <a:cs typeface="仿宋" panose="02010609060101010101" charset="-122"/>
              </a:rPr>
              <a:t>-</a:t>
            </a:r>
            <a:r>
              <a:rPr lang="zh-CN" altLang="en-US" sz="1800">
                <a:latin typeface="仿宋" panose="02010609060101010101" charset="-122"/>
                <a:ea typeface="仿宋" panose="02010609060101010101" charset="-122"/>
                <a:cs typeface="仿宋" panose="02010609060101010101" charset="-122"/>
              </a:rPr>
              <a:t>类社会</a:t>
            </a:r>
            <a:r>
              <a:rPr lang="en-US" altLang="zh-CN" sz="1800">
                <a:latin typeface="仿宋" panose="02010609060101010101" charset="-122"/>
                <a:ea typeface="仿宋" panose="02010609060101010101" charset="-122"/>
                <a:cs typeface="仿宋" panose="02010609060101010101" charset="-122"/>
              </a:rPr>
              <a:t>]</a:t>
            </a:r>
            <a:r>
              <a:rPr lang="zh-CN" altLang="en-US" sz="1800">
                <a:latin typeface="仿宋" panose="02010609060101010101" charset="-122"/>
                <a:ea typeface="仿宋" panose="02010609060101010101" charset="-122"/>
                <a:cs typeface="仿宋" panose="02010609060101010101" charset="-122"/>
              </a:rPr>
              <a:t>的出现，“社会”才获得它作为一种基本的人类处境的一般性意义。</a:t>
            </a:r>
            <a:endParaRPr lang="en-US" altLang="zh-CN" sz="1800">
              <a:latin typeface="宋体" panose="02010600030101010101" pitchFamily="2" charset="-122"/>
              <a:ea typeface="宋体" panose="02010600030101010101" pitchFamily="2" charset="-122"/>
              <a:cs typeface="华文楷体" panose="02010600040101010101" charset="-122"/>
            </a:endParaRPr>
          </a:p>
          <a:p>
            <a:pPr marL="0" indent="0">
              <a:lnSpc>
                <a:spcPct val="80000"/>
              </a:lnSpc>
              <a:buFont typeface="Wingdings 3" panose="05040102010807070707" charset="2"/>
              <a:buNone/>
            </a:pPr>
            <a:r>
              <a:rPr lang="zh-CN" altLang="en-US" sz="1800">
                <a:latin typeface="宋体" panose="02010600030101010101" pitchFamily="2" charset="-122"/>
                <a:ea typeface="宋体" panose="02010600030101010101" pitchFamily="2" charset="-122"/>
                <a:cs typeface="华文楷体" panose="02010600040101010101" charset="-122"/>
              </a:rPr>
              <a:t>政治生活</a:t>
            </a:r>
            <a:r>
              <a:rPr lang="en-US" altLang="zh-CN" sz="1800">
                <a:latin typeface="宋体" panose="02010600030101010101" pitchFamily="2" charset="-122"/>
                <a:ea typeface="宋体" panose="02010600030101010101" pitchFamily="2" charset="-122"/>
                <a:cs typeface="华文楷体" panose="02010600040101010101" charset="-122"/>
              </a:rPr>
              <a:t>(bios politikos)   </a:t>
            </a:r>
            <a:r>
              <a:rPr lang="zh-CN" altLang="en-US" sz="1800">
                <a:latin typeface="宋体" panose="02010600030101010101" pitchFamily="2" charset="-122"/>
                <a:ea typeface="宋体" panose="02010600030101010101" pitchFamily="2" charset="-122"/>
                <a:cs typeface="华文楷体" panose="02010600040101010101" charset="-122"/>
              </a:rPr>
              <a:t>奥古斯丁“交谈或实践的生活”</a:t>
            </a:r>
            <a:r>
              <a:rPr lang="en-US" altLang="zh-CN" sz="1800">
                <a:latin typeface="宋体" panose="02010600030101010101" pitchFamily="2" charset="-122"/>
                <a:ea typeface="宋体" panose="02010600030101010101" pitchFamily="2" charset="-122"/>
                <a:cs typeface="华文楷体" panose="02010600040101010101" charset="-122"/>
              </a:rPr>
              <a:t>(vita negotisa or actuosa)</a:t>
            </a:r>
          </a:p>
          <a:p>
            <a:endParaRPr lang="zh-CN" altLang="en-US" sz="180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descr="âshanghai imageâçå¾çæç´¢ç»æ"/>
          <p:cNvSpPr>
            <a:spLocks noChangeAspect="1" noChangeArrowheads="1"/>
          </p:cNvSpPr>
          <p:nvPr/>
        </p:nvSpPr>
        <p:spPr bwMode="auto">
          <a:xfrm>
            <a:off x="320040" y="-182881"/>
            <a:ext cx="274320" cy="365761"/>
          </a:xfrm>
          <a:prstGeom prst="rect">
            <a:avLst/>
          </a:prstGeom>
          <a:noFill/>
        </p:spPr>
        <p:txBody>
          <a:bodyPr vert="horz" wrap="square" lIns="109728" tIns="54864" rIns="109728" bIns="54864" numCol="1" anchor="t" anchorCtr="0" compatLnSpc="1"/>
          <a:lstStyle/>
          <a:p>
            <a:endParaRPr lang="zh-CN" altLang="en-US" sz="2160"/>
          </a:p>
        </p:txBody>
      </p:sp>
      <p:sp>
        <p:nvSpPr>
          <p:cNvPr id="7" name="标题 1"/>
          <p:cNvSpPr txBox="1"/>
          <p:nvPr/>
        </p:nvSpPr>
        <p:spPr>
          <a:xfrm>
            <a:off x="1007604" y="2305677"/>
            <a:ext cx="6995160" cy="1470025"/>
          </a:xfrm>
          <a:prstGeom prst="rect">
            <a:avLst/>
          </a:prstGeom>
        </p:spPr>
        <p:txBody>
          <a:bodyPr vert="horz" lIns="109728" tIns="54864" rIns="109728" bIns="54864" rtlCol="0" anchor="ctr">
            <a:normAutofit fontScale="90000" lnSpcReduction="10000"/>
          </a:bodyPr>
          <a:lstStyle/>
          <a:p>
            <a:pPr algn="ctr" defTabSz="1097280">
              <a:spcBef>
                <a:spcPct val="0"/>
              </a:spcBef>
              <a:defRPr/>
            </a:pPr>
            <a:br>
              <a:rPr lang="zh-CN" altLang="zh-CN" sz="5280" dirty="0">
                <a:solidFill>
                  <a:srgbClr val="C00000"/>
                </a:solidFill>
                <a:latin typeface="+mj-lt"/>
                <a:ea typeface="+mj-ea"/>
                <a:cs typeface="+mj-cs"/>
              </a:rPr>
            </a:br>
            <a:endParaRPr lang="zh-CN" altLang="en-US" sz="5280" dirty="0">
              <a:solidFill>
                <a:srgbClr val="C00000"/>
              </a:solidFill>
              <a:latin typeface="+mj-lt"/>
              <a:ea typeface="+mj-ea"/>
              <a:cs typeface="+mj-cs"/>
            </a:endParaRPr>
          </a:p>
        </p:txBody>
      </p:sp>
      <p:graphicFrame>
        <p:nvGraphicFramePr>
          <p:cNvPr id="9" name="图示 8"/>
          <p:cNvGraphicFramePr/>
          <p:nvPr>
            <p:extLst>
              <p:ext uri="{D42A27DB-BD31-4B8C-83A1-F6EECF244321}">
                <p14:modId xmlns:p14="http://schemas.microsoft.com/office/powerpoint/2010/main" val="1905954746"/>
              </p:ext>
            </p:extLst>
          </p:nvPr>
        </p:nvGraphicFramePr>
        <p:xfrm>
          <a:off x="299327" y="1268761"/>
          <a:ext cx="3532410" cy="3228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3"/>
          <p:cNvSpPr txBox="1">
            <a:spLocks noChangeArrowheads="1"/>
          </p:cNvSpPr>
          <p:nvPr/>
        </p:nvSpPr>
        <p:spPr bwMode="auto">
          <a:xfrm>
            <a:off x="1979712" y="546079"/>
            <a:ext cx="5249384" cy="605790"/>
          </a:xfrm>
          <a:prstGeom prst="rect">
            <a:avLst/>
          </a:prstGeom>
          <a:noFill/>
          <a:ln w="9525">
            <a:noFill/>
            <a:miter lim="800000"/>
          </a:ln>
        </p:spPr>
        <p:txBody>
          <a:bodyPr anchor="ctr"/>
          <a:lstStyle/>
          <a:p>
            <a:pPr lvl="0"/>
            <a:r>
              <a:rPr lang="zh-CN" altLang="en-US" sz="3360" b="1" dirty="0">
                <a:solidFill>
                  <a:srgbClr val="A20000"/>
                </a:solidFill>
              </a:rPr>
              <a:t> </a:t>
            </a:r>
            <a:r>
              <a:rPr lang="zh-CN" altLang="en-US" sz="3840" b="1" dirty="0">
                <a:solidFill>
                  <a:srgbClr val="A20000"/>
                </a:solidFill>
                <a:latin typeface="华文中宋" panose="02010600040101010101" pitchFamily="2" charset="-122"/>
                <a:ea typeface="华文中宋" panose="02010600040101010101" pitchFamily="2" charset="-122"/>
              </a:rPr>
              <a:t>新时代的</a:t>
            </a:r>
            <a:r>
              <a:rPr lang="zh-CN" altLang="zh-CN" sz="3840" b="1" dirty="0">
                <a:solidFill>
                  <a:srgbClr val="A20000"/>
                </a:solidFill>
                <a:latin typeface="华文中宋" panose="02010600040101010101" pitchFamily="2" charset="-122"/>
                <a:ea typeface="华文中宋" panose="02010600040101010101" pitchFamily="2" charset="-122"/>
              </a:rPr>
              <a:t>爱国主义</a:t>
            </a:r>
            <a:r>
              <a:rPr lang="en-US" altLang="zh-CN" sz="3840" b="1" dirty="0">
                <a:solidFill>
                  <a:srgbClr val="A20000"/>
                </a:solidFill>
                <a:latin typeface="华文中宋" panose="02010600040101010101" pitchFamily="2" charset="-122"/>
                <a:ea typeface="华文中宋" panose="02010600040101010101" pitchFamily="2" charset="-122"/>
              </a:rPr>
              <a:t> </a:t>
            </a:r>
            <a:endParaRPr lang="zh-CN" altLang="zh-CN" sz="3840" b="1" dirty="0">
              <a:solidFill>
                <a:srgbClr val="A20000"/>
              </a:solidFill>
              <a:latin typeface="华文中宋" panose="02010600040101010101" pitchFamily="2" charset="-122"/>
              <a:ea typeface="华文中宋" panose="02010600040101010101" pitchFamily="2" charset="-122"/>
            </a:endParaRPr>
          </a:p>
        </p:txBody>
      </p:sp>
      <p:sp>
        <p:nvSpPr>
          <p:cNvPr id="12" name="文本框 3"/>
          <p:cNvSpPr txBox="1"/>
          <p:nvPr/>
        </p:nvSpPr>
        <p:spPr>
          <a:xfrm>
            <a:off x="813182" y="663893"/>
            <a:ext cx="324036" cy="683264"/>
          </a:xfrm>
          <a:prstGeom prst="rect">
            <a:avLst/>
          </a:prstGeom>
          <a:noFill/>
        </p:spPr>
        <p:txBody>
          <a:bodyPr wrap="square" rtlCol="0">
            <a:spAutoFit/>
          </a:bodyPr>
          <a:lstStyle/>
          <a:p>
            <a:r>
              <a:rPr kumimoji="1" lang="en-US" altLang="zh-CN" sz="3840" b="1">
                <a:solidFill>
                  <a:srgbClr val="A80000"/>
                </a:solidFill>
                <a:latin typeface="华文中宋" panose="02010600040101010101" pitchFamily="2" charset="-122"/>
                <a:ea typeface="华文中宋" panose="02010600040101010101" pitchFamily="2" charset="-122"/>
              </a:rPr>
              <a:t>1</a:t>
            </a:r>
            <a:endParaRPr kumimoji="1" lang="zh-CN" altLang="en-US" sz="3840" b="1" dirty="0">
              <a:solidFill>
                <a:srgbClr val="A80000"/>
              </a:solidFill>
              <a:latin typeface="华文中宋" panose="02010600040101010101" pitchFamily="2" charset="-122"/>
              <a:ea typeface="华文中宋" panose="02010600040101010101" pitchFamily="2" charset="-122"/>
            </a:endParaRPr>
          </a:p>
        </p:txBody>
      </p:sp>
      <p:sp>
        <p:nvSpPr>
          <p:cNvPr id="13" name="圆角矩形 2"/>
          <p:cNvSpPr>
            <a:spLocks noChangeArrowheads="1"/>
          </p:cNvSpPr>
          <p:nvPr/>
        </p:nvSpPr>
        <p:spPr bwMode="auto">
          <a:xfrm>
            <a:off x="748376" y="663894"/>
            <a:ext cx="453650" cy="604867"/>
          </a:xfrm>
          <a:prstGeom prst="roundRect">
            <a:avLst>
              <a:gd name="adj" fmla="val 16667"/>
            </a:avLst>
          </a:prstGeom>
          <a:noFill/>
          <a:ln w="9525">
            <a:solidFill>
              <a:schemeClr val="tx1"/>
            </a:solidFill>
            <a:round/>
          </a:ln>
        </p:spPr>
        <p:txBody>
          <a:bodyPr/>
          <a:lstStyle/>
          <a:p>
            <a:endParaRPr lang="zh-CN" altLang="en-US" sz="2160"/>
          </a:p>
        </p:txBody>
      </p:sp>
      <p:sp>
        <p:nvSpPr>
          <p:cNvPr id="15" name="灯片编号占位符 5"/>
          <p:cNvSpPr>
            <a:spLocks noGrp="1"/>
          </p:cNvSpPr>
          <p:nvPr>
            <p:ph type="sldNum" sz="quarter" idx="12"/>
          </p:nvPr>
        </p:nvSpPr>
        <p:spPr>
          <a:xfrm>
            <a:off x="7724075" y="6356353"/>
            <a:ext cx="757939" cy="365125"/>
          </a:xfrm>
        </p:spPr>
        <p:txBody>
          <a:bodyPr/>
          <a:lstStyle/>
          <a:p>
            <a:pPr algn="r"/>
            <a:fld id="{46610953-BA4E-49FE-B1A3-BF641379F469}" type="slidenum">
              <a:rPr lang="zh-CN" altLang="en-US" smtClean="0"/>
              <a:t>13</a:t>
            </a:fld>
            <a:endParaRPr lang="zh-CN" altLang="en-US" dirty="0"/>
          </a:p>
        </p:txBody>
      </p:sp>
      <p:sp>
        <p:nvSpPr>
          <p:cNvPr id="2" name="标题 1"/>
          <p:cNvSpPr txBox="1">
            <a:spLocks/>
          </p:cNvSpPr>
          <p:nvPr/>
        </p:nvSpPr>
        <p:spPr>
          <a:xfrm>
            <a:off x="4355976" y="1412776"/>
            <a:ext cx="3151186" cy="383994"/>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000"/>
              <a:t> </a:t>
            </a:r>
            <a:r>
              <a:rPr lang="zh-CN" altLang="en-US" sz="2000"/>
              <a:t>爱国是自然正当的情感</a:t>
            </a:r>
            <a:endParaRPr lang="zh-CN" altLang="en-US" sz="2000" dirty="0"/>
          </a:p>
        </p:txBody>
      </p:sp>
      <p:sp>
        <p:nvSpPr>
          <p:cNvPr id="3" name="内容占位符 2"/>
          <p:cNvSpPr txBox="1">
            <a:spLocks/>
          </p:cNvSpPr>
          <p:nvPr/>
        </p:nvSpPr>
        <p:spPr>
          <a:xfrm>
            <a:off x="4499992" y="1844824"/>
            <a:ext cx="2664180" cy="800011"/>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2000" b="0" i="0" kern="1200" cap="all">
                <a:solidFill>
                  <a:schemeClr val="bg2">
                    <a:lumMod val="40000"/>
                    <a:lumOff val="60000"/>
                  </a:schemeClr>
                </a:solidFill>
                <a:latin typeface="+mj-lt"/>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9pPr>
          </a:lstStyle>
          <a:p>
            <a:r>
              <a:rPr lang="zh-CN" altLang="en-US" sz="1800"/>
              <a:t>爱人：发乎情、止乎礼</a:t>
            </a:r>
            <a:endParaRPr lang="en-US" altLang="zh-CN" sz="1800"/>
          </a:p>
          <a:p>
            <a:r>
              <a:rPr lang="zh-CN" altLang="en-US" sz="1800"/>
              <a:t>爱国：发乎情、止乎法</a:t>
            </a:r>
            <a:endParaRPr lang="zh-CN" altLang="en-US" sz="1800" dirty="0"/>
          </a:p>
        </p:txBody>
      </p:sp>
      <p:sp>
        <p:nvSpPr>
          <p:cNvPr id="4" name="内容占位符 2"/>
          <p:cNvSpPr txBox="1">
            <a:spLocks/>
          </p:cNvSpPr>
          <p:nvPr/>
        </p:nvSpPr>
        <p:spPr>
          <a:xfrm>
            <a:off x="4353669" y="2690983"/>
            <a:ext cx="2448156" cy="800011"/>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a:latin typeface="华文中宋" panose="02010600040101010101" pitchFamily="2" charset="-122"/>
                <a:ea typeface="华文中宋" panose="02010600040101010101" pitchFamily="2" charset="-122"/>
              </a:rPr>
              <a:t>要不要抵制日货</a:t>
            </a:r>
            <a:endParaRPr lang="en-US" altLang="zh-CN">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a:latin typeface="华文中宋" panose="02010600040101010101" pitchFamily="2" charset="-122"/>
                <a:ea typeface="华文中宋" panose="02010600040101010101" pitchFamily="2" charset="-122"/>
              </a:rPr>
              <a:t>要不要抵制美货</a:t>
            </a:r>
            <a:endParaRPr lang="zh-CN" altLang="en-US" dirty="0">
              <a:latin typeface="华文中宋" panose="02010600040101010101" pitchFamily="2" charset="-122"/>
              <a:ea typeface="华文中宋" panose="02010600040101010101" pitchFamily="2" charset="-122"/>
            </a:endParaRPr>
          </a:p>
        </p:txBody>
      </p:sp>
      <p:sp>
        <p:nvSpPr>
          <p:cNvPr id="6" name="标题 1"/>
          <p:cNvSpPr txBox="1">
            <a:spLocks/>
          </p:cNvSpPr>
          <p:nvPr/>
        </p:nvSpPr>
        <p:spPr>
          <a:xfrm>
            <a:off x="4211960" y="3542095"/>
            <a:ext cx="4159298" cy="45600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1800">
                <a:latin typeface="华文中宋" panose="02010600040101010101" pitchFamily="2" charset="-122"/>
                <a:ea typeface="华文中宋" panose="02010600040101010101" pitchFamily="2" charset="-122"/>
              </a:rPr>
              <a:t>  </a:t>
            </a:r>
            <a:r>
              <a:rPr lang="zh-CN" altLang="en-US" sz="1800">
                <a:latin typeface="华文中宋" panose="02010600040101010101" pitchFamily="2" charset="-122"/>
                <a:ea typeface="华文中宋" panose="02010600040101010101" pitchFamily="2" charset="-122"/>
              </a:rPr>
              <a:t>完全抵制不妥，适度抵制有益</a:t>
            </a:r>
            <a:endParaRPr lang="zh-CN" altLang="en-US" sz="1800" dirty="0">
              <a:latin typeface="华文中宋" panose="02010600040101010101" pitchFamily="2" charset="-122"/>
              <a:ea typeface="华文中宋" panose="02010600040101010101" pitchFamily="2" charset="-122"/>
            </a:endParaRPr>
          </a:p>
        </p:txBody>
      </p:sp>
      <p:sp>
        <p:nvSpPr>
          <p:cNvPr id="8" name="内容占位符 2"/>
          <p:cNvSpPr txBox="1">
            <a:spLocks/>
          </p:cNvSpPr>
          <p:nvPr/>
        </p:nvSpPr>
        <p:spPr>
          <a:xfrm>
            <a:off x="4353669" y="3861048"/>
            <a:ext cx="3744300" cy="123205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rPr>
              <a:t>1</a:t>
            </a:r>
            <a:r>
              <a:rPr lang="zh-CN" altLang="en-US" sz="1800">
                <a:latin typeface="华文中宋" panose="02010600040101010101" pitchFamily="2" charset="-122"/>
                <a:ea typeface="华文中宋" panose="02010600040101010101" pitchFamily="2" charset="-122"/>
              </a:rPr>
              <a:t>、很难区分国货和日货、美货</a:t>
            </a:r>
            <a:endParaRPr lang="en-US" altLang="zh-CN" sz="180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rPr>
              <a:t>2</a:t>
            </a:r>
            <a:r>
              <a:rPr lang="zh-CN" altLang="en-US" sz="1800">
                <a:latin typeface="华文中宋" panose="02010600040101010101" pitchFamily="2" charset="-122"/>
                <a:ea typeface="华文中宋" panose="02010600040101010101" pitchFamily="2" charset="-122"/>
              </a:rPr>
              <a:t>、抵制是对错误政治的表态</a:t>
            </a:r>
            <a:endParaRPr lang="en-US" altLang="zh-CN" sz="180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en-US" altLang="zh-CN" sz="1800">
                <a:latin typeface="华文中宋" panose="02010600040101010101" pitchFamily="2" charset="-122"/>
                <a:ea typeface="华文中宋" panose="02010600040101010101" pitchFamily="2" charset="-122"/>
              </a:rPr>
              <a:t>3</a:t>
            </a:r>
            <a:r>
              <a:rPr lang="zh-CN" altLang="en-US" sz="1800">
                <a:latin typeface="华文中宋" panose="02010600040101010101" pitchFamily="2" charset="-122"/>
                <a:ea typeface="华文中宋" panose="02010600040101010101" pitchFamily="2" charset="-122"/>
              </a:rPr>
              <a:t>、</a:t>
            </a:r>
            <a:r>
              <a:rPr lang="zh-CN" altLang="en-US" sz="1800">
                <a:solidFill>
                  <a:srgbClr val="FF0000"/>
                </a:solidFill>
                <a:latin typeface="华文中宋" panose="02010600040101010101" pitchFamily="2" charset="-122"/>
                <a:ea typeface="华文中宋" panose="02010600040101010101" pitchFamily="2" charset="-122"/>
              </a:rPr>
              <a:t>以提升国货水平为本</a:t>
            </a:r>
            <a:endParaRPr lang="zh-CN" altLang="en-US" sz="18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348579"/>
            <a:ext cx="1783034" cy="456002"/>
          </a:xfrm>
        </p:spPr>
        <p:txBody>
          <a:bodyPr/>
          <a:lstStyle/>
          <a:p>
            <a:r>
              <a:rPr lang="zh-CN" altLang="en-US" sz="2000" dirty="0">
                <a:latin typeface="华文中宋" panose="02010600040101010101" pitchFamily="2" charset="-122"/>
                <a:ea typeface="华文中宋" panose="02010600040101010101" pitchFamily="2" charset="-122"/>
                <a:sym typeface="+mn-ea"/>
              </a:rPr>
              <a:t>二、</a:t>
            </a:r>
            <a:r>
              <a:rPr lang="zh-CN" altLang="en-US" sz="2000" dirty="0">
                <a:latin typeface="华文中宋" panose="02010600040101010101" pitchFamily="2" charset="-122"/>
                <a:ea typeface="华文中宋" panose="02010600040101010101" pitchFamily="2" charset="-122"/>
                <a:cs typeface="华文楷体" panose="02010600040101010101" charset="-122"/>
                <a:sym typeface="+mn-ea"/>
              </a:rPr>
              <a:t>家庭</a:t>
            </a:r>
            <a:r>
              <a:rPr lang="zh-CN" altLang="en-US" sz="2000" dirty="0">
                <a:latin typeface="华文中宋" panose="02010600040101010101" pitchFamily="2" charset="-122"/>
                <a:ea typeface="华文中宋" panose="02010600040101010101" pitchFamily="2" charset="-122"/>
              </a:rPr>
              <a:t>问题</a:t>
            </a:r>
          </a:p>
        </p:txBody>
      </p:sp>
      <p:sp>
        <p:nvSpPr>
          <p:cNvPr id="3" name="内容占位符 2"/>
          <p:cNvSpPr>
            <a:spLocks noGrp="1"/>
          </p:cNvSpPr>
          <p:nvPr>
            <p:ph idx="1"/>
          </p:nvPr>
        </p:nvSpPr>
        <p:spPr>
          <a:xfrm>
            <a:off x="35496" y="804580"/>
            <a:ext cx="9001000" cy="6368835"/>
          </a:xfrm>
        </p:spPr>
        <p:txBody>
          <a:bodyPr>
            <a:normAutofit/>
          </a:bodyPr>
          <a:lstStyle/>
          <a:p>
            <a:pPr marL="0" indent="0">
              <a:buNone/>
            </a:pPr>
            <a:r>
              <a:rPr lang="en-US" altLang="zh-CN" sz="1800" dirty="0">
                <a:latin typeface="华文中宋" panose="02010600040101010101" pitchFamily="2" charset="-122"/>
                <a:ea typeface="华文中宋" panose="02010600040101010101" pitchFamily="2" charset="-122"/>
                <a:cs typeface="华文楷体" panose="02010600040101010101" charset="-122"/>
              </a:rPr>
              <a:t>1.</a:t>
            </a:r>
            <a:r>
              <a:rPr lang="zh-CN" altLang="en-US" sz="1800" dirty="0">
                <a:latin typeface="华文中宋" panose="02010600040101010101" pitchFamily="2" charset="-122"/>
                <a:ea typeface="华文中宋" panose="02010600040101010101" pitchFamily="2" charset="-122"/>
                <a:cs typeface="华文楷体" panose="02010600040101010101" charset="-122"/>
              </a:rPr>
              <a:t>祖父母</a:t>
            </a:r>
            <a:r>
              <a:rPr lang="en-US" altLang="zh-CN" sz="1800" dirty="0">
                <a:latin typeface="华文中宋" panose="02010600040101010101" pitchFamily="2" charset="-122"/>
                <a:ea typeface="华文中宋" panose="02010600040101010101" pitchFamily="2" charset="-122"/>
                <a:cs typeface="华文楷体" panose="02010600040101010101" charset="-122"/>
              </a:rPr>
              <a:t>-</a:t>
            </a:r>
            <a:r>
              <a:rPr lang="zh-CN" altLang="en-US" sz="1800" dirty="0">
                <a:latin typeface="华文中宋" panose="02010600040101010101" pitchFamily="2" charset="-122"/>
                <a:ea typeface="华文中宋" panose="02010600040101010101" pitchFamily="2" charset="-122"/>
                <a:cs typeface="华文楷体" panose="02010600040101010101" charset="-122"/>
              </a:rPr>
              <a:t>父母</a:t>
            </a:r>
            <a:r>
              <a:rPr lang="en-US" altLang="zh-CN" sz="1800" dirty="0">
                <a:latin typeface="华文中宋" panose="02010600040101010101" pitchFamily="2" charset="-122"/>
                <a:ea typeface="华文中宋" panose="02010600040101010101" pitchFamily="2" charset="-122"/>
                <a:cs typeface="华文楷体" panose="02010600040101010101" charset="-122"/>
              </a:rPr>
              <a:t>-</a:t>
            </a:r>
            <a:r>
              <a:rPr lang="zh-CN" altLang="en-US" sz="1800" dirty="0">
                <a:latin typeface="华文中宋" panose="02010600040101010101" pitchFamily="2" charset="-122"/>
                <a:ea typeface="华文中宋" panose="02010600040101010101" pitchFamily="2" charset="-122"/>
                <a:cs typeface="华文楷体" panose="02010600040101010101" charset="-122"/>
              </a:rPr>
              <a:t>子女关系：三重关系</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如果一个家庭失去了母亲，父亲续弦，这个家庭还是一个完整的家庭吗？如果一个家庭失去父亲，母亲改嫁，这个家庭仍是一个完整的家庭吗？</a:t>
            </a:r>
          </a:p>
          <a:p>
            <a:pPr marL="0" indent="0">
              <a:buNone/>
            </a:pPr>
            <a:r>
              <a:rPr lang="zh-CN" altLang="en-US" sz="1800" dirty="0">
                <a:latin typeface="华文中宋" panose="02010600040101010101" pitchFamily="2" charset="-122"/>
                <a:ea typeface="华文中宋" panose="02010600040101010101" pitchFamily="2" charset="-122"/>
                <a:cs typeface="华文楷体" panose="02010600040101010101" charset="-122"/>
              </a:rPr>
              <a:t>这种情况意味着什么？</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r>
              <a:rPr lang="zh-CN" altLang="zh-CN" sz="1800" dirty="0"/>
              <a:t>传统意义上的“祖父母-父母-子女”三重结构，以血缘与原生父母的共同照料为完整性标准。按照这个标准，无论父亲续弦还是母亲改嫁，新家庭都“不完整”——因为血缘传递链中断，原生父母缺位。</a:t>
            </a:r>
          </a:p>
          <a:p>
            <a:r>
              <a:rPr lang="zh-CN" altLang="zh-CN" sz="1800" dirty="0"/>
              <a:t>但这一标准本身值得质疑。一个家庭能否履行其核心功能——提供经济支持、情感安全、社会化教育——与父母是否“原配”并无必然关联。父亲续弦后，继母可以承担照料、关爱与教育职能；母亲改嫁后，继父同样可以成为稳定的权威与情感来源。从功能主义角度看，这两个情境在结构上是对称的：都是一个原生父母缺位、一个非血缘成人补入。</a:t>
            </a:r>
          </a:p>
          <a:p>
            <a:r>
              <a:rPr lang="zh-CN" altLang="zh-CN" sz="1800" dirty="0"/>
              <a:t>然而，社会文化感知往往不对等。父权制传统更在意母亲改嫁，因为这可能影响姓氏传承、子女归属感，以及对前夫家族的忠诚隐喻。这种不对称反映出的是历史偏见，而非家庭的本质属性。</a:t>
            </a:r>
          </a:p>
          <a:p>
            <a:r>
              <a:rPr lang="zh-CN" altLang="zh-CN" sz="1800" dirty="0"/>
              <a:t>这意味着：</a:t>
            </a:r>
            <a:r>
              <a:rPr lang="zh-CN" altLang="zh-CN" sz="1800" b="1" dirty="0"/>
              <a:t>“完整家庭”不应以血缘完整性为标准，而应以关怀连续性为标准</a:t>
            </a:r>
            <a:r>
              <a:rPr lang="zh-CN" altLang="zh-CN" sz="1800" dirty="0"/>
              <a:t>。一个能够提供稳定依恋、责任传递与代际支持的重组家庭，完全可以是一个完整的家庭。真正的不完整不是结构变了，而是没有人真正在爱、在照料、在承担。</a:t>
            </a:r>
          </a:p>
          <a:p>
            <a:pPr marL="0" indent="0">
              <a:buNone/>
            </a:pP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a:p>
            <a:pPr marL="0" indent="0">
              <a:buNone/>
            </a:pPr>
            <a:endParaRPr lang="zh-CN" altLang="en-US" sz="180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092280" y="1268760"/>
            <a:ext cx="1872092" cy="3032259"/>
          </a:xfrm>
        </p:spPr>
        <p:txBody>
          <a:bodyPr>
            <a:normAutofit/>
          </a:bodyPr>
          <a:lstStyle/>
          <a:p>
            <a:pPr marL="0" indent="0">
              <a:buNone/>
            </a:pPr>
            <a:r>
              <a:rPr lang="zh-CN" altLang="en-US" sz="1800" dirty="0">
                <a:latin typeface="华文中宋" panose="02010600040101010101" pitchFamily="2" charset="-122"/>
                <a:ea typeface="华文中宋" panose="02010600040101010101" pitchFamily="2" charset="-122"/>
              </a:rPr>
              <a:t>世代性关系</a:t>
            </a:r>
          </a:p>
          <a:p>
            <a:pPr marL="0" indent="0">
              <a:buNone/>
            </a:pPr>
            <a:r>
              <a:rPr lang="zh-CN" altLang="en-US" sz="1800" dirty="0">
                <a:latin typeface="华文中宋" panose="02010600040101010101" pitchFamily="2" charset="-122"/>
                <a:ea typeface="华文中宋" panose="02010600040101010101" pitchFamily="2" charset="-122"/>
              </a:rPr>
              <a:t>亲</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亲</a:t>
            </a:r>
          </a:p>
          <a:p>
            <a:pPr marL="0" indent="0">
              <a:buNone/>
            </a:pPr>
            <a:r>
              <a:rPr lang="zh-CN" altLang="en-US" sz="1800" dirty="0">
                <a:latin typeface="华文中宋" panose="02010600040101010101" pitchFamily="2" charset="-122"/>
                <a:ea typeface="华文中宋" panose="02010600040101010101" pitchFamily="2" charset="-122"/>
              </a:rPr>
              <a:t>亲</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子</a:t>
            </a:r>
          </a:p>
          <a:p>
            <a:pPr marL="0" indent="0">
              <a:buNone/>
            </a:pPr>
            <a:r>
              <a:rPr lang="zh-CN" altLang="en-US" sz="1800" dirty="0">
                <a:latin typeface="华文中宋" panose="02010600040101010101" pitchFamily="2" charset="-122"/>
                <a:ea typeface="华文中宋" panose="02010600040101010101" pitchFamily="2" charset="-122"/>
              </a:rPr>
              <a:t>子</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亲</a:t>
            </a:r>
          </a:p>
          <a:p>
            <a:pPr marL="0" indent="0">
              <a:buNone/>
            </a:pPr>
            <a:r>
              <a:rPr lang="zh-CN" altLang="en-US" sz="1800" dirty="0">
                <a:solidFill>
                  <a:srgbClr val="FF0000"/>
                </a:solidFill>
                <a:latin typeface="华文中宋" panose="02010600040101010101" pitchFamily="2" charset="-122"/>
                <a:ea typeface="华文中宋" panose="02010600040101010101" pitchFamily="2" charset="-122"/>
              </a:rPr>
              <a:t>母</a:t>
            </a:r>
            <a:r>
              <a:rPr lang="en-US" altLang="zh-CN" sz="1800" dirty="0">
                <a:solidFill>
                  <a:srgbClr val="FF0000"/>
                </a:solidFill>
                <a:latin typeface="华文中宋" panose="02010600040101010101" pitchFamily="2" charset="-122"/>
                <a:ea typeface="华文中宋" panose="02010600040101010101" pitchFamily="2" charset="-122"/>
              </a:rPr>
              <a:t>-</a:t>
            </a:r>
            <a:r>
              <a:rPr lang="zh-CN" altLang="en-US" sz="1800" dirty="0">
                <a:solidFill>
                  <a:srgbClr val="FF0000"/>
                </a:solidFill>
                <a:latin typeface="华文中宋" panose="02010600040101010101" pitchFamily="2" charset="-122"/>
                <a:ea typeface="华文中宋" panose="02010600040101010101" pitchFamily="2" charset="-122"/>
              </a:rPr>
              <a:t>婴</a:t>
            </a:r>
            <a:endParaRPr lang="zh-CN" altLang="en-US" sz="1800" dirty="0"/>
          </a:p>
          <a:p>
            <a:pPr marL="0" indent="0">
              <a:buNone/>
            </a:pPr>
            <a:r>
              <a:rPr lang="zh-CN" altLang="en-US" sz="1800" dirty="0">
                <a:solidFill>
                  <a:srgbClr val="FF0000"/>
                </a:solidFill>
              </a:rPr>
              <a:t>本质上是一种情感关系，但往往会被物化。</a:t>
            </a:r>
          </a:p>
        </p:txBody>
      </p:sp>
      <p:sp>
        <p:nvSpPr>
          <p:cNvPr id="4" name="文本框 3">
            <a:extLst>
              <a:ext uri="{FF2B5EF4-FFF2-40B4-BE49-F238E27FC236}">
                <a16:creationId xmlns:a16="http://schemas.microsoft.com/office/drawing/2014/main" id="{C031B059-2024-9BD2-9211-328D4D970C60}"/>
              </a:ext>
            </a:extLst>
          </p:cNvPr>
          <p:cNvSpPr txBox="1"/>
          <p:nvPr/>
        </p:nvSpPr>
        <p:spPr>
          <a:xfrm>
            <a:off x="179512" y="188640"/>
            <a:ext cx="4991986" cy="369332"/>
          </a:xfrm>
          <a:prstGeom prst="rect">
            <a:avLst/>
          </a:prstGeom>
          <a:noFill/>
        </p:spPr>
        <p:txBody>
          <a:bodyPr wrap="square">
            <a:spAutoFit/>
          </a:bodyPr>
          <a:lstStyle/>
          <a:p>
            <a:pPr marL="0" indent="0">
              <a:buNone/>
            </a:pPr>
            <a:r>
              <a:rPr lang="en-US" altLang="zh-CN" sz="1800" dirty="0">
                <a:latin typeface="华文中宋" panose="02010600040101010101" pitchFamily="2" charset="-122"/>
                <a:ea typeface="华文中宋" panose="02010600040101010101" pitchFamily="2" charset="-122"/>
                <a:cs typeface="华文楷体" panose="02010600040101010101" charset="-122"/>
              </a:rPr>
              <a:t>2.</a:t>
            </a:r>
            <a:r>
              <a:rPr lang="zh-CN" altLang="en-US" sz="1800" dirty="0">
                <a:latin typeface="华文中宋" panose="02010600040101010101" pitchFamily="2" charset="-122"/>
                <a:ea typeface="华文中宋" panose="02010600040101010101" pitchFamily="2" charset="-122"/>
                <a:cs typeface="华文楷体" panose="02010600040101010101" charset="-122"/>
              </a:rPr>
              <a:t>亲情这种情感说到底是一种依赖关系吗？</a:t>
            </a:r>
            <a:endParaRPr lang="en-US" altLang="zh-CN" sz="1800" dirty="0">
              <a:latin typeface="华文中宋" panose="02010600040101010101" pitchFamily="2" charset="-122"/>
              <a:ea typeface="华文中宋" panose="02010600040101010101" pitchFamily="2" charset="-122"/>
              <a:cs typeface="华文楷体" panose="02010600040101010101" charset="-122"/>
            </a:endParaRPr>
          </a:p>
        </p:txBody>
      </p:sp>
      <p:sp>
        <p:nvSpPr>
          <p:cNvPr id="6" name="文本框 5">
            <a:extLst>
              <a:ext uri="{FF2B5EF4-FFF2-40B4-BE49-F238E27FC236}">
                <a16:creationId xmlns:a16="http://schemas.microsoft.com/office/drawing/2014/main" id="{983F1C5F-1E2B-A88E-5D4D-A938A7F7B26B}"/>
              </a:ext>
            </a:extLst>
          </p:cNvPr>
          <p:cNvSpPr txBox="1"/>
          <p:nvPr/>
        </p:nvSpPr>
        <p:spPr>
          <a:xfrm>
            <a:off x="395536" y="612845"/>
            <a:ext cx="6624736" cy="4616356"/>
          </a:xfrm>
          <a:prstGeom prst="rect">
            <a:avLst/>
          </a:prstGeom>
          <a:noFill/>
        </p:spPr>
        <p:txBody>
          <a:bodyPr wrap="square">
            <a:spAutoFit/>
          </a:bodyPr>
          <a:lstStyle/>
          <a:p>
            <a:r>
              <a:rPr lang="zh-CN" altLang="en-US" dirty="0"/>
              <a:t>亲情诞生于依赖，但不能被还原为依赖。</a:t>
            </a:r>
          </a:p>
          <a:p>
            <a:endParaRPr lang="zh-CN" altLang="en-US" dirty="0"/>
          </a:p>
          <a:p>
            <a:r>
              <a:rPr lang="zh-CN" altLang="en-US" dirty="0"/>
              <a:t>在生命早期，婴幼儿对父母的依赖是绝对的</a:t>
            </a:r>
            <a:r>
              <a:rPr lang="en-US" altLang="zh-CN" dirty="0"/>
              <a:t>——</a:t>
            </a:r>
            <a:r>
              <a:rPr lang="zh-CN" altLang="en-US" dirty="0"/>
              <a:t>没有照料就无法生存。此时亲情与生存依赖高度重合，依赖是亲情的生理与心理起点。但如果亲情仅仅是依赖，那么当子女成年、不再需要父母供养时，亲情就应该消失。事实上并非如此。</a:t>
            </a:r>
          </a:p>
          <a:p>
            <a:endParaRPr lang="zh-CN" altLang="en-US" dirty="0"/>
          </a:p>
          <a:p>
            <a:r>
              <a:rPr lang="zh-CN" altLang="en-US" dirty="0"/>
              <a:t>健康的亲情在成熟阶段会从“单向依赖”转变为相互关怀。成年子女可能在经济、生活上完全不依赖父母，但仍然选择探望、陪伴、关心。这种“不依赖但仍然亲”的状态表明，亲情中还包含其他不可还原的要素：历史共享（共同的记忆与经验）、认同（“这就是我的家人”）、义务感（不因为依赖消失而消失）。</a:t>
            </a:r>
          </a:p>
          <a:p>
            <a:endParaRPr lang="zh-CN" altLang="en-US" dirty="0"/>
          </a:p>
          <a:p>
            <a:r>
              <a:rPr lang="zh-CN" altLang="en-US" dirty="0"/>
              <a:t>区别病态与健康的亲情也在这里：病态亲情通过制造依赖来控制对方（“你必须需要我”）；健康亲情则以依赖为起点，以自由中的关爱为终点。因此，亲情是依赖的超越，而非依赖本身。</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753605B-20F4-157E-0996-4FDA3F62DFBB}"/>
              </a:ext>
            </a:extLst>
          </p:cNvPr>
          <p:cNvSpPr txBox="1"/>
          <p:nvPr/>
        </p:nvSpPr>
        <p:spPr>
          <a:xfrm>
            <a:off x="0" y="116632"/>
            <a:ext cx="7488832" cy="646331"/>
          </a:xfrm>
          <a:prstGeom prst="rect">
            <a:avLst/>
          </a:prstGeom>
          <a:noFill/>
        </p:spPr>
        <p:txBody>
          <a:bodyPr wrap="square">
            <a:spAutoFit/>
          </a:bodyPr>
          <a:lstStyle/>
          <a:p>
            <a:r>
              <a:rPr lang="zh-CN" altLang="en-US" dirty="0"/>
              <a:t>一个问题，父母为什么爱自己的子女？父母在子女</a:t>
            </a:r>
            <a:r>
              <a:rPr lang="en-US" altLang="zh-CN" dirty="0"/>
              <a:t>[</a:t>
            </a:r>
            <a:r>
              <a:rPr lang="zh-CN" altLang="en-US" dirty="0"/>
              <a:t>他者</a:t>
            </a:r>
            <a:r>
              <a:rPr lang="en-US" altLang="zh-CN" dirty="0"/>
              <a:t>]</a:t>
            </a:r>
            <a:r>
              <a:rPr lang="zh-CN" altLang="en-US" dirty="0"/>
              <a:t>身上发现了包含自己在内的更丰富的个体？</a:t>
            </a:r>
          </a:p>
        </p:txBody>
      </p:sp>
      <p:sp>
        <p:nvSpPr>
          <p:cNvPr id="7" name="文本框 6">
            <a:extLst>
              <a:ext uri="{FF2B5EF4-FFF2-40B4-BE49-F238E27FC236}">
                <a16:creationId xmlns:a16="http://schemas.microsoft.com/office/drawing/2014/main" id="{8ED895D4-FE19-C4EA-F90F-C56BC3F80C5D}"/>
              </a:ext>
            </a:extLst>
          </p:cNvPr>
          <p:cNvSpPr txBox="1"/>
          <p:nvPr/>
        </p:nvSpPr>
        <p:spPr>
          <a:xfrm>
            <a:off x="0" y="728094"/>
            <a:ext cx="7488832" cy="4247317"/>
          </a:xfrm>
          <a:prstGeom prst="rect">
            <a:avLst/>
          </a:prstGeom>
          <a:noFill/>
        </p:spPr>
        <p:txBody>
          <a:bodyPr wrap="square">
            <a:spAutoFit/>
          </a:bodyPr>
          <a:lstStyle/>
          <a:p>
            <a:r>
              <a:rPr lang="zh-CN" altLang="en-US" dirty="0"/>
              <a:t>这一命题可以这样理解：子女承载着父母的基因、姓氏与未竟的愿望，是父母生命的延伸；同时，子女又是独立的人，将有父母不曾有过的经历与选择。因此，子女是一个“既属于我，又大于我”的存在。爱子女，就是爱一个超越自身有限性的可能。在这个意义上，父母之爱包含着对自我延续的渴望与对更丰富生命的肯定。</a:t>
            </a:r>
          </a:p>
          <a:p>
            <a:r>
              <a:rPr lang="zh-CN" altLang="en-US" dirty="0"/>
              <a:t>然而，这一解释不能覆盖所有父母之爱。首先，演化生物学提供了更基础的层次：亲代对后代的保护冲动是基因传递的本能，不需要“发现丰富个体”作为中介。其次，现实中存在大量“无条件之爱”：即使子女平庸、残疾、没有展现任何“丰富性”，甚至完全背离父母的期待，许多父母依然爱。这种爱不因为子女“像自己”或“扩展自己”，而仅仅因为“他是我的子女”。</a:t>
            </a:r>
          </a:p>
          <a:p>
            <a:r>
              <a:rPr lang="zh-CN" altLang="en-US" dirty="0"/>
              <a:t>因此，你的命题揭示了父母之爱中**自我超越**的那个维度</a:t>
            </a:r>
            <a:r>
              <a:rPr lang="en-US" altLang="zh-CN" dirty="0"/>
              <a:t>——</a:t>
            </a:r>
            <a:r>
              <a:rPr lang="zh-CN" altLang="en-US" dirty="0"/>
              <a:t>爱一个既属于我、又独立于我的他者。但完整的答案应包含三个层次：生物本能、自我超越、纯粹他者之爱。三者共同构成了“父母为什么爱子女”这一复杂现象。</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E64B7-878A-294B-60F4-3125AD7DDE44}"/>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F3D4C1A8-8BDB-79AB-266A-B647601407CA}"/>
              </a:ext>
            </a:extLst>
          </p:cNvPr>
          <p:cNvSpPr txBox="1"/>
          <p:nvPr/>
        </p:nvSpPr>
        <p:spPr>
          <a:xfrm>
            <a:off x="179512" y="1052736"/>
            <a:ext cx="7488832" cy="5632311"/>
          </a:xfrm>
          <a:prstGeom prst="rect">
            <a:avLst/>
          </a:prstGeom>
          <a:noFill/>
        </p:spPr>
        <p:txBody>
          <a:bodyPr wrap="square">
            <a:spAutoFit/>
          </a:bodyPr>
          <a:lstStyle/>
          <a:p>
            <a:r>
              <a:rPr lang="zh-CN" altLang="en-US" dirty="0"/>
              <a:t>子女为什么爱父母？将其归结为“生存的资料”，确实抓住了亲子之爱中最基础的层面：父母提供了生命得以维持的条件</a:t>
            </a:r>
            <a:r>
              <a:rPr lang="en-US" altLang="zh-CN" dirty="0"/>
              <a:t>——</a:t>
            </a:r>
            <a:r>
              <a:rPr lang="zh-CN" altLang="en-US" dirty="0"/>
              <a:t>食物、庇护、安全。在这个意义上，子女的爱具有**回应性**：因接受养育而生依恋，因依赖而感恩。其本质接近于一种“自然债务”</a:t>
            </a:r>
            <a:r>
              <a:rPr lang="en-US" altLang="zh-CN" dirty="0"/>
              <a:t>——</a:t>
            </a:r>
            <a:r>
              <a:rPr lang="zh-CN" altLang="en-US" dirty="0"/>
              <a:t>不是法律意义上的欠款，而是情感与伦理意义上的“我因你而在，故我念你”。</a:t>
            </a:r>
          </a:p>
          <a:p>
            <a:endParaRPr lang="zh-CN" altLang="en-US" dirty="0"/>
          </a:p>
          <a:p>
            <a:r>
              <a:rPr lang="zh-CN" altLang="en-US" dirty="0"/>
              <a:t>但这并非子女之爱的全部。随着成长，子女之爱可以超越对“生存资料”的依赖，进入更自觉的维度：对父母付出的**承认**、对共同历史的**珍视**、对父母衰老的**不忍**。此时，爱不再因为“我需要你”，而是因为“我认肯你”。这一转变恰恰表明：子女之爱的本质不是依赖本身，而是从依赖中生长出来的**自由的确证**。</a:t>
            </a:r>
          </a:p>
          <a:p>
            <a:endParaRPr lang="zh-CN" altLang="en-US" dirty="0"/>
          </a:p>
          <a:p>
            <a:r>
              <a:rPr lang="zh-CN" altLang="en-US" dirty="0"/>
              <a:t>父母之爱与子女之爱的本质差异，不能用“债权人与债务人”来理解。在借贷关系中，债务可计量、可还清、双方自愿订立。而亲子关系恰恰相反：子女从未同意被出生，养育之恩无法折算为金额，且永远无法“还清”。更重要的是，健康的亲情不以“还清”为目标</a:t>
            </a:r>
            <a:r>
              <a:rPr lang="en-US" altLang="zh-CN" dirty="0"/>
              <a:t>——</a:t>
            </a:r>
            <a:r>
              <a:rPr lang="zh-CN" altLang="en-US" dirty="0"/>
              <a:t>试图还清，反而意味着关系的终结。父母不是债权人，子女不是债务人。亲子之爱不是交易的两种方向，而是**赠予与感恩**的非对称结构：一方在给予时不计回报，另一方在回报时超越计算。这正是亲情区别于一切契约关系的根本所在。</a:t>
            </a:r>
          </a:p>
        </p:txBody>
      </p:sp>
      <p:sp>
        <p:nvSpPr>
          <p:cNvPr id="6" name="标题 1"/>
          <p:cNvSpPr>
            <a:spLocks noGrp="1"/>
          </p:cNvSpPr>
          <p:nvPr>
            <p:ph type="ctrTitle"/>
          </p:nvPr>
        </p:nvSpPr>
        <p:spPr>
          <a:xfrm>
            <a:off x="179512" y="154033"/>
            <a:ext cx="7846640" cy="1011838"/>
          </a:xfrm>
        </p:spPr>
        <p:txBody>
          <a:bodyPr/>
          <a:lstStyle/>
          <a:p>
            <a:r>
              <a:rPr lang="zh-CN" altLang="zh-CN" sz="1800" dirty="0">
                <a:latin typeface="华文中宋" panose="02010600040101010101" pitchFamily="2" charset="-122"/>
                <a:ea typeface="华文中宋" panose="02010600040101010101" pitchFamily="2" charset="-122"/>
              </a:rPr>
              <a:t>第二个问题，子女为什么爱自己的父母？“生存的资料”</a:t>
            </a:r>
            <a:br>
              <a:rPr lang="zh-CN" altLang="zh-CN" sz="1800" dirty="0">
                <a:latin typeface="华文中宋" panose="02010600040101010101" pitchFamily="2" charset="-122"/>
                <a:ea typeface="华文中宋" panose="02010600040101010101" pitchFamily="2" charset="-122"/>
              </a:rPr>
            </a:br>
            <a:r>
              <a:rPr lang="zh-CN" altLang="zh-CN" sz="1800" dirty="0">
                <a:latin typeface="华文中宋" panose="02010600040101010101" pitchFamily="2" charset="-122"/>
                <a:ea typeface="华文中宋" panose="02010600040101010101" pitchFamily="2" charset="-122"/>
              </a:rPr>
              <a:t>它们各自的本质是什么？存在何种差异：债权人与债务人</a:t>
            </a:r>
            <a:br>
              <a:rPr lang="zh-CN" altLang="zh-CN" sz="1800" dirty="0">
                <a:latin typeface="华文中宋" panose="02010600040101010101" pitchFamily="2" charset="-122"/>
                <a:ea typeface="华文中宋" panose="02010600040101010101" pitchFamily="2" charset="-122"/>
              </a:rPr>
            </a:br>
            <a:endParaRPr lang="zh-CN" altLang="en-US" sz="18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44209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7504" y="298328"/>
            <a:ext cx="2160240" cy="450540"/>
          </a:xfrm>
        </p:spPr>
        <p:txBody>
          <a:bodyPr>
            <a:normAutofit/>
          </a:bodyPr>
          <a:lstStyle/>
          <a:p>
            <a:r>
              <a:rPr lang="zh-CN" altLang="en-US" sz="2000" dirty="0">
                <a:latin typeface="华文楷体" panose="02010600040101010101" charset="-122"/>
                <a:ea typeface="华文楷体" panose="02010600040101010101" charset="-122"/>
                <a:cs typeface="华文楷体" panose="02010600040101010101" charset="-122"/>
              </a:rPr>
              <a:t>三、</a:t>
            </a:r>
            <a:r>
              <a:rPr lang="zh-CN" altLang="zh-CN" sz="2000" dirty="0">
                <a:latin typeface="华文楷体" panose="02010600040101010101" charset="-122"/>
                <a:ea typeface="华文楷体" panose="02010600040101010101" charset="-122"/>
                <a:cs typeface="华文楷体" panose="02010600040101010101" charset="-122"/>
              </a:rPr>
              <a:t>友爱问题</a:t>
            </a:r>
            <a:endParaRPr lang="zh-CN" altLang="en-US" sz="2000" dirty="0"/>
          </a:p>
        </p:txBody>
      </p:sp>
      <p:sp>
        <p:nvSpPr>
          <p:cNvPr id="3" name="副标题 2"/>
          <p:cNvSpPr>
            <a:spLocks noGrp="1"/>
          </p:cNvSpPr>
          <p:nvPr>
            <p:ph type="subTitle" idx="1"/>
          </p:nvPr>
        </p:nvSpPr>
        <p:spPr>
          <a:xfrm>
            <a:off x="107504" y="836712"/>
            <a:ext cx="864096" cy="1152128"/>
          </a:xfrm>
        </p:spPr>
        <p:txBody>
          <a:bodyPr>
            <a:noAutofit/>
          </a:bodyPr>
          <a:lstStyle/>
          <a:p>
            <a:r>
              <a:rPr lang="en-US" altLang="zh-CN" sz="1800" dirty="0">
                <a:solidFill>
                  <a:schemeClr val="tx1"/>
                </a:solidFill>
                <a:latin typeface="华文楷体" panose="02010600040101010101" charset="-122"/>
                <a:ea typeface="华文楷体" panose="02010600040101010101" charset="-122"/>
                <a:cs typeface="华文楷体" panose="02010600040101010101" charset="-122"/>
              </a:rPr>
              <a:t>1.</a:t>
            </a:r>
            <a:r>
              <a:rPr lang="zh-CN" altLang="en-US" sz="1800" dirty="0">
                <a:solidFill>
                  <a:schemeClr val="tx1"/>
                </a:solidFill>
                <a:latin typeface="华文楷体" panose="02010600040101010101" charset="-122"/>
                <a:ea typeface="华文楷体" panose="02010600040101010101" charset="-122"/>
                <a:cs typeface="华文楷体" panose="02010600040101010101" charset="-122"/>
              </a:rPr>
              <a:t>用处</a:t>
            </a:r>
            <a:endParaRPr lang="en-US" altLang="zh-CN" sz="1800" dirty="0">
              <a:solidFill>
                <a:schemeClr val="tx1"/>
              </a:solidFill>
              <a:latin typeface="华文楷体" panose="02010600040101010101" charset="-122"/>
              <a:ea typeface="华文楷体" panose="02010600040101010101" charset="-122"/>
              <a:cs typeface="华文楷体" panose="02010600040101010101" charset="-122"/>
            </a:endParaRPr>
          </a:p>
          <a:p>
            <a:r>
              <a:rPr lang="en-US" altLang="zh-CN" sz="1800" dirty="0">
                <a:solidFill>
                  <a:schemeClr val="tx1"/>
                </a:solidFill>
                <a:latin typeface="华文楷体" panose="02010600040101010101" charset="-122"/>
                <a:ea typeface="华文楷体" panose="02010600040101010101" charset="-122"/>
                <a:cs typeface="华文楷体" panose="02010600040101010101" charset="-122"/>
              </a:rPr>
              <a:t>2.</a:t>
            </a:r>
            <a:r>
              <a:rPr lang="zh-CN" altLang="en-US" sz="1800" dirty="0">
                <a:solidFill>
                  <a:schemeClr val="tx1"/>
                </a:solidFill>
                <a:latin typeface="华文楷体" panose="02010600040101010101" charset="-122"/>
                <a:ea typeface="华文楷体" panose="02010600040101010101" charset="-122"/>
                <a:cs typeface="华文楷体" panose="02010600040101010101" charset="-122"/>
              </a:rPr>
              <a:t>快乐</a:t>
            </a:r>
            <a:endParaRPr lang="en-US" altLang="zh-CN" sz="1800" dirty="0">
              <a:solidFill>
                <a:schemeClr val="tx1"/>
              </a:solidFill>
              <a:latin typeface="华文楷体" panose="02010600040101010101" charset="-122"/>
              <a:ea typeface="华文楷体" panose="02010600040101010101" charset="-122"/>
              <a:cs typeface="华文楷体" panose="02010600040101010101" charset="-122"/>
            </a:endParaRPr>
          </a:p>
          <a:p>
            <a:r>
              <a:rPr lang="en-US" altLang="zh-CN" sz="1800" dirty="0">
                <a:solidFill>
                  <a:schemeClr val="tx1"/>
                </a:solidFill>
                <a:latin typeface="华文楷体" panose="02010600040101010101" charset="-122"/>
                <a:ea typeface="华文楷体" panose="02010600040101010101" charset="-122"/>
                <a:cs typeface="华文楷体" panose="02010600040101010101" charset="-122"/>
              </a:rPr>
              <a:t>3.</a:t>
            </a:r>
            <a:r>
              <a:rPr lang="zh-CN" altLang="en-US" sz="1800" dirty="0">
                <a:solidFill>
                  <a:schemeClr val="tx1"/>
                </a:solidFill>
                <a:latin typeface="华文楷体" panose="02010600040101010101" charset="-122"/>
                <a:ea typeface="华文楷体" panose="02010600040101010101" charset="-122"/>
                <a:cs typeface="华文楷体" panose="02010600040101010101" charset="-122"/>
              </a:rPr>
              <a:t>品质</a:t>
            </a:r>
            <a:endParaRPr lang="en-US" altLang="zh-CN" sz="1800" dirty="0">
              <a:solidFill>
                <a:schemeClr val="tx1"/>
              </a:solidFill>
              <a:latin typeface="华文楷体" panose="02010600040101010101" charset="-122"/>
              <a:ea typeface="华文楷体" panose="02010600040101010101" charset="-122"/>
              <a:cs typeface="华文楷体" panose="02010600040101010101" charset="-122"/>
            </a:endParaRPr>
          </a:p>
        </p:txBody>
      </p:sp>
      <p:sp>
        <p:nvSpPr>
          <p:cNvPr id="4" name="内容占位符 2"/>
          <p:cNvSpPr txBox="1">
            <a:spLocks/>
          </p:cNvSpPr>
          <p:nvPr/>
        </p:nvSpPr>
        <p:spPr>
          <a:xfrm>
            <a:off x="76710" y="2001780"/>
            <a:ext cx="3395523" cy="365657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2000" b="0" i="0" kern="1200" cap="all">
                <a:solidFill>
                  <a:schemeClr val="bg2">
                    <a:lumMod val="40000"/>
                    <a:lumOff val="60000"/>
                  </a:schemeClr>
                </a:solidFill>
                <a:latin typeface="+mj-lt"/>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9pPr>
          </a:lstStyle>
          <a:p>
            <a:r>
              <a:rPr lang="zh-CN" altLang="en-US" sz="1800" dirty="0">
                <a:solidFill>
                  <a:schemeClr val="tx1"/>
                </a:solidFill>
                <a:sym typeface="+mn-ea"/>
              </a:rPr>
              <a:t>希腊文里“爱”有四个词语：</a:t>
            </a:r>
          </a:p>
          <a:p>
            <a:r>
              <a:rPr lang="en-US" altLang="zh-CN" sz="1800" dirty="0">
                <a:solidFill>
                  <a:schemeClr val="tx1"/>
                </a:solidFill>
                <a:sym typeface="+mn-ea"/>
              </a:rPr>
              <a:t>1.</a:t>
            </a:r>
            <a:r>
              <a:rPr lang="zh-CN" altLang="en-US" sz="1800" dirty="0">
                <a:solidFill>
                  <a:schemeClr val="tx1"/>
                </a:solidFill>
                <a:sym typeface="+mn-ea"/>
              </a:rPr>
              <a:t>Phileō,爱，感情的爱，喜欢，友谊的爱（emotion, affection）;</a:t>
            </a:r>
          </a:p>
          <a:p>
            <a:r>
              <a:rPr lang="en-US" altLang="zh-CN" sz="1800" dirty="0">
                <a:solidFill>
                  <a:schemeClr val="tx1"/>
                </a:solidFill>
                <a:sym typeface="+mn-ea"/>
              </a:rPr>
              <a:t>2.</a:t>
            </a:r>
            <a:r>
              <a:rPr lang="zh-CN" altLang="en-US" sz="1800" dirty="0">
                <a:solidFill>
                  <a:schemeClr val="tx1"/>
                </a:solidFill>
                <a:sym typeface="+mn-ea"/>
              </a:rPr>
              <a:t>Agapaō,爱，理智的爱，“深爱”，牺牲的爱（sacrificial）;“高超的爱”；“基督教的爱”</a:t>
            </a:r>
          </a:p>
          <a:p>
            <a:r>
              <a:rPr lang="en-US" altLang="zh-CN" sz="1800" dirty="0">
                <a:solidFill>
                  <a:schemeClr val="tx1"/>
                </a:solidFill>
                <a:sym typeface="+mn-ea"/>
              </a:rPr>
              <a:t>3.</a:t>
            </a:r>
            <a:r>
              <a:rPr lang="zh-CN" altLang="en-US" sz="1800" dirty="0">
                <a:solidFill>
                  <a:schemeClr val="tx1"/>
                </a:solidFill>
                <a:sym typeface="+mn-ea"/>
              </a:rPr>
              <a:t>Eros,情爱；“世俗的爱”；</a:t>
            </a:r>
          </a:p>
          <a:p>
            <a:r>
              <a:rPr lang="en-US" altLang="zh-CN" sz="1800" dirty="0">
                <a:solidFill>
                  <a:schemeClr val="tx1"/>
                </a:solidFill>
                <a:sym typeface="+mn-ea"/>
              </a:rPr>
              <a:t>4.</a:t>
            </a:r>
            <a:r>
              <a:rPr lang="zh-CN" altLang="en-US" sz="1800" dirty="0">
                <a:solidFill>
                  <a:schemeClr val="tx1"/>
                </a:solidFill>
                <a:sym typeface="+mn-ea"/>
              </a:rPr>
              <a:t>Storage,父母的爱。</a:t>
            </a:r>
          </a:p>
        </p:txBody>
      </p:sp>
      <p:sp>
        <p:nvSpPr>
          <p:cNvPr id="5" name="内容占位符 2"/>
          <p:cNvSpPr txBox="1">
            <a:spLocks/>
          </p:cNvSpPr>
          <p:nvPr/>
        </p:nvSpPr>
        <p:spPr>
          <a:xfrm>
            <a:off x="3472233" y="1952836"/>
            <a:ext cx="5256584" cy="2952327"/>
          </a:xfrm>
          <a:prstGeom prst="rect">
            <a:avLst/>
          </a:prstGeom>
        </p:spPr>
        <p:txBody>
          <a:bodyPr vert="horz" lIns="91440" tIns="45720" rIns="91440" bIns="45720" rtlCol="0" anchor="t">
            <a:normAutofit fontScale="97500"/>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2000" b="0" i="0" kern="1200" cap="all">
                <a:solidFill>
                  <a:schemeClr val="bg2">
                    <a:lumMod val="40000"/>
                    <a:lumOff val="60000"/>
                  </a:schemeClr>
                </a:solidFill>
                <a:latin typeface="+mj-lt"/>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panose="05040102010807070707" charset="2"/>
              <a:buNone/>
              <a:defRPr sz="1400" b="0" i="0" kern="1200">
                <a:solidFill>
                  <a:schemeClr val="tx1">
                    <a:tint val="75000"/>
                  </a:schemeClr>
                </a:solidFill>
                <a:latin typeface="+mj-lt"/>
                <a:ea typeface="+mj-ea"/>
                <a:cs typeface="+mj-cs"/>
              </a:defRPr>
            </a:lvl9pPr>
          </a:lstStyle>
          <a:p>
            <a:r>
              <a:rPr lang="zh-CN" altLang="en-US" sz="1800" dirty="0">
                <a:solidFill>
                  <a:schemeClr val="tx1"/>
                </a:solidFill>
                <a:latin typeface="华文中宋" panose="02010600040101010101" pitchFamily="2" charset="-122"/>
                <a:ea typeface="华文中宋" panose="02010600040101010101" pitchFamily="2" charset="-122"/>
              </a:rPr>
              <a:t>建构一个友爱的共同体是可能的吗？友爱于我们的生存的意义何在？友爱的共同体的基础一定是政治性的吗？友爱只能局限于一种狭隘的、排他性的团体里，尤其是在因利益而分裂的现代社会里，友爱的共同体以什么方式来确保正义的实现？</a:t>
            </a:r>
          </a:p>
          <a:p>
            <a:r>
              <a:rPr lang="zh-CN" altLang="en-US" sz="1800" dirty="0">
                <a:solidFill>
                  <a:schemeClr val="tx1"/>
                </a:solidFill>
                <a:latin typeface="华文中宋" panose="02010600040101010101" pitchFamily="2" charset="-122"/>
                <a:ea typeface="华文中宋" panose="02010600040101010101" pitchFamily="2" charset="-122"/>
              </a:rPr>
              <a:t>古典希腊思想（柏拉图、亚里士多德）对友爱和公正问题的看法。柏拉图那里，是两种eros和phileō,亚里士多德那里有对善本身、有用、快乐三种的爱。</a:t>
            </a:r>
            <a:endParaRPr lang="zh-CN" altLang="en-US" sz="18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23D9EC1-8821-3284-0744-8E265976A744}"/>
              </a:ext>
            </a:extLst>
          </p:cNvPr>
          <p:cNvSpPr txBox="1"/>
          <p:nvPr/>
        </p:nvSpPr>
        <p:spPr>
          <a:xfrm>
            <a:off x="0" y="188640"/>
            <a:ext cx="8940615" cy="6463308"/>
          </a:xfrm>
          <a:prstGeom prst="rect">
            <a:avLst/>
          </a:prstGeom>
          <a:noFill/>
        </p:spPr>
        <p:txBody>
          <a:bodyPr wrap="square">
            <a:spAutoFit/>
          </a:bodyPr>
          <a:lstStyle/>
          <a:p>
            <a:r>
              <a:rPr lang="zh-CN" altLang="en-US" dirty="0"/>
              <a:t>建构友爱的共同体不仅是可能的，而且具有深刻的生存意义，但其基础、范围与正义的实现方式需要审慎澄清。</a:t>
            </a:r>
          </a:p>
          <a:p>
            <a:r>
              <a:rPr lang="zh-CN" altLang="en-US" dirty="0"/>
              <a:t>**一、友爱的生存意义**</a:t>
            </a:r>
          </a:p>
          <a:p>
            <a:r>
              <a:rPr lang="zh-CN" altLang="en-US" dirty="0"/>
              <a:t>友爱不是奢侈的情感装饰，而是人类自我完成的必要条件。亚里士多德明确说：“没有友爱，没有人愿意活着。”友爱使个体走出孤独的自我，在相互承认中获得认同与归属。它在最基础的层面上回答了“我为何而活”的问题——因为有人与我同行。</a:t>
            </a:r>
          </a:p>
          <a:p>
            <a:r>
              <a:rPr lang="zh-CN" altLang="en-US" dirty="0"/>
              <a:t>**二、友爱的共同体一定是政治性的吗？**</a:t>
            </a:r>
          </a:p>
          <a:p>
            <a:r>
              <a:rPr lang="zh-CN" altLang="en-US" dirty="0"/>
              <a:t>不一定。亚里士多德区分了三种友爱：基于有用的、基于快乐的、基于善本身的。前两种可以存在于商业伙伴、酒肉朋友之间，不需要政治共同体；而基于善的友爱——即对他人自身之善的欣赏与促进——虽然可以扩展为城邦友爱的原型，但政治共同体要求的远不止友爱，还需要法律、制度与权力。因此，**友爱是政治共同体的灵魂，但不能取代政治**。</a:t>
            </a:r>
          </a:p>
          <a:p>
            <a:r>
              <a:rPr lang="zh-CN" altLang="en-US" dirty="0"/>
              <a:t>**三、友爱是否只能是狭隘、排他的？**</a:t>
            </a:r>
          </a:p>
          <a:p>
            <a:r>
              <a:rPr lang="zh-CN" altLang="en-US" dirty="0"/>
              <a:t>希腊思想中存在张力。柏拉图的eros是向上的、追求永恒之美的动力，可以超越个体；而日常的phileō则往往限于具体关系。亚里士多德也承认，完善的友爱需要共同生活，难以普及到全社会。但古典思想同样提供了扩展的可能性：当城邦被视为一种“友爱的共同体”时，正义就不仅是外在的规则，而是公民之间相互尊重与促进善的关系。</a:t>
            </a:r>
          </a:p>
          <a:p>
            <a:r>
              <a:rPr lang="zh-CN" altLang="en-US" dirty="0"/>
              <a:t>**四、在现代分裂社会中，友爱如何确保正义？**</a:t>
            </a:r>
          </a:p>
          <a:p>
            <a:r>
              <a:rPr lang="zh-CN" altLang="en-US" dirty="0"/>
              <a:t>友爱不能替代正义，但可以为正义提供动力。没有友爱的正义是冰冷的规则执行；没有正义的友爱是任性的偏私。在现代多元社会中，友爱的共同体的作用不是消除分歧，而是在分歧中维持对话与承认的意愿。它通过培养公民之间的基本善意与共情，使正义制度不至于沦为纯粹的利益博弈。换言之，**友爱确保人们愿意去寻求正义**，即使它本身不直接分配正义。</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96" y="692696"/>
            <a:ext cx="7344700" cy="800011"/>
          </a:xfrm>
        </p:spPr>
        <p:txBody>
          <a:bodyPr>
            <a:normAutofit/>
          </a:bodyPr>
          <a:lstStyle/>
          <a:p>
            <a:pPr marL="0" indent="0" eaLnBrk="1" hangingPunct="1">
              <a:buNone/>
            </a:pPr>
            <a:r>
              <a:rPr lang="en-US" altLang="zh-CN" sz="1800" dirty="0">
                <a:latin typeface="华文中宋" panose="02010600040101010101" pitchFamily="2" charset="-122"/>
                <a:ea typeface="华文中宋" panose="02010600040101010101" pitchFamily="2" charset="-122"/>
                <a:sym typeface="+mn-ea"/>
              </a:rPr>
              <a:t>1.</a:t>
            </a:r>
            <a:r>
              <a:rPr lang="zh-CN" altLang="en-US" sz="1800" dirty="0">
                <a:latin typeface="华文中宋" panose="02010600040101010101" pitchFamily="2" charset="-122"/>
                <a:ea typeface="华文中宋" panose="02010600040101010101" pitchFamily="2" charset="-122"/>
                <a:sym typeface="+mn-ea"/>
              </a:rPr>
              <a:t>意义</a:t>
            </a:r>
            <a:r>
              <a:rPr lang="en-US" altLang="zh-CN" sz="1800" dirty="0">
                <a:latin typeface="华文中宋" panose="02010600040101010101" pitchFamily="2" charset="-122"/>
                <a:ea typeface="华文中宋" panose="02010600040101010101" pitchFamily="2" charset="-122"/>
                <a:sym typeface="+mn-ea"/>
              </a:rPr>
              <a:t>-</a:t>
            </a:r>
            <a:r>
              <a:rPr lang="zh-CN" altLang="en-US" sz="1800" dirty="0">
                <a:latin typeface="华文中宋" panose="02010600040101010101" pitchFamily="2" charset="-122"/>
                <a:ea typeface="华文中宋" panose="02010600040101010101" pitchFamily="2" charset="-122"/>
                <a:sym typeface="+mn-ea"/>
              </a:rPr>
              <a:t>意向性行动与反应性的、因果性行动</a:t>
            </a:r>
            <a:endParaRPr lang="zh-CN" altLang="en-US" sz="1800" dirty="0">
              <a:latin typeface="华文中宋" panose="02010600040101010101" pitchFamily="2" charset="-122"/>
              <a:ea typeface="华文中宋" panose="02010600040101010101" pitchFamily="2" charset="-122"/>
            </a:endParaRPr>
          </a:p>
          <a:p>
            <a:pPr marL="0" indent="0" eaLnBrk="1" hangingPunct="1">
              <a:buNone/>
            </a:pPr>
            <a:r>
              <a:rPr lang="en-US" altLang="zh-CN" sz="1800" dirty="0">
                <a:latin typeface="华文中宋" panose="02010600040101010101" pitchFamily="2" charset="-122"/>
                <a:ea typeface="华文中宋" panose="02010600040101010101" pitchFamily="2" charset="-122"/>
                <a:sym typeface="+mn-ea"/>
              </a:rPr>
              <a:t>2.</a:t>
            </a:r>
            <a:r>
              <a:rPr lang="zh-CN" altLang="en-US" sz="1800" dirty="0">
                <a:latin typeface="华文中宋" panose="02010600040101010101" pitchFamily="2" charset="-122"/>
                <a:ea typeface="华文中宋" panose="02010600040101010101" pitchFamily="2" charset="-122"/>
                <a:sym typeface="+mn-ea"/>
              </a:rPr>
              <a:t>社会行动的四种类型：工具理性；价值理性；情绪的；传统的（习俗）</a:t>
            </a:r>
            <a:endParaRPr lang="en-US" altLang="zh-CN" sz="1800" dirty="0">
              <a:latin typeface="华文中宋" panose="02010600040101010101" pitchFamily="2" charset="-122"/>
              <a:ea typeface="华文中宋" panose="02010600040101010101" pitchFamily="2" charset="-122"/>
              <a:sym typeface="+mn-ea"/>
            </a:endParaRPr>
          </a:p>
          <a:p>
            <a:pPr marL="0" indent="0">
              <a:buNone/>
            </a:pPr>
            <a:endParaRPr lang="zh-CN" altLang="en-US" sz="1800" dirty="0"/>
          </a:p>
        </p:txBody>
      </p:sp>
      <p:sp>
        <p:nvSpPr>
          <p:cNvPr id="28674" name="Rectangle 2"/>
          <p:cNvSpPr>
            <a:spLocks noGrp="1" noRot="1"/>
          </p:cNvSpPr>
          <p:nvPr/>
        </p:nvSpPr>
        <p:spPr>
          <a:xfrm>
            <a:off x="0" y="188640"/>
            <a:ext cx="2038127" cy="443136"/>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r>
              <a:rPr lang="zh-CN" altLang="en-US" sz="2000" dirty="0">
                <a:latin typeface="华文中宋" panose="02010600040101010101" pitchFamily="2" charset="-122"/>
                <a:ea typeface="华文中宋" panose="02010600040101010101" pitchFamily="2" charset="-122"/>
              </a:rPr>
              <a:t>韦伯的人类活动</a:t>
            </a:r>
          </a:p>
        </p:txBody>
      </p:sp>
      <p:sp>
        <p:nvSpPr>
          <p:cNvPr id="2" name="内容占位符 2"/>
          <p:cNvSpPr txBox="1">
            <a:spLocks/>
          </p:cNvSpPr>
          <p:nvPr/>
        </p:nvSpPr>
        <p:spPr>
          <a:xfrm>
            <a:off x="107504" y="1509973"/>
            <a:ext cx="8928992" cy="18470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“爱情像意义（</a:t>
            </a:r>
            <a:r>
              <a:rPr lang="en-US" altLang="zh-CN" sz="1800" dirty="0">
                <a:latin typeface="华文中宋" panose="02010600040101010101" pitchFamily="2" charset="-122"/>
                <a:ea typeface="华文中宋" panose="02010600040101010101" pitchFamily="2" charset="-122"/>
              </a:rPr>
              <a:t>signification</a:t>
            </a:r>
            <a:r>
              <a:rPr lang="zh-CN" altLang="en-US" sz="1800" dirty="0">
                <a:latin typeface="华文中宋" panose="02010600040101010101" pitchFamily="2" charset="-122"/>
                <a:ea typeface="华文中宋" panose="02010600040101010101" pitchFamily="2" charset="-122"/>
              </a:rPr>
              <a:t>）</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爱情是一个隐喻，若以我们的话来说，隐喻就是</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意符</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的替代。</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是因为作为欠缺之主体的爱人，取代了被爱客体，才产生了爱情的意义。”</a:t>
            </a:r>
            <a:endParaRPr lang="en-US" altLang="zh-CN" sz="1800" dirty="0">
              <a:latin typeface="华文中宋" panose="02010600040101010101" pitchFamily="2" charset="-122"/>
              <a:ea typeface="华文中宋" panose="02010600040101010101" pitchFamily="2" charset="-122"/>
            </a:endParaRP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“爱是给予人自己没有的东西。”</a:t>
            </a:r>
            <a:endParaRPr lang="en-US" altLang="zh-CN" sz="1800" dirty="0">
              <a:latin typeface="+mn-ea"/>
            </a:endParaRPr>
          </a:p>
          <a:p>
            <a:pPr marL="0" indent="0">
              <a:buFont typeface="Wingdings 3" panose="05040102010807070707" charset="2"/>
              <a:buNone/>
            </a:pPr>
            <a:r>
              <a:rPr lang="zh-CN" altLang="en-US" sz="1800" dirty="0">
                <a:latin typeface="华文中宋" panose="02010600040101010101" pitchFamily="2" charset="-122"/>
                <a:ea typeface="华文中宋" panose="02010600040101010101" pitchFamily="2" charset="-122"/>
              </a:rPr>
              <a:t>也就是说，在“我爱你”当中的你不再是你，你只不过是我所不知道的我的欠缺。</a:t>
            </a:r>
            <a:endParaRPr lang="en-US" altLang="zh-CN" sz="1800" dirty="0">
              <a:latin typeface="华文中宋" panose="02010600040101010101" pitchFamily="2" charset="-122"/>
              <a:ea typeface="华文中宋" panose="02010600040101010101" pitchFamily="2" charset="-122"/>
            </a:endParaRPr>
          </a:p>
        </p:txBody>
      </p:sp>
      <p:sp>
        <p:nvSpPr>
          <p:cNvPr id="4" name="内容占位符 2"/>
          <p:cNvSpPr txBox="1">
            <a:spLocks/>
          </p:cNvSpPr>
          <p:nvPr/>
        </p:nvSpPr>
        <p:spPr>
          <a:xfrm>
            <a:off x="251520" y="3573016"/>
            <a:ext cx="8280920" cy="15200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a:lstStyle>
          <a:p>
            <a:pPr marL="0" indent="0">
              <a:buFont typeface="Wingdings 3" panose="05040102010807070707" charset="2"/>
              <a:buNone/>
            </a:pPr>
            <a:r>
              <a:rPr lang="zh-CN" altLang="en-US" sz="1800">
                <a:latin typeface="华文中宋" panose="02010600040101010101" pitchFamily="2" charset="-122"/>
                <a:ea typeface="华文中宋" panose="02010600040101010101" pitchFamily="2" charset="-122"/>
              </a:rPr>
              <a:t>就像人伸手去摘成熟的果子，绽放的玫瑰或翻动燃烧的柴火。然而，果子的成熟，花朵的美貌与柴火的燃烧与这只手有着密切的关系，就像是这只手在靠近客体，但还没有碰到客体时，客体也产生了某种变化，仿佛从果子，花朵或柴火中也伸出另一只手和您的手接触，此时，在果子的封闭与花朵的开放的充实性，在燃烧的手的爆炸中，是您的手僵住了，此时此刻发生的就是爱情。</a:t>
            </a:r>
            <a:endParaRPr lang="en-US" altLang="zh-CN" sz="1800" dirty="0">
              <a:latin typeface="华文中宋" panose="02010600040101010101" pitchFamily="2" charset="-122"/>
              <a:ea typeface="华文中宋" panose="0201060004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96" y="188640"/>
            <a:ext cx="9108504" cy="6624736"/>
          </a:xfrm>
        </p:spPr>
        <p:txBody>
          <a:bodyPr>
            <a:normAutofit fontScale="92500" lnSpcReduction="10000"/>
          </a:bodyPr>
          <a:lstStyle/>
          <a:p>
            <a:pPr marL="0" indent="0">
              <a:buNone/>
            </a:pPr>
            <a:r>
              <a:rPr lang="en-US" altLang="zh-CN" sz="1800" dirty="0">
                <a:latin typeface="华文中宋" panose="02010600040101010101" pitchFamily="2" charset="-122"/>
                <a:ea typeface="华文中宋" panose="02010600040101010101" pitchFamily="2" charset="-122"/>
                <a:sym typeface="+mn-ea"/>
              </a:rPr>
              <a:t>1.</a:t>
            </a:r>
            <a:r>
              <a:rPr lang="zh-CN" altLang="en-US" sz="1800" dirty="0">
                <a:latin typeface="华文中宋" panose="02010600040101010101" pitchFamily="2" charset="-122"/>
                <a:ea typeface="华文中宋" panose="02010600040101010101" pitchFamily="2" charset="-122"/>
                <a:sym typeface="+mn-ea"/>
              </a:rPr>
              <a:t>诸种爱的内在关系如何？是否可以从个体之间的爱直接推导出对城邦的爱，现代社会里对国家的爱？</a:t>
            </a:r>
            <a:endParaRPr lang="en-US" altLang="zh-CN" sz="1800" dirty="0">
              <a:latin typeface="华文中宋" panose="02010600040101010101" pitchFamily="2" charset="-122"/>
              <a:ea typeface="华文中宋" panose="02010600040101010101" pitchFamily="2" charset="-122"/>
              <a:sym typeface="+mn-ea"/>
            </a:endParaRPr>
          </a:p>
          <a:p>
            <a:pPr marL="0" indent="0">
              <a:buNone/>
            </a:pPr>
            <a:r>
              <a:rPr lang="zh-CN" altLang="en-US" sz="1800" dirty="0">
                <a:latin typeface="华文中宋" panose="02010600040101010101" pitchFamily="2" charset="-122"/>
                <a:ea typeface="华文中宋" panose="02010600040101010101" pitchFamily="2" charset="-122"/>
                <a:sym typeface="+mn-ea"/>
              </a:rPr>
              <a:t>诸种爱之间并非线性推导关系，而是存在复杂的结构转换。从个体之间的爱无法直接推导出对城邦或国家的爱，但前者可以为后者提供类比基础与情感资源。</a:t>
            </a:r>
          </a:p>
          <a:p>
            <a:pPr marL="0" indent="0">
              <a:buNone/>
            </a:pPr>
            <a:r>
              <a:rPr lang="zh-CN" altLang="en-US" sz="1800" dirty="0">
                <a:latin typeface="华文中宋" panose="02010600040101010101" pitchFamily="2" charset="-122"/>
                <a:ea typeface="华文中宋" panose="02010600040101010101" pitchFamily="2" charset="-122"/>
                <a:sym typeface="+mn-ea"/>
              </a:rPr>
              <a:t>**一、爱的类型差异**</a:t>
            </a:r>
          </a:p>
          <a:p>
            <a:pPr marL="0" indent="0">
              <a:buNone/>
            </a:pPr>
            <a:r>
              <a:rPr lang="zh-CN" altLang="en-US" sz="1800" dirty="0">
                <a:latin typeface="华文中宋" panose="02010600040101010101" pitchFamily="2" charset="-122"/>
                <a:ea typeface="华文中宋" panose="02010600040101010101" pitchFamily="2" charset="-122"/>
                <a:sym typeface="+mn-ea"/>
              </a:rPr>
              <a:t>柏拉图区分了两种</a:t>
            </a:r>
            <a:r>
              <a:rPr lang="en-US" altLang="zh-CN" sz="1800" dirty="0">
                <a:latin typeface="华文中宋" panose="02010600040101010101" pitchFamily="2" charset="-122"/>
                <a:ea typeface="华文中宋" panose="02010600040101010101" pitchFamily="2" charset="-122"/>
                <a:sym typeface="+mn-ea"/>
              </a:rPr>
              <a:t>eros</a:t>
            </a:r>
            <a:r>
              <a:rPr lang="zh-CN" altLang="en-US" sz="1800" dirty="0">
                <a:latin typeface="华文中宋" panose="02010600040101010101" pitchFamily="2" charset="-122"/>
                <a:ea typeface="华文中宋" panose="02010600040101010101" pitchFamily="2" charset="-122"/>
                <a:sym typeface="+mn-ea"/>
              </a:rPr>
              <a:t>：低等的指向具体身体，高等的指向永恒之美。个体之爱是上升的起点，但必须经过超越</a:t>
            </a:r>
            <a:r>
              <a:rPr lang="en-US" altLang="zh-CN" sz="1800" dirty="0">
                <a:latin typeface="华文中宋" panose="02010600040101010101" pitchFamily="2" charset="-122"/>
                <a:ea typeface="华文中宋" panose="02010600040101010101" pitchFamily="2" charset="-122"/>
                <a:sym typeface="+mn-ea"/>
              </a:rPr>
              <a:t>——</a:t>
            </a:r>
            <a:r>
              <a:rPr lang="zh-CN" altLang="en-US" sz="1800" dirty="0">
                <a:latin typeface="华文中宋" panose="02010600040101010101" pitchFamily="2" charset="-122"/>
                <a:ea typeface="华文中宋" panose="02010600040101010101" pitchFamily="2" charset="-122"/>
                <a:sym typeface="+mn-ea"/>
              </a:rPr>
              <a:t>从爱一个美的身体，到爱一切美的身体，再到爱美的灵魂、制度、知识，最终爱美本身。这一过程是**转化而非推导**：不是从个体之爱逻辑地推出城邦之爱，而是通过哲学教育将个体之爱提升到更高的对象。亚里士多德则区分了基于善、有用、快乐三种爱。对城邦的爱更接近基于善的爱</a:t>
            </a:r>
            <a:r>
              <a:rPr lang="en-US" altLang="zh-CN" sz="1800" dirty="0">
                <a:latin typeface="华文中宋" panose="02010600040101010101" pitchFamily="2" charset="-122"/>
                <a:ea typeface="华文中宋" panose="02010600040101010101" pitchFamily="2" charset="-122"/>
                <a:sym typeface="+mn-ea"/>
              </a:rPr>
              <a:t>——</a:t>
            </a:r>
            <a:r>
              <a:rPr lang="zh-CN" altLang="en-US" sz="1800" dirty="0">
                <a:latin typeface="华文中宋" panose="02010600040101010101" pitchFamily="2" charset="-122"/>
                <a:ea typeface="华文中宋" panose="02010600040101010101" pitchFamily="2" charset="-122"/>
                <a:sym typeface="+mn-ea"/>
              </a:rPr>
              <a:t>承认共同生活的价值本身，而非仅仅因为城邦“有用”。</a:t>
            </a:r>
          </a:p>
          <a:p>
            <a:pPr marL="0" indent="0">
              <a:buNone/>
            </a:pPr>
            <a:r>
              <a:rPr lang="zh-CN" altLang="en-US" sz="1800" dirty="0">
                <a:latin typeface="华文中宋" panose="02010600040101010101" pitchFamily="2" charset="-122"/>
                <a:ea typeface="华文中宋" panose="02010600040101010101" pitchFamily="2" charset="-122"/>
                <a:sym typeface="+mn-ea"/>
              </a:rPr>
              <a:t>**二、为什么不能直接推导**</a:t>
            </a:r>
          </a:p>
          <a:p>
            <a:pPr marL="0" indent="0">
              <a:buNone/>
            </a:pPr>
            <a:r>
              <a:rPr lang="zh-CN" altLang="en-US" sz="1800" dirty="0">
                <a:latin typeface="华文中宋" panose="02010600040101010101" pitchFamily="2" charset="-122"/>
                <a:ea typeface="华文中宋" panose="02010600040101010101" pitchFamily="2" charset="-122"/>
                <a:sym typeface="+mn-ea"/>
              </a:rPr>
              <a:t>个体之间的爱具有**排他性、具体性、交互性**：我爱这个具体的人，期待他爱我。而对城邦的爱具有**包容性、抽象性、非交互性**：我爱国，但国并不以同样方式爱我。从前者到后者，需要跨越“从具体到抽象”、“从双向到单向”的逻辑断裂。历史上，通过“家国同构”隐喻（如中国传统“孝</a:t>
            </a:r>
            <a:r>
              <a:rPr lang="en-US" altLang="zh-CN" sz="1800" dirty="0">
                <a:latin typeface="华文中宋" panose="02010600040101010101" pitchFamily="2" charset="-122"/>
                <a:ea typeface="华文中宋" panose="02010600040101010101" pitchFamily="2" charset="-122"/>
                <a:sym typeface="+mn-ea"/>
              </a:rPr>
              <a:t>—</a:t>
            </a:r>
            <a:r>
              <a:rPr lang="zh-CN" altLang="en-US" sz="1800" dirty="0">
                <a:latin typeface="华文中宋" panose="02010600040101010101" pitchFamily="2" charset="-122"/>
                <a:ea typeface="华文中宋" panose="02010600040101010101" pitchFamily="2" charset="-122"/>
                <a:sym typeface="+mn-ea"/>
              </a:rPr>
              <a:t>忠”推演）来推导，往往导致两种后果：一是亲情被政治工具化，二是政治义务被伪造成自然情感。</a:t>
            </a:r>
          </a:p>
          <a:p>
            <a:pPr marL="0" indent="0">
              <a:buNone/>
            </a:pPr>
            <a:r>
              <a:rPr lang="zh-CN" altLang="en-US" sz="1800" dirty="0">
                <a:latin typeface="华文中宋" panose="02010600040101010101" pitchFamily="2" charset="-122"/>
                <a:ea typeface="华文中宋" panose="02010600040101010101" pitchFamily="2" charset="-122"/>
                <a:sym typeface="+mn-ea"/>
              </a:rPr>
              <a:t>**三、现代社会对国家的爱**</a:t>
            </a:r>
          </a:p>
          <a:p>
            <a:pPr marL="0" indent="0">
              <a:buNone/>
            </a:pPr>
            <a:r>
              <a:rPr lang="zh-CN" altLang="en-US" sz="1800" dirty="0">
                <a:latin typeface="华文中宋" panose="02010600040101010101" pitchFamily="2" charset="-122"/>
                <a:ea typeface="华文中宋" panose="02010600040101010101" pitchFamily="2" charset="-122"/>
                <a:sym typeface="+mn-ea"/>
              </a:rPr>
              <a:t>在现代多元社会中，对国家的爱更不宜从个体之爱推导。合理的国家认同应基于**制度正义与公民身份**，而非情感类推。个体之间的爱培养的是对“他者”的承认能力与关怀意愿，这种**情感能力**可以迁移到公共领域</a:t>
            </a:r>
            <a:r>
              <a:rPr lang="en-US" altLang="zh-CN" sz="1800" dirty="0">
                <a:latin typeface="华文中宋" panose="02010600040101010101" pitchFamily="2" charset="-122"/>
                <a:ea typeface="华文中宋" panose="02010600040101010101" pitchFamily="2" charset="-122"/>
                <a:sym typeface="+mn-ea"/>
              </a:rPr>
              <a:t>——</a:t>
            </a:r>
            <a:r>
              <a:rPr lang="zh-CN" altLang="en-US" sz="1800" dirty="0">
                <a:latin typeface="华文中宋" panose="02010600040101010101" pitchFamily="2" charset="-122"/>
                <a:ea typeface="华文中宋" panose="02010600040101010101" pitchFamily="2" charset="-122"/>
                <a:sym typeface="+mn-ea"/>
              </a:rPr>
              <a:t>使公民愿意遵守法律、参与公共生活、关心陌生人。但这是一种**类比支撑**，而非逻辑推导。</a:t>
            </a:r>
          </a:p>
          <a:p>
            <a:pPr marL="0" indent="0">
              <a:buNone/>
            </a:pPr>
            <a:r>
              <a:rPr lang="zh-CN" altLang="en-US" sz="1800" dirty="0">
                <a:latin typeface="华文中宋" panose="02010600040101010101" pitchFamily="2" charset="-122"/>
                <a:ea typeface="华文中宋" panose="02010600040101010101" pitchFamily="2" charset="-122"/>
                <a:sym typeface="+mn-ea"/>
              </a:rPr>
              <a:t>**结论**：个体之爱是城邦之爱的“学校”，但不是“前提”。前者训练情感能力，后者需要制度中介与理性反思的转化。</a:t>
            </a:r>
            <a:endParaRPr lang="en-US" altLang="zh-CN" sz="1800" dirty="0">
              <a:latin typeface="华文中宋" panose="02010600040101010101" pitchFamily="2" charset="-122"/>
              <a:ea typeface="华文中宋" panose="02010600040101010101" pitchFamily="2" charset="-122"/>
              <a:sym typeface="+mn-ea"/>
            </a:endParaRPr>
          </a:p>
          <a:p>
            <a:pPr marL="0" indent="0">
              <a:buNone/>
            </a:pPr>
            <a:endParaRPr lang="en-US" altLang="zh-CN" sz="1800" dirty="0">
              <a:latin typeface="华文中宋" panose="02010600040101010101" pitchFamily="2" charset="-122"/>
              <a:ea typeface="华文中宋" panose="02010600040101010101" pitchFamily="2" charset="-122"/>
              <a:sym typeface="+mn-ea"/>
            </a:endParaRPr>
          </a:p>
          <a:p>
            <a:pPr marL="0" indent="0">
              <a:buNone/>
            </a:pPr>
            <a:endParaRPr lang="en-US" altLang="zh-CN" sz="1800" dirty="0">
              <a:latin typeface="华文中宋" panose="02010600040101010101" pitchFamily="2" charset="-122"/>
              <a:ea typeface="华文中宋" panose="02010600040101010101" pitchFamily="2" charset="-122"/>
              <a:sym typeface="+mn-ea"/>
            </a:endParaRPr>
          </a:p>
          <a:p>
            <a:pPr marL="0" indent="0">
              <a:buNone/>
            </a:pPr>
            <a:endParaRPr lang="en-US" altLang="zh-CN" sz="1800" dirty="0">
              <a:latin typeface="华文中宋" panose="02010600040101010101" pitchFamily="2" charset="-122"/>
              <a:ea typeface="华文中宋" panose="02010600040101010101" pitchFamily="2" charset="-122"/>
              <a:sym typeface="+mn-ea"/>
            </a:endParaRPr>
          </a:p>
          <a:p>
            <a:pPr marL="0" indent="0">
              <a:buNone/>
            </a:pPr>
            <a:endParaRPr lang="en-US" altLang="zh-CN" sz="1800" dirty="0">
              <a:latin typeface="华文中宋" panose="02010600040101010101" pitchFamily="2" charset="-122"/>
              <a:ea typeface="华文中宋" panose="02010600040101010101" pitchFamily="2" charset="-122"/>
              <a:sym typeface="+mn-ea"/>
            </a:endParaRPr>
          </a:p>
          <a:p>
            <a:pPr marL="0" indent="0">
              <a:buNone/>
            </a:pPr>
            <a:endParaRPr lang="en-US" altLang="zh-CN" sz="1800" dirty="0">
              <a:latin typeface="华文中宋" panose="02010600040101010101" pitchFamily="2" charset="-122"/>
              <a:ea typeface="华文中宋" panose="02010600040101010101" pitchFamily="2"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2FB6-DEEB-6CAD-8107-17783A0FAA7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3972760-35DE-88BF-ED3C-1733378BF571}"/>
              </a:ext>
            </a:extLst>
          </p:cNvPr>
          <p:cNvSpPr txBox="1"/>
          <p:nvPr/>
        </p:nvSpPr>
        <p:spPr>
          <a:xfrm>
            <a:off x="4727" y="0"/>
            <a:ext cx="7920880" cy="923330"/>
          </a:xfrm>
          <a:prstGeom prst="rect">
            <a:avLst/>
          </a:prstGeom>
          <a:noFill/>
        </p:spPr>
        <p:txBody>
          <a:bodyPr wrap="square">
            <a:spAutoFit/>
          </a:bodyPr>
          <a:lstStyle/>
          <a:p>
            <a:pPr marL="0" indent="0">
              <a:buNone/>
            </a:pPr>
            <a:r>
              <a:rPr lang="en-US" altLang="zh-CN" sz="1800" dirty="0">
                <a:latin typeface="华文中宋" panose="02010600040101010101" pitchFamily="2" charset="-122"/>
                <a:ea typeface="华文中宋" panose="02010600040101010101" pitchFamily="2" charset="-122"/>
                <a:sym typeface="+mn-ea"/>
              </a:rPr>
              <a:t>2.</a:t>
            </a:r>
            <a:r>
              <a:rPr lang="zh-CN" altLang="en-US" sz="1800" dirty="0">
                <a:latin typeface="华文中宋" panose="02010600040101010101" pitchFamily="2" charset="-122"/>
                <a:ea typeface="华文中宋" panose="02010600040101010101" pitchFamily="2" charset="-122"/>
                <a:sym typeface="+mn-ea"/>
              </a:rPr>
              <a:t>友爱和公正的关系究竟是怎样的？它们之间的区分仅仅是作为理智德性和道德德性的不同，还是有更深层的东西？对城邦的爱和对国家的爱是一回事吗？正义的城邦里包含爱，尤其是在柏拉图的《理想国》里。</a:t>
            </a:r>
            <a:endParaRPr lang="zh-CN" altLang="en-US" sz="1800" dirty="0">
              <a:latin typeface="华文中宋" panose="02010600040101010101" pitchFamily="2" charset="-122"/>
              <a:ea typeface="华文中宋" panose="02010600040101010101" pitchFamily="2" charset="-122"/>
            </a:endParaRPr>
          </a:p>
        </p:txBody>
      </p:sp>
      <p:sp>
        <p:nvSpPr>
          <p:cNvPr id="8" name="文本框 7">
            <a:extLst>
              <a:ext uri="{FF2B5EF4-FFF2-40B4-BE49-F238E27FC236}">
                <a16:creationId xmlns:a16="http://schemas.microsoft.com/office/drawing/2014/main" id="{EACE2E49-FB24-0A74-8BFF-005224CEC564}"/>
              </a:ext>
            </a:extLst>
          </p:cNvPr>
          <p:cNvSpPr txBox="1"/>
          <p:nvPr/>
        </p:nvSpPr>
        <p:spPr>
          <a:xfrm>
            <a:off x="467544" y="1556792"/>
            <a:ext cx="7920879" cy="4524315"/>
          </a:xfrm>
          <a:prstGeom prst="rect">
            <a:avLst/>
          </a:prstGeom>
          <a:noFill/>
        </p:spPr>
        <p:txBody>
          <a:bodyPr wrap="square">
            <a:spAutoFit/>
          </a:bodyPr>
          <a:lstStyle/>
          <a:p>
            <a:r>
              <a:rPr lang="zh-CN" altLang="en-US" dirty="0"/>
              <a:t>友爱与公正的关系远超德性类型的区分，其深层差异在于**结构原则**：友爱基于**特殊性与偏倚性**（我爱我的朋友胜过陌生人），公正基于**普遍性与无偏倚性**（法律面前人人平等）。亚里士多德精准概括：“公正不再需要友爱，但友爱之人仍然需要公正。”这意味着友爱的实现必须以公正为前提，而公正的运行却不依赖友爱。</a:t>
            </a:r>
          </a:p>
          <a:p>
            <a:r>
              <a:rPr lang="zh-CN" altLang="en-US" dirty="0"/>
              <a:t>对城邦的爱与对国家的爱不是一回事。城邦是面对面的共同体，公民直接参与公共生活，友爱可以渗透进政治；现代国家是大型的、非人格化的制度体系，公民之间没有直接交往，对国家的爱更多表现为制度忠诚与宪法认同，而非对同胞的个人之爱。前者可以包含友爱，后者只能容纳抽象的同胞情感。</a:t>
            </a:r>
          </a:p>
          <a:p>
            <a:r>
              <a:rPr lang="zh-CN" altLang="en-US" dirty="0"/>
              <a:t>柏拉图的《理想国》中，正义城邦确实包含爱，但并非个体之间的友爱。护卫者阶层被剥夺私有财产与家庭，其情感被导向城邦整体——这是一种经过理性过滤的、非排他性的共同之爱。在柏拉图看来，个体友爱因其偏私性反而可能威胁城邦正义。因此，正义城邦中的爱是**向上的爱**（爱理念、爱整体秩序），而非**平向的爱**（爱具体他人）。这提示我们：友爱与公正的根本张力在于“偏爱”与“普遍”之间的不可消除的冲突，任何试图将友爱直接等同于政治正义的尝试，都会面临这一结构性的困难。</a:t>
            </a:r>
          </a:p>
        </p:txBody>
      </p:sp>
    </p:spTree>
    <p:extLst>
      <p:ext uri="{BB962C8B-B14F-4D97-AF65-F5344CB8AC3E}">
        <p14:creationId xmlns:p14="http://schemas.microsoft.com/office/powerpoint/2010/main" val="15826550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kzM2U5MTc2MTk2NmM3NTI0ODQ1NmVjY2Q3OGQ0Mj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526</TotalTime>
  <Words>5641</Words>
  <Application>Microsoft Office PowerPoint</Application>
  <PresentationFormat>全屏显示(4:3)</PresentationFormat>
  <Paragraphs>248</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等线</vt:lpstr>
      <vt:lpstr>仿宋</vt:lpstr>
      <vt:lpstr>华文楷体</vt:lpstr>
      <vt:lpstr>华文宋体</vt:lpstr>
      <vt:lpstr>华文中宋</vt:lpstr>
      <vt:lpstr>宋体</vt:lpstr>
      <vt:lpstr>Century Gothic</vt:lpstr>
      <vt:lpstr>Wingdings 3</vt:lpstr>
      <vt:lpstr>离子</vt:lpstr>
      <vt:lpstr>PowerPoint 演示文稿</vt:lpstr>
      <vt:lpstr>国家涉及的几个问题</vt:lpstr>
      <vt:lpstr>《二论》中的不平等 1.自然状态中的不平等</vt:lpstr>
      <vt:lpstr>“基本善”（罗尔斯）</vt:lpstr>
      <vt:lpstr>演化论的国家</vt:lpstr>
      <vt:lpstr>公民联合体（国家）的主题</vt:lpstr>
      <vt:lpstr>《二论》三种政府形式、区分标准及后果</vt:lpstr>
      <vt:lpstr>三个变化</vt:lpstr>
      <vt:lpstr>PowerPoint 演示文稿</vt:lpstr>
      <vt:lpstr>PowerPoint 演示文稿</vt:lpstr>
      <vt:lpstr>“国家是属于统治阶级的各个个人借以实现其共同利益的形式，是该时代的整个市民社会获得集中表现的形式。”《德意志意识形态》</vt:lpstr>
      <vt:lpstr>罗伯特·诺齐克</vt:lpstr>
      <vt:lpstr>PowerPoint 演示文稿</vt:lpstr>
      <vt:lpstr>二、家庭问题</vt:lpstr>
      <vt:lpstr>PowerPoint 演示文稿</vt:lpstr>
      <vt:lpstr>PowerPoint 演示文稿</vt:lpstr>
      <vt:lpstr>第二个问题，子女为什么爱自己的父母？“生存的资料” 它们各自的本质是什么？存在何种差异：债权人与债务人 </vt:lpstr>
      <vt:lpstr>三、友爱问题</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问题</dc:title>
  <dc:creator>shou</dc:creator>
  <cp:lastModifiedBy>Ruiyang Xu</cp:lastModifiedBy>
  <cp:revision>111</cp:revision>
  <cp:lastPrinted>2026-06-14T23:34:34Z</cp:lastPrinted>
  <dcterms:created xsi:type="dcterms:W3CDTF">2021-05-07T00:04:00Z</dcterms:created>
  <dcterms:modified xsi:type="dcterms:W3CDTF">2026-06-14T23:34:47Z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341A58EC92F7492D84A096FE5DFD0BB1</vt:lpwstr>
  </property>
  <property fmtid="{D5CDD505-2E9C-101B-9397-08002B2CF9AE}" pid="3" name="KSOProductBuildVer">
    <vt:lpwstr>2052-11.8.2.12089</vt:lpwstr>
  </property>
</Properties>
</file>